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</p:sldIdLst>
  <p:sldSz cy="5143500" cx="9144000"/>
  <p:notesSz cx="5143500" cy="9144000"/>
  <p:embeddedFontLst>
    <p:embeddedFont>
      <p:font typeface="Lexend"/>
      <p:regular r:id="rId44"/>
      <p:bold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font" Target="fonts/Lexend-regular.fntdata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45" Type="http://schemas.openxmlformats.org/officeDocument/2006/relationships/font" Target="fonts/Lexend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9.png"/><Relationship Id="rId5" Type="http://schemas.openxmlformats.org/officeDocument/2006/relationships/image" Target="../media/image9.png"/><Relationship Id="rId6" Type="http://schemas.openxmlformats.org/officeDocument/2006/relationships/image" Target="../media/image13.png"/><Relationship Id="rId7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20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27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31.png"/><Relationship Id="rId5" Type="http://schemas.openxmlformats.org/officeDocument/2006/relationships/image" Target="../media/image33.png"/><Relationship Id="rId6" Type="http://schemas.openxmlformats.org/officeDocument/2006/relationships/image" Target="../media/image30.png"/><Relationship Id="rId7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4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4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34.png"/><Relationship Id="rId5" Type="http://schemas.openxmlformats.org/officeDocument/2006/relationships/image" Target="../media/image37.png"/><Relationship Id="rId6" Type="http://schemas.openxmlformats.org/officeDocument/2006/relationships/image" Target="../media/image43.png"/><Relationship Id="rId7" Type="http://schemas.openxmlformats.org/officeDocument/2006/relationships/image" Target="../media/image4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38.png"/><Relationship Id="rId7" Type="http://schemas.openxmlformats.org/officeDocument/2006/relationships/image" Target="../media/image4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image" Target="../media/image46.png"/><Relationship Id="rId5" Type="http://schemas.openxmlformats.org/officeDocument/2006/relationships/image" Target="../media/image50.png"/><Relationship Id="rId6" Type="http://schemas.openxmlformats.org/officeDocument/2006/relationships/image" Target="../media/image53.png"/><Relationship Id="rId7" Type="http://schemas.openxmlformats.org/officeDocument/2006/relationships/image" Target="../media/image4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Relationship Id="rId4" Type="http://schemas.openxmlformats.org/officeDocument/2006/relationships/image" Target="../media/image7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Relationship Id="rId4" Type="http://schemas.openxmlformats.org/officeDocument/2006/relationships/image" Target="../media/image65.png"/><Relationship Id="rId5" Type="http://schemas.openxmlformats.org/officeDocument/2006/relationships/image" Target="../media/image6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Relationship Id="rId4" Type="http://schemas.openxmlformats.org/officeDocument/2006/relationships/image" Target="../media/image6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Relationship Id="rId4" Type="http://schemas.openxmlformats.org/officeDocument/2006/relationships/image" Target="../media/image54.png"/><Relationship Id="rId5" Type="http://schemas.openxmlformats.org/officeDocument/2006/relationships/image" Target="../media/image63.png"/><Relationship Id="rId6" Type="http://schemas.openxmlformats.org/officeDocument/2006/relationships/image" Target="../media/image59.png"/><Relationship Id="rId7" Type="http://schemas.openxmlformats.org/officeDocument/2006/relationships/image" Target="../media/image5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Relationship Id="rId4" Type="http://schemas.openxmlformats.org/officeDocument/2006/relationships/image" Target="../media/image6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Relationship Id="rId4" Type="http://schemas.openxmlformats.org/officeDocument/2006/relationships/image" Target="../media/image64.png"/><Relationship Id="rId5" Type="http://schemas.openxmlformats.org/officeDocument/2006/relationships/image" Target="../media/image67.png"/><Relationship Id="rId6" Type="http://schemas.openxmlformats.org/officeDocument/2006/relationships/image" Target="../media/image7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Relationship Id="rId4" Type="http://schemas.openxmlformats.org/officeDocument/2006/relationships/image" Target="../media/image79.png"/><Relationship Id="rId5" Type="http://schemas.openxmlformats.org/officeDocument/2006/relationships/image" Target="../media/image83.png"/><Relationship Id="rId6" Type="http://schemas.openxmlformats.org/officeDocument/2006/relationships/image" Target="../media/image76.png"/><Relationship Id="rId7" Type="http://schemas.openxmlformats.org/officeDocument/2006/relationships/image" Target="../media/image8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Relationship Id="rId4" Type="http://schemas.openxmlformats.org/officeDocument/2006/relationships/image" Target="../media/image91.png"/><Relationship Id="rId5" Type="http://schemas.openxmlformats.org/officeDocument/2006/relationships/image" Target="../media/image77.png"/><Relationship Id="rId6" Type="http://schemas.openxmlformats.org/officeDocument/2006/relationships/image" Target="../media/image7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Relationship Id="rId4" Type="http://schemas.openxmlformats.org/officeDocument/2006/relationships/image" Target="../media/image7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Relationship Id="rId4" Type="http://schemas.openxmlformats.org/officeDocument/2006/relationships/image" Target="../media/image8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Relationship Id="rId4" Type="http://schemas.openxmlformats.org/officeDocument/2006/relationships/image" Target="../media/image9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Relationship Id="rId4" Type="http://schemas.openxmlformats.org/officeDocument/2006/relationships/image" Target="../media/image96.png"/><Relationship Id="rId5" Type="http://schemas.openxmlformats.org/officeDocument/2006/relationships/image" Target="../media/image86.png"/><Relationship Id="rId6" Type="http://schemas.openxmlformats.org/officeDocument/2006/relationships/image" Target="../media/image89.png"/><Relationship Id="rId7" Type="http://schemas.openxmlformats.org/officeDocument/2006/relationships/image" Target="../media/image9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Relationship Id="rId4" Type="http://schemas.openxmlformats.org/officeDocument/2006/relationships/image" Target="../media/image104.png"/><Relationship Id="rId5" Type="http://schemas.openxmlformats.org/officeDocument/2006/relationships/image" Target="../media/image102.png"/><Relationship Id="rId6" Type="http://schemas.openxmlformats.org/officeDocument/2006/relationships/image" Target="../media/image10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Relationship Id="rId4" Type="http://schemas.openxmlformats.org/officeDocument/2006/relationships/image" Target="../media/image10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Relationship Id="rId4" Type="http://schemas.openxmlformats.org/officeDocument/2006/relationships/image" Target="../media/image9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Relationship Id="rId4" Type="http://schemas.openxmlformats.org/officeDocument/2006/relationships/image" Target="../media/image9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Relationship Id="rId4" Type="http://schemas.openxmlformats.org/officeDocument/2006/relationships/image" Target="../media/image9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274320" y="274320"/>
            <a:ext cx="4023360" cy="4594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240"/>
              <a:buFont typeface="Lexend"/>
              <a:buNone/>
            </a:pPr>
            <a:r>
              <a:rPr b="1" i="0" lang="en-US" sz="32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Síntese dos Fundamentos da Comunicação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545C5C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Consolidação e Prática do Módulo 1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e45460d9-bfdc-4477-a734-4ab48a80fb5f/img_379b9aa93256c2669821136408adec15.pn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74320"/>
            <a:ext cx="4297680" cy="4594860"/>
          </a:xfrm>
          <a:prstGeom prst="roundRect">
            <a:avLst>
              <a:gd fmla="val 3191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e45460d9-bfdc-4477-a734-4ab48a80fb5f/img_318b4c2bdfd7a7fa24cbbb7a5853c2ac.png" id="23" name="Google Shape;2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/>
          <p:nvPr/>
        </p:nvSpPr>
        <p:spPr>
          <a:xfrm>
            <a:off x="274320" y="244602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custa uma mensagem truncada?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274320" y="3280410"/>
            <a:ext cx="859536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aviação, hospitais ou empresas,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uma palavra mal interpretada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pode causar prejuízos milionários ou colocar vidas em perigo imediato.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Transmitir dados não garante entendimento. Comunicar com excelência exige confirmar se o outro decodificou exatamente o sentido pretendido.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Objetivos de Aprendizagem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468630" y="15659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1108710" y="14058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Integrar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os 4 pilares do Módulo 1: elementos, eficácia, feedback e registros linguísticos.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1108710" y="256032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Diagnosticar e mapear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falhas graves de comunicação interna em cenários institucionais.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468630" y="387477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1108710" y="371475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Estruturar soluções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éticas com foco em clareza, integridade e transição para a oratória.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>
            <a:off x="274320" y="182880"/>
            <a:ext cx="8595360" cy="5372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Vocabulário Essencial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e45460d9-bfdc-4477-a734-4ab48a80fb5f/img_4537aafaf6348ad41852974f08a28176.png" id="47" name="Google Shape;4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84582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48" name="Google Shape;48;p6"/>
          <p:cNvSpPr/>
          <p:nvPr/>
        </p:nvSpPr>
        <p:spPr>
          <a:xfrm>
            <a:off x="274320" y="3086100"/>
            <a:ext cx="2011680" cy="1634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Síntese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Capacidade de condensar informações centrais com clareza.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e45460d9-bfdc-4477-a734-4ab48a80fb5f/img_f6b582b35bb8068207d39c8afc3c1511.png" id="49" name="Google Shape;4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8880" y="84582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0" name="Google Shape;50;p6"/>
          <p:cNvSpPr/>
          <p:nvPr/>
        </p:nvSpPr>
        <p:spPr>
          <a:xfrm>
            <a:off x="2468880" y="3086100"/>
            <a:ext cx="20116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Mapeamento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Identificação sistemática dos fluxos e ruídos no canal.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e45460d9-bfdc-4477-a734-4ab48a80fb5f/img_9904e90b229ec4b3991ba2a8d57cd768.png" id="51" name="Google Shape;5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84582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2" name="Google Shape;52;p6"/>
          <p:cNvSpPr/>
          <p:nvPr/>
        </p:nvSpPr>
        <p:spPr>
          <a:xfrm>
            <a:off x="4663440" y="3086100"/>
            <a:ext cx="20116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Contexto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Ambiente social e cultural que define o tom do diálogo.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e45460d9-bfdc-4477-a734-4ab48a80fb5f/img_432ebf5c66d9f71b589eaeb7cd5ec54e.png" id="53" name="Google Shape;5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84582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4" name="Google Shape;54;p6"/>
          <p:cNvSpPr/>
          <p:nvPr/>
        </p:nvSpPr>
        <p:spPr>
          <a:xfrm>
            <a:off x="6858000" y="3086100"/>
            <a:ext cx="20116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Integridade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Fidelidade aos fatos e ética no trato das informações.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/>
          <p:nvPr/>
        </p:nvSpPr>
        <p:spPr>
          <a:xfrm>
            <a:off x="274320" y="182880"/>
            <a:ext cx="450342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Circuito da Comunicação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274320" y="1405890"/>
            <a:ext cx="179451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t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CONCEITO-CHAVE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274320" y="1760220"/>
            <a:ext cx="4503420" cy="2868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Todo intercâmbio de mensagens depende de componentes dinâmicos integrados: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Emissor: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quem formula e codifica o conteúdo.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Mensagem: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 conteúdo estruturado e transmitido.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Canal: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 meio físico ou digital condutor.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Char char="•"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Receptor: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quem decodifica e interpreta o sinal.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e45460d9-bfdc-4477-a734-4ab48a80fb5f/img_2abf53f561e5267eb8b2284cb4619609.png" id="63" name="Google Shape;6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0620" y="182880"/>
            <a:ext cx="3909060" cy="34290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Os Três Pilares da Eficácia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e45460d9-bfdc-4477-a734-4ab48a80fb5f/img_8d49c02bcaabe7e0e4f9d6df56627867.png" id="70" name="Google Shape;7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71" name="Google Shape;71;p8"/>
          <p:cNvSpPr/>
          <p:nvPr/>
        </p:nvSpPr>
        <p:spPr>
          <a:xfrm>
            <a:off x="274320" y="2834640"/>
            <a:ext cx="2811780" cy="157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Clareza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Linguagem acessível e sem ambiguidades para evitar interpretações conflitantes pelo receptor.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e45460d9-bfdc-4477-a734-4ab48a80fb5f/img_09184fa2c09e7878571962848031d155.png" id="72" name="Google Shape;7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11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73" name="Google Shape;73;p8"/>
          <p:cNvSpPr/>
          <p:nvPr/>
        </p:nvSpPr>
        <p:spPr>
          <a:xfrm>
            <a:off x="3166110" y="2834640"/>
            <a:ext cx="2811780" cy="157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Objetividade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Foco estrito no que importa, eliminando redundâncias que sobrecarregam o tempo do destinatário.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e45460d9-bfdc-4477-a734-4ab48a80fb5f/img_047b1e591378c068541ce191026b4189.png" id="74" name="Google Shape;74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75" name="Google Shape;75;p8"/>
          <p:cNvSpPr/>
          <p:nvPr/>
        </p:nvSpPr>
        <p:spPr>
          <a:xfrm>
            <a:off x="6069330" y="2834640"/>
            <a:ext cx="2811780" cy="157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Respeito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Consideração pelo repertório do interlocutor, garantindo um ambiente aberto e construtivo.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"/>
          <p:cNvSpPr/>
          <p:nvPr/>
        </p:nvSpPr>
        <p:spPr>
          <a:xfrm>
            <a:off x="274320" y="182880"/>
            <a:ext cx="470916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Ciclo Vital do Feedback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9"/>
          <p:cNvSpPr/>
          <p:nvPr/>
        </p:nvSpPr>
        <p:spPr>
          <a:xfrm>
            <a:off x="274320" y="1405890"/>
            <a:ext cx="47091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comunicação é uma via de mão dupla. Sem o feedback, o emissor apenas </a:t>
            </a:r>
            <a:r>
              <a:rPr b="0" i="1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emite sinais no vácuo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sem comprovação de êxito.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retorno do receptor valida o entendimento, corrige ruídos e ajusta os próximos passos do trabalho coletivo.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274320" y="3371850"/>
            <a:ext cx="4709160" cy="1234440"/>
          </a:xfrm>
          <a:prstGeom prst="roundRect">
            <a:avLst>
              <a:gd fmla="val 7407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9"/>
          <p:cNvSpPr/>
          <p:nvPr/>
        </p:nvSpPr>
        <p:spPr>
          <a:xfrm>
            <a:off x="388620" y="3486150"/>
            <a:ext cx="320040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979"/>
              <a:buFont typeface="Lexend"/>
              <a:buNone/>
            </a:pPr>
            <a:r>
              <a:rPr b="0" i="0" lang="en-US" sz="198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📌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9"/>
          <p:cNvSpPr/>
          <p:nvPr/>
        </p:nvSpPr>
        <p:spPr>
          <a:xfrm>
            <a:off x="754380" y="3486150"/>
            <a:ext cx="4114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Definição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Feedback eficaz é específico, descritivo e orienta melhorias imediatas.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e45460d9-bfdc-4477-a734-4ab48a80fb5f/img_9604bcad26cf775a5c6f2b2f7d8f895b.png" id="86" name="Google Shape;8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6360" y="182880"/>
            <a:ext cx="3703320" cy="3246120"/>
          </a:xfrm>
          <a:prstGeom prst="roundRect">
            <a:avLst>
              <a:gd fmla="val 422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0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Registros Formais vs. Informais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0"/>
          <p:cNvSpPr/>
          <p:nvPr/>
        </p:nvSpPr>
        <p:spPr>
          <a:xfrm>
            <a:off x="274320" y="925830"/>
            <a:ext cx="4251960" cy="1977390"/>
          </a:xfrm>
          <a:prstGeom prst="roundRect">
            <a:avLst>
              <a:gd fmla="val 693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e45460d9-bfdc-4477-a734-4ab48a80fb5f/img_33151620b108656f66af9318fe506443.png"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0"/>
          <p:cNvSpPr/>
          <p:nvPr/>
        </p:nvSpPr>
        <p:spPr>
          <a:xfrm>
            <a:off x="1005840" y="1062990"/>
            <a:ext cx="338328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Registro Formal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Obedece à norma-padrão, com vocabulário preciso, sem gírias e com tratamento respeitoso (relatórios e ofícios).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0"/>
          <p:cNvSpPr/>
          <p:nvPr/>
        </p:nvSpPr>
        <p:spPr>
          <a:xfrm>
            <a:off x="4617720" y="925830"/>
            <a:ext cx="4251960" cy="1977390"/>
          </a:xfrm>
          <a:prstGeom prst="roundRect">
            <a:avLst>
              <a:gd fmla="val 693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e45460d9-bfdc-4477-a734-4ab48a80fb5f/img_89f52c220ef8d24cbb39cd2895f408c8.png" id="97" name="Google Shape;9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48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0"/>
          <p:cNvSpPr/>
          <p:nvPr/>
        </p:nvSpPr>
        <p:spPr>
          <a:xfrm>
            <a:off x="5349240" y="1062990"/>
            <a:ext cx="338328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Registro Informal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Espontâneo, aceita contrações e gírias leves; adequado entre amigos e familiares em situações descontraídas.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0"/>
          <p:cNvSpPr/>
          <p:nvPr/>
        </p:nvSpPr>
        <p:spPr>
          <a:xfrm>
            <a:off x="274320" y="2994660"/>
            <a:ext cx="4251960" cy="1977390"/>
          </a:xfrm>
          <a:prstGeom prst="roundRect">
            <a:avLst>
              <a:gd fmla="val 693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e45460d9-bfdc-4477-a734-4ab48a80fb5f/img_78a62ad7a6f71d8e2a8502d63f189ece.png" id="100" name="Google Shape;100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480" y="31318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/>
          <p:nvPr/>
        </p:nvSpPr>
        <p:spPr>
          <a:xfrm>
            <a:off x="1005840" y="3131820"/>
            <a:ext cx="338328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Riscos de Inadequação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Usar informalidade excessiva em relatórios compromete a credibilidade técnica e a imagem da equipe.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0"/>
          <p:cNvSpPr/>
          <p:nvPr/>
        </p:nvSpPr>
        <p:spPr>
          <a:xfrm>
            <a:off x="4617720" y="2994660"/>
            <a:ext cx="4251960" cy="1977390"/>
          </a:xfrm>
          <a:prstGeom prst="roundRect">
            <a:avLst>
              <a:gd fmla="val 693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e45460d9-bfdc-4477-a734-4ab48a80fb5f/img_0f1162d72caafde5305ebe0b0d2402be.png" id="103" name="Google Shape;103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4880" y="31318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0"/>
          <p:cNvSpPr/>
          <p:nvPr/>
        </p:nvSpPr>
        <p:spPr>
          <a:xfrm>
            <a:off x="5349240" y="3131820"/>
            <a:ext cx="338328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Adequação Situal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comunicador habilidoso ajusta o tom ao público-alvo, canal e objetivo específico da mensagem.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Adequação em Contexto Profissional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1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das seguintes abordagens demonstra a adequação linguística correta em um e-mail enviado a um cliente corporativo?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1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1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 aí pessoal, segue o anexo com as contas do mês pra vocês darem aquela olhada rápida!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1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1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Fala time, vejam logo esses papéis que mandei antes que dê ruim no fechamento da semana.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1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1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Oi galera! Tudo beleza? Olhem lá o arquivo que acabei de anexar pra ver se tá valendo.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1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1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Prezados Senhores, encaminhamos o relatório financeiro consolidado em anexo para validação de sua diretoria.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2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Adequação em Contexto Profissional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2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das seguintes abordagens demonstra a adequação linguística correta em um e-mail enviado a um cliente corporativo?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2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 aí pessoal, segue o anexo com as contas do mês pra vocês darem aquela olhada rápida!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Fala time, vejam logo esses papéis que mandei antes que dê ruim no fechamento da semana.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2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2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Oi galera! Tudo beleza? Olhem lá o arquivo que acabei de anexar pra ver se tá valendo.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2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2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Prezados Senhores, encaminhamos o relatório financeiro consolidado em anexo para validação de sua diretoria.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2"/>
          <p:cNvSpPr/>
          <p:nvPr/>
        </p:nvSpPr>
        <p:spPr>
          <a:xfrm>
            <a:off x="8721090" y="40919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Quatro Causas de Falha Interna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3"/>
          <p:cNvSpPr/>
          <p:nvPr/>
        </p:nvSpPr>
        <p:spPr>
          <a:xfrm>
            <a:off x="2743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e45460d9-bfdc-4477-a734-4ab48a80fb5f/img_f95ee92bda0ac2714fe3cda5ca32c4de.png" id="144" name="Google Shape;14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3"/>
          <p:cNvSpPr/>
          <p:nvPr/>
        </p:nvSpPr>
        <p:spPr>
          <a:xfrm>
            <a:off x="1005840" y="1062990"/>
            <a:ext cx="33832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Silos Departamentais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Setores retêm informações cruciais por falta de integração ou rivalidade interna desnecessária.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3"/>
          <p:cNvSpPr/>
          <p:nvPr/>
        </p:nvSpPr>
        <p:spPr>
          <a:xfrm>
            <a:off x="46177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e45460d9-bfdc-4477-a734-4ab48a80fb5f/img_d4176e3749ef64b0733a2054be123b60.png" id="147" name="Google Shape;14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48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3"/>
          <p:cNvSpPr/>
          <p:nvPr/>
        </p:nvSpPr>
        <p:spPr>
          <a:xfrm>
            <a:off x="5349240" y="1062990"/>
            <a:ext cx="33832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Jargão Excessivo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Equipes de TI ou Finanças usando termos herméticos com áreas de atendimento ou vendas.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3"/>
          <p:cNvSpPr/>
          <p:nvPr/>
        </p:nvSpPr>
        <p:spPr>
          <a:xfrm>
            <a:off x="2743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e45460d9-bfdc-4477-a734-4ab48a80fb5f/img_2edae8a9f6245cd0ad5e9d92561870c4.png" id="150" name="Google Shape;15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480" y="30861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3"/>
          <p:cNvSpPr/>
          <p:nvPr/>
        </p:nvSpPr>
        <p:spPr>
          <a:xfrm>
            <a:off x="1005840" y="3086100"/>
            <a:ext cx="3383280" cy="157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Canais Descentralizados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Mensagens espalhadas por WhatsApp, notas adesivas e conversas de corredor sem registro formal.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3"/>
          <p:cNvSpPr/>
          <p:nvPr/>
        </p:nvSpPr>
        <p:spPr>
          <a:xfrm>
            <a:off x="46177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e45460d9-bfdc-4477-a734-4ab48a80fb5f/img_20941012420128cd5b5d920278fbe678.png" id="153" name="Google Shape;153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4880" y="30861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3"/>
          <p:cNvSpPr/>
          <p:nvPr/>
        </p:nvSpPr>
        <p:spPr>
          <a:xfrm>
            <a:off x="5349240" y="3086100"/>
            <a:ext cx="33832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Instruções Vagas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Prazos indefinidos ou tarefas atribuídas a múltiplos responsáveis sem dono identificado.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"/>
          <p:cNvSpPr/>
          <p:nvPr/>
        </p:nvSpPr>
        <p:spPr>
          <a:xfrm>
            <a:off x="274320" y="182880"/>
            <a:ext cx="470916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Estudo de Caso: Hospital Central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4"/>
          <p:cNvSpPr/>
          <p:nvPr/>
        </p:nvSpPr>
        <p:spPr>
          <a:xfrm>
            <a:off x="274320" y="1405890"/>
            <a:ext cx="4709160" cy="2080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equipe de Farmácia enviou por memorando interno a alteração na dosagem padrão de um analgésico.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setor de Enfermagem só recebeu o comunicado 48 horas depois, pois a circular ficou retida na caixa de entrada geral sem aviso de urgência nem confirmação de leitura.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4"/>
          <p:cNvSpPr/>
          <p:nvPr/>
        </p:nvSpPr>
        <p:spPr>
          <a:xfrm>
            <a:off x="274320" y="3623310"/>
            <a:ext cx="4709160" cy="1485900"/>
          </a:xfrm>
          <a:prstGeom prst="roundRect">
            <a:avLst>
              <a:gd fmla="val 6154" name="adj"/>
            </a:avLst>
          </a:prstGeom>
          <a:solidFill>
            <a:srgbClr val="FCEBEB"/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4"/>
          <p:cNvSpPr/>
          <p:nvPr/>
        </p:nvSpPr>
        <p:spPr>
          <a:xfrm>
            <a:off x="388620" y="3737610"/>
            <a:ext cx="320040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1979"/>
              <a:buFont typeface="Lexend"/>
              <a:buNone/>
            </a:pPr>
            <a:r>
              <a:rPr b="0" i="0" lang="en-US" sz="198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⚠️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4"/>
          <p:cNvSpPr/>
          <p:nvPr/>
        </p:nvSpPr>
        <p:spPr>
          <a:xfrm>
            <a:off x="754380" y="3657600"/>
            <a:ext cx="41148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Impacto Crítico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460606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Três pacientes receberam doses incorretas por ausência de canal ágil e feedback obrigatório.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e45460d9-bfdc-4477-a734-4ab48a80fb5f/img_f5b8d4898160df9df1cbe764419fb57d.png" id="165" name="Google Shape;16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6360" y="182880"/>
            <a:ext cx="3703320" cy="3246120"/>
          </a:xfrm>
          <a:prstGeom prst="roundRect">
            <a:avLst>
              <a:gd fmla="val 422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"/>
          <p:cNvSpPr/>
          <p:nvPr/>
        </p:nvSpPr>
        <p:spPr>
          <a:xfrm>
            <a:off x="274320" y="182880"/>
            <a:ext cx="27432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Diagnóstico de Falhas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5"/>
          <p:cNvSpPr/>
          <p:nvPr/>
        </p:nvSpPr>
        <p:spPr>
          <a:xfrm>
            <a:off x="274320" y="1360170"/>
            <a:ext cx="2743200" cy="674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Análise dos ruídos no caso hospitalar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e45460d9-bfdc-4477-a734-4ab48a80fb5f/img_bda8385ccda32b27c6e10894a120e48f.png" id="173" name="Google Shape;17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12598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5"/>
          <p:cNvSpPr/>
          <p:nvPr/>
        </p:nvSpPr>
        <p:spPr>
          <a:xfrm>
            <a:off x="3291840" y="937260"/>
            <a:ext cx="5577840" cy="1497330"/>
          </a:xfrm>
          <a:prstGeom prst="roundRect">
            <a:avLst>
              <a:gd fmla="val 6107" name="adj"/>
            </a:avLst>
          </a:prstGeom>
          <a:solidFill>
            <a:srgbClr val="F0F1F1"/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48575" lIns="148575" spcFirstLastPara="1" rIns="148575" wrap="square" tIns="14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Inadequação do Canal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Usar e-mail comum assíncrono para decisões críticas e urgentes que exigem alinhamento síncrono imediato.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5"/>
          <p:cNvSpPr/>
          <p:nvPr/>
        </p:nvSpPr>
        <p:spPr>
          <a:xfrm>
            <a:off x="3291840" y="2617470"/>
            <a:ext cx="5577840" cy="1497330"/>
          </a:xfrm>
          <a:prstGeom prst="roundRect">
            <a:avLst>
              <a:gd fmla="val 6107" name="adj"/>
            </a:avLst>
          </a:prstGeom>
          <a:solidFill>
            <a:srgbClr val="F0F1F1"/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48575" lIns="148575" spcFirstLastPara="1" rIns="148575" wrap="square" tIns="14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Suposição no Feedback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emissor (Farmácia) presumiu que a mensagem fora lida sem exigir confirmação ativa de recebimento.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"/>
          <p:cNvSpPr/>
          <p:nvPr/>
        </p:nvSpPr>
        <p:spPr>
          <a:xfrm>
            <a:off x="274320" y="182880"/>
            <a:ext cx="8595360" cy="5372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Mapeando com a Matriz 5W2H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e45460d9-bfdc-4477-a734-4ab48a80fb5f/img_092ff3234314604ffe65dae2e3977aba.png" id="182" name="Google Shape;18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84582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183" name="Google Shape;183;p16"/>
          <p:cNvSpPr/>
          <p:nvPr/>
        </p:nvSpPr>
        <p:spPr>
          <a:xfrm>
            <a:off x="274320" y="3086100"/>
            <a:ext cx="20116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Quê / Por Quê: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Definir o objetivo da mensagem e sua real necessidade.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e45460d9-bfdc-4477-a734-4ab48a80fb5f/img_d14202ab9902d225fe6c43d47f5a05c2.png" id="184" name="Google Shape;18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8880" y="84582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185" name="Google Shape;185;p16"/>
          <p:cNvSpPr/>
          <p:nvPr/>
        </p:nvSpPr>
        <p:spPr>
          <a:xfrm>
            <a:off x="2468880" y="3086100"/>
            <a:ext cx="20116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Quando / Onde: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Definir prazos de envio e os canais adequados.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e45460d9-bfdc-4477-a734-4ab48a80fb5f/img_6a65f9d6569bea5a030e87b6eb72f94c.png" id="186" name="Google Shape;18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84582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187" name="Google Shape;187;p16"/>
          <p:cNvSpPr/>
          <p:nvPr/>
        </p:nvSpPr>
        <p:spPr>
          <a:xfrm>
            <a:off x="4663440" y="3086100"/>
            <a:ext cx="20116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Quem: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Indicar emissor e receptores diretos da mensagem.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e45460d9-bfdc-4477-a734-4ab48a80fb5f/img_bbd83b29ea42a694c4db3cf0ea8fe469.png" id="188" name="Google Shape;18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84582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189" name="Google Shape;189;p16"/>
          <p:cNvSpPr/>
          <p:nvPr/>
        </p:nvSpPr>
        <p:spPr>
          <a:xfrm>
            <a:off x="6858000" y="3086100"/>
            <a:ext cx="20116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Como / Quanto: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Descrever a execução e métricas de retorno.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Matriz de Comunicação (RACI)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7"/>
          <p:cNvSpPr/>
          <p:nvPr/>
        </p:nvSpPr>
        <p:spPr>
          <a:xfrm>
            <a:off x="274320" y="1017270"/>
            <a:ext cx="4206240" cy="1840230"/>
          </a:xfrm>
          <a:prstGeom prst="roundRect">
            <a:avLst>
              <a:gd fmla="val 745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e45460d9-bfdc-4477-a734-4ab48a80fb5f/img_e8e7f951146cf4dee0c063c661207213.png" id="197" name="Google Shape;19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910" y="11658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7"/>
          <p:cNvSpPr/>
          <p:nvPr/>
        </p:nvSpPr>
        <p:spPr>
          <a:xfrm>
            <a:off x="1062990" y="1165860"/>
            <a:ext cx="326898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Responsável (R)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Quem executa a tarefa ou redige o comunicado técnico inicial.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/>
          <p:cNvSpPr/>
          <p:nvPr/>
        </p:nvSpPr>
        <p:spPr>
          <a:xfrm>
            <a:off x="4663440" y="1017270"/>
            <a:ext cx="4206240" cy="1840230"/>
          </a:xfrm>
          <a:prstGeom prst="roundRect">
            <a:avLst>
              <a:gd fmla="val 745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e45460d9-bfdc-4477-a734-4ab48a80fb5f/img_66c30829fac1211456e8a515f93f2bd8.png" id="200" name="Google Shape;20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2030" y="11658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7"/>
          <p:cNvSpPr/>
          <p:nvPr/>
        </p:nvSpPr>
        <p:spPr>
          <a:xfrm>
            <a:off x="5452110" y="1165860"/>
            <a:ext cx="326898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Aprovador (A)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Quem responde pelo resultado e valida formalmente a transmissão.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"/>
          <p:cNvSpPr/>
          <p:nvPr/>
        </p:nvSpPr>
        <p:spPr>
          <a:xfrm>
            <a:off x="274320" y="3040380"/>
            <a:ext cx="4206240" cy="1840230"/>
          </a:xfrm>
          <a:prstGeom prst="roundRect">
            <a:avLst>
              <a:gd fmla="val 745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e45460d9-bfdc-4477-a734-4ab48a80fb5f/img_720e9c9b960876ceff5d09316900208d.png" id="203" name="Google Shape;20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2910" y="318897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7"/>
          <p:cNvSpPr/>
          <p:nvPr/>
        </p:nvSpPr>
        <p:spPr>
          <a:xfrm>
            <a:off x="1062990" y="3188970"/>
            <a:ext cx="326898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Consultado (C)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Especialistas ouvidos antes da emissão da mensagem definitiva.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4663440" y="3040380"/>
            <a:ext cx="4206240" cy="1840230"/>
          </a:xfrm>
          <a:prstGeom prst="roundRect">
            <a:avLst>
              <a:gd fmla="val 745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e45460d9-bfdc-4477-a734-4ab48a80fb5f/img_7c6604d81ccf67281cae18eb736bc477.png" id="206" name="Google Shape;20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12030" y="318897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7"/>
          <p:cNvSpPr/>
          <p:nvPr/>
        </p:nvSpPr>
        <p:spPr>
          <a:xfrm>
            <a:off x="5452110" y="3188970"/>
            <a:ext cx="326898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Informado (I)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Pessoas que recebem a notificação apenas para acompanhamento.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"/>
          <p:cNvSpPr/>
          <p:nvPr/>
        </p:nvSpPr>
        <p:spPr>
          <a:xfrm>
            <a:off x="274320" y="182880"/>
            <a:ext cx="8595360" cy="5372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Etapas para Resolver Ruídos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e45460d9-bfdc-4477-a734-4ab48a80fb5f/img_e38cb9a77902cbf4ee4db83f58944292.png" id="214" name="Google Shape;21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84582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215" name="Google Shape;215;p18"/>
          <p:cNvSpPr/>
          <p:nvPr/>
        </p:nvSpPr>
        <p:spPr>
          <a:xfrm>
            <a:off x="182880" y="301752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274320" y="3543300"/>
            <a:ext cx="201168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Identificar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Localizar onde a mensagem sofreu distorção no circuito.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e45460d9-bfdc-4477-a734-4ab48a80fb5f/img_cd7887014a7d39353c7081d8d647a0fd.png" id="217" name="Google Shape;21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8880" y="84582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218" name="Google Shape;218;p18"/>
          <p:cNvSpPr/>
          <p:nvPr/>
        </p:nvSpPr>
        <p:spPr>
          <a:xfrm>
            <a:off x="2377440" y="301752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2468880" y="3543300"/>
            <a:ext cx="201168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Rastrear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Checar canal, registro linguístico e código empregado.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e45460d9-bfdc-4477-a734-4ab48a80fb5f/img_20f4e70cbd160992a4e218f2515865d9.png" id="220" name="Google Shape;22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84582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221" name="Google Shape;221;p18"/>
          <p:cNvSpPr/>
          <p:nvPr/>
        </p:nvSpPr>
        <p:spPr>
          <a:xfrm>
            <a:off x="4572000" y="301752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8"/>
          <p:cNvSpPr/>
          <p:nvPr/>
        </p:nvSpPr>
        <p:spPr>
          <a:xfrm>
            <a:off x="4663440" y="3543300"/>
            <a:ext cx="201168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Padronizar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Definir modelo oficial de texto e canal adequado.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e45460d9-bfdc-4477-a734-4ab48a80fb5f/img_84516d5cabe307e82509cb383ca657d9.png" id="223" name="Google Shape;22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84582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224" name="Google Shape;224;p18"/>
          <p:cNvSpPr/>
          <p:nvPr/>
        </p:nvSpPr>
        <p:spPr>
          <a:xfrm>
            <a:off x="6766560" y="301752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8"/>
          <p:cNvSpPr/>
          <p:nvPr/>
        </p:nvSpPr>
        <p:spPr>
          <a:xfrm>
            <a:off x="6858000" y="3543300"/>
            <a:ext cx="201168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 Validar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Confirmar a compreensão mútua do comunicado.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e45460d9-bfdc-4477-a734-4ab48a80fb5f/img_9060225162336b21d68ee6564e7883cb.png" id="231" name="Google Shape;23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9"/>
          <p:cNvSpPr/>
          <p:nvPr/>
        </p:nvSpPr>
        <p:spPr>
          <a:xfrm>
            <a:off x="605790" y="1634490"/>
            <a:ext cx="794385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 Influência da Cultura Organizacional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274320" y="2377440"/>
            <a:ext cx="8595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 forma como as pessoas interagem reflete os valores e a hierarquia da instituição. Ambientes abertos estimulam questionamentos e inovação; culturas rígidas exigem validações formais estritas.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e45460d9-bfdc-4477-a734-4ab48a80fb5f/img_281f34fb034fd0e4e27ba9ec8379cd73.png" id="240" name="Google Shape;24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8288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41" name="Google Shape;241;p20"/>
          <p:cNvSpPr/>
          <p:nvPr/>
        </p:nvSpPr>
        <p:spPr>
          <a:xfrm>
            <a:off x="274320" y="2354580"/>
            <a:ext cx="420624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Cultura Tradicional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Forte hierarquia, memorandos numerados e protocolos formais rígidos para qualquer alinhamento entre áreas.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e45460d9-bfdc-4477-a734-4ab48a80fb5f/img_7170fbff06c44d1a2807e22bf933bb44.png" id="242" name="Google Shape;24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440" y="18288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43" name="Google Shape;243;p20"/>
          <p:cNvSpPr/>
          <p:nvPr/>
        </p:nvSpPr>
        <p:spPr>
          <a:xfrm>
            <a:off x="4663440" y="2354580"/>
            <a:ext cx="420624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Cultura Horizontal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Comunicação direta entre níveis funcionais por chats internos, com foco em agilidade e respostas imediatas.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"/>
          <p:cNvSpPr/>
          <p:nvPr/>
        </p:nvSpPr>
        <p:spPr>
          <a:xfrm>
            <a:off x="274320" y="182880"/>
            <a:ext cx="41148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Impacto no Sucesso Profissional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274320" y="1405890"/>
            <a:ext cx="179451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t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CONCEITO-CHAVE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274320" y="1760220"/>
            <a:ext cx="4114800" cy="291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Pesquisas globais mostram que a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clareza e capacidade de síntese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superam o conhecimento técnico isolado no desenvolvimento de carreira.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Profissionais que dominam oratória, redação objetiva e escuta ativa lideram projetos e constroem redes sólidas de colaboração.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e45460d9-bfdc-4477-a734-4ab48a80fb5f/img_59833f3d6f016eb43ceea9ff788fa5c4.png" id="252" name="Google Shape;25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2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Comunicação no Ambiente Acadêmico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274320" y="925830"/>
            <a:ext cx="4251960" cy="1977390"/>
          </a:xfrm>
          <a:prstGeom prst="roundRect">
            <a:avLst>
              <a:gd fmla="val 693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e45460d9-bfdc-4477-a734-4ab48a80fb5f/img_dcfc552e87e704187c057b37bab462ac.png" id="260" name="Google Shape;26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2"/>
          <p:cNvSpPr/>
          <p:nvPr/>
        </p:nvSpPr>
        <p:spPr>
          <a:xfrm>
            <a:off x="1005840" y="1062990"/>
            <a:ext cx="338328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Rigor Conceitual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Uso correto de conceitos técnicos e fundamentação teórica sólida em seminários e redações acadêmicas.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4617720" y="925830"/>
            <a:ext cx="4251960" cy="1977390"/>
          </a:xfrm>
          <a:prstGeom prst="roundRect">
            <a:avLst>
              <a:gd fmla="val 693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e45460d9-bfdc-4477-a734-4ab48a80fb5f/img_5619c9f32aec7f5279a5735be316a12f.png" id="263" name="Google Shape;26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48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2"/>
          <p:cNvSpPr/>
          <p:nvPr/>
        </p:nvSpPr>
        <p:spPr>
          <a:xfrm>
            <a:off x="5349240" y="1062990"/>
            <a:ext cx="338328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Trabalho em Grupo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Divisão transparente de papéis e alinhamento constante de prazos evitam retrabalho e desentendimentos.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274320" y="2994660"/>
            <a:ext cx="4251960" cy="1977390"/>
          </a:xfrm>
          <a:prstGeom prst="roundRect">
            <a:avLst>
              <a:gd fmla="val 693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e45460d9-bfdc-4477-a734-4ab48a80fb5f/img_ce239f2b63a3b21a42ffd5da2fe775ec.png" id="266" name="Google Shape;26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480" y="31318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2"/>
          <p:cNvSpPr/>
          <p:nvPr/>
        </p:nvSpPr>
        <p:spPr>
          <a:xfrm>
            <a:off x="1005840" y="3131820"/>
            <a:ext cx="338328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Defesa de Ideias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Capacidade de argumentar com dados verificáveis sem recorrer a ataques pessoais ou falácias.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4617720" y="2994660"/>
            <a:ext cx="4251960" cy="1977390"/>
          </a:xfrm>
          <a:prstGeom prst="roundRect">
            <a:avLst>
              <a:gd fmla="val 693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e45460d9-bfdc-4477-a734-4ab48a80fb5f/img_a20848583645a42874d69a0da11190f8.png" id="269" name="Google Shape;269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4880" y="31318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2"/>
          <p:cNvSpPr/>
          <p:nvPr/>
        </p:nvSpPr>
        <p:spPr>
          <a:xfrm>
            <a:off x="5349240" y="3131820"/>
            <a:ext cx="338328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Recepção de Críticas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Encarar correções de professores e colegas como combustível para refinamento contínuo do texto.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3"/>
          <p:cNvSpPr/>
          <p:nvPr/>
        </p:nvSpPr>
        <p:spPr>
          <a:xfrm>
            <a:off x="274320" y="182880"/>
            <a:ext cx="470916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Ética no Tratamento de Dados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274320" y="1405890"/>
            <a:ext cx="4709160" cy="1565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 ambiente profissional e corporativo, comunicar exige </a:t>
            </a: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responsabilidade jurídica e ética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compartilhamento irresponsável de relatórios confidenciais viola a legislação de proteção de dados (LGPD) e destrói reputações.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274320" y="3108960"/>
            <a:ext cx="4709160" cy="1234440"/>
          </a:xfrm>
          <a:prstGeom prst="roundRect">
            <a:avLst>
              <a:gd fmla="val 7407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3"/>
          <p:cNvSpPr/>
          <p:nvPr/>
        </p:nvSpPr>
        <p:spPr>
          <a:xfrm>
            <a:off x="388620" y="3223260"/>
            <a:ext cx="320040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979"/>
              <a:buFont typeface="Lexend"/>
              <a:buNone/>
            </a:pPr>
            <a:r>
              <a:rPr b="0" i="0" lang="en-US" sz="198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🧠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754380" y="3223260"/>
            <a:ext cx="4114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Antes de enviar, verifique quem realmente tem autorização para receber tais dados.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e45460d9-bfdc-4477-a734-4ab48a80fb5f/img_14354117f42db6604ca758763b0c3cdb.png" id="281" name="Google Shape;28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6360" y="182880"/>
            <a:ext cx="3703320" cy="3246120"/>
          </a:xfrm>
          <a:prstGeom prst="roundRect">
            <a:avLst>
              <a:gd fmla="val 422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4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Responsabilidade ao Compartilhar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e45460d9-bfdc-4477-a734-4ab48a80fb5f/img_7a836b287daa6dded2e24b86c5096017.png" id="288" name="Google Shape;28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289" name="Google Shape;289;p24"/>
          <p:cNvSpPr/>
          <p:nvPr/>
        </p:nvSpPr>
        <p:spPr>
          <a:xfrm>
            <a:off x="274320" y="2834640"/>
            <a:ext cx="2811780" cy="157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Verificação Prévia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Confirmar a fonte primária e a exatidão dos números antes de repassar qualquer relatório interno.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e45460d9-bfdc-4477-a734-4ab48a80fb5f/img_1b39af5ed9d53aa3ac36f9224ef36424.png" id="290" name="Google Shape;29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11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291" name="Google Shape;291;p24"/>
          <p:cNvSpPr/>
          <p:nvPr/>
        </p:nvSpPr>
        <p:spPr>
          <a:xfrm>
            <a:off x="3166110" y="2834640"/>
            <a:ext cx="2811780" cy="1840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Sigilo Profissional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Respeitar informações estratégicas corporativas que não devem circular em grupos informais de mensagem.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e45460d9-bfdc-4477-a734-4ab48a80fb5f/img_2c5c373f3ae166f4921eb418240707d3.png" id="292" name="Google Shape;292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293" name="Google Shape;293;p24"/>
          <p:cNvSpPr/>
          <p:nvPr/>
        </p:nvSpPr>
        <p:spPr>
          <a:xfrm>
            <a:off x="6069330" y="2834640"/>
            <a:ext cx="2811780" cy="1577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Transparência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Dar crédito à autoria de ideias e dados de colegas, promovendo honestidade intelectual irrestrita.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5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Conexões Conceituais do Módulo 1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5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5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Ruído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5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Registro Formal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5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5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5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do receptor que valida a decodificação da mensagem.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5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Variedade linguística que atende às normas institucionais.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Qualquer perturbação ou barreira que prejudica a comunicação.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5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Meio material ou digital por onde trafega a informação.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6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Conexões Conceituais do Módulo 1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6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6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Ruído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6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Registro Formal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6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6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6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do receptor que valida a decodificação da mensagem.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6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Variedade linguística que atende às normas institucionais.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6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Qualquer perturbação ou barreira que prejudica a comunicação.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6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Meio material ou digital por onde trafega a informação.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6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5" name="Google Shape;325;p26"/>
          <p:cNvCxnSpPr/>
          <p:nvPr/>
        </p:nvCxnSpPr>
        <p:spPr>
          <a:xfrm>
            <a:off x="2571750" y="1623060"/>
            <a:ext cx="994410" cy="1858518"/>
          </a:xfrm>
          <a:prstGeom prst="straightConnector1">
            <a:avLst/>
          </a:prstGeom>
          <a:noFill/>
          <a:ln cap="flat" cmpd="sng" w="285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6" name="Google Shape;326;p26"/>
          <p:cNvCxnSpPr/>
          <p:nvPr/>
        </p:nvCxnSpPr>
        <p:spPr>
          <a:xfrm>
            <a:off x="2571750" y="2537460"/>
            <a:ext cx="994410" cy="29718"/>
          </a:xfrm>
          <a:prstGeom prst="straightConnector1">
            <a:avLst/>
          </a:prstGeom>
          <a:noFill/>
          <a:ln cap="flat" cmpd="sng" w="285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7" name="Google Shape;327;p26"/>
          <p:cNvCxnSpPr/>
          <p:nvPr/>
        </p:nvCxnSpPr>
        <p:spPr>
          <a:xfrm flipH="1" rot="10800000">
            <a:off x="2571750" y="1652778"/>
            <a:ext cx="994410" cy="1799082"/>
          </a:xfrm>
          <a:prstGeom prst="straightConnector1">
            <a:avLst/>
          </a:prstGeom>
          <a:noFill/>
          <a:ln cap="flat" cmpd="sng" w="285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8" name="Google Shape;328;p26"/>
          <p:cNvCxnSpPr/>
          <p:nvPr/>
        </p:nvCxnSpPr>
        <p:spPr>
          <a:xfrm>
            <a:off x="2571750" y="4366260"/>
            <a:ext cx="994410" cy="29718"/>
          </a:xfrm>
          <a:prstGeom prst="straightConnector1">
            <a:avLst/>
          </a:prstGeom>
          <a:noFill/>
          <a:ln cap="flat" cmpd="sng" w="285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9" name="Google Shape;329;p26"/>
          <p:cNvSpPr/>
          <p:nvPr/>
        </p:nvSpPr>
        <p:spPr>
          <a:xfrm>
            <a:off x="3394710" y="33101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09E9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6"/>
          <p:cNvSpPr/>
          <p:nvPr/>
        </p:nvSpPr>
        <p:spPr>
          <a:xfrm>
            <a:off x="3394710" y="23957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9036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6"/>
          <p:cNvSpPr/>
          <p:nvPr/>
        </p:nvSpPr>
        <p:spPr>
          <a:xfrm>
            <a:off x="3394710" y="14813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68C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6"/>
          <p:cNvSpPr/>
          <p:nvPr/>
        </p:nvSpPr>
        <p:spPr>
          <a:xfrm>
            <a:off x="3394710" y="42245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579A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7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Mapa Conceitual do Módulo 1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7"/>
          <p:cNvSpPr/>
          <p:nvPr/>
        </p:nvSpPr>
        <p:spPr>
          <a:xfrm>
            <a:off x="274320" y="925830"/>
            <a:ext cx="4251960" cy="1977390"/>
          </a:xfrm>
          <a:prstGeom prst="roundRect">
            <a:avLst>
              <a:gd fmla="val 693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e45460d9-bfdc-4477-a734-4ab48a80fb5f/img_8db5fe0373b9975a3949355b2c5d84cf.png" id="340" name="Google Shape;34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7"/>
          <p:cNvSpPr/>
          <p:nvPr/>
        </p:nvSpPr>
        <p:spPr>
          <a:xfrm>
            <a:off x="1005840" y="1062990"/>
            <a:ext cx="338328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O Processo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Emissor, Receptor, Canal, Mensagem, Código e Ruído articulados em ciclo contínuo.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7"/>
          <p:cNvSpPr/>
          <p:nvPr/>
        </p:nvSpPr>
        <p:spPr>
          <a:xfrm>
            <a:off x="4617720" y="925830"/>
            <a:ext cx="4251960" cy="1977390"/>
          </a:xfrm>
          <a:prstGeom prst="roundRect">
            <a:avLst>
              <a:gd fmla="val 693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e45460d9-bfdc-4477-a734-4ab48a80fb5f/img_cf58e0a0125f7ba43fd668dde3d35a35.png" id="343" name="Google Shape;34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48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7"/>
          <p:cNvSpPr/>
          <p:nvPr/>
        </p:nvSpPr>
        <p:spPr>
          <a:xfrm>
            <a:off x="5349240" y="1062990"/>
            <a:ext cx="338328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A Eficácia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Sustentada pelo tripé inegociável: clareza na linguagem, objetividade no tempo e respeito mútuo.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7"/>
          <p:cNvSpPr/>
          <p:nvPr/>
        </p:nvSpPr>
        <p:spPr>
          <a:xfrm>
            <a:off x="274320" y="2994660"/>
            <a:ext cx="4251960" cy="1977390"/>
          </a:xfrm>
          <a:prstGeom prst="roundRect">
            <a:avLst>
              <a:gd fmla="val 693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e45460d9-bfdc-4477-a734-4ab48a80fb5f/img_cb638d03ea453e934642f26dbfcdbb3c.png" id="346" name="Google Shape;346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480" y="31318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7"/>
          <p:cNvSpPr/>
          <p:nvPr/>
        </p:nvSpPr>
        <p:spPr>
          <a:xfrm>
            <a:off x="1005840" y="3131820"/>
            <a:ext cx="338328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O Feedback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Validação obrigatória que transforma mera emissão de sinais em comunicação compreendida.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7"/>
          <p:cNvSpPr/>
          <p:nvPr/>
        </p:nvSpPr>
        <p:spPr>
          <a:xfrm>
            <a:off x="4617720" y="2994660"/>
            <a:ext cx="4251960" cy="1977390"/>
          </a:xfrm>
          <a:prstGeom prst="roundRect">
            <a:avLst>
              <a:gd fmla="val 693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e45460d9-bfdc-4477-a734-4ab48a80fb5f/img_c959251aff946091abd5cad45e5358a9.png" id="349" name="Google Shape;349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4880" y="31318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7"/>
          <p:cNvSpPr/>
          <p:nvPr/>
        </p:nvSpPr>
        <p:spPr>
          <a:xfrm>
            <a:off x="5349240" y="3131820"/>
            <a:ext cx="338328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 A Adequação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Escolha consciente entre registros formais e informais conforme o contexto e o interlocutor.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8"/>
          <p:cNvSpPr/>
          <p:nvPr/>
        </p:nvSpPr>
        <p:spPr>
          <a:xfrm>
            <a:off x="274320" y="182880"/>
            <a:ext cx="8595360" cy="5372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Guia do Mapa Conceitual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e45460d9-bfdc-4477-a734-4ab48a80fb5f/img_e7ab6cc1a1addf6c8b9b19c4c6d33777.png" id="357" name="Google Shape;35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84582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58" name="Google Shape;358;p28"/>
          <p:cNvSpPr/>
          <p:nvPr/>
        </p:nvSpPr>
        <p:spPr>
          <a:xfrm>
            <a:off x="182880" y="301752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8"/>
          <p:cNvSpPr/>
          <p:nvPr/>
        </p:nvSpPr>
        <p:spPr>
          <a:xfrm>
            <a:off x="274320" y="3543300"/>
            <a:ext cx="27432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Termo Central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Posicione Comunicação Eficaz no centro da sua folha.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e45460d9-bfdc-4477-a734-4ab48a80fb5f/img_ef2bfff5bed9aa97b8e1f6a8daf44378.png" id="360" name="Google Shape;360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84582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61" name="Google Shape;361;p28"/>
          <p:cNvSpPr/>
          <p:nvPr/>
        </p:nvSpPr>
        <p:spPr>
          <a:xfrm>
            <a:off x="3108960" y="301752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8"/>
          <p:cNvSpPr/>
          <p:nvPr/>
        </p:nvSpPr>
        <p:spPr>
          <a:xfrm>
            <a:off x="3200400" y="3543300"/>
            <a:ext cx="27432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Quatro Ramos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Conecte os 4 pilares: Processo, Eficácia, Retorno e Registro.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e45460d9-bfdc-4477-a734-4ab48a80fb5f/img_9190385b203628c5c3763c213ad63e29.png" id="363" name="Google Shape;363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0" y="84582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64" name="Google Shape;364;p28"/>
          <p:cNvSpPr/>
          <p:nvPr/>
        </p:nvSpPr>
        <p:spPr>
          <a:xfrm>
            <a:off x="6035040" y="301752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8"/>
          <p:cNvSpPr/>
          <p:nvPr/>
        </p:nvSpPr>
        <p:spPr>
          <a:xfrm>
            <a:off x="6126480" y="3543300"/>
            <a:ext cx="27432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Verbos de Ligação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Ligue ideias com verbos como exige ou gera.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e45460d9-bfdc-4477-a734-4ab48a80fb5f/img_1198f6ede5e2216c51986e3c51e1178b.png" id="371" name="Google Shape;37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6280" y="765810"/>
            <a:ext cx="4457700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Construa seu Mapa Conceitual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9"/>
          <p:cNvSpPr/>
          <p:nvPr/>
        </p:nvSpPr>
        <p:spPr>
          <a:xfrm>
            <a:off x="285750" y="925830"/>
            <a:ext cx="4263390" cy="38976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uma folha sulfite ou ferramenta digital, monte seu mapa conceitual unindo os 4 pilares do Módulo 1. Inclua obrigatoriamente: Processo Comunicativo, Feedback, Registros Linguísticos e Eficácia. Use flechas com verbos de conexão para justificar cada elo conceitual.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você vai precisar: 🎨 🖌️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Folha em branco, canetas coloridas ou software de mapa mental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0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Autoavaliação de Competências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0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30"/>
          <p:cNvSpPr/>
          <p:nvPr/>
        </p:nvSpPr>
        <p:spPr>
          <a:xfrm>
            <a:off x="468630" y="15659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0"/>
          <p:cNvSpPr/>
          <p:nvPr/>
        </p:nvSpPr>
        <p:spPr>
          <a:xfrm>
            <a:off x="1108710" y="14058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Domínio Conceitual: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Consigo identificar emissor, canal e tipo de ruído em uma falha real?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0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0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0"/>
          <p:cNvSpPr/>
          <p:nvPr/>
        </p:nvSpPr>
        <p:spPr>
          <a:xfrm>
            <a:off x="1108710" y="256032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Adequação ao Meio: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Diferencio quando utilizar tom formal ou informal sem hesitar?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0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0"/>
          <p:cNvSpPr/>
          <p:nvPr/>
        </p:nvSpPr>
        <p:spPr>
          <a:xfrm>
            <a:off x="468630" y="387477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0"/>
          <p:cNvSpPr/>
          <p:nvPr/>
        </p:nvSpPr>
        <p:spPr>
          <a:xfrm>
            <a:off x="1108710" y="371475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Postura Construtiva: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Solicito feedback com frequência e o recebo com foco em evolução?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1"/>
          <p:cNvSpPr/>
          <p:nvPr/>
        </p:nvSpPr>
        <p:spPr>
          <a:xfrm>
            <a:off x="274320" y="182880"/>
            <a:ext cx="470916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Critérios de Avaliação Prática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1"/>
          <p:cNvSpPr/>
          <p:nvPr/>
        </p:nvSpPr>
        <p:spPr>
          <a:xfrm>
            <a:off x="274320" y="1405890"/>
            <a:ext cx="4709160" cy="29489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Nosso curso adota a rúbrica oficial de 4 níveis de desempenho do programa: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95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Excelente (9–10):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Domina conceitos, aplica com autonomia e justifica escolhas com precisão.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Bom (7–8):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Compreende os fundamentos e aplica com pouca orientação técnica.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Aceitável (5–6):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Conhecimento básico; requer mediação em problemas complexos.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Insuficiente (0–4):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Lacunas graves que exigem reensino imediato.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e45460d9-bfdc-4477-a734-4ab48a80fb5f/img_1ced47e33ce0abcba7f4ddfbae5c43bf.png" id="396" name="Google Shape;39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6360" y="182880"/>
            <a:ext cx="3703320" cy="3246120"/>
          </a:xfrm>
          <a:prstGeom prst="roundRect">
            <a:avLst>
              <a:gd fmla="val 422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2"/>
          <p:cNvSpPr/>
          <p:nvPr/>
        </p:nvSpPr>
        <p:spPr>
          <a:xfrm>
            <a:off x="274320" y="182880"/>
            <a:ext cx="41148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Muda na Comunicação Oral?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2"/>
          <p:cNvSpPr/>
          <p:nvPr/>
        </p:nvSpPr>
        <p:spPr>
          <a:xfrm>
            <a:off x="274320" y="1405890"/>
            <a:ext cx="179451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t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CONCEITO-CHAVE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2"/>
          <p:cNvSpPr/>
          <p:nvPr/>
        </p:nvSpPr>
        <p:spPr>
          <a:xfrm>
            <a:off x="274320" y="1760220"/>
            <a:ext cx="41148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 escrita, o autor tem tempo para revisar, reescrever e polir cada frase antes do envio.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comunicação oral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a produção ocorre em tempo real, exigindo controle vocal, domínio corporal e respostas dinâmicas imediatas ao público.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e45460d9-bfdc-4477-a734-4ab48a80fb5f/img_ca4d413503fab641f7947079687c20c4.png" id="405" name="Google Shape;40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3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Critérios da Transição para a Fala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3"/>
          <p:cNvSpPr/>
          <p:nvPr/>
        </p:nvSpPr>
        <p:spPr>
          <a:xfrm>
            <a:off x="274320" y="925830"/>
            <a:ext cx="4251960" cy="1977390"/>
          </a:xfrm>
          <a:prstGeom prst="roundRect">
            <a:avLst>
              <a:gd fmla="val 693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e45460d9-bfdc-4477-a734-4ab48a80fb5f/img_4d23fea2fd08532afd9cf96156b33dba.png" id="413" name="Google Shape;413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33"/>
          <p:cNvSpPr/>
          <p:nvPr/>
        </p:nvSpPr>
        <p:spPr>
          <a:xfrm>
            <a:off x="1005840" y="1062990"/>
            <a:ext cx="338328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Ritmo e Pausas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Pausas conscientes substituem vícios de linguagem (como 'né' e 'tipo') e valorizam afirmações centrais.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3"/>
          <p:cNvSpPr/>
          <p:nvPr/>
        </p:nvSpPr>
        <p:spPr>
          <a:xfrm>
            <a:off x="4617720" y="925830"/>
            <a:ext cx="4251960" cy="1977390"/>
          </a:xfrm>
          <a:prstGeom prst="roundRect">
            <a:avLst>
              <a:gd fmla="val 693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e45460d9-bfdc-4477-a734-4ab48a80fb5f/img_e72a694141c7b7255e69b0d392b58186.png" id="416" name="Google Shape;416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48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3"/>
          <p:cNvSpPr/>
          <p:nvPr/>
        </p:nvSpPr>
        <p:spPr>
          <a:xfrm>
            <a:off x="5349240" y="1062990"/>
            <a:ext cx="338328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Modulação Vocal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Variação intencional de tom e volume para reter atenção contínua e evitar monotonia durante a fala.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3"/>
          <p:cNvSpPr/>
          <p:nvPr/>
        </p:nvSpPr>
        <p:spPr>
          <a:xfrm>
            <a:off x="274320" y="2994660"/>
            <a:ext cx="4251960" cy="1977390"/>
          </a:xfrm>
          <a:prstGeom prst="roundRect">
            <a:avLst>
              <a:gd fmla="val 693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e45460d9-bfdc-4477-a734-4ab48a80fb5f/img_56a50f5e901ae194056121a6ea1bafcd.png" id="419" name="Google Shape;419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480" y="31318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3"/>
          <p:cNvSpPr/>
          <p:nvPr/>
        </p:nvSpPr>
        <p:spPr>
          <a:xfrm>
            <a:off x="1005840" y="3131820"/>
            <a:ext cx="338328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Contato Visual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Olhar nos olhos do público estabelece conexão empática direta e permite ler o feedback não verbal.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3"/>
          <p:cNvSpPr/>
          <p:nvPr/>
        </p:nvSpPr>
        <p:spPr>
          <a:xfrm>
            <a:off x="4617720" y="2994660"/>
            <a:ext cx="4251960" cy="1977390"/>
          </a:xfrm>
          <a:prstGeom prst="roundRect">
            <a:avLst>
              <a:gd fmla="val 6936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e45460d9-bfdc-4477-a734-4ab48a80fb5f/img_e39025ff05f3379e3c762c03ffb378ae.png" id="422" name="Google Shape;422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4880" y="31318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3"/>
          <p:cNvSpPr/>
          <p:nvPr/>
        </p:nvSpPr>
        <p:spPr>
          <a:xfrm>
            <a:off x="5349240" y="3131820"/>
            <a:ext cx="3383280" cy="170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Postura Corporal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Corpo ereto, ombros relaxados e gestos abertos que reforçam a segurança do conteúdo transmitido.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4"/>
          <p:cNvSpPr/>
          <p:nvPr/>
        </p:nvSpPr>
        <p:spPr>
          <a:xfrm>
            <a:off x="274320" y="182880"/>
            <a:ext cx="8595360" cy="5372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Estrutura de Apresentação Eficaz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e45460d9-bfdc-4477-a734-4ab48a80fb5f/img_0bc6c09a3caae87e542ac7bcd4e1f93a.png" id="430" name="Google Shape;43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84582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431" name="Google Shape;431;p34"/>
          <p:cNvSpPr/>
          <p:nvPr/>
        </p:nvSpPr>
        <p:spPr>
          <a:xfrm>
            <a:off x="182880" y="301752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4"/>
          <p:cNvSpPr/>
          <p:nvPr/>
        </p:nvSpPr>
        <p:spPr>
          <a:xfrm>
            <a:off x="274320" y="3406140"/>
            <a:ext cx="274320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Abertura e Gancho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Desperte interesse com pergunta provocativa ou exemplo real.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e45460d9-bfdc-4477-a734-4ab48a80fb5f/img_a4a2d1c5d930d7442997fc2ea32ef02c.png" id="433" name="Google Shape;433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84582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434" name="Google Shape;434;p34"/>
          <p:cNvSpPr/>
          <p:nvPr/>
        </p:nvSpPr>
        <p:spPr>
          <a:xfrm>
            <a:off x="3108960" y="301752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4"/>
          <p:cNvSpPr/>
          <p:nvPr/>
        </p:nvSpPr>
        <p:spPr>
          <a:xfrm>
            <a:off x="3200400" y="3543300"/>
            <a:ext cx="27432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Desenvolvimento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Apresente três pontos essenciais apoiados em fatos.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e45460d9-bfdc-4477-a734-4ab48a80fb5f/img_df91b723c5fe3d079a7eb0cba8dcb60b.png" id="436" name="Google Shape;436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0" y="84582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437" name="Google Shape;437;p34"/>
          <p:cNvSpPr/>
          <p:nvPr/>
        </p:nvSpPr>
        <p:spPr>
          <a:xfrm>
            <a:off x="6035040" y="301752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4"/>
          <p:cNvSpPr/>
          <p:nvPr/>
        </p:nvSpPr>
        <p:spPr>
          <a:xfrm>
            <a:off x="6126480" y="3543300"/>
            <a:ext cx="27432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Fechamento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Sintetize a mensagem central e termine com chamada clara para ação.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Desafio Prático: A Crise Logística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5"/>
          <p:cNvSpPr/>
          <p:nvPr/>
        </p:nvSpPr>
        <p:spPr>
          <a:xfrm>
            <a:off x="274320" y="1017270"/>
            <a:ext cx="8595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fábrica enviou 5.000 peças com especificações defasadas porque o setor de Vendas combinou alterações diretamente no WhatsApp do cliente e esqueceu de atualizar a Ordem de Produção formal.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e45460d9-bfdc-4477-a734-4ab48a80fb5f/img_eb4b9245ff87d13793615bdf4ac5a13e.png" id="446" name="Google Shape;44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068830"/>
            <a:ext cx="9144000" cy="30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e45460d9-bfdc-4477-a734-4ab48a80fb5f/img_b8e2e30cbb6ba10a8acb00af0ff4be05.png" id="452" name="Google Shape;45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36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Resolução da Situação-Problema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6"/>
          <p:cNvSpPr/>
          <p:nvPr/>
        </p:nvSpPr>
        <p:spPr>
          <a:xfrm>
            <a:off x="1485900" y="1714500"/>
            <a:ext cx="64008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grupos de 4, atuem como Consultores de Comunicação e criem um Plano de Contenção para a Crise Logística: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Mapeiem onde ocorreram o erro de canal e a falha de feedback.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Redijam o comunicado oficial de correção ao cliente com registro formal.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Definam a nova regra RACI para pedidos de alteração.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7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Checagem dos Fundamentos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7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Quais das seguintes afirmações sobre comunicação eficaz e profissional são verdadeiras? (Mais de uma opção está correta)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7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7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uso de jargões técnicos densos deve ser priorizado em todos os comunicados para demonstrar autoridade.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7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7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adequação linguística exige ajustar o registro (formal ou informal) ao público, canal e ambiente institucional.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7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7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feedback é indispensável para confirmar que a mensagem foi decodificada com o sentido correto pelo receptor.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7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7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comunicação é um processo linear e unidirecional, onde o emissor não precisa monitorar as reações do receptor.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8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Checagem dos Fundamentos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8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Quais das seguintes afirmações sobre comunicação eficaz e profissional são verdadeiras? (Mais de uma opção está correta)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8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38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uso de jargões técnicos densos deve ser priorizado em todos os comunicados para demonstrar autoridade.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38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8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adequação linguística exige ajustar o registro (formal ou informal) ao público, canal e ambiente institucional.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8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8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feedback é indispensável para confirmar que a mensagem foi decodificada com o sentido correto pelo receptor.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8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8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comunicação é um processo linear e unidirecional, onde o emissor não precisa monitorar as reações do receptor.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38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38"/>
          <p:cNvSpPr/>
          <p:nvPr/>
        </p:nvSpPr>
        <p:spPr>
          <a:xfrm>
            <a:off x="8721090" y="23774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8"/>
          <p:cNvSpPr/>
          <p:nvPr/>
        </p:nvSpPr>
        <p:spPr>
          <a:xfrm>
            <a:off x="8721090" y="32346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e45460d9-bfdc-4477-a734-4ab48a80fb5f/img_88f2cf22d50efe57d124336ea25cb3a9.png" id="493" name="Google Shape;493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3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Debate: O Valor da Transparência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9"/>
          <p:cNvSpPr/>
          <p:nvPr/>
        </p:nvSpPr>
        <p:spPr>
          <a:xfrm>
            <a:off x="982980" y="1828800"/>
            <a:ext cx="70408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sua opinião, por que admitir uma falha de comunicação com rapidez e transparência gera mais credibilidade para um profissional do que tentar encobrir o ruído ocorrido?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e45460d9-bfdc-4477-a734-4ab48a80fb5f/img_88f2cf22d50efe57d124336ea25cb3a9.png" id="501" name="Google Shape;501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4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Debate: O Valor da Transparência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40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poderia ter dito...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Assumir erros demonstra maturidade e integridade profissional.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Isso permite correções rápidas e evita danos maiores.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transparência fortalece a confiança de clientes e parceiros.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Além disso, previne boatos e desgastes nos canais internos.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40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41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Próximos Passos: Módulo 2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41"/>
          <p:cNvSpPr/>
          <p:nvPr/>
        </p:nvSpPr>
        <p:spPr>
          <a:xfrm>
            <a:off x="457200" y="2926080"/>
            <a:ext cx="8229600" cy="22860"/>
          </a:xfrm>
          <a:prstGeom prst="rect">
            <a:avLst/>
          </a:prstGeom>
          <a:solidFill>
            <a:srgbClr val="040F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41"/>
          <p:cNvSpPr/>
          <p:nvPr/>
        </p:nvSpPr>
        <p:spPr>
          <a:xfrm>
            <a:off x="1668780" y="277749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41"/>
          <p:cNvSpPr/>
          <p:nvPr/>
        </p:nvSpPr>
        <p:spPr>
          <a:xfrm>
            <a:off x="4411980" y="277749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41"/>
          <p:cNvSpPr/>
          <p:nvPr/>
        </p:nvSpPr>
        <p:spPr>
          <a:xfrm>
            <a:off x="7155180" y="277749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41"/>
          <p:cNvSpPr/>
          <p:nvPr/>
        </p:nvSpPr>
        <p:spPr>
          <a:xfrm>
            <a:off x="685800" y="3177540"/>
            <a:ext cx="22860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Módulo 1 Concluído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Domínio dos fundamentos, processos e canais.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41"/>
          <p:cNvSpPr/>
          <p:nvPr/>
        </p:nvSpPr>
        <p:spPr>
          <a:xfrm>
            <a:off x="3429000" y="1314450"/>
            <a:ext cx="22860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Próxima Aula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Técnicas de oratória e controle de nervosismo.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41"/>
          <p:cNvSpPr/>
          <p:nvPr/>
        </p:nvSpPr>
        <p:spPr>
          <a:xfrm>
            <a:off x="6172200" y="3177540"/>
            <a:ext cx="22860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Aplicação Prática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Simulações reais de apresentações e reuniões.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