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7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1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54.png"/><Relationship Id="rId5" Type="http://schemas.openxmlformats.org/officeDocument/2006/relationships/image" Target="../media/image7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52.png"/><Relationship Id="rId5" Type="http://schemas.openxmlformats.org/officeDocument/2006/relationships/image" Target="../media/image5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5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7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63.png"/><Relationship Id="rId5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69.png"/><Relationship Id="rId5" Type="http://schemas.openxmlformats.org/officeDocument/2006/relationships/image" Target="../media/image74.png"/><Relationship Id="rId6" Type="http://schemas.openxmlformats.org/officeDocument/2006/relationships/image" Target="../media/image77.png"/><Relationship Id="rId7" Type="http://schemas.openxmlformats.org/officeDocument/2006/relationships/image" Target="../media/image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8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8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88.png"/><Relationship Id="rId5" Type="http://schemas.openxmlformats.org/officeDocument/2006/relationships/image" Target="../media/image9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645920"/>
            <a:ext cx="4023360" cy="186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Procedimentos e Instruções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escrever passos claros, sequenciais e sem erros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aa02fd5d4802758bb356ae709bfad19e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86868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na falha?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2137410"/>
            <a:ext cx="4937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tentou montar um móvel ou seguir uma receita em que uma única etapa parecia confusa ou incompleta?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vida cotidiana e em empresas,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instrução ambígua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gera retrabalho, perda de materiais e até graves acidentes de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54216085dca9943deaf2d0b8232336e8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Diferenciar textos instrucionais de relatórios e memorandos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elementos estruturais e a linguagem padrão de um manual POP.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Redigir passos sequenciais claros aplicando testes práticos de usabilidade.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3f12517fdcb685a29c6bff133954a5b1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Método padronizado para executar uma tarefa.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9d48c89f5b977bff7fc6ee8db5c5f4a5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0896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Orientação específica que direciona uma ação imediata.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8d524acd9c5f62a7dc97cb9f7e76e0f1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Sequência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Ordem cronológica e lógica das etapas obrigatórias.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65727d09b1f81747c001cd0cd8ed7215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089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Usabilidade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Facilidade com que o leitor compreende e executa o texto.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1f3cf5cb9b4b5c926ef6a3bf0c19e3ca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51460" y="2423160"/>
            <a:ext cx="864108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Recapitulando: O Memorando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51460" y="3166110"/>
            <a:ext cx="86410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analisamos a redação de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memorandos internos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O memorando circula entre setores para formalizar decisões, solicitar recursos ou alinhar avisos rápidos.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 estrutura exige cabeçalho fixo (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Para, De, Assunto, Data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), parágrafos curtos e objetivo direto. Hoje, avançamos para textos que não apenas informam, mas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ensinam a fazer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Gêneros Técnicos em Paralelo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80b2da8cddd3ccc07a3feea05dfc9a7a.png"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>
            <a:off x="27432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ágil e interna focada em decisões pontuais, avisos rápidos e solicitações administrativas.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5109faaa0810811313e68a1e20adb218.png" id="71" name="Google Shape;7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316611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detalhada de fatos já ocorridos, dados estatísticos, causas, impactos e recomendações técnicas.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093c6a798634e8097b81b798b3be3f5f.png" id="73" name="Google Shape;7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6069330" y="2834640"/>
            <a:ext cx="28117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sequencial obrigatório que prescreve como executar ações operacionais de forma correta e segura.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74db676abbf9321227487417a15623c8.png" id="80" name="Google Shape;8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Gêneros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finalidade central de um relatório técnico em comparação a um comunicado interno?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documento deve ser consultado quando um funcionário precisa aprender o passo a passo de uma tarefa?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foco principal do memorando corporativo?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Gêneros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relatório documenta e analisa fatos e dados detalhados, enquanto o comunicado apenas transmite avisos imediatos.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Procedimento Operacional Padrão (POP) ou manual de instruções.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informações breves, solicitações e avisos rápidos entre setores internos da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274320" y="18288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um Manual POP?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274320" y="1360170"/>
            <a:ext cx="196596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 CENTRAL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274320" y="1714500"/>
            <a:ext cx="429768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 Operacional Padrão (POP)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um documento formal que descreve exatamente o roteiro para executar qualquer operação na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Seu objetivo primário é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reprodutibilidade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qualquer colaborador qualificado deve alcançar exatamente o mesmo resultado ao seguir os passos descritos.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21d1bfac511a29321631d9f12d7bd46f.png"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27432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0afafd1f381be040609e85eac619fc0a.png" id="110" name="Google Shape;1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1062990" y="33147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Define a finalidade e o que a execução bem-sucedida deve entregar ao final.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466344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619bb77c7df112ce20a551e456220303.png" id="113" name="Google Shape;11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/>
          <p:nvPr/>
        </p:nvSpPr>
        <p:spPr>
          <a:xfrm>
            <a:off x="5452110" y="33147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Campo de Aplicação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Especifica os setores, equipamentos e cargos aos quais a norma se aplica.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27432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46fd138572454c47b71c44c655b0a681.png" id="116" name="Google Shape;11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1062990" y="27660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Responsabilidades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 quem executa, quem confere e quem autoriza cada etapa.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66344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c697434cbcc1f8dbb92a69c80337962e.png" id="119" name="Google Shape;1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5452110" y="27660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Recursos e Materiais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Enumera equipamentos, EPIs, ferramentas e insumos necessários antes do início.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Padronizar?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274320" y="136017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Vantagens operacionais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7433de373ef9f4d7562e8d55ae7b10a7.png" id="128" name="Google Shape;1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7452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3291840" y="182880"/>
            <a:ext cx="557784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cada funcionário executa uma tarefa à sua própria maneira, surgem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variações de qualidade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riscos graves.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Redução de desperdícios: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menos erros de montagem e menor perda de matéria-prima.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Segurança no trabalho: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garantia de uso correto de equipamentos de proteção individual.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Facilidade no treinamento: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novos colaboradores aprendem a rotina com autonomia e rapidez.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3291840" y="3314700"/>
            <a:ext cx="557784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3417570" y="34404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3829050" y="3440430"/>
            <a:ext cx="4914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Padronizar significa garantir estabilidade e qualidade uniforme em qualquer turno de 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Linguagem Instrucional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texto procedimental possui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função conativa ou injuntiva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sua meta é conduzir diretamente o comportamento prático do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isso, as frases devem ser curtas, diretas e eliminar termos poéticos, opiniões ou comentários subjetivos que distraiam o executor.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clareza gramatical não é mero capricho estético; é uma exigência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precisão operacional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60e2d4880c83e16a4b0a6b23c46148e9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Verbos: Imperativo ou Infinitivo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b35e889a84e7f94ee2f149b3e9cc1b69.png" id="147" name="Google Shape;1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48" name="Google Shape;148;p15"/>
          <p:cNvSpPr/>
          <p:nvPr/>
        </p:nvSpPr>
        <p:spPr>
          <a:xfrm>
            <a:off x="274320" y="2937510"/>
            <a:ext cx="42519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Modo Imperativo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Expressa ordem ou orientação direta ao operador.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"Conecte o cabo", "Aperte os parafusos", "Desligue a chave geral".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3d2f9d2056b1af79d21612e8b2098998.png" id="149" name="Google Shape;1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150" name="Google Shape;150;p15"/>
          <p:cNvSpPr/>
          <p:nvPr/>
        </p:nvSpPr>
        <p:spPr>
          <a:xfrm>
            <a:off x="4617720" y="2937510"/>
            <a:ext cx="425196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Modo Infinitivo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o procedimento de maneira neutra e impessoal.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Exemplos: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"Conectar o cabo", "Apertar os parafusos", "Desligar a chave geral".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74320" y="34290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da Consistência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274320" y="1177290"/>
            <a:ext cx="4846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 redigir suas instruções usando verbos no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imperativo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 no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infinitivo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mas nunca misture os dois modos no mesmo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Alterar o padrão gramatical entre os passos confunde a leitura e passa a impressão de amadorismo técnico.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74320" y="3371850"/>
            <a:ext cx="4846320" cy="1337310"/>
          </a:xfrm>
          <a:prstGeom prst="roundRect">
            <a:avLst>
              <a:gd fmla="val 683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00050" y="34975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11530" y="3497580"/>
            <a:ext cx="41833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Erro comum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alternar: "1. Aperte o botão. 2. Medir o volume. 3. Ajuste a saída."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c60532e7bcf752fd2d92d6c0099a6277.png" id="161" name="Google Shape;16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 em Procedimentos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Assinale a alternativa que mantém a consistência gramatical adequada para um manual de instruções: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Conectar o cabo. 2. Aperte o botão central. 3. Finalizando a operação com êxito.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Conecte o cabo de força. 2. Pressione a tecla iniciar. 3. Verifique o sinal luminoso.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Você deve ligar o aparelho. 2. Desligue tudo em seguida. 3. Lavar com cuidado.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Ligue o motor. 2. Ajustar a pressão. 3. Conferindo os dados da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 em Procedimentos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Assinale a alternativa que mantém a consistência gramatical adequada para um manual de instruções: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Conectar o cabo. 2. Aperte o botão central. 3. Finalizando a operação com êxito.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Conecte o cabo de força. 2. Pressione a tecla iniciar. 3. Verifique o sinal luminoso.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Você deve ligar o aparelho. 2. Desligue tudo em seguida. 3. Lavar com cuidado.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Ligue o motor. 2. Ajustar a pressão. 3. Conferindo os dados da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Sequência Lógica Obrigatória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248eba5e5019e2a27c9bd1ab33af13b1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7432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Preparação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Reunir peças, insumos e equipamentos de segurança indispensáveis.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ec24332da929cc0349a73e9dba3bda2c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320040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Execução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Realizar as ações sequenciais na ordem estrita de dependência física.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133ffd432790576b4650aa5c8431fe7d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12648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Verificação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Conferir os critérios de qualidade e registrar a conclusão da tarefa.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Relação de Pré-requisito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sequência só é eficiente se respeitar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dependência temporal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 cada ação: o leitor nunca deve ser surpreendido por um requisito no meio da execução.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uma cola precisa de 10 minutos para secar antes do aperto final, ou se a energia precisa ser cortada antes de abrir a tampa, isso deve constar no momento exato.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Quebrar a ordem lógica é a principal causa de retrabalho e acidentes.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141432c5e2df978a9ae6a895dc05b8d0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Identificando e Eliminando Ambiguidades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207f30a64732ea168560528a336c0829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274320" y="2834640"/>
            <a:ext cx="4251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Ambíguo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"Aperte o parafuso até ficar firme e adicione um pouco de água morna na mistura."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O que significa 'firme'? Quanto é 'um pouco'? Qual a temperatura de 'morna'?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09f534736fd6ad40017e22fe5df97358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4617720" y="2834640"/>
            <a:ext cx="425196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 Preciso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"Aperte o parafuso aplicando torque de 15 Nm e adicione exatamente 250 ml de água a 40 °C."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Qualquer operador reproduz a instrução sem margem para interpretações divergentes.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Risco da Vagueza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74320" y="136017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Erros de redação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eff426a95693183703dc3eb1d1894446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7452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3291840" y="182880"/>
            <a:ext cx="557784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 como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"rapidamente"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"bastante"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"quando achar necessário"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"apropriado"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destroem a precisão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Substitua adjetivos por grandezas: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informe segundos, gramas, litros, graus ou milímetros.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Indique referências visuais: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"até que a luz verde acenda" em vez de "até ligar".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291840" y="2686050"/>
            <a:ext cx="557784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3417570" y="28117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829050" y="2811780"/>
            <a:ext cx="4914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Se dois leitores podem interpretar o mesmo passo de formas diferentes, a instrução precisa ser reescrita.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Ordenando o Procedimento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Coloque na sequência lógica correta o procedimento para higienização e troca de filtro de ar industrial: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Retire o filtro saturado e instale o novo cartucho alinhando as setas.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Feche a tampa protetora e religue a chave geral para registrar a operação.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Desligue a chave geral do equipamento e aguarde a parada total das pás.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Abra a tampa frontal de proteção soltando os quatro engates rápidos.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Ordenando o Procedimento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Coloque na sequência lógica correta o procedimento para higienização e troca de filtro de ar industrial: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Retire o filtro saturado e instale o novo cartucho alinhando as setas.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Feche a tampa protetora e religue a chave geral para registrar a operação.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Desligue a chave geral do equipamento e aguarde a parada total das pás.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Abra a tampa frontal de proteção soltando os quatro engates rápidos.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Listas Numeradas vs Marcadores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ff6bb2d558712ae138d84436c5f18bf6.png" id="272" name="Google Shape;2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3" name="Google Shape;273;p25"/>
          <p:cNvSpPr/>
          <p:nvPr/>
        </p:nvSpPr>
        <p:spPr>
          <a:xfrm>
            <a:off x="27432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Listas Numeradas (1, 2, 3...)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Exclusivas para etapas cronológicas onde a ordem de execução é obrigatória e inalterável.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9bab8f7a8b91ac6e55a53ead8a6913ce.png" id="274" name="Google Shape;2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5" name="Google Shape;275;p25"/>
          <p:cNvSpPr/>
          <p:nvPr/>
        </p:nvSpPr>
        <p:spPr>
          <a:xfrm>
            <a:off x="4663440" y="3188970"/>
            <a:ext cx="4206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Marcadores com Pontos (•)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Indicados para inventários, listas de materiais, EPIs ou alertas em que a ordem não interfere no resultado.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Esquemas e Fluxogramas de Apoio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74320" y="925830"/>
            <a:ext cx="450342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Textos instrucionais densos ganham enorme agilidade quando acompanhados de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recursos visuais esquemáticos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fluxograma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mapeia o caminho geral do processo e destaca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pontos de decisão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(por exemplo: "A luz acendeu? Se sim, avance para o passo 4; se não, revise a fiação").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Diagramas e ilustrações técnicas mostram o exato encaixe de componentes difíceis de descrever apenas com palavras.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5a28a6ad33fa3f29db7dd9b8a1a54cd5.png" id="283" name="Google Shape;2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92583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Falhas em Manuais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082ee619d676a104eb40b1d5ff7feb3f.png" id="290" name="Google Shape;2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372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1" name="Google Shape;291;p27"/>
          <p:cNvSpPr/>
          <p:nvPr/>
        </p:nvSpPr>
        <p:spPr>
          <a:xfrm>
            <a:off x="274320" y="3108960"/>
            <a:ext cx="274320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Tradução Literal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Traduções automáticas que geram termos sem sentido prático na língua do leitor.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75d5064f1a676d4197e31ef7d1235c82.png" id="292" name="Google Shape;2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372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3200400" y="3108960"/>
            <a:ext cx="274320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Oculta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manual presume que o usuário já sabe como encaixar uma peça e omite o passo básico.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6102a01970ca45cdaffc43e9a4b32d2e.png" id="294" name="Google Shape;29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372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5" name="Google Shape;295;p27"/>
          <p:cNvSpPr/>
          <p:nvPr/>
        </p:nvSpPr>
        <p:spPr>
          <a:xfrm>
            <a:off x="6126480" y="3108960"/>
            <a:ext cx="2743200" cy="1760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Sobrecarga Visual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Instruções em bloco corrido de texto, sem numeração ou destaque visual para alertas.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ao Público-Alvo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6346fc4e99ade27ec4b2d96203127c17.png" id="302" name="Google Shape;3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3" name="Google Shape;303;p28"/>
          <p:cNvSpPr/>
          <p:nvPr/>
        </p:nvSpPr>
        <p:spPr>
          <a:xfrm>
            <a:off x="274320" y="3040380"/>
            <a:ext cx="4251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Leitor Leigo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Requer linguagem acessível, analogias didáticas, vocabulário cotidiano e ilustrações passo a passo detalhadas.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b644bbb052ed8925e4f7113cd4c230a1.png" id="304" name="Google Shape;30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5" name="Google Shape;305;p28"/>
          <p:cNvSpPr/>
          <p:nvPr/>
        </p:nvSpPr>
        <p:spPr>
          <a:xfrm>
            <a:off x="4617720" y="3040380"/>
            <a:ext cx="425196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Técnico Especialista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Exige parâmetros exatos, normas técnicas regulamentadoras (ABNT/ISO), unidades de medida precisas e termos da área.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/>
          <p:nvPr/>
        </p:nvSpPr>
        <p:spPr>
          <a:xfrm>
            <a:off x="274320" y="74295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Maldição do Conhecimento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274320" y="201168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dominamos muito uma tarefa, temos a tendência natural de achar que tudo é "óbvio". Isso é chamado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maldição do conhecimento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escrever instruções, coloque-se sempre no lugar de quem está executando aquela ação pela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primeira vez na vida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45aff2abe65bc6fdd6bfafad1442330d.png" id="313" name="Google Shape;31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88f2cf22d50efe57d124336ea25cb3a9.png" id="319" name="Google Shape;31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d6e552f7-61dc-483c-86f6-a02de3671ab1/img_752da7447d799bdeb1526e24ec0f83bb.png" id="320" name="Google Shape;32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Pior Manual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foi a pior instrução que você já tentou seguir (em um jogo, receita ou aparelho)? Por que ela falhou e como você a reescreveria?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88f2cf22d50efe57d124336ea25cb3a9.png" id="328" name="Google Shape;32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Pior Manual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Manuais ruins pecam por termos vagos ou omissão de etapas.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solução é listar passos numerados com verbos no imperativo.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Imagens e medidas eliminam a maioria das dúvidas.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Teste de Usabilidade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2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ter certeza absoluta de que um procedimento escrito funciona? Realizando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teste de usabilidade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Entregue o texto a uma pessoa que nunca executou aquela atividade. Observe em silêncio enquanto ela tenta cumprir os passos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apenas lendo as instruções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ela hesitar, parar ou fizer perguntas, o erro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é do leitor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mas sim da clareza do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5f9efec0099c493938f0ee2d8041310d.png" id="339" name="Google Shape;3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/>
          <p:nvPr/>
        </p:nvSpPr>
        <p:spPr>
          <a:xfrm>
            <a:off x="27432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a8be2ec4f13ae7641fd4599a02acde46.png" id="346" name="Google Shape;34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3"/>
          <p:cNvSpPr/>
          <p:nvPr/>
        </p:nvSpPr>
        <p:spPr>
          <a:xfrm>
            <a:off x="1062990" y="331470"/>
            <a:ext cx="32689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Tempo de Execução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Mede quanto tempo o usuário levou e se houve paradas demoradas para decifrar frases.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4663440" y="18288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4b9534af3348cc0642046ce5d84522b2.png" id="349" name="Google Shape;34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3314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/>
          <p:nvPr/>
        </p:nvSpPr>
        <p:spPr>
          <a:xfrm>
            <a:off x="5452110" y="331470"/>
            <a:ext cx="32689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Taxa de Erro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 quantas etapas foram executadas fora de ordem ou de maneira incorreta.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27432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e6f77eb9658de156d152a4bd2b3afa2e.png" id="352" name="Google Shape;35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3"/>
          <p:cNvSpPr/>
          <p:nvPr/>
        </p:nvSpPr>
        <p:spPr>
          <a:xfrm>
            <a:off x="1062990" y="27660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Dúvidas Levantadas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 os trechos específicos em que o leitor solicitou ajuda externa.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4663440" y="2617470"/>
            <a:ext cx="4206240" cy="2251710"/>
          </a:xfrm>
          <a:prstGeom prst="roundRect">
            <a:avLst>
              <a:gd fmla="val 609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d6e552f7-61dc-483c-86f6-a02de3671ab1/img_d386f49904bbb3bc2b4500bece0f8163.png" id="355" name="Google Shape;35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27660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/>
          <p:nvPr/>
        </p:nvSpPr>
        <p:spPr>
          <a:xfrm>
            <a:off x="5452110" y="2766060"/>
            <a:ext cx="32689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Grau de Autonomia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 a segurança sentida pelo usuário durante o processo do início ao fim.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Atualização e Controle de Versão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Procedimentos são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documentos vivos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Quando novas máquinas chegam, regras de segurança mudam ou melhorias são descobertas, o POP deve ser atualizado.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cabeçalho do documento precisa conter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número da versão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(ex: Versão 2.1), data da revisão e o nome do responsável técnico que autorizou as alterações.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Versões desatualizadas devem ser recolhidas para evitar erros graves.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e7628ea4e1266e3d37d5f1242a3cf6a8.png" id="364" name="Google Shape;36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do Tempo da Atualização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5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"/>
          <p:cNvSpPr/>
          <p:nvPr/>
        </p:nvSpPr>
        <p:spPr>
          <a:xfrm>
            <a:off x="685800" y="317754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 da nova diretriz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3429000" y="16002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do texto e teste prático.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6172200" y="317754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Homologação e treino da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Modelo Exemplo: Backup de Arquivos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274320" y="925830"/>
            <a:ext cx="470916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 Operacional: Backup Semanal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Salvar cópias seguras dos projetos no servidor nuvem.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Calibri"/>
              <a:buAutoNum type="arabicPeriod"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Feche todos os programas de edição ativos no computador.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Calibri"/>
              <a:buAutoNum type="arabicPeriod"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Abra o explorador de arquivos e selecione a pasta /Projetos_2026.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Calibri"/>
              <a:buAutoNum type="arabicPeriod"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Arraste a pasta para a unidade compartilhada Nuvem_Segura.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Calibri"/>
              <a:buAutoNum type="arabicPeriod"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Aguarde a barra de progresso atingir 100% e confira a mensagem de sucesso.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d6e552f7-61dc-483c-86f6-a02de3671ab1/img_11576adb327ba0c61c9ce67eeac5374e.png" id="385" name="Google Shape;38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para Redigir Instruções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274320" y="145161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1108710" y="155448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Há título claro, objetivo definido e materiais listados no topo?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274320" y="232029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7"/>
          <p:cNvSpPr/>
          <p:nvPr/>
        </p:nvSpPr>
        <p:spPr>
          <a:xfrm>
            <a:off x="468630" y="257175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7"/>
          <p:cNvSpPr/>
          <p:nvPr/>
        </p:nvSpPr>
        <p:spPr>
          <a:xfrm>
            <a:off x="1108710" y="242316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Verbos: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Foi mantida a consistência (todos no imperativo ou todos no infinitivo)?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274320" y="34747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"/>
          <p:cNvSpPr/>
          <p:nvPr/>
        </p:nvSpPr>
        <p:spPr>
          <a:xfrm>
            <a:off x="468630" y="37261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7"/>
          <p:cNvSpPr/>
          <p:nvPr/>
        </p:nvSpPr>
        <p:spPr>
          <a:xfrm>
            <a:off x="1108710" y="35775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Exatidão: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Termos vagos como "bastante" ou "um pouco" foram substituídos por números e medidas?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Fixando os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8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8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Usabilidade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8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Sequência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Conjunto de regras padronizadas para cumprir uma tarefa.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temporal e lógica encadeada de passos obrigatórios.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Comando pontual que orienta uma ação específica e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Grau de facilidade com que o leitor executa o texto sem erros.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Fixando os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9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9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9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Usabilidade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9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Sequência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9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Conjunto de regras padronizadas para cumprir uma tarefa.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temporal e lógica encadeada de passos obrigatórios.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Comando pontual que orienta uma ação específica e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Grau de facilidade com que o leitor executa o texto sem erros.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39"/>
          <p:cNvCxnSpPr/>
          <p:nvPr/>
        </p:nvCxnSpPr>
        <p:spPr>
          <a:xfrm>
            <a:off x="2571750" y="16230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39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39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9"/>
          <p:cNvCxnSpPr/>
          <p:nvPr/>
        </p:nvCxnSpPr>
        <p:spPr>
          <a:xfrm flipH="1" rot="10800000">
            <a:off x="2571750" y="1652778"/>
            <a:ext cx="994410" cy="27134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39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1198f6ede5e2216c51986e3c51e1178b.png" id="445" name="Google Shape;4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d6e552f7-61dc-483c-86f6-a02de3671ab1/img_6c8e70eedc721622db281df9f9fae0bb.png" id="446" name="Google Shape;44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Crie um Passo a Passo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Escreva um procedimento operacional de 4 a 5 passos para uma tarefa do cotidiano escolar (ex: como organizar a bancada do laboratório, emprestar um livro na biblioteca ou calibrar o projetor da sala). Use lista numerada, verbos uniformes no imperativo e elimine termos ambíguos.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 ou folha de redação técnica, caneta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Usabilidade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 manual de procedimentos bem elaborado, se um operador comete um erro ao seguir o texto pela primeira vez, a falha quase sempre decorre da ambiguidade ou omissão na redação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de Usabilidade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 manual de procedimentos bem elaborado, se um operador comete um erro ao seguir o texto pela primeira vez, a falha quase sempre decorre da ambiguidade ou omissão na redação do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Textos instrucionais técnicos devem ser autoexplicativos e testados para que qualquer pessoa habilitada obtenha êxito sem dúvidas.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4149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d6e552f7-61dc-483c-86f6-a02de3671ab1/img_a6d9cbc72c3b1e928337bdb3ca07d9e7.png" id="476" name="Google Shape;47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3"/>
          <p:cNvSpPr/>
          <p:nvPr/>
        </p:nvSpPr>
        <p:spPr>
          <a:xfrm>
            <a:off x="1645920" y="1748790"/>
            <a:ext cx="586359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que Gera 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3"/>
          <p:cNvSpPr/>
          <p:nvPr/>
        </p:nvSpPr>
        <p:spPr>
          <a:xfrm>
            <a:off x="274320" y="253746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Dominar a redação de procedimentos e instruções é a base da segurança, qualidade e eficiência no mundo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