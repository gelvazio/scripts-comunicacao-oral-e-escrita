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5143500" cx="9144000"/>
  <p:notesSz cx="5143500" cy="9144000"/>
  <p:embeddedFontLst>
    <p:embeddedFont>
      <p:font typeface="Lexend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Lexend-regular.fntdata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47" Type="http://schemas.openxmlformats.org/officeDocument/2006/relationships/font" Target="fonts/Lexend-bold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3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1.png"/><Relationship Id="rId5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19.png"/><Relationship Id="rId7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3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4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31.png"/><Relationship Id="rId5" Type="http://schemas.openxmlformats.org/officeDocument/2006/relationships/image" Target="../media/image3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41.png"/><Relationship Id="rId5" Type="http://schemas.openxmlformats.org/officeDocument/2006/relationships/image" Target="../media/image52.png"/><Relationship Id="rId6" Type="http://schemas.openxmlformats.org/officeDocument/2006/relationships/image" Target="../media/image4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6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Relationship Id="rId4" Type="http://schemas.openxmlformats.org/officeDocument/2006/relationships/image" Target="../media/image5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42.png"/><Relationship Id="rId5" Type="http://schemas.openxmlformats.org/officeDocument/2006/relationships/image" Target="../media/image48.png"/><Relationship Id="rId6" Type="http://schemas.openxmlformats.org/officeDocument/2006/relationships/image" Target="../media/image43.png"/><Relationship Id="rId7" Type="http://schemas.openxmlformats.org/officeDocument/2006/relationships/image" Target="../media/image5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Relationship Id="rId4" Type="http://schemas.openxmlformats.org/officeDocument/2006/relationships/image" Target="../media/image6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Relationship Id="rId4" Type="http://schemas.openxmlformats.org/officeDocument/2006/relationships/image" Target="../media/image7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Relationship Id="rId4" Type="http://schemas.openxmlformats.org/officeDocument/2006/relationships/image" Target="../media/image5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Relationship Id="rId4" Type="http://schemas.openxmlformats.org/officeDocument/2006/relationships/image" Target="../media/image62.png"/><Relationship Id="rId5" Type="http://schemas.openxmlformats.org/officeDocument/2006/relationships/image" Target="../media/image57.png"/><Relationship Id="rId6" Type="http://schemas.openxmlformats.org/officeDocument/2006/relationships/image" Target="../media/image7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Relationship Id="rId4" Type="http://schemas.openxmlformats.org/officeDocument/2006/relationships/image" Target="../media/image7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Relationship Id="rId4" Type="http://schemas.openxmlformats.org/officeDocument/2006/relationships/image" Target="../media/image6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Relationship Id="rId4" Type="http://schemas.openxmlformats.org/officeDocument/2006/relationships/image" Target="../media/image63.png"/><Relationship Id="rId5" Type="http://schemas.openxmlformats.org/officeDocument/2006/relationships/image" Target="../media/image83.png"/><Relationship Id="rId6" Type="http://schemas.openxmlformats.org/officeDocument/2006/relationships/image" Target="../media/image6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Relationship Id="rId4" Type="http://schemas.openxmlformats.org/officeDocument/2006/relationships/image" Target="../media/image8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Relationship Id="rId4" Type="http://schemas.openxmlformats.org/officeDocument/2006/relationships/image" Target="../media/image72.png"/><Relationship Id="rId5" Type="http://schemas.openxmlformats.org/officeDocument/2006/relationships/image" Target="../media/image8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Relationship Id="rId4" Type="http://schemas.openxmlformats.org/officeDocument/2006/relationships/image" Target="../media/image9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Relationship Id="rId4" Type="http://schemas.openxmlformats.org/officeDocument/2006/relationships/image" Target="../media/image74.png"/><Relationship Id="rId5" Type="http://schemas.openxmlformats.org/officeDocument/2006/relationships/image" Target="../media/image8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Relationship Id="rId4" Type="http://schemas.openxmlformats.org/officeDocument/2006/relationships/image" Target="../media/image7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Relationship Id="rId4" Type="http://schemas.openxmlformats.org/officeDocument/2006/relationships/image" Target="../media/image78.png"/><Relationship Id="rId5" Type="http://schemas.openxmlformats.org/officeDocument/2006/relationships/image" Target="../media/image8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Relationship Id="rId4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274320"/>
            <a:ext cx="4023360" cy="4594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Formatação e Padronização de Documentos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545C5C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Apresentação visual e clareza na escrita formal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240ca8ef2aafebf65eff8b5279c04aa9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74320"/>
            <a:ext cx="4297680" cy="4594860"/>
          </a:xfrm>
          <a:prstGeom prst="roundRect">
            <a:avLst>
              <a:gd fmla="val 319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59073438-6e49-49b7-85ee-9f2295a03b83/img_9d28f00d9b12a7be085d202611a23ac0.png" id="23" name="Google Shape;2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/>
          <p:nvPr/>
        </p:nvSpPr>
        <p:spPr>
          <a:xfrm>
            <a:off x="274320" y="244602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texto você leria primeiro?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274320" y="3280410"/>
            <a:ext cx="8595360" cy="1337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Imagine receber dois currículos com o mesmo conteúdo: um desordenado e outro perfeitamente alinhado.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menos de 3 segundos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nosso cérebro julga a credibilidade e o profissionalismo da mensagem antes mesmo de ler uma única palavra.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Objetivos da Nossa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Compreender normas técnicas: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aplicar margens, fontes institucionais, espaçamentos e alinhamentos corretos.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Estruturar hierarquia visual: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usar títulos, subtítulos, ênfases e listas com intencionalidade clara.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Garantir acessibilidade e exportação: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produzir documentos limpos e salvá-los com segurança em formato PDF.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Vocabulário Essencial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9afbc081399892cb5913f38ae340bbdb.png" id="47" name="Google Shape;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45161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8" name="Google Shape;48;p6"/>
          <p:cNvSpPr/>
          <p:nvPr/>
        </p:nvSpPr>
        <p:spPr>
          <a:xfrm>
            <a:off x="274320" y="369189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Formatação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Ajuste visual de fontes, margens e parágrafos.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d572f452b64d4fc3c20a0c18f1f4e04f.png" id="49" name="Google Shape;4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2468880" y="316611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Padronização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Regras unificadas para consistência institucional.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7223697857821326194e39c021bd1dde.png" id="51" name="Google Shape;5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145161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4663440" y="3691890"/>
            <a:ext cx="2011680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Hierarquia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Níveis visuais entre títulos, subtítulos e texto.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15d59237119dfebd8179b3d9eb0b4421.png" id="53" name="Google Shape;5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6858000" y="3166110"/>
            <a:ext cx="2011680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Layout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Distribuição dos elementos na área de leitura.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/>
          <p:nvPr/>
        </p:nvSpPr>
        <p:spPr>
          <a:xfrm>
            <a:off x="274320" y="422910"/>
            <a:ext cx="484632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Revisão: Pontuação Aplicada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274320" y="1691640"/>
            <a:ext cx="4846320" cy="2948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aula anterior, estudamos correção gramatical. Antes de pensar no visual, o texto deve estar impecável: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Vírgula em enumerações: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organiza termos de mesma função sintática.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Ponto e vírgula: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ideal para separar itens longos em listas numeradas.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Dois-pontos: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preparam o leitor para citações, listagens ou conclusões.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4b6ca852cd1cbde7f69c896bb17d05c5.png" id="62" name="Google Shape;6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Concordância em Foco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274320" y="1360170"/>
            <a:ext cx="2743200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Harmonia entre sujeito, verbo e adjetivos em documentos profissionais.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60b6298e1f00a9e85d3b4c5743a0477b.png" id="70" name="Google Shape;7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38887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/>
          <p:nvPr/>
        </p:nvSpPr>
        <p:spPr>
          <a:xfrm>
            <a:off x="3291840" y="182880"/>
            <a:ext cx="5577840" cy="4011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Erros comuns que comprometem documentos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Documentos bem formatados perdem credibilidade se houver falhas de concordância: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Anexo / Anexa: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concorda com o substantivo (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Seguem anexas as planilhas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;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relatório vai anexo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).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maioria dos colaboradores: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aceita verbo no singular ou no plural (concordância atrativa).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É necessário / É necessária: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sem artigo, fica invariável (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É necessário clareza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vs.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É necessária a clareza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).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59073438-6e49-49b7-85ee-9f2295a03b83/img_74db676abbf9321227487417a15623c8.png" id="77" name="Google Shape;7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Revisão Rápida: Gramática e Pontuação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9"/>
          <p:cNvSpPr/>
          <p:nvPr/>
        </p:nvSpPr>
        <p:spPr>
          <a:xfrm>
            <a:off x="285750" y="1143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a concordância correta para o envio de documentos?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285750" y="2286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itens de listas longas com orações independentes, qual sinal costuma separar cada item?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285750" y="3429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 que a correção gramatical deve anteceder a formatação estética?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Revisão Rápida: Gramática e Pontuação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0"/>
          <p:cNvSpPr/>
          <p:nvPr/>
        </p:nvSpPr>
        <p:spPr>
          <a:xfrm>
            <a:off x="285750" y="1143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Seguem anexos os relatórios trimestrais solicitados.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285750" y="2286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Ponto e vírgula (;)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0"/>
          <p:cNvSpPr/>
          <p:nvPr/>
        </p:nvSpPr>
        <p:spPr>
          <a:xfrm>
            <a:off x="285750" y="3429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Porque a credibilidade do emissor depende em primeiro lugar da clareza e correção da mensagem escrita.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Identidade Visual e Organização Espacial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1"/>
          <p:cNvSpPr/>
          <p:nvPr/>
        </p:nvSpPr>
        <p:spPr>
          <a:xfrm>
            <a:off x="274320" y="1017270"/>
            <a:ext cx="4114800" cy="3851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papel do espaço em branco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Espaço em branco não é desperdício de papel: é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área de respiro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para os olhos. Um layout equilibrado separa tópicos, conduz o olhar e reduz a fadiga visual durante a leitura de textos extensos.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padronização visual cria uma sensação imediata de rigor, seriedade e confiabilidade institucional.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fc1b5c7151c1219cfda1fae65c600e68.png" id="99" name="Google Shape;9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01727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Normas Básicas de Margens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260259052c4affce1c9f7eb5b8af5085.png" id="106" name="Google Shape;10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425196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107" name="Google Shape;107;p12"/>
          <p:cNvSpPr/>
          <p:nvPr/>
        </p:nvSpPr>
        <p:spPr>
          <a:xfrm>
            <a:off x="274320" y="2937510"/>
            <a:ext cx="4251960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Padrão ABNT / Acadêmico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Superior: 3 cm | Esquerda: 3 cm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Inferior: 2 cm | Direita: 2 cm.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margem esquerda maior permite encadernação e perfuração.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b8a0b19717c693dffa817637c41d0d1e.png" id="108" name="Google Shape;10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7720" y="925830"/>
            <a:ext cx="425196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109" name="Google Shape;109;p12"/>
          <p:cNvSpPr/>
          <p:nvPr/>
        </p:nvSpPr>
        <p:spPr>
          <a:xfrm>
            <a:off x="4617720" y="2937510"/>
            <a:ext cx="4251960" cy="1794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Padrão Corporativo Moderno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Margens simétricas de 2 cm a 2,5 cm em todas as bordas.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Ideal para relatórios digitais lidos em telas e tablets.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Tipografia: Escolhendo as Fontes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274320" y="92583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59073438-6e49-49b7-85ee-9f2295a03b83/img_8edf09590b5fcef0bdb8981aa2615d91.png" id="117" name="Google Shape;11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3"/>
          <p:cNvSpPr/>
          <p:nvPr/>
        </p:nvSpPr>
        <p:spPr>
          <a:xfrm>
            <a:off x="1005840" y="1062990"/>
            <a:ext cx="33832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Fontes Serifadas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Exemplos: </a:t>
            </a: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Times New Roman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Georgia. Possuem pequenos traços (serifas) nas pontas; excelentes para livros impressos.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4617720" y="92583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59073438-6e49-49b7-85ee-9f2295a03b83/img_a38b00df28e66610f0d668c3ac8970fc.png" id="120" name="Google Shape;12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3"/>
          <p:cNvSpPr/>
          <p:nvPr/>
        </p:nvSpPr>
        <p:spPr>
          <a:xfrm>
            <a:off x="5349240" y="1062990"/>
            <a:ext cx="33832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Fontes Sem Serifa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Exemplos: </a:t>
            </a: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Arial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Calibri, Helvetica. Linhas retas e limpas; facilitam a leitura em monitores digitais.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274320" y="299466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59073438-6e49-49b7-85ee-9f2295a03b83/img_4dc46019a06db5c507da2adb0da46d9f.png" id="123" name="Google Shape;12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1318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/>
          <p:nvPr/>
        </p:nvSpPr>
        <p:spPr>
          <a:xfrm>
            <a:off x="1005840" y="3131820"/>
            <a:ext cx="33832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Fontes Decorativas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Fontes manuscritas ou góticas devem ser </a:t>
            </a: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evitadas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em textos formais. Dificultam a leitura rápida.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4617720" y="299466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59073438-6e49-49b7-85ee-9f2295a03b83/img_d1465d06e8c66ae78f4c907dce4daa4e.png" id="126" name="Google Shape;126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4880" y="31318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3"/>
          <p:cNvSpPr/>
          <p:nvPr/>
        </p:nvSpPr>
        <p:spPr>
          <a:xfrm>
            <a:off x="5349240" y="3131820"/>
            <a:ext cx="338328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Tamanho Padrão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Corpo de texto: </a:t>
            </a: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11 a 12 pt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 Notas de rodapé e legendas: </a:t>
            </a: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10 pt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 Títulos: 14 a 18 pt.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Alinhamento e Espaçamento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274320" y="925830"/>
            <a:ext cx="8595360" cy="2125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alinhamento do texto e o espaçamento entrelinhas afetam diretamente o ritmo de leitura: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95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Justificado: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alinha ambas as margens, comum em normas formais (cuidado com grandes espaços vazios entre palavras).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Alinhado à esquerda: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moderno, muito usado em relatórios corporativos e na web por manter espaçamento uniforme entre palavras.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Espaçamento entre linhas: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use 1,5 linha para trabalhos acadêmicos ou 1,15 linha para documentos executivos compactos.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e6373c1004c3b1b67edf3df2a3cbb065.png" id="135" name="Google Shape;13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3143250"/>
            <a:ext cx="859536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Destaques: Negrito, Itálico e Sublinhado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274320" y="925830"/>
            <a:ext cx="450342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Quando usar cada recurso?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Destaques servem para guiar o olhar. Se tudo estiver destacado,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nada se destaca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Negrito: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palavras-chave essenciais, valores críticos ou termos conceituais.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Itálico: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palavras estrangeiras (ex.: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compliance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), títulos de obras ou termos técnicos específicos.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Sublinhado: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evite em documentos modernos; no ambiente digital, confunde-se com hyperlinks.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b72e2abb3d18d6e1a4aada4499dc8884.png" id="143" name="Google Shape;14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92583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Uso de Marcadores e Numerações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ba28c618a2346d9d877aa5e8985f0c9f.png" id="150" name="Google Shape;15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425196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51" name="Google Shape;151;p16"/>
          <p:cNvSpPr/>
          <p:nvPr/>
        </p:nvSpPr>
        <p:spPr>
          <a:xfrm>
            <a:off x="274320" y="3040380"/>
            <a:ext cx="425196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Marcadores (Bullets)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Use quando a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ordem dos itens não importa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listas de materiais, vantagens, participantes ou tópicos de discussão.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8cb4819d2c07a0f739a9fc75255f135f.png" id="152" name="Google Shape;15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7720" y="925830"/>
            <a:ext cx="425196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53" name="Google Shape;153;p16"/>
          <p:cNvSpPr/>
          <p:nvPr/>
        </p:nvSpPr>
        <p:spPr>
          <a:xfrm>
            <a:off x="4617720" y="3040380"/>
            <a:ext cx="42519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Listas Numeradas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Use quando houver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sequência obrigatória ou hierarquia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etapas de um processo, instruções de manual ou prioridades.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Verificação de Formatação Básica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a recomendação correta para o uso de itálico em documentos profissionais?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Aplicar em palavras e expressões estrangeiras não aportuguesadas.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Aplicar em parágrafos inteiros para transmitir urgência.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Utilizar como substituto obrigatório para qualquer lista numerada.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Usar para destacar todos os títulos principais do documento.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Verificação de Formatação Básica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a recomendação correta para o uso de itálico em documentos profissionais?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Aplicar em palavras e expressões estrangeiras não aportuguesadas.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Aplicar em parágrafos inteiros para transmitir urgência.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Utilizar como substituto obrigatório para qualquer lista numerada.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Usar para destacar todos os títulos principais do documento.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Hierarquia Visual: Guiando o Leitor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6e87369474254c2d8e371b19a91a28bd.png" id="192" name="Google Shape;19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6299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93" name="Google Shape;193;p19"/>
          <p:cNvSpPr/>
          <p:nvPr/>
        </p:nvSpPr>
        <p:spPr>
          <a:xfrm>
            <a:off x="182880" y="323469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274320" y="3760470"/>
            <a:ext cx="2743200" cy="1074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Título Principal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 o tema com maior peso visual imediato.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d2b7a1aa8bad22dadea026a02efad0ce.png" id="195" name="Google Shape;19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106299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96" name="Google Shape;196;p19"/>
          <p:cNvSpPr/>
          <p:nvPr/>
        </p:nvSpPr>
        <p:spPr>
          <a:xfrm>
            <a:off x="3108960" y="323469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3200400" y="3760470"/>
            <a:ext cx="2743200" cy="1074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Subtítulos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Organizam seções lógicas para navegação rápida.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d5d79ffd2f43b95433d87f9738073b34.png" id="198" name="Google Shape;19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106299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99" name="Google Shape;199;p19"/>
          <p:cNvSpPr/>
          <p:nvPr/>
        </p:nvSpPr>
        <p:spPr>
          <a:xfrm>
            <a:off x="6035040" y="323469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6126480" y="3760470"/>
            <a:ext cx="2743200" cy="1074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Corpo e Notas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Garantem conforto contínuo em leitura longa.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/>
          <p:nvPr/>
        </p:nvSpPr>
        <p:spPr>
          <a:xfrm>
            <a:off x="274320" y="274320"/>
            <a:ext cx="484632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Padrão de Leitura em "F"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274320" y="1543050"/>
            <a:ext cx="4846320" cy="32346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Pesquisas comprovam que em ambientes corporativos e telas digitais, o leitor realiza uma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varredura visual em formato de F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Primeiro lê as linhas superiores horizontais (título e introdução).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Depois desce pela margem esquerda buscando palavras-chave e subtítulos.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Títulos bem posicionados à esquerda garantem que o leitor encontre a informação em segundos.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1962ef671b13d1e0e17ca69934ad0d41.png" id="208" name="Google Shape;20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Padronização Institucional de Documentos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274320" y="1017270"/>
            <a:ext cx="4114800" cy="3851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é um Manual de Redação?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Instituições governamentais e grandes empresas possuem manuais de redação próprios (como o Manual da Presidência da República).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Esses manuais definem regras para pronomes de tratamento, formatação de cabeçalhos, vocativos e estruturas formais, garantindo uniformidade em toda a comunicação externa.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b9c2ec76654bd078b802acbdf000d8e5.png" id="216" name="Google Shape;21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01727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Elementos de Documentos Formais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274320" y="92583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59073438-6e49-49b7-85ee-9f2295a03b83/img_96c9943183066c3f8928553176200007.png" id="224" name="Google Shape;22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/>
          <p:nvPr/>
        </p:nvSpPr>
        <p:spPr>
          <a:xfrm>
            <a:off x="1005840" y="1062990"/>
            <a:ext cx="338328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Cabeçalho e Logotipo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 a empresa ou setor emissor. Posiciona-se sempre no topo, centralizado ou à esquerda.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4617720" y="92583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59073438-6e49-49b7-85ee-9f2295a03b83/img_e013a741b60d2c5db8196a081cdfdc53.png" id="227" name="Google Shape;22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/>
          <p:nvPr/>
        </p:nvSpPr>
        <p:spPr>
          <a:xfrm>
            <a:off x="5349240" y="1062990"/>
            <a:ext cx="338328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Local e Data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Ex.: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São Paulo, 14 de maio de 2026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 Alinha-se normalmente à direita ou no topo do texto.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274320" y="299466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59073438-6e49-49b7-85ee-9f2295a03b83/img_f1f5e71d4bc59d9279554e86062b6833.png" id="230" name="Google Shape;23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1318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/>
          <p:nvPr/>
        </p:nvSpPr>
        <p:spPr>
          <a:xfrm>
            <a:off x="1005840" y="3131820"/>
            <a:ext cx="33832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Vocativo e Destinatário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Inicia a mensagem dirigindo-se formalmente à autoridade ou leitor (ex.: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Senhor Diretor,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ou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Prezada Equipe,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).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4617720" y="299466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59073438-6e49-49b7-85ee-9f2295a03b83/img_e42ece2ff823ad9f8410026bb2489d6e.png" id="233" name="Google Shape;23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4880" y="31318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/>
          <p:cNvSpPr/>
          <p:nvPr/>
        </p:nvSpPr>
        <p:spPr>
          <a:xfrm>
            <a:off x="5349240" y="3131820"/>
            <a:ext cx="33832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Fecho e Assinatura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Encerramento formal (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Atenciosamente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ou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Respeitosamente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) seguido de assinatura, nome e cargo.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Análise de Vocativos e Tratamentos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274320" y="925830"/>
            <a:ext cx="450342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 se dirigir a autoridades?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documentos oficiais e corporativos, o vocativo demonstra respeito à função do destinatário: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Vossa Excelência: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para chefes de poderes executivo, legislativo e judiciário.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Vossa Senhoria: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utilizado para outras autoridades e comunicações comerciais em geral.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Prezado(a) Senhor(a):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forma cordial e amplamente aceita no ambiente corporativo privado.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7621a5ceab4dd4f1300b2ad5556d9d90.png" id="242" name="Google Shape;24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92583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Fechos Formais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274320" y="1360170"/>
            <a:ext cx="2743200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Normas consolidadas para encerramento de documentos.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a7d8d24370585b833ab14588073071cf.png" id="250" name="Google Shape;25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38887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4"/>
          <p:cNvSpPr/>
          <p:nvPr/>
        </p:nvSpPr>
        <p:spPr>
          <a:xfrm>
            <a:off x="3291840" y="182880"/>
            <a:ext cx="5577840" cy="3051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Regra Oficial da Redação Pública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Manual da Presidência simplificou os fechos de documentos em duas únicas modalidades: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Respeitosamente: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empregado para autoridades de hierarquia superior à de quem assina (inclusive o Presidente da República).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Atenciosamente: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empregado para autoridades de mesma hierarquia ou de nível inferior, e nas relações corporativas comuns.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5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Conectando Elementos de Documentos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Fecho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Vocativo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Cabeçalho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Corpo do Texto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Elemento no topo que identifica a instituição ou empresa emissora.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Expressão formal que inicia a comunicação dirigindo-se ao leitor.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Saudação final respeitosa que antecede a assinatura do autor.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Área central onde a mensagem ou relatório é detalhadamente exposto.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Conectando Elementos de Documentos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Fecho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Vocativo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6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Cabeçalho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6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Corpo do Texto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Elemento no topo que identifica a instituição ou empresa emissora.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Expressão formal que inicia a comunicação dirigindo-se ao leitor.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Saudação final respeitosa que antecede a assinatura do autor.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6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Área central onde a mensagem ou relatório é detalhadamente exposto.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26"/>
          <p:cNvCxnSpPr/>
          <p:nvPr/>
        </p:nvCxnSpPr>
        <p:spPr>
          <a:xfrm>
            <a:off x="2571750" y="1623060"/>
            <a:ext cx="994410" cy="1858518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" name="Google Shape;284;p26"/>
          <p:cNvCxnSpPr/>
          <p:nvPr/>
        </p:nvCxnSpPr>
        <p:spPr>
          <a:xfrm>
            <a:off x="2571750" y="2537460"/>
            <a:ext cx="994410" cy="29718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" name="Google Shape;285;p26"/>
          <p:cNvCxnSpPr/>
          <p:nvPr/>
        </p:nvCxnSpPr>
        <p:spPr>
          <a:xfrm flipH="1" rot="10800000">
            <a:off x="2571750" y="1652778"/>
            <a:ext cx="994410" cy="1799082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6" name="Google Shape;286;p26"/>
          <p:cNvCxnSpPr/>
          <p:nvPr/>
        </p:nvCxnSpPr>
        <p:spPr>
          <a:xfrm>
            <a:off x="2571750" y="4366260"/>
            <a:ext cx="994410" cy="29718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26"/>
          <p:cNvSpPr/>
          <p:nvPr/>
        </p:nvSpPr>
        <p:spPr>
          <a:xfrm>
            <a:off x="3394710" y="33101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6"/>
          <p:cNvSpPr/>
          <p:nvPr/>
        </p:nvSpPr>
        <p:spPr>
          <a:xfrm>
            <a:off x="3394710" y="23957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6"/>
          <p:cNvSpPr/>
          <p:nvPr/>
        </p:nvSpPr>
        <p:spPr>
          <a:xfrm>
            <a:off x="3394710" y="14813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6"/>
          <p:cNvSpPr/>
          <p:nvPr/>
        </p:nvSpPr>
        <p:spPr>
          <a:xfrm>
            <a:off x="3394710" y="42245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Templates e Modelos Corporativos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7"/>
          <p:cNvSpPr/>
          <p:nvPr/>
        </p:nvSpPr>
        <p:spPr>
          <a:xfrm>
            <a:off x="274320" y="925830"/>
            <a:ext cx="470916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 que usar modelos pré-definidos?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Empresas e escolas utilizam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templates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(modelos prontos) para garantir que ninguém precise recriar estilos do zero: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95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Produtividade: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foco imediato na redação do conteúdo, não na configuração de margens.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Unidade de marca: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cores, fontes e logotipos permanecem idênticos em toda a equipe.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Prevenção de erros: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estilos de parágrafo vêm travados com medidas recomendadas.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7015d2c1b1fe50a0102969428093c55e.png" id="298" name="Google Shape;29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925830"/>
            <a:ext cx="3703320" cy="3246120"/>
          </a:xfrm>
          <a:prstGeom prst="roundRect">
            <a:avLst>
              <a:gd fmla="val 422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Acessibilidade Visual em Textos Longos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6837ceed5b4cbd83668ecfc2b8438c04.png" id="305" name="Google Shape;30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306" name="Google Shape;306;p28"/>
          <p:cNvSpPr/>
          <p:nvPr/>
        </p:nvSpPr>
        <p:spPr>
          <a:xfrm>
            <a:off x="274320" y="2834640"/>
            <a:ext cx="2811780" cy="1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Contraste Adequado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Texto escuro sobre fundo claro (#FFFFFF ou creme suave). Evite cinza claro sobre branco, que cansa os olhos.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c2cda657d687d6cb96e3fffee86e0b6c.png" id="307" name="Google Shape;30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308" name="Google Shape;308;p28"/>
          <p:cNvSpPr/>
          <p:nvPr/>
        </p:nvSpPr>
        <p:spPr>
          <a:xfrm>
            <a:off x="3166110" y="2777490"/>
            <a:ext cx="2811780" cy="2137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Comprimento de Linha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Linhas com 60 a 80 caracteres são ideais. Linhas excessivamente longas fazem o leitor se perder ao mudar de linha.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ff3c7173f0510c4080a380bdb8da3872.png" id="309" name="Google Shape;309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310" name="Google Shape;310;p28"/>
          <p:cNvSpPr/>
          <p:nvPr/>
        </p:nvSpPr>
        <p:spPr>
          <a:xfrm>
            <a:off x="6069330" y="2834640"/>
            <a:ext cx="2811780" cy="1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Fontes Acessíveis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Fontes com caracteres bem distintos (como Arial, Verdana ou Lexend) auxiliam pessoas com dislexia ou baixa visão.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9"/>
          <p:cNvSpPr/>
          <p:nvPr/>
        </p:nvSpPr>
        <p:spPr>
          <a:xfrm>
            <a:off x="274320" y="868680"/>
            <a:ext cx="49377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Risco de Enviar Arquivos Editáveis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274320" y="2137410"/>
            <a:ext cx="493776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já enviou um arquivo de texto (.docx ou .odt) e ele abriu totalmente desconfigurado no computador do professor ou cliente?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Versões diferentes de editores trocam fontes não instaladas e quebram quebras de linha e tabelas.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99f909b68b3cad9579fa9a6c60237663.png" id="318" name="Google Shape;31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Exportação Segura: A Força do PDF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0"/>
          <p:cNvSpPr/>
          <p:nvPr/>
        </p:nvSpPr>
        <p:spPr>
          <a:xfrm>
            <a:off x="274320" y="1017270"/>
            <a:ext cx="4114800" cy="3851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Portable Document Format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formato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PDF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foi criado para assegurar que um documento seja impresso e visualizado de forma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idêntica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em qualquer dispositivo ou sistema operacional: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Inalterabilidade visual: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fontes, margens e imagens ficam travadas exatamente como foram criadas.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Segurança: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reduz alterações acidentais no texto por terceiros.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9e87caf30d4d79c7fcc5a5e92a973b7b.png" id="326" name="Google Shape;32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01727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Checklist Antes de Exportar para PDF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0dd7e81e420f1dc65969dd47bde50c6f.png" id="333" name="Google Shape;33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34" name="Google Shape;334;p31"/>
          <p:cNvSpPr/>
          <p:nvPr/>
        </p:nvSpPr>
        <p:spPr>
          <a:xfrm>
            <a:off x="18288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1"/>
          <p:cNvSpPr/>
          <p:nvPr/>
        </p:nvSpPr>
        <p:spPr>
          <a:xfrm>
            <a:off x="274320" y="3611880"/>
            <a:ext cx="2743200" cy="1303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Revisão Final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Confira ortografia, pontuação e nomes com atenção.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724c0343d4ef8ef9bbabdaf61d1dfd2a.png" id="336" name="Google Shape;336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37" name="Google Shape;337;p31"/>
          <p:cNvSpPr/>
          <p:nvPr/>
        </p:nvSpPr>
        <p:spPr>
          <a:xfrm>
            <a:off x="310896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1"/>
          <p:cNvSpPr/>
          <p:nvPr/>
        </p:nvSpPr>
        <p:spPr>
          <a:xfrm>
            <a:off x="3200400" y="3623310"/>
            <a:ext cx="2743200" cy="1040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Layout e Quebras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Elimine linhas órfãs e tabelas com cortes indesejados.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c12bc59bc793ffe74e153464428f42f9.png" id="339" name="Google Shape;339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40" name="Google Shape;340;p31"/>
          <p:cNvSpPr/>
          <p:nvPr/>
        </p:nvSpPr>
        <p:spPr>
          <a:xfrm>
            <a:off x="603504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1"/>
          <p:cNvSpPr/>
          <p:nvPr/>
        </p:nvSpPr>
        <p:spPr>
          <a:xfrm>
            <a:off x="6126480" y="3611880"/>
            <a:ext cx="2743200" cy="1303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Nome do Arquivo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Use padrão claro: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Relatorio_EquipeA_vFinal.pdf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Linhas Órfãs e Viúvas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2"/>
          <p:cNvSpPr/>
          <p:nvPr/>
        </p:nvSpPr>
        <p:spPr>
          <a:xfrm>
            <a:off x="274320" y="925830"/>
            <a:ext cx="450342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são e como evitá-las?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editoração profissional, chamamos de: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Linha Órfã: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 primeira linha de um parágrafo que fica isolada no final de uma página.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Linha Viúva: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 última linha de um parágrafo que passa sozinha para o topo da página seguinte.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Ative sempre a opção de controle de linhas órfãs/viúvas nas configurações de parágrafo do seu editor de texto.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520d20b42cd8f1295c5bf1b5cd43dc47.png" id="349" name="Google Shape;34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92583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Comparando Antes e Depois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ec2e1f09cf2c83af3b7b1c7cbe32d9a2.png" id="356" name="Google Shape;35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57" name="Google Shape;357;p33"/>
          <p:cNvSpPr/>
          <p:nvPr/>
        </p:nvSpPr>
        <p:spPr>
          <a:xfrm>
            <a:off x="27432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Documento Despadronizado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Fontes variadas sem critério, ausência de margens uniformes, espaçamento irregular e perda total de foco.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02564f5f9a28e5d31e4239570215f8d7.png" id="358" name="Google Shape;35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466344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Documento Formatado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Família tipográfica única, títulos hierarquizados, espaçamento entrelinhas constante e leitura fluida.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Verificação: Exportação em PDF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4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9286">
              <a:srgbClr val="000000"/>
            </a:outerShdw>
          </a:effectLst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Exportar um documento em PDF é indispensável porque esse formato impede que o layout, as fontes e as margens se desconfigurem em outros computadores.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4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4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4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🤔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Prepare-se para explicar o seu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5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Verificação: Exportação em PDF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5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9286">
              <a:srgbClr val="000000"/>
            </a:outerShdw>
          </a:effectLst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Exportar um documento em PDF é indispensável porque esse formato impede que o layout, as fontes e as margens se desconfigurem em outros computadores.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5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5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5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5"/>
          <p:cNvSpPr/>
          <p:nvPr/>
        </p:nvSpPr>
        <p:spPr>
          <a:xfrm>
            <a:off x="457200" y="3657600"/>
            <a:ext cx="8229600" cy="1028700"/>
          </a:xfrm>
          <a:prstGeom prst="roundRect">
            <a:avLst>
              <a:gd fmla="val 888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5725" lIns="125725" spcFirstLastPara="1" rIns="125725" wrap="square" tIns="12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🔑 Por que é isso?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O formato PDF bloqueia o layout visual e preserva com fidelidade a formatação exata definida pelo autor.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5"/>
          <p:cNvSpPr/>
          <p:nvPr/>
        </p:nvSpPr>
        <p:spPr>
          <a:xfrm>
            <a:off x="4149090" y="24917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Estudo de Caso: O Comunicado Escolar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6"/>
          <p:cNvSpPr/>
          <p:nvPr/>
        </p:nvSpPr>
        <p:spPr>
          <a:xfrm>
            <a:off x="274320" y="925830"/>
            <a:ext cx="470916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Cenário Prático de Aplicação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Grêmio Estudantil precisa enviar um comunicado para toda a escola sobre as eleições: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95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Problema inicial: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enviaram uma foto de um texto digitado no bloco de notas do celular.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Impacto: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poucos alunos leram com atenção e muitos duvidaram da legitimidade do aviso.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Solução: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uso de papel timbrado da escola, títulos destacados e exportação em PDF via mural.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59073438-6e49-49b7-85ee-9f2295a03b83/img_e3aac56e213500a877e2b2982740291f.png" id="389" name="Google Shape;38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925830"/>
            <a:ext cx="3703320" cy="3246120"/>
          </a:xfrm>
          <a:prstGeom prst="roundRect">
            <a:avLst>
              <a:gd fmla="val 422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Etapas da Padronização Visual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7"/>
          <p:cNvSpPr/>
          <p:nvPr/>
        </p:nvSpPr>
        <p:spPr>
          <a:xfrm>
            <a:off x="457200" y="2834640"/>
            <a:ext cx="8229600" cy="2286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7"/>
          <p:cNvSpPr/>
          <p:nvPr/>
        </p:nvSpPr>
        <p:spPr>
          <a:xfrm>
            <a:off x="13258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7"/>
          <p:cNvSpPr/>
          <p:nvPr/>
        </p:nvSpPr>
        <p:spPr>
          <a:xfrm>
            <a:off x="33832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7"/>
          <p:cNvSpPr/>
          <p:nvPr/>
        </p:nvSpPr>
        <p:spPr>
          <a:xfrm>
            <a:off x="54406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7"/>
          <p:cNvSpPr/>
          <p:nvPr/>
        </p:nvSpPr>
        <p:spPr>
          <a:xfrm>
            <a:off x="74980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7"/>
          <p:cNvSpPr/>
          <p:nvPr/>
        </p:nvSpPr>
        <p:spPr>
          <a:xfrm>
            <a:off x="514350" y="3086100"/>
            <a:ext cx="19431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Passo 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Configurar margens e tamanho do papel (A4).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7"/>
          <p:cNvSpPr/>
          <p:nvPr/>
        </p:nvSpPr>
        <p:spPr>
          <a:xfrm>
            <a:off x="2571750" y="1223010"/>
            <a:ext cx="19431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Passo 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Definir tipografia padrão e níveis de títulos.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7"/>
          <p:cNvSpPr/>
          <p:nvPr/>
        </p:nvSpPr>
        <p:spPr>
          <a:xfrm>
            <a:off x="4629150" y="3086100"/>
            <a:ext cx="19431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Passo 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Organizar listas, espaçamento e alinhamento.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7"/>
          <p:cNvSpPr/>
          <p:nvPr/>
        </p:nvSpPr>
        <p:spPr>
          <a:xfrm>
            <a:off x="6686550" y="1223010"/>
            <a:ext cx="19431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Passo 4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Revisar gramática e exportar em PDF.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59073438-6e49-49b7-85ee-9f2295a03b83/img_88f2cf22d50efe57d124336ea25cb3a9.png" id="410" name="Google Shape;410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3/releases/78214783/backend/storage/app/render-specs/59073438-6e49-49b7-85ee-9f2295a03b83/img_826b83c0276977f91616604a16983e1e.png" id="411" name="Google Shape;411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0" y="1657350"/>
            <a:ext cx="283464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Debate em Equipe: O Impacto Visual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8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que situações práticas da vida escolar ou futura carreira você acha que um erro visual de formatação pode causar prejuízos sérios para quem escreve?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59073438-6e49-49b7-85ee-9f2295a03b83/img_88f2cf22d50efe57d124336ea25cb3a9.png" id="419" name="Google Shape;41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Debate em Equipe: O Impacto Visual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9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uma candidatura de emprego com currículo desconfigurado;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entrega de um relatório técnico para um cliente exigente;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um projeto acadêmico ou científico que segue normas rígidas da ABNT.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59073438-6e49-49b7-85ee-9f2295a03b83/img_1198f6ede5e2216c51986e3c51e1178b.png" id="428" name="Google Shape;428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6280" y="765810"/>
            <a:ext cx="4457700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3/releases/78214783/backend/storage/app/render-specs/59073438-6e49-49b7-85ee-9f2295a03b83/img_521ef9b813e2fc8b9d3ada218c950958.png" id="429" name="Google Shape;429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3490" y="1897380"/>
            <a:ext cx="331470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4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Prática: Reformate o Comunicado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40"/>
          <p:cNvSpPr/>
          <p:nvPr/>
        </p:nvSpPr>
        <p:spPr>
          <a:xfrm>
            <a:off x="285750" y="925830"/>
            <a:ext cx="4263390" cy="38976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Fonte: Arial ou Times New Roman. Títulos: 14; Corpo: 12.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Margens: Superior/Esquerda 3cm; Inferior/Direita 2cm.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Elementos: Cabeçalho, data, vocativo, fecho e assinatura.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você vai precisar: 🎨 🖌️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Caderno, caneta, régua ou editor de texto digital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Ordem dos Elementos Formais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41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Organize os elementos estruturais de uma carta de solicitação oficial na ordem correta de cima para baixo: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41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Vocativo formal direcionado à autoridade destinatária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41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Cabeçalho institucional com logotipo e identificação do órgão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41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Fecho de cortesia seguido por assinatura e cargo do remetente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1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Local e data por extenso alinhados à margem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Ordem dos Elementos Formais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42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Organize os elementos estruturais de uma carta de solicitação oficial na ordem correta de cima para baixo: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42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Vocativo formal direcionado à autoridade destinatária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42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Cabeçalho institucional com logotipo e identificação do órgão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42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Fecho de cortesia seguido por assinatura e cargo do remetente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42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Local e data por extenso alinhados à margem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4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2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42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2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42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59073438-6e49-49b7-85ee-9f2295a03b83/img_f80d337da3e29960f143dcbcf53e11ab.png" id="464" name="Google Shape;464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43"/>
          <p:cNvSpPr/>
          <p:nvPr/>
        </p:nvSpPr>
        <p:spPr>
          <a:xfrm>
            <a:off x="868680" y="1748790"/>
            <a:ext cx="740664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Formatar é Comunicar com Respeito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43"/>
          <p:cNvSpPr/>
          <p:nvPr/>
        </p:nvSpPr>
        <p:spPr>
          <a:xfrm>
            <a:off x="274320" y="2537460"/>
            <a:ext cx="8595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Um documento bem padronizado valoriza suas ideias e demonstra cuidado genuíno com o tempo e a experiência do seu leitor.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