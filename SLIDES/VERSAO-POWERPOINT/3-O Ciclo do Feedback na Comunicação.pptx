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Lexend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bold.fntdata"/><Relationship Id="rId23" Type="http://schemas.openxmlformats.org/officeDocument/2006/relationships/slide" Target="slides/slide19.xml"/><Relationship Id="rId45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43.png"/><Relationship Id="rId5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44.png"/><Relationship Id="rId5" Type="http://schemas.openxmlformats.org/officeDocument/2006/relationships/image" Target="../media/image53.png"/><Relationship Id="rId6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50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7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jpg"/><Relationship Id="rId4" Type="http://schemas.openxmlformats.org/officeDocument/2006/relationships/image" Target="../media/image79.png"/><Relationship Id="rId5" Type="http://schemas.openxmlformats.org/officeDocument/2006/relationships/image" Target="../media/image7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73.png"/><Relationship Id="rId5" Type="http://schemas.openxmlformats.org/officeDocument/2006/relationships/image" Target="../media/image86.png"/><Relationship Id="rId6" Type="http://schemas.openxmlformats.org/officeDocument/2006/relationships/image" Target="../media/image82.png"/><Relationship Id="rId7" Type="http://schemas.openxmlformats.org/officeDocument/2006/relationships/image" Target="../media/image7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Relationship Id="rId4" Type="http://schemas.openxmlformats.org/officeDocument/2006/relationships/image" Target="../media/image7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8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Feedback na Comunicação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transformar respostas em ferramentas de crescimento e alinhamento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f1ab45359e5df01342981146358a699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c77824a7985aa89f19bbec81762b226c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acontece se ninguém responder?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enviar uma mensagem urgente e nunca receber confirmação de leitura. Você não sabe se o recado chegou, se foi compreendido ou se gerou confusão. Sem retorno, a mensagem fica incompleta e decisões viram meras suposições.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o papel do feedback na transformação do fluxo unilateral em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críticas construtivas e superar barreiras defensivas ao receber retornos.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o feedback em equipe para alinhar metas, expectativas e entregas práticas.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33c3d18d3e2840f822495fa74bf728f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Retorno com avaliação sobre mensagem ou tarefa realizada.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53be7ce0a8a1b3a73ed223db4d9c63e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1089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Fluxo contínuo que vai e volta entre os dois interlocutores.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79c8d2bf695ba37d9429ced0dec9edb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Ação ativa e consciente de compreender o que o outro diz.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86df6d2cadbe7f43b763ab2ce615c585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108960"/>
            <a:ext cx="201168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Ajuste conjunto de metas e expectativas na equipe.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182880"/>
            <a:ext cx="16802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582930"/>
            <a:ext cx="4343400" cy="40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Pilares da Comunicação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Nas aulas anteriores, estudamos que uma mensagem de sucesso apoia-se em três pilares fundamentais: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vocabulário exato, sem duplo sentido.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foco direto naquilo que realmente importa.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Concisão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síntese elegante, eliminando excessos.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5e87af6ddd9efadc780484519a3dae5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Pilares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situação demonstra com precisão a aplicação de clareza, concisão e objetividade?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bilhete sem pontuação que deixa dúvidas sobre o responsável pelo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aviso que informa data, hora e sala em duas frases sem ambiguidades.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e-mail longo com divagações pessoais antes de citar o horário da prova.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oral cheia de gírias confusas que exige cinco explicações extras.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Pilares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situação demonstra com precisão a aplicação de clareza, concisão e objetividade?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bilhete sem pontuação que deixa dúvidas sobre o responsável pelo grupo.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aviso que informa data, hora e sala em duas frases sem ambiguidades.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e-mail longo com divagações pessoais antes de citar o horário da prova.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mensagem oral cheia de gírias confusas que exige cinco explicações extras.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Conceito de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termo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tem origem na engenharia de sistemas e descreve a reação retornada a uma fonte para regular seu funcionamento.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linguagem e nas relações humanas, é a informação compartilhada com o emissor sobre o efeito gerado por sua mensagem, atitude ou produto de 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fa4b6d77c61e41597bd8069765ec0c0.png" id="102" name="Google Shape;1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Função no Ciclo Comunicativo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274320" y="101727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Sem retorno, a comunicação é apenas um disparo no escuro. O feedback fecha o circuito e permite corrigir rotas em tempo real.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15180ac5785859baa740c6caecf3611.png" id="110" name="Google Shape;11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1965960"/>
            <a:ext cx="5029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a7088c3671fb4398814d818da067fbde.png" id="116" name="Google Shape;1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7" name="Google Shape;117;p12"/>
          <p:cNvSpPr/>
          <p:nvPr/>
        </p:nvSpPr>
        <p:spPr>
          <a:xfrm>
            <a:off x="274320" y="2354580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viaja em sentido único. O emissor fala ou escreve, mas não obtém dados sobre a reação do destinatário, impossibilitando ajustes.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11a5da82a7c881705f0575cd22f452a.png" id="118" name="Google Shape;1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9" name="Google Shape;119;p12"/>
          <p:cNvSpPr/>
          <p:nvPr/>
        </p:nvSpPr>
        <p:spPr>
          <a:xfrm>
            <a:off x="4663440" y="2354580"/>
            <a:ext cx="420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Há troca constante e recíproca. O receptor expressa dúvidas, valida entendimentos e ajuda a calibrar a clareza da mensagem compartilhada.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a Comunicação Unilateral Falha?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128d033b77557cd10822225c635ba949.png" id="127" name="Google Shape;1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Presunção de Certeza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crê falsamente que falar basta para garantir o entendimento alheio.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55246d0d93e004d1c1dcbc2f02e85f2a.png" id="130" name="Google Shape;1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Ocultos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Falhas de compreensão só aparecem quando a tarefa final já foi entregue errada.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a15b74e4ffda6096488585e3d269f485.png"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Desengajamento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Receptores sem voz sentem-se desvalorizados e perdem a motivação de colaborar.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496a0b971787c3db520e4b61c9136884.png" id="136" name="Google Shape;13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Retrabalho Constante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ausência de checagens intermediárias força o grupo a refazer etapas inteiras.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 ou Bidirecional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reunião em que o líder apenas dita ordens sem abrir espaço para perguntas é um exemplo eficaz de comunicação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 ou Bidirecional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reunião em que o líder apenas dita ordens sem abrir espaço para perguntas é um exemplo eficaz de comunicação bidirecional.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Trata-se de comunicação unilateral, pois a mensagem segue em fluxo único sem espaço para respostas ou validação.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274320" y="182880"/>
            <a:ext cx="100584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MÉTODO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74320" y="582930"/>
            <a:ext cx="4526280" cy="2503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Torna um Feedback Construtivo?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retorno construtivo não é um desabafo emocional nem um elogio genérico. Ele foca 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fatos concretos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nunca em características pessoais.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74320" y="3086100"/>
            <a:ext cx="452628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00050" y="32118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65810" y="3211830"/>
            <a:ext cx="39090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retorno construtivo separa rigorosamente o comportamento da identidade da pessoa.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411c2165fb6834a7e8811bd1cea1961a.png" id="170" name="Google Shape;17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Feedback Fundamentado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59422d19ebddf3c98f20e6f67c1edab.png"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78" name="Google Shape;178;p17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27432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Descrever o Fato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Cite a situação observável sem julgamentos.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3ae39c2b6f6e322d4459c6a118b232d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320040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Explicar o Impacto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Mostre como a ação afetou o projeto.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277911d0413092d231b7ef9cc0926b5.png" id="183" name="Google Shape;18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Propor Soluções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Combine um caminho prático de ajuste.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afa37a407ecec69f6d6169c35733467c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2" name="Google Shape;192;p18"/>
          <p:cNvSpPr/>
          <p:nvPr/>
        </p:nvSpPr>
        <p:spPr>
          <a:xfrm>
            <a:off x="274320" y="2354580"/>
            <a:ext cx="420624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Crítica Vaga e Pessoal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é muito desorganizado e sua parte no trabalho ficou péssima.”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Gera ressentimento imediato e não aponta caminhos de correção.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a5e114d1149813feb6256f145a14c5c5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4663440" y="2354580"/>
            <a:ext cx="420624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Retorno Factual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“No slide 3 faltou a data da pesquisa, o que gerou dúvidas no grupo.”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Foca no fato observável e indica o ponto exato a ser ajustado.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274320" y="18288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74320" y="582930"/>
            <a:ext cx="4526280" cy="40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Técnica do Feedback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Essa ferramenta organiza a mensagem em três camadas sucessivas para diminuir a resistência inicial de quem ouve: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Camada superior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Reconhecimento sincero de um ponto forte.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Recheio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aspecto específico que precisa de melhoria.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Camada inferior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Encerramento com incentivo e confiança.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bac20ac6d45f586de5ca83cf3c70be6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 da Técnica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1ef148d8b7c7aec0cd219c8e2f55c17d.png" id="209" name="Google Shape;20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274320" y="3223260"/>
            <a:ext cx="274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Elogio Inicial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“Sua introdução foi dinâmica e prendeu a atenção de toda a turma.”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bccf53f3009981b87f42f9f1d3f0ab6.png" id="211" name="Google Shape;21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3200400" y="3223260"/>
            <a:ext cx="274320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Ponto de Melhoria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“Na conclusão, o tempo estourou; vale treinar o encerramento em dois minutos.”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be64c9fd36d4abdd2657b229f29e2897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6126480" y="3223260"/>
            <a:ext cx="274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Estímulo Final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“Com esse ajuste de ritmo, sua próxima fala será ainda mais marcante!”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274320" y="18288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74320" y="582930"/>
            <a:ext cx="4343400" cy="2503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Riscos e Cuidados com o Sanduíche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 for executada de forma artificial, a técnica sanduíche pode soar falsa e fazer com que a pessoa ignore tanto o elogio quanto a correção.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74320" y="3086100"/>
            <a:ext cx="4343400" cy="1623060"/>
          </a:xfrm>
          <a:prstGeom prst="roundRect">
            <a:avLst>
              <a:gd fmla="val 5634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400050" y="321183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11530" y="321183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Aviso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elogios superficiais apenas para 'suavizar'. Seja genuíno em cada observação.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9d82f471a72657962d7ac94df7a2d78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Factual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Sanduíche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com elogio sincero, ponto de melhoria e incentivo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Baseado em eventos e dados concretos, sem julgamentos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contínua entre emissor e receptor para garantir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 de informação em um só sentido, sem retorno nem ajuste.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Unilateral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Bidirecional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Factual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Sanduíche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com elogio sincero, ponto de melhoria e incentivo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Baseado em eventos e dados concretos, sem julgamentos pessoais.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Troca contínua entre emissor e receptor para garantir alinhamento.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Fluxo de informação em um só sentido, sem retorno nem ajuste.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3"/>
          <p:cNvCxnSpPr/>
          <p:nvPr/>
        </p:nvCxnSpPr>
        <p:spPr>
          <a:xfrm>
            <a:off x="2571750" y="2537460"/>
            <a:ext cx="994410" cy="9441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3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3"/>
          <p:cNvCxnSpPr/>
          <p:nvPr/>
        </p:nvCxnSpPr>
        <p:spPr>
          <a:xfrm flipH="1" rot="10800000">
            <a:off x="2571750" y="1652778"/>
            <a:ext cx="994410" cy="27134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Arte de Receber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críticas exige maturidade emocional. O cérebro tende a interpretar correções como ataques à própria capacidade ou identidade.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Profissionais excelentes não encaram o retorno como julgamento final, mas como um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mapa gratuito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que revela ângulos cegos do próprio 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f79d5a165deff83ed6199d98054e050.png"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Barreiras Emocionais Comuns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d0d06dd47033c37dfdcbce3ca689e156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Defensiva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Justificar-se imediatamente antes de sequer assimilar o que o outro observou.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5e0023341c207c4b1ac2488c6c980477.png" id="283" name="Google Shape;2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/>
          <p:nvPr/>
        </p:nvSpPr>
        <p:spPr>
          <a:xfrm>
            <a:off x="53492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Orgulho Excessivo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Acreditar que a primeira versão produzida já é perfeita e imune a aprimoramentos.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963f97004e788fa6c7ef8db9b8f8f700.png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/>
          <p:nvPr/>
        </p:nvSpPr>
        <p:spPr>
          <a:xfrm>
            <a:off x="10058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Medo do Julgamento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Associar qualquer apontamento de erro a uma sensação de incapacidade pessoal.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4f96b899-ce28-45bd-bbbd-101c9ae5278a/img_19d711fb9dbc3ee9d7581b573e4bb781.png" id="289" name="Google Shape;28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/>
          <p:nvPr/>
        </p:nvSpPr>
        <p:spPr>
          <a:xfrm>
            <a:off x="53492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Ataque Recíproco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Reagir ao retorno apontando de imediato falhas alheias para desviar o assunto.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Reagir ao Receber Críticas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308447818e408224a9fd9669e71fc314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98" name="Google Shape;298;p26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274320" y="35433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Escutar Atentamente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Permita a conclusão sem defesas.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6ecc3280cc84b7c5596c35c3e0c3222.png"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1" name="Google Shape;301;p26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320040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Esclarecer Pontos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Peça exemplos para compreender a falha.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2161dc3a46211c42343391c24efbad0.png" id="303" name="Google Shape;3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04" name="Google Shape;304;p26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Traçar Ações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Agradeça e defina melhorias reais.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/>
          <p:nvPr/>
        </p:nvSpPr>
        <p:spPr>
          <a:xfrm>
            <a:off x="274320" y="18288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IMPACTO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274320" y="582930"/>
            <a:ext cx="4720590" cy="424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 no Desempenho Escolar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escola, a nota é apenas um registro final. O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formativo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fornecido durante a escrita é o verdadeiro motor de desenvolvimento: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Permite reescrever parágrafos confusos antes da entrega final.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 a frustração da dúvida pela clareza do próximo passo.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Ensina a auditar o próprio texto com olhar mais crítico.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64317e955aee14192174f929162148c.png" id="313" name="Google Shape;3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Impacto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274320" y="1360170"/>
            <a:ext cx="2743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No mercado de trabalho, a velocidade com que se aprende com o feedback define a excelência.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8be8351fe06acb65d5c81649d515f619.png" id="321" name="Google Shape;3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64033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/>
          <p:nvPr/>
        </p:nvSpPr>
        <p:spPr>
          <a:xfrm>
            <a:off x="3291840" y="182880"/>
            <a:ext cx="5577840" cy="1657350"/>
          </a:xfrm>
          <a:prstGeom prst="roundRect">
            <a:avLst>
              <a:gd fmla="val 827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Prevenção de Crises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Pequenos desvios comunicativos identificados no início evitam prejuízos financeiros e conflitos contratuais com clientes.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3291840" y="2023110"/>
            <a:ext cx="5577840" cy="1657350"/>
          </a:xfrm>
          <a:prstGeom prst="roundRect">
            <a:avLst>
              <a:gd fmla="val 827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300" lIns="194300" spcFirstLastPara="1" rIns="194300" wrap="square" tIns="19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Cultura de Confiança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 equipe troca retornos sinceros e respeitosos, o medo de errar dá lugar à inovação e à melhoria coletiva contínua.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Produtivos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atitudes abaixo demonstram maturidade ao receber um feedback?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a fala no primeiro segundo para provar que a intenção era boa.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esclarecimentos adicionais e exemplos concretos sobre o ponto abordado.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Respirar com calma e agradecer pelo tempo e cuidado dedicados pelo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Ignorar a orientação e continuar fazendo a tarefa exatamente da mesma forma.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Produtivos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atitudes abaixo demonstram maturidade ao receber um feedback?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Interromper a fala no primeiro segundo para provar que a intenção era boa.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esclarecimentos adicionais e exemplos concretos sobre o ponto abordado.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Respirar com calma e agradecer pelo tempo e cuidado dedicados pelo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Ignorar a orientação e continuar fazendo a tarefa exatamente da mesma forma.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/>
          <p:nvPr/>
        </p:nvSpPr>
        <p:spPr>
          <a:xfrm>
            <a:off x="274320" y="182880"/>
            <a:ext cx="152019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ALINHAMENTO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274320" y="582930"/>
            <a:ext cx="4720590" cy="396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Alinhamento de Expectativas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principal causador de atritos em grupos não é a falta de esforço, mas a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divergência silenciosa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sobre o que deve ser entregue.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faz o quê e qual o prazo exato de entrega?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critério de qualidade foi combinado entre todos?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vamos validar cada etapa antes da apresentação?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2d135bab76561435e776008c62effd0b.png" id="364" name="Google Shape;36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Contínuo de Alinhamento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13258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33832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/>
          <p:nvPr/>
        </p:nvSpPr>
        <p:spPr>
          <a:xfrm>
            <a:off x="54406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2"/>
          <p:cNvSpPr/>
          <p:nvPr/>
        </p:nvSpPr>
        <p:spPr>
          <a:xfrm>
            <a:off x="74980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514350" y="317754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objetivos claros e prazos para 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571750" y="1028700"/>
            <a:ext cx="1943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intermediária de rascunhos da equipe.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4629150" y="317754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Ajuste de rotas baseado no feedback mútuo.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6686550" y="1314450"/>
            <a:ext cx="19431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4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Entrega final harmoniosa e sem retrabalho.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/>
        </p:nvSpPr>
        <p:spPr>
          <a:xfrm>
            <a:off x="251460" y="160020"/>
            <a:ext cx="8561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Conversa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51460" y="902970"/>
            <a:ext cx="856107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agência de comunicação, Camila entregou o relatório quinzenal com 3 horas de atraso e esqueceu a tabela de custos combinada com a equipe.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Seu gestor, Marcos, marcou uma conversa reservada para tratar da entrega de forma estruturada. Vamos analisar as duas maneiras possíveis de conduzir esse diálogo.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868b78dbfd73bdc8527367859ad27f9.png" id="387" name="Google Shape;38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174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3ee4f7a898915dbafa1cc552e10bd609.png" id="393" name="Google Shape;39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4" name="Google Shape;394;p34"/>
          <p:cNvSpPr/>
          <p:nvPr/>
        </p:nvSpPr>
        <p:spPr>
          <a:xfrm>
            <a:off x="274320" y="2354580"/>
            <a:ext cx="420624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Ruim (Destrutivo)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“Você não tem compromisso. O cliente quase cancelou a conta por causa da sua preguiça.”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Resultado: Camila entra em pânico, chora, fecha-se emocionalmente e a tabela segue sem resolução.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6df84431c040b3fe476109589ade8c2c.png" id="395" name="Google Shape;39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6" name="Google Shape;396;p34"/>
          <p:cNvSpPr/>
          <p:nvPr/>
        </p:nvSpPr>
        <p:spPr>
          <a:xfrm>
            <a:off x="4663440" y="2354580"/>
            <a:ext cx="420624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Eficaz (Construtivo)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relatório foi entregue às 17h sem a tabela de custos. Isso impediu o envio ao cliente.”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Resultado: Camila compreende o impacto, explica a dúvida que teve e insere a tabela em 20 minutos.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/>
          <p:nvPr/>
        </p:nvSpPr>
        <p:spPr>
          <a:xfrm>
            <a:off x="274320" y="182880"/>
            <a:ext cx="102870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ANÁLISE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274320" y="582930"/>
            <a:ext cx="472059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Lições do Estudo de Caso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caso de Camila demonstra como a forma de falar determina o desfecho operacional: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Ataques pessoais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paralisam quem ouve e atrasam ainda mais as soluções.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Fatos observáveis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abrem espaço para diagnóstico e cooperação imediata.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Conversas reservadas protegem a dignidade e constroem compromisso real.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ce63603db4e0160ea07ca94c047d40f2.png" id="404" name="Google Shape;40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82880"/>
            <a:ext cx="3691890" cy="369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para a Prática em Duplas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7decab3ca8a647e97b763a9bbf6a9476.png" id="411" name="Google Shape;4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2" name="Google Shape;412;p36"/>
          <p:cNvSpPr/>
          <p:nvPr/>
        </p:nvSpPr>
        <p:spPr>
          <a:xfrm>
            <a:off x="18288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27432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Papéis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Definam emissor e receptor.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577227a97c3f1c8ace0a06fd955fa8b7.png" id="414" name="Google Shape;4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5" name="Google Shape;415;p36"/>
          <p:cNvSpPr/>
          <p:nvPr/>
        </p:nvSpPr>
        <p:spPr>
          <a:xfrm>
            <a:off x="237744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246888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Cenário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Avaliem texto sem referências.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f9ed4e41481398a5f5d59a7336a4d7fc.png" id="417" name="Google Shape;41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>
            <a:off x="457200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466344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Diálogo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Usem o modelo sanduíche.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ac1c8b2acfc37915aaca9b37c9ff09ba.png" id="420" name="Google Shape;42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4869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21" name="Google Shape;421;p36"/>
          <p:cNvSpPr/>
          <p:nvPr/>
        </p:nvSpPr>
        <p:spPr>
          <a:xfrm>
            <a:off x="6766560" y="312039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6858000" y="3646170"/>
            <a:ext cx="20116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Inversão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Troquem os papéis na dupla.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1198f6ede5e2216c51986e3c51e1178b.png" id="428" name="Google Shape;42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 em Duplas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 de 2 minutos: apliquem o roteiro guiado para trocar um feedback sobre um trabalho escolar fictício. O emissor deve usar a técnica sanduíche com fatos concretos, e o receptor deve praticar a escuta ativa sem interromper, fazendo ao final uma pergunta de esclarecimento.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do slide anterior, caderno para notas breves, cronômetro de 2 minutos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para dar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Factualidade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Foco em dados concretos e observáveis, jamais em traços de personalidade.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Oportunidade e Lugar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Ofereça o retorno em momento oportuno e em ambiente reservado.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8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Plano Prático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Termine combinando passos claros e realizáveis para a próxima versão.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/>
          <p:nvPr/>
        </p:nvSpPr>
        <p:spPr>
          <a:xfrm>
            <a:off x="274320" y="182880"/>
            <a:ext cx="101727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SÍNTESE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274320" y="582930"/>
            <a:ext cx="4343400" cy="221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Completo em 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Comunicar com excelência é sustentar um ciclo vivo de trocas onde emitir e escutar têm o mesmo peso.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274320" y="2800350"/>
            <a:ext cx="4343400" cy="1623060"/>
          </a:xfrm>
          <a:prstGeom prst="roundRect">
            <a:avLst>
              <a:gd fmla="val 5634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/>
          <p:nvPr/>
        </p:nvSpPr>
        <p:spPr>
          <a:xfrm>
            <a:off x="400050" y="292608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811530" y="2926080"/>
            <a:ext cx="36804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O feedback não é o fim de uma tarefa, mas o início de uma versão ainda melhor.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4f96b899-ce28-45bd-bbbd-101c9ae5278a/img_968dc512642b20db254a07ffacce7f9f.png" id="456" name="Google Shape;45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82880"/>
            <a:ext cx="38862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74db676abbf9321227487417a15623c8.png" id="462" name="Google Shape;46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0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o feedback transforma a comunicação de unilateral em bidirecional?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são as três etapas fundamentais da técnica do feedback sanduíche?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deve ser a primeira postura de quem recebe um feedback construtivo?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devolve ao emissor a resposta e o efeito gerado, permitindo validar e calibrar 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elogio ou ponto forte sincero, o apontamento do aspecto a ser aprimorado e um encerramento estimulante.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Praticar a escuta ativa sem interromper ou erguer justificativas defensivas precipitadas.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4f96b899-ce28-45bd-bbbd-101c9ae5278a/img_166cb27bab8a22792e212773c5e573d3.png" id="482" name="Google Shape;4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Passos: Comunicação Oral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274320" y="3280410"/>
            <a:ext cx="8595360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 os fundamentos do processo comunicativo e o ciclo de feedback consolidados, iniciaremos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2: Comunicação Oral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exploraremos como estruturar apresentações em público com clareza, ritmo adequado e controle de nervosismo.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