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y="5143500" cx="9144000"/>
  <p:notesSz cx="5143500" cy="9144000"/>
  <p:embeddedFontLst>
    <p:embeddedFont>
      <p:font typeface="Lexend"/>
      <p:regular r:id="rId46"/>
      <p:bold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font" Target="fonts/Lexend-regular.fntdata"/><Relationship Id="rId23" Type="http://schemas.openxmlformats.org/officeDocument/2006/relationships/slide" Target="slides/slide19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47" Type="http://schemas.openxmlformats.org/officeDocument/2006/relationships/font" Target="fonts/Lexend-bold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5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19.png"/><Relationship Id="rId5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15.png"/><Relationship Id="rId5" Type="http://schemas.openxmlformats.org/officeDocument/2006/relationships/image" Target="../media/image20.png"/><Relationship Id="rId6" Type="http://schemas.openxmlformats.org/officeDocument/2006/relationships/image" Target="../media/image9.png"/><Relationship Id="rId7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4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3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46.png"/><Relationship Id="rId5" Type="http://schemas.openxmlformats.org/officeDocument/2006/relationships/image" Target="../media/image49.png"/><Relationship Id="rId6" Type="http://schemas.openxmlformats.org/officeDocument/2006/relationships/image" Target="../media/image3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Relationship Id="rId4" Type="http://schemas.openxmlformats.org/officeDocument/2006/relationships/image" Target="../media/image4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Relationship Id="rId4" Type="http://schemas.openxmlformats.org/officeDocument/2006/relationships/image" Target="../media/image4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Relationship Id="rId4" Type="http://schemas.openxmlformats.org/officeDocument/2006/relationships/image" Target="../media/image5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8.png"/><Relationship Id="rId7" Type="http://schemas.openxmlformats.org/officeDocument/2006/relationships/image" Target="../media/image5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Relationship Id="rId4" Type="http://schemas.openxmlformats.org/officeDocument/2006/relationships/image" Target="../media/image6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Relationship Id="rId4" Type="http://schemas.openxmlformats.org/officeDocument/2006/relationships/image" Target="../media/image5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Relationship Id="rId4" Type="http://schemas.openxmlformats.org/officeDocument/2006/relationships/image" Target="../media/image57.png"/><Relationship Id="rId5" Type="http://schemas.openxmlformats.org/officeDocument/2006/relationships/image" Target="../media/image6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Relationship Id="rId4" Type="http://schemas.openxmlformats.org/officeDocument/2006/relationships/image" Target="../media/image6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Relationship Id="rId4" Type="http://schemas.openxmlformats.org/officeDocument/2006/relationships/image" Target="../media/image7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Relationship Id="rId4" Type="http://schemas.openxmlformats.org/officeDocument/2006/relationships/image" Target="../media/image72.png"/><Relationship Id="rId5" Type="http://schemas.openxmlformats.org/officeDocument/2006/relationships/image" Target="../media/image65.png"/><Relationship Id="rId6" Type="http://schemas.openxmlformats.org/officeDocument/2006/relationships/image" Target="../media/image90.png"/><Relationship Id="rId7" Type="http://schemas.openxmlformats.org/officeDocument/2006/relationships/image" Target="../media/image6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Relationship Id="rId4" Type="http://schemas.openxmlformats.org/officeDocument/2006/relationships/image" Target="../media/image7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Relationship Id="rId4" Type="http://schemas.openxmlformats.org/officeDocument/2006/relationships/image" Target="../media/image85.png"/><Relationship Id="rId5" Type="http://schemas.openxmlformats.org/officeDocument/2006/relationships/image" Target="../media/image7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Relationship Id="rId4" Type="http://schemas.openxmlformats.org/officeDocument/2006/relationships/image" Target="../media/image8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Relationship Id="rId4" Type="http://schemas.openxmlformats.org/officeDocument/2006/relationships/image" Target="../media/image62.png"/><Relationship Id="rId5" Type="http://schemas.openxmlformats.org/officeDocument/2006/relationships/image" Target="../media/image7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Relationship Id="rId4" Type="http://schemas.openxmlformats.org/officeDocument/2006/relationships/image" Target="../media/image6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Relationship Id="rId4" Type="http://schemas.openxmlformats.org/officeDocument/2006/relationships/image" Target="../media/image86.png"/><Relationship Id="rId5" Type="http://schemas.openxmlformats.org/officeDocument/2006/relationships/image" Target="../media/image8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Relationship Id="rId4" Type="http://schemas.openxmlformats.org/officeDocument/2006/relationships/image" Target="../media/image8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Relationship Id="rId4" Type="http://schemas.openxmlformats.org/officeDocument/2006/relationships/image" Target="../media/image88.png"/><Relationship Id="rId5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274320" y="1588770"/>
            <a:ext cx="402336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240"/>
              <a:buFont typeface="Lexend"/>
              <a:buNone/>
            </a:pPr>
            <a:r>
              <a:rPr b="1" i="0" lang="en-US" sz="32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Atendimento e Escuta Ativa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274320" y="2788920"/>
            <a:ext cx="40233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Técnicas de acolhimento e resolução profissional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1fc02b53-c60e-4c98-840f-6576e51ea966/img_0d79dcc3dc62534d685c84ae537a6bce.png" id="18" name="Google Shape;1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74320"/>
            <a:ext cx="4297680" cy="4594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1fc02b53-c60e-4c98-840f-6576e51ea966/img_abc808842b3ca600a341f4048927e455.png" id="24" name="Google Shape;2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/>
          <p:nvPr/>
        </p:nvSpPr>
        <p:spPr>
          <a:xfrm>
            <a:off x="262890" y="2434590"/>
            <a:ext cx="861822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já se sentiu invisível ao falar?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262890" y="3177540"/>
            <a:ext cx="8618220" cy="1634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Imagine explicar um problema importante enquanto a outra pessoa apenas digita no celular e balança a cabeça sem olhar para você.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Ouvir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é um processo biológico automático dos ouvidos. </a:t>
            </a: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Escutar ativamente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é uma decisão consciente de dedicar atenção total, compreender emoções e valorizar quem fala.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Objetivos de Aprendizagem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1108710" y="14058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Diferenciar o ato biológico de ouvir da prática consciente da escuta ativa em interações reais.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Aplicar ferramentas de parafraseamento, validação emocional e perguntas abertas no atendimento ao usuário.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468630" y="38747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1108710" y="37147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Construir acordos ganha-ganha e registros fidedignos para desescalar conflitos e solucionar reclamações.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Vocabulário Essencial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1fc02b53-c60e-4c98-840f-6576e51ea966/img_a3fa9f85f7996005bce52b0518188ba1.png" id="48" name="Google Shape;4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50876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49" name="Google Shape;49;p6"/>
          <p:cNvSpPr/>
          <p:nvPr/>
        </p:nvSpPr>
        <p:spPr>
          <a:xfrm>
            <a:off x="274320" y="368046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Escuta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- Atenção consciente e focada na mensagem recebida.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1fc02b53-c60e-4c98-840f-6576e51ea966/img_dfc73cbd9ac5699b4bdc520e771f51c4.png" id="50" name="Google Shape;5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8880" y="93726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1" name="Google Shape;51;p6"/>
          <p:cNvSpPr/>
          <p:nvPr/>
        </p:nvSpPr>
        <p:spPr>
          <a:xfrm>
            <a:off x="2468880" y="310896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Empatia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- Capacidade de compreender o sentimento alheio.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1fc02b53-c60e-4c98-840f-6576e51ea966/img_2c610a718baac567ac372520270c223a.png" id="52" name="Google Shape;5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150876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3" name="Google Shape;53;p6"/>
          <p:cNvSpPr/>
          <p:nvPr/>
        </p:nvSpPr>
        <p:spPr>
          <a:xfrm>
            <a:off x="4663440" y="368046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Acolhimento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- Recepção calorosa, respeitosa e sem julgamentos.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1fc02b53-c60e-4c98-840f-6576e51ea966/img_fa5c962f27d7c0c86bd7a2929e5a58a4.png" id="54" name="Google Shape;54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93726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5" name="Google Shape;55;p6"/>
          <p:cNvSpPr/>
          <p:nvPr/>
        </p:nvSpPr>
        <p:spPr>
          <a:xfrm>
            <a:off x="6858000" y="310896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Resolução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- Encontrar saída eficaz e justa para o problema.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274320" y="182880"/>
            <a:ext cx="104013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t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REVISÃO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274320" y="537210"/>
            <a:ext cx="41148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Reuniões Eficientes: Papéis e Dinâmica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274320" y="1760220"/>
            <a:ext cx="4114800" cy="29489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aula anterior, aprendemos que encontros de trabalho só funcionam com papéis bem delineados: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Líder/Facilitador: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conduz a pauta e garante a vez de fala.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Secretário: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anota deliberações e prazos em ata objetiva.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Participantes: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preparam dados prévios e evitam dispersões.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1fc02b53-c60e-4c98-840f-6576e51ea966/img_e5abb2915d97d162b2460b5dbb77fe82.png" id="64" name="Google Shape;6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Checagem de Pautas e Reuniões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elemento é indispensável para garantir que uma reunião corporativa atinja seus objetivos no prazo?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Apresentações longas com mais de cinquenta slides de texto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Discussões livres sem controle de tempo para abrir espaço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8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8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Deixar as decisões finais para conversas informais no corredor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8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8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Pauta prévia com objetivos claros e horários definidos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Checagem de Pautas e Reuniões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elemento é indispensável para garantir que uma reunião corporativa atinja seus objetivos no prazo?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9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9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Apresentações longas com mais de cinquenta slides de texto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Discussões livres sem controle de tempo para abrir espaço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Deixar as decisões finais para conversas informais no corredor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9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9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Pauta prévia com objetivos claros e horários definidos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9"/>
          <p:cNvSpPr/>
          <p:nvPr/>
        </p:nvSpPr>
        <p:spPr>
          <a:xfrm>
            <a:off x="8721090" y="40919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Ouvir versus Escutar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1fc02b53-c60e-4c98-840f-6576e51ea966/img_1ee82d6d3051ac6e9f710bf01a6c4ee0.png" id="103" name="Google Shape;10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425196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04" name="Google Shape;104;p10"/>
          <p:cNvSpPr/>
          <p:nvPr/>
        </p:nvSpPr>
        <p:spPr>
          <a:xfrm>
            <a:off x="274320" y="3040380"/>
            <a:ext cx="425196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Apenas Ouvir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Processamento fisiológico involuntário de sons e vibrações pelo aparelho auditivo, sem retenção profunda de sentido.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1fc02b53-c60e-4c98-840f-6576e51ea966/img_a7e1d7540fdad09e1bd37dc57ba0dd69.png" id="105" name="Google Shape;10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7720" y="925830"/>
            <a:ext cx="425196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06" name="Google Shape;106;p10"/>
          <p:cNvSpPr/>
          <p:nvPr/>
        </p:nvSpPr>
        <p:spPr>
          <a:xfrm>
            <a:off x="4617720" y="3040380"/>
            <a:ext cx="425196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Escutar Ativamente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Ato voluntário que exige foco mental, interpretação das palavras e do tom, empatia e validação da mensagem do outro.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1"/>
          <p:cNvSpPr/>
          <p:nvPr/>
        </p:nvSpPr>
        <p:spPr>
          <a:xfrm>
            <a:off x="274320" y="182880"/>
            <a:ext cx="27432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é Escuta Ativa?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1"/>
          <p:cNvSpPr/>
          <p:nvPr/>
        </p:nvSpPr>
        <p:spPr>
          <a:xfrm>
            <a:off x="274320" y="1360170"/>
            <a:ext cx="2743200" cy="674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Presença absoluta e interesse genuíno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1fc02b53-c60e-4c98-840f-6576e51ea966/img_ccf1cd1d3d4f6af7f19ad4bb38be4a52.png" id="114" name="Google Shape;11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125980"/>
            <a:ext cx="2286000" cy="1828800"/>
          </a:xfrm>
          <a:prstGeom prst="roundRect">
            <a:avLst>
              <a:gd fmla="val 5000" name="adj"/>
            </a:avLst>
          </a:prstGeom>
          <a:noFill/>
          <a:ln>
            <a:noFill/>
          </a:ln>
        </p:spPr>
      </p:pic>
      <p:sp>
        <p:nvSpPr>
          <p:cNvPr id="115" name="Google Shape;115;p11"/>
          <p:cNvSpPr/>
          <p:nvPr/>
        </p:nvSpPr>
        <p:spPr>
          <a:xfrm>
            <a:off x="3291840" y="182880"/>
            <a:ext cx="5577840" cy="3623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escuta ativa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consiste em silenciar o diálogo interno enquanto a outra pessoa fala. Em vez de preparar mentalmente uma resposta defensiva, você se dedica a compreender a totalidade da experiência do interlocutor.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Ela se apoia em três pilares fundamentais: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Atenção sem telas: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eliminar distrações eletrônicas.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Linguagem corporal aberta: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postura receptiva e contato visual.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Suspensão de julgamento: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não interromper no meio da frase.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2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Obstáculos da Atenção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2"/>
          <p:cNvSpPr/>
          <p:nvPr/>
        </p:nvSpPr>
        <p:spPr>
          <a:xfrm>
            <a:off x="2743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1fc02b53-c60e-4c98-840f-6576e51ea966/img_d734bf8f4023e52eac228a0796650dec.png" id="123" name="Google Shape;12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2"/>
          <p:cNvSpPr/>
          <p:nvPr/>
        </p:nvSpPr>
        <p:spPr>
          <a:xfrm>
            <a:off x="1005840" y="1062990"/>
            <a:ext cx="33832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Distrações Digitais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 notificações fragmenta o raciocínio e sinaliza descaso com quem fala.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2"/>
          <p:cNvSpPr/>
          <p:nvPr/>
        </p:nvSpPr>
        <p:spPr>
          <a:xfrm>
            <a:off x="46177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1fc02b53-c60e-4c98-840f-6576e51ea966/img_47e8450dc6df81ddc9f0d8a3d49a9bc9.png" id="126" name="Google Shape;126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48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2"/>
          <p:cNvSpPr/>
          <p:nvPr/>
        </p:nvSpPr>
        <p:spPr>
          <a:xfrm>
            <a:off x="5349240" y="1062990"/>
            <a:ext cx="33832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Ansiedade de Responder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Formular a própria fala antes do outro terminar corta a percepção de detalhes.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2743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1fc02b53-c60e-4c98-840f-6576e51ea966/img_a9905ad847cd0e75060864b4fde250f6.png" id="129" name="Google Shape;129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480" y="30861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2"/>
          <p:cNvSpPr/>
          <p:nvPr/>
        </p:nvSpPr>
        <p:spPr>
          <a:xfrm>
            <a:off x="1005840" y="3086100"/>
            <a:ext cx="33832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Julgamento Prévio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Rotular a pessoa como exagerada ou errada antes de ouvir todo o relato.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2"/>
          <p:cNvSpPr/>
          <p:nvPr/>
        </p:nvSpPr>
        <p:spPr>
          <a:xfrm>
            <a:off x="46177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1fc02b53-c60e-4c98-840f-6576e51ea966/img_285fbbe4db23ce4075c78c3b760e9d22.png" id="132" name="Google Shape;132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4880" y="30861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2"/>
          <p:cNvSpPr/>
          <p:nvPr/>
        </p:nvSpPr>
        <p:spPr>
          <a:xfrm>
            <a:off x="5349240" y="3086100"/>
            <a:ext cx="33832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Interrupções Frequentes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Quebrar o fluxo de pensamento da pessoa impede que ela desabafe com clareza.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Técnica 1: Parafraseamento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3"/>
          <p:cNvSpPr/>
          <p:nvPr/>
        </p:nvSpPr>
        <p:spPr>
          <a:xfrm>
            <a:off x="274320" y="1017270"/>
            <a:ext cx="4114800" cy="1623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Parafrasear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significa resumir a essência do que foi dito usando suas próprias palavras, demonstrando que você processou a mensagem com precisão.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3"/>
          <p:cNvSpPr/>
          <p:nvPr/>
        </p:nvSpPr>
        <p:spPr>
          <a:xfrm>
            <a:off x="274320" y="2777490"/>
            <a:ext cx="4114800" cy="2205990"/>
          </a:xfrm>
          <a:prstGeom prst="roundRect">
            <a:avLst>
              <a:gd fmla="val 4145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3"/>
          <p:cNvSpPr/>
          <p:nvPr/>
        </p:nvSpPr>
        <p:spPr>
          <a:xfrm>
            <a:off x="400050" y="2903220"/>
            <a:ext cx="3200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2160"/>
              <a:buFont typeface="Lexend"/>
              <a:buNone/>
            </a:pPr>
            <a:r>
              <a:rPr b="0" i="0" lang="en-US" sz="216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💡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3"/>
          <p:cNvSpPr/>
          <p:nvPr/>
        </p:nvSpPr>
        <p:spPr>
          <a:xfrm>
            <a:off x="811530" y="2903220"/>
            <a:ext cx="3451860" cy="1954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Dica prática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Inicie com frases como: </a:t>
            </a:r>
            <a:r>
              <a:rPr b="0" i="1" lang="en-US" sz="162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"Deixe-me ver se compreendi bem: o senhor tentou acessar o sistema duas vezes e a senha expirou, correto?"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1fc02b53-c60e-4c98-840f-6576e51ea966/img_e860fe85cc2913d18d9e59e4dde413eb.png" id="144" name="Google Shape;14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01727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"/>
          <p:cNvSpPr/>
          <p:nvPr/>
        </p:nvSpPr>
        <p:spPr>
          <a:xfrm>
            <a:off x="274320" y="308610"/>
            <a:ext cx="484632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Técnica 2: Validação Emocional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4"/>
          <p:cNvSpPr/>
          <p:nvPr/>
        </p:nvSpPr>
        <p:spPr>
          <a:xfrm>
            <a:off x="274320" y="1577340"/>
            <a:ext cx="4846320" cy="31775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Antes de tentar resolver a parte técnica ou burocrática, reconheça a emoção da pessoa. Pessoas irritadas não conseguem raciocinar bem sobre soluções lógicas enquanto não sentem sua frustração compreendida.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Inadequado: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"Não precisa ficar tão nervoso por causa disso."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Empático: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"Compreendo totalmente como esse atraso causou transtorno para sua rotina."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1fc02b53-c60e-4c98-840f-6576e51ea966/img_829b1223b76c497f714730012e2cf3fa.png" id="152" name="Google Shape;15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Técnica 3: Perguntas Abertas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1fc02b53-c60e-4c98-840f-6576e51ea966/img_99320fadf5b135f186a2bf40d198c386.png" id="159" name="Google Shape;15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425196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60" name="Google Shape;160;p15"/>
          <p:cNvSpPr/>
          <p:nvPr/>
        </p:nvSpPr>
        <p:spPr>
          <a:xfrm>
            <a:off x="274320" y="3040380"/>
            <a:ext cx="425196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Perguntas Fechadas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Aceitam apenas "sim" ou "não". Exemplo: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"O sistema caiu?"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Podem soar como interrogatório apressado e limitam novos dados.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1fc02b53-c60e-4c98-840f-6576e51ea966/img_d2255e0d49762a04370cc8103e6b69cc.png" id="161" name="Google Shape;16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7720" y="925830"/>
            <a:ext cx="425196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62" name="Google Shape;162;p15"/>
          <p:cNvSpPr/>
          <p:nvPr/>
        </p:nvSpPr>
        <p:spPr>
          <a:xfrm>
            <a:off x="4617720" y="3040380"/>
            <a:ext cx="425196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Perguntas Abertas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Estimulam a fala detalhada. Exemplo: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"O que apareceu na tela quando você clicou em salvar?"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Ajudam a descobrir a causa raiz.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Conecte a Técnica à Prática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Aberta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Parafraseamento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Escuta Passiva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Validação Emocional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Repetir a ideia central com termos próprios para confirmar entendimento.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Apenas receber sons sem demonstrar engajamento nem reflexão crítica.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Reconhecer e legitimar o sentimento do usuário antes da solução técnica.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Formulação que convida o interlocutor a explicar o ocorrido em profundidade.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Conecte a Técnica à Prática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Aberta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Parafraseamento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Escuta Passiva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Validação Emocional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Repetir a ideia central com termos próprios para confirmar entendimento.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Apenas receber sons sem demonstrar engajamento nem reflexão crítica.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3829050" y="31432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Reconhecer e legitimar o sentimento do usuário antes da solução técnica.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Formulação que convida o interlocutor a explicar o ocorrido em profundidade.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p17"/>
          <p:cNvCxnSpPr/>
          <p:nvPr/>
        </p:nvCxnSpPr>
        <p:spPr>
          <a:xfrm>
            <a:off x="2571750" y="1623060"/>
            <a:ext cx="994410" cy="2772918"/>
          </a:xfrm>
          <a:prstGeom prst="straightConnector1">
            <a:avLst/>
          </a:prstGeom>
          <a:noFill/>
          <a:ln cap="flat" cmpd="sng" w="285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" name="Google Shape;195;p17"/>
          <p:cNvCxnSpPr/>
          <p:nvPr/>
        </p:nvCxnSpPr>
        <p:spPr>
          <a:xfrm flipH="1" rot="10800000">
            <a:off x="2571750" y="1652778"/>
            <a:ext cx="994410" cy="884682"/>
          </a:xfrm>
          <a:prstGeom prst="straightConnector1">
            <a:avLst/>
          </a:prstGeom>
          <a:noFill/>
          <a:ln cap="flat" cmpd="sng" w="285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" name="Google Shape;196;p17"/>
          <p:cNvCxnSpPr/>
          <p:nvPr/>
        </p:nvCxnSpPr>
        <p:spPr>
          <a:xfrm flipH="1" rot="10800000">
            <a:off x="2571750" y="2567178"/>
            <a:ext cx="994410" cy="884682"/>
          </a:xfrm>
          <a:prstGeom prst="straightConnector1">
            <a:avLst/>
          </a:prstGeom>
          <a:noFill/>
          <a:ln cap="flat" cmpd="sng" w="285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" name="Google Shape;197;p17"/>
          <p:cNvCxnSpPr/>
          <p:nvPr/>
        </p:nvCxnSpPr>
        <p:spPr>
          <a:xfrm flipH="1" rot="10800000">
            <a:off x="2571750" y="3481578"/>
            <a:ext cx="994410" cy="884682"/>
          </a:xfrm>
          <a:prstGeom prst="straightConnector1">
            <a:avLst/>
          </a:prstGeom>
          <a:noFill/>
          <a:ln cap="flat" cmpd="sng" w="285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17"/>
          <p:cNvSpPr/>
          <p:nvPr/>
        </p:nvSpPr>
        <p:spPr>
          <a:xfrm>
            <a:off x="3394710" y="42245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09E9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/>
          <p:nvPr/>
        </p:nvSpPr>
        <p:spPr>
          <a:xfrm>
            <a:off x="3394710" y="14813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9036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/>
          <p:nvPr/>
        </p:nvSpPr>
        <p:spPr>
          <a:xfrm>
            <a:off x="3394710" y="23957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68C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/>
          <p:nvPr/>
        </p:nvSpPr>
        <p:spPr>
          <a:xfrm>
            <a:off x="3394710" y="33101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579A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Pilares do Bom Atendimento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1fc02b53-c60e-4c98-840f-6576e51ea966/img_5d01e3d75b56a165a6854c4f7103d103.png" id="208" name="Google Shape;20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09" name="Google Shape;209;p18"/>
          <p:cNvSpPr/>
          <p:nvPr/>
        </p:nvSpPr>
        <p:spPr>
          <a:xfrm>
            <a:off x="274320" y="3040380"/>
            <a:ext cx="281178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Clareza e Precisão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Explicar etapas sem rodeios ou termos técnicos incompreensíveis.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1fc02b53-c60e-4c98-840f-6576e51ea966/img_69b24fb12c659e9f4bc268bd58542847.png" id="210" name="Google Shape;21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11" name="Google Shape;211;p18"/>
          <p:cNvSpPr/>
          <p:nvPr/>
        </p:nvSpPr>
        <p:spPr>
          <a:xfrm>
            <a:off x="3166110" y="3040380"/>
            <a:ext cx="28117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Agilidade Consciente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Resolver sem demora, mantendo o cuidado humano em cada contato.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1fc02b53-c60e-4c98-840f-6576e51ea966/img_e3143631c96b0d2702820bf5b142c5d3.png" id="212" name="Google Shape;21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13" name="Google Shape;213;p18"/>
          <p:cNvSpPr/>
          <p:nvPr/>
        </p:nvSpPr>
        <p:spPr>
          <a:xfrm>
            <a:off x="6069330" y="3040380"/>
            <a:ext cx="281178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Confiabilidade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Prometer apenas prazos reais e cumprir integralmente o combinado.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"/>
          <p:cNvSpPr/>
          <p:nvPr/>
        </p:nvSpPr>
        <p:spPr>
          <a:xfrm>
            <a:off x="274320" y="182880"/>
            <a:ext cx="429768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Comunicação Não-Verbal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274320" y="1405890"/>
            <a:ext cx="4297680" cy="32346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Mais da metade da nossa mensagem é transmitida pelo corpo e pela voz antes mesmo de concluirmos uma oração: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Contato visual: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transmite honestidade e segurança sem intimidação.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Postura do tronco: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ligeiramente inclinada para a frente indica dedicação.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Expressão facial: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relaxada e atenta, sem esgares de cansaço ou deboche.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1fc02b53-c60e-4c98-840f-6576e51ea966/img_2c2283de4228f63d691123a030af23cb.png" id="221" name="Google Shape;22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Papel do Tom de Voz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274320" y="925830"/>
            <a:ext cx="8595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 mesmas palavras podem acolher ou confrontar, dependendo da velocidade e da inflexão vocal com que são ditas.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1fc02b53-c60e-4c98-840f-6576e51ea966/img_1285222542f9084d158b1e0d87d8bc37.png" id="229" name="Google Shape;22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0260" y="1748790"/>
            <a:ext cx="4994910" cy="2606040"/>
          </a:xfrm>
          <a:prstGeom prst="roundRect">
            <a:avLst>
              <a:gd fmla="val 5263" name="adj"/>
            </a:avLst>
          </a:prstGeom>
          <a:noFill/>
          <a:ln>
            <a:noFill/>
          </a:ln>
        </p:spPr>
      </p:pic>
      <p:sp>
        <p:nvSpPr>
          <p:cNvPr id="230" name="Google Shape;230;p20"/>
          <p:cNvSpPr/>
          <p:nvPr/>
        </p:nvSpPr>
        <p:spPr>
          <a:xfrm>
            <a:off x="662940" y="4446270"/>
            <a:ext cx="7818120" cy="422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Um tom calmo e uniforme reduz a frequência cardíaca de interlocutores ansiosos.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"/>
          <p:cNvSpPr/>
          <p:nvPr/>
        </p:nvSpPr>
        <p:spPr>
          <a:xfrm>
            <a:off x="262890" y="434340"/>
            <a:ext cx="488061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Acolhimento em Reclamações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262890" y="1611630"/>
            <a:ext cx="488061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Quando um cliente chega com uma queixa grave, o primeiro impulso humano é se defender. No atendimento profissional, a primeira tarefa é ser um </a:t>
            </a:r>
            <a:r>
              <a:rPr b="1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porto seguro</a:t>
            </a: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para o desabafo.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262890" y="3028950"/>
            <a:ext cx="45720" cy="158877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1"/>
          <p:cNvSpPr/>
          <p:nvPr/>
        </p:nvSpPr>
        <p:spPr>
          <a:xfrm>
            <a:off x="525780" y="3028950"/>
            <a:ext cx="4617720" cy="1588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"Quem reclama não está necessariamente atacando você, mas pedindo socorro para um problema que não conseguiu resolver sozinho."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Manual de Boas Práticas em Relações com o Usuário</a:t>
            </a:r>
            <a:endParaRPr b="0" i="0" sz="15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1fc02b53-c60e-4c98-840f-6576e51ea966/img_809b2aad3a0ea2a4a2ccc4dac37a7212.png" id="240" name="Google Shape;24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2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Etapas do Atendimento Humanizado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1fc02b53-c60e-4c98-840f-6576e51ea966/img_7c30fbf9fbc2b487dfe89f83e2a03b32.png" id="247" name="Google Shape;24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3726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248" name="Google Shape;248;p22"/>
          <p:cNvSpPr/>
          <p:nvPr/>
        </p:nvSpPr>
        <p:spPr>
          <a:xfrm>
            <a:off x="182880" y="310896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2"/>
          <p:cNvSpPr/>
          <p:nvPr/>
        </p:nvSpPr>
        <p:spPr>
          <a:xfrm>
            <a:off x="274320" y="3634740"/>
            <a:ext cx="2011680" cy="12230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Conectar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Cumprimentar com gentileza e olhar nos olhos.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1fc02b53-c60e-4c98-840f-6576e51ea966/img_43546436be1c0bdc041e82355d08ca54.png" id="250" name="Google Shape;25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8880" y="93726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251" name="Google Shape;251;p22"/>
          <p:cNvSpPr/>
          <p:nvPr/>
        </p:nvSpPr>
        <p:spPr>
          <a:xfrm>
            <a:off x="2377440" y="310896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2"/>
          <p:cNvSpPr/>
          <p:nvPr/>
        </p:nvSpPr>
        <p:spPr>
          <a:xfrm>
            <a:off x="2468880" y="3634740"/>
            <a:ext cx="2011680" cy="12230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Ouvir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Deixar o usuário falar sem nenhuma interrupção.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1fc02b53-c60e-4c98-840f-6576e51ea966/img_52d6e188ec13742f8d910b9fb4c688d7.png" id="253" name="Google Shape;25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93726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254" name="Google Shape;254;p22"/>
          <p:cNvSpPr/>
          <p:nvPr/>
        </p:nvSpPr>
        <p:spPr>
          <a:xfrm>
            <a:off x="4572000" y="310896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2"/>
          <p:cNvSpPr/>
          <p:nvPr/>
        </p:nvSpPr>
        <p:spPr>
          <a:xfrm>
            <a:off x="4663440" y="3634740"/>
            <a:ext cx="2011680" cy="12230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Checar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Parafrasear a dor para alinhar as expectativas.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1fc02b53-c60e-4c98-840f-6576e51ea966/img_1be00b9997011ee006e9692777da34de.png" id="256" name="Google Shape;256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93726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257" name="Google Shape;257;p22"/>
          <p:cNvSpPr/>
          <p:nvPr/>
        </p:nvSpPr>
        <p:spPr>
          <a:xfrm>
            <a:off x="6766560" y="310896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2"/>
          <p:cNvSpPr/>
          <p:nvPr/>
        </p:nvSpPr>
        <p:spPr>
          <a:xfrm>
            <a:off x="6858000" y="3634740"/>
            <a:ext cx="2011680" cy="12230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 Agir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54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Apresentar etapas concretas de resolução.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3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Comportamentos Recomendados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Quais das seguintes atitudes demonstram acolhimento empático em uma reclamação? Há mais de uma opção correta.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Atribuir a culpa a outro colega do setor para se proteger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Ouvir atentamente sem rebater a queixa imediatamente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Pedir à pessoa que pare de reclamar para não atrasar a fila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Validar o incômodo gerado antes de propor prazos ou procedimentos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4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Comportamentos Recomendados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4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Quais das seguintes atitudes demonstram acolhimento empático em uma reclamação? Há mais de uma opção correta.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4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4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Atribuir a culpa a outro colega do setor para se proteger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Ouvir atentamente sem rebater a queixa imediatamente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4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Pedir à pessoa que pare de reclamar para não atrasar a fila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4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Validar o incômodo gerado antes de propor prazos ou procedimentos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4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4"/>
          <p:cNvSpPr/>
          <p:nvPr/>
        </p:nvSpPr>
        <p:spPr>
          <a:xfrm>
            <a:off x="8721090" y="23774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8721090" y="40919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Desescalada de Conflitos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5"/>
          <p:cNvSpPr/>
          <p:nvPr/>
        </p:nvSpPr>
        <p:spPr>
          <a:xfrm>
            <a:off x="457200" y="2926080"/>
            <a:ext cx="8229600" cy="2286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5"/>
          <p:cNvSpPr/>
          <p:nvPr/>
        </p:nvSpPr>
        <p:spPr>
          <a:xfrm>
            <a:off x="1668780" y="277749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5"/>
          <p:cNvSpPr/>
          <p:nvPr/>
        </p:nvSpPr>
        <p:spPr>
          <a:xfrm>
            <a:off x="4411980" y="277749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5"/>
          <p:cNvSpPr/>
          <p:nvPr/>
        </p:nvSpPr>
        <p:spPr>
          <a:xfrm>
            <a:off x="7155180" y="277749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5"/>
          <p:cNvSpPr/>
          <p:nvPr/>
        </p:nvSpPr>
        <p:spPr>
          <a:xfrm>
            <a:off x="685800" y="3177540"/>
            <a:ext cx="2286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Fase 1: Tensão Alta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Tom de voz baixo e pausas intencionais de silêncio.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5"/>
          <p:cNvSpPr/>
          <p:nvPr/>
        </p:nvSpPr>
        <p:spPr>
          <a:xfrm>
            <a:off x="3429000" y="1314450"/>
            <a:ext cx="2286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Fase 2: Validação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Reconhecer o aborrecimento legítimo do cliente.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5"/>
          <p:cNvSpPr/>
          <p:nvPr/>
        </p:nvSpPr>
        <p:spPr>
          <a:xfrm>
            <a:off x="6172200" y="3177540"/>
            <a:ext cx="2286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Fase 3: Cooperação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Construir o caminho de resolução a quatro mãos.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6"/>
          <p:cNvSpPr/>
          <p:nvPr/>
        </p:nvSpPr>
        <p:spPr>
          <a:xfrm>
            <a:off x="274320" y="182880"/>
            <a:ext cx="411480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Controle Emocional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6"/>
          <p:cNvSpPr/>
          <p:nvPr/>
        </p:nvSpPr>
        <p:spPr>
          <a:xfrm>
            <a:off x="274320" y="971550"/>
            <a:ext cx="41148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Quando alguém se comunica de maneira ríspida, a tendência automática é espelhar a hostilidade. Quem domina a comunicação profissional quebra essa cadeia destrutiva.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6"/>
          <p:cNvSpPr/>
          <p:nvPr/>
        </p:nvSpPr>
        <p:spPr>
          <a:xfrm>
            <a:off x="274320" y="3074670"/>
            <a:ext cx="4114800" cy="1920240"/>
          </a:xfrm>
          <a:prstGeom prst="roundRect">
            <a:avLst>
              <a:gd fmla="val 4762" name="adj"/>
            </a:avLst>
          </a:prstGeom>
          <a:solidFill>
            <a:srgbClr val="FCEBEB"/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6"/>
          <p:cNvSpPr/>
          <p:nvPr/>
        </p:nvSpPr>
        <p:spPr>
          <a:xfrm>
            <a:off x="400050" y="3200400"/>
            <a:ext cx="3200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2160"/>
              <a:buFont typeface="Lexend"/>
              <a:buNone/>
            </a:pPr>
            <a:r>
              <a:rPr b="0" i="0" lang="en-US" sz="216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6"/>
          <p:cNvSpPr/>
          <p:nvPr/>
        </p:nvSpPr>
        <p:spPr>
          <a:xfrm>
            <a:off x="811530" y="3200400"/>
            <a:ext cx="3451860" cy="166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Atenção ao viés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460606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Levar um problema operacional para o lado pessoal desgasta você e agrava a insatisfação do usuário.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1fc02b53-c60e-4c98-840f-6576e51ea966/img_a44688aaeb0937774555cbd3ca34aa24.png" id="315" name="Google Shape;31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7"/>
          <p:cNvSpPr/>
          <p:nvPr/>
        </p:nvSpPr>
        <p:spPr>
          <a:xfrm>
            <a:off x="274320" y="182880"/>
            <a:ext cx="27432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Resoluções Ganha-Ganha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7"/>
          <p:cNvSpPr/>
          <p:nvPr/>
        </p:nvSpPr>
        <p:spPr>
          <a:xfrm>
            <a:off x="274320" y="1360170"/>
            <a:ext cx="2743200" cy="674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Harmonia entre normas e satisfação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1fc02b53-c60e-4c98-840f-6576e51ea966/img_4b89b07c5bc77177b80cbc5bcf025bb1.png" id="323" name="Google Shape;32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125980"/>
            <a:ext cx="2286000" cy="1828800"/>
          </a:xfrm>
          <a:prstGeom prst="roundRect">
            <a:avLst>
              <a:gd fmla="val 5000" name="adj"/>
            </a:avLst>
          </a:prstGeom>
          <a:noFill/>
          <a:ln>
            <a:noFill/>
          </a:ln>
        </p:spPr>
      </p:pic>
      <p:sp>
        <p:nvSpPr>
          <p:cNvPr id="324" name="Google Shape;324;p27"/>
          <p:cNvSpPr/>
          <p:nvPr/>
        </p:nvSpPr>
        <p:spPr>
          <a:xfrm>
            <a:off x="3291840" y="182880"/>
            <a:ext cx="5577840" cy="32346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abordagem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ganha-ganha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busca uma saída onde a necessidade do usuário seja atendida sem desrespeitar os regulamentos ou a segurança da instituição.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Ganha-Perde: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 empresa impõe a regra friamente; o usuário sai lesado e furioso.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Perde-Ganha: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 atendente cede a exigências ilegais; a empresa sofre prejuízos.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Ganha-Ganha: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ambos chegam a uma alternativa viável e construtiva.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8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Comunicação Assertiva de Limites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1fc02b53-c60e-4c98-840f-6576e51ea966/img_1a4aa96efac73e4402dc85c0684f27b9.png" id="331" name="Google Shape;33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01727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32" name="Google Shape;332;p28"/>
          <p:cNvSpPr/>
          <p:nvPr/>
        </p:nvSpPr>
        <p:spPr>
          <a:xfrm>
            <a:off x="274320" y="3188970"/>
            <a:ext cx="420624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Gentileza no Tom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Manter cordialidade e empatia para não transformar uma negativa técnica em rejeição pessoal.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1fc02b53-c60e-4c98-840f-6576e51ea966/img_ed81c8e83123d9d2e2eba693603c9895.png" id="333" name="Google Shape;333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0" y="101727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34" name="Google Shape;334;p28"/>
          <p:cNvSpPr/>
          <p:nvPr/>
        </p:nvSpPr>
        <p:spPr>
          <a:xfrm>
            <a:off x="4663440" y="3188970"/>
            <a:ext cx="420624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Firmeza na Regra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Sustentar limites de segurança e prazos oficiais com clareza, sem abrir brechas dúbias.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"/>
          <p:cNvSpPr/>
          <p:nvPr/>
        </p:nvSpPr>
        <p:spPr>
          <a:xfrm>
            <a:off x="274320" y="742950"/>
            <a:ext cx="493776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Dizer "Não" com Elegância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9"/>
          <p:cNvSpPr/>
          <p:nvPr/>
        </p:nvSpPr>
        <p:spPr>
          <a:xfrm>
            <a:off x="274320" y="2011680"/>
            <a:ext cx="4937760" cy="2297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vez de um corte seco como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"Não podemos fazer isso"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apresente o que é viável: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"Compreendo sua urgência, e pela política de segurança da conta não posso liberar o acesso sem documento oficial. O que posso fazer agora é agendar sua validação presencial para amanhã cedo."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1fc02b53-c60e-4c98-840f-6576e51ea966/img_648eac61090db58fa37487e723cc9839.png" id="342" name="Google Shape;34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0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Registro de Solicitações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0"/>
          <p:cNvSpPr/>
          <p:nvPr/>
        </p:nvSpPr>
        <p:spPr>
          <a:xfrm>
            <a:off x="274320" y="1017270"/>
            <a:ext cx="4114800" cy="3851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não está registrado formalmente não existe no histórico corporativo. O registro detalhado de chamados garante: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Continuidade: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outro atendente entenderá o caso sem recomeçar do zero.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Transparência: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segurança jurídica para o usuário e para o atendente.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Melhoria contínua: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identificar falhas sistêmicas recorrentes.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1fc02b53-c60e-4c98-840f-6576e51ea966/img_4e19f0952144b860e12ea572c7b5e5a3.png" id="350" name="Google Shape;35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01727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1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Estrutura do Chamado Profissional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1"/>
          <p:cNvSpPr/>
          <p:nvPr/>
        </p:nvSpPr>
        <p:spPr>
          <a:xfrm>
            <a:off x="274320" y="101727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1fc02b53-c60e-4c98-840f-6576e51ea966/img_97e4573a930caa8514bf783517ceb67a.png" id="358" name="Google Shape;35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910" y="11658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1"/>
          <p:cNvSpPr/>
          <p:nvPr/>
        </p:nvSpPr>
        <p:spPr>
          <a:xfrm>
            <a:off x="1062990" y="1165860"/>
            <a:ext cx="3268980" cy="1211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Identificação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Nome completo, protocolo, data e canal de atendimento.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1"/>
          <p:cNvSpPr/>
          <p:nvPr/>
        </p:nvSpPr>
        <p:spPr>
          <a:xfrm>
            <a:off x="4663440" y="101727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1fc02b53-c60e-4c98-840f-6576e51ea966/img_0e1527974e0af93a23baa2ddc9899ec8.png" id="361" name="Google Shape;361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12030" y="11658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/>
          <p:nvPr/>
        </p:nvSpPr>
        <p:spPr>
          <a:xfrm>
            <a:off x="5452110" y="1165860"/>
            <a:ext cx="3268980" cy="1211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Fato Narrado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Descrição neutra e objetiva do problema relatado.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1"/>
          <p:cNvSpPr/>
          <p:nvPr/>
        </p:nvSpPr>
        <p:spPr>
          <a:xfrm>
            <a:off x="274320" y="304038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1fc02b53-c60e-4c98-840f-6576e51ea966/img_bf8fc40c28e5e4beab546f266b76e6b4.png" id="364" name="Google Shape;364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2910" y="318897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1"/>
          <p:cNvSpPr/>
          <p:nvPr/>
        </p:nvSpPr>
        <p:spPr>
          <a:xfrm>
            <a:off x="1062990" y="3188970"/>
            <a:ext cx="326898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Ações Executadas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Testes realizados e orientações passadas ao cliente.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1"/>
          <p:cNvSpPr/>
          <p:nvPr/>
        </p:nvSpPr>
        <p:spPr>
          <a:xfrm>
            <a:off x="4663440" y="3040380"/>
            <a:ext cx="4206240" cy="1840230"/>
          </a:xfrm>
          <a:prstGeom prst="roundRect">
            <a:avLst>
              <a:gd fmla="val 7453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1fc02b53-c60e-4c98-840f-6576e51ea966/img_5fe46167e469ddcd9ed438990eb6e227.png" id="367" name="Google Shape;367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12030" y="318897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1"/>
          <p:cNvSpPr/>
          <p:nvPr/>
        </p:nvSpPr>
        <p:spPr>
          <a:xfrm>
            <a:off x="5452110" y="3188970"/>
            <a:ext cx="3268980" cy="1211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Compromisso e Prazo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Próxima etapa combinada e data de retorno.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Ciclo Completo de Atendimento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2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Organize as etapas lógicas de um atendimento eficaz do início ao encerramento: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2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Proposta de solução ganha-ganha e explicação dos limites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2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Acolhimento empático e escuta da queixa sem interrupção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2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Parafraseamento do problema para validação mútua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2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Registro do chamado com prazo e despedida cordial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3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Ciclo Completo de Atendimento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3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Organize as etapas lógicas de um atendimento eficaz do início ao encerramento: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3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Proposta de solução ganha-ganha e explicação dos limites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3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Acolhimento empático e escuta da queixa sem interrupção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3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Parafraseamento do problema para validação mútua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3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Registro do chamado com prazo e despedida cordial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3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3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3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3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3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4"/>
          <p:cNvSpPr/>
          <p:nvPr/>
        </p:nvSpPr>
        <p:spPr>
          <a:xfrm>
            <a:off x="274320" y="182880"/>
            <a:ext cx="274320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Estudo de Caso: Impasse na Entrega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4"/>
          <p:cNvSpPr/>
          <p:nvPr/>
        </p:nvSpPr>
        <p:spPr>
          <a:xfrm>
            <a:off x="274320" y="2240280"/>
            <a:ext cx="2743200" cy="674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Cenário real de crise de atendimento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1fc02b53-c60e-4c98-840f-6576e51ea966/img_979a7b1c180f7556b15708b4b90e0f59.png" id="403" name="Google Shape;40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3006090"/>
            <a:ext cx="2286000" cy="1828800"/>
          </a:xfrm>
          <a:prstGeom prst="roundRect">
            <a:avLst>
              <a:gd fmla="val 5000" name="adj"/>
            </a:avLst>
          </a:prstGeom>
          <a:noFill/>
          <a:ln>
            <a:noFill/>
          </a:ln>
        </p:spPr>
      </p:pic>
      <p:sp>
        <p:nvSpPr>
          <p:cNvPr id="404" name="Google Shape;404;p34"/>
          <p:cNvSpPr/>
          <p:nvPr/>
        </p:nvSpPr>
        <p:spPr>
          <a:xfrm>
            <a:off x="3291840" y="182880"/>
            <a:ext cx="5577840" cy="2960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Contexto: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Dona Luiza comprou materiais escolares para o início das aulas de sua filha. A entrega atrasou quatro dias e ela liga extremamente indignada para o suporte.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Ela afirma: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"Vocês não têm consideração com os alunos! Se não chegar até amanhã cedo, vou denunciar vocês e cancelar tudo!"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Como desarmar o conflito e construir um caminho cooperativo?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Análise da Resposta do Atendente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1fc02b53-c60e-4c98-840f-6576e51ea966/img_ab393175e8c5fde50926110dffa2880d.png" id="411" name="Google Shape;41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425196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412" name="Google Shape;412;p35"/>
          <p:cNvSpPr/>
          <p:nvPr/>
        </p:nvSpPr>
        <p:spPr>
          <a:xfrm>
            <a:off x="274320" y="3040380"/>
            <a:ext cx="425196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Reativa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"Senhora, o prazo é dos Correios e não nosso. Consta no contrato que pode atrasar."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(Gera rompimento imediato).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1fc02b53-c60e-4c98-840f-6576e51ea966/img_11bf3a9280a8f2cfa0a4cbd27057d50d.png" id="413" name="Google Shape;413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7720" y="925830"/>
            <a:ext cx="425196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414" name="Google Shape;414;p35"/>
          <p:cNvSpPr/>
          <p:nvPr/>
        </p:nvSpPr>
        <p:spPr>
          <a:xfrm>
            <a:off x="4617720" y="3040380"/>
            <a:ext cx="425196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com Escuta Ativa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"Compreendo perfeitamente sua apreensão com o primeiro dia de aula da sua filha. Vou priorizar com a logística agora."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6"/>
          <p:cNvSpPr/>
          <p:nvPr/>
        </p:nvSpPr>
        <p:spPr>
          <a:xfrm>
            <a:off x="274320" y="182880"/>
            <a:ext cx="47091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Desfecho do Caso Luiza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6"/>
          <p:cNvSpPr/>
          <p:nvPr/>
        </p:nvSpPr>
        <p:spPr>
          <a:xfrm>
            <a:off x="274320" y="971550"/>
            <a:ext cx="4709160" cy="3211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atendente aplicou as etapas com rigor profissional: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95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Acolheu: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validou a dor materna pelo prazo escolar.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Informou limites: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explicou que a entrega física ocorreria em 24h.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Ofereceu alternativa: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disponibilizou um voucher digital de emergência para materiais básicos.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Char char="•"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Registrou: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gerou chamado com acompanhamento prioritário por mensagem.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1fc02b53-c60e-4c98-840f-6576e51ea966/img_e16cfffa90351730ed4c170e69f6736c.png" id="422" name="Google Shape;42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6360" y="182880"/>
            <a:ext cx="3703320" cy="3246120"/>
          </a:xfrm>
          <a:prstGeom prst="roundRect">
            <a:avLst>
              <a:gd fmla="val 422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1fc02b53-c60e-4c98-840f-6576e51ea966/img_88f2cf22d50efe57d124336ea25cb3a9.png" id="428" name="Google Shape;428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8214647/backend/storage/app/render-specs/1fc02b53-c60e-4c98-840f-6576e51ea966/img_d94b891df6b63e4ec42760b83833a570.png" id="429" name="Google Shape;429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3020" y="1657350"/>
            <a:ext cx="283464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37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Debate: Limites com Gentileza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7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Como você recusaria o pedido de um cliente que exige a devolução imediata em dinheiro de um produto aberto sem nota fiscal, aplicando empatia e firmeza?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1fc02b53-c60e-4c98-840f-6576e51ea966/img_88f2cf22d50efe57d124336ea25cb3a9.png" id="437" name="Google Shape;437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8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Debate: Limites com Gentileza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8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poderia ter dito...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Acolher a frustração do cliente pelo problema com o produto.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Explicar com respeito que a nota fiscal é exigência legal e regulamentar.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Oferecer a opção de suporte técnico ou troca por cupom após verificação do sistema.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8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9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Simulação: Atendimento em Duplas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1fc02b53-c60e-4c98-840f-6576e51ea966/img_55d541088b6901b493bf67e594b39646.png" id="447" name="Google Shape;44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01727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448" name="Google Shape;448;p39"/>
          <p:cNvSpPr/>
          <p:nvPr/>
        </p:nvSpPr>
        <p:spPr>
          <a:xfrm>
            <a:off x="274320" y="3188970"/>
            <a:ext cx="420624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Aluno A (Cliente)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Apresenta uma queixa com pressa e desapontamento sincero, expondo seu problema sem agressões verbais.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1fc02b53-c60e-4c98-840f-6576e51ea966/img_353f777dc5fbf00228d014634a5b5fa5.png" id="449" name="Google Shape;449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0" y="101727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450" name="Google Shape;450;p39"/>
          <p:cNvSpPr/>
          <p:nvPr/>
        </p:nvSpPr>
        <p:spPr>
          <a:xfrm>
            <a:off x="4663440" y="3188970"/>
            <a:ext cx="420624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Aluno B (Atendente)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Aplica escuta ativa, parafraseia o relato, valida as emoções e busca um acordo dentro das regras possíveis.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0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Síntese dos Aprendizados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40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40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40"/>
          <p:cNvSpPr/>
          <p:nvPr/>
        </p:nvSpPr>
        <p:spPr>
          <a:xfrm>
            <a:off x="1108710" y="14058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Escutar ativamente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é um compromisso consciente que exige silenciar o julgamento interno.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40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40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40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Parafraseamento e validação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desarmam hostilidades antes da apresentação de regras.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40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40"/>
          <p:cNvSpPr/>
          <p:nvPr/>
        </p:nvSpPr>
        <p:spPr>
          <a:xfrm>
            <a:off x="468630" y="38747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40"/>
          <p:cNvSpPr/>
          <p:nvPr/>
        </p:nvSpPr>
        <p:spPr>
          <a:xfrm>
            <a:off x="1108710" y="37147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Registro objetivo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 acordos ganha-ganha asseguram relacionamentos profissionais duradouros.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1fc02b53-c60e-4c98-840f-6576e51ea966/img_74db676abbf9321227487417a15623c8.png" id="471" name="Google Shape;47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9490" y="-9144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41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Desafio Final de Comunicação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41"/>
          <p:cNvSpPr/>
          <p:nvPr/>
        </p:nvSpPr>
        <p:spPr>
          <a:xfrm>
            <a:off x="285750" y="1143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é a diferença fundamental entre ouvir e praticar a escuta ativa?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41"/>
          <p:cNvSpPr/>
          <p:nvPr/>
        </p:nvSpPr>
        <p:spPr>
          <a:xfrm>
            <a:off x="285750" y="2286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 que se deve validar as emoções de quem reclama antes de explicar soluções técnicas?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1"/>
          <p:cNvSpPr/>
          <p:nvPr/>
        </p:nvSpPr>
        <p:spPr>
          <a:xfrm>
            <a:off x="285750" y="3429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é o objetivo principal de buscar uma solução do tipo ganha-ganha no atendimento?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2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Desafio Final de Comunicação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42"/>
          <p:cNvSpPr/>
          <p:nvPr/>
        </p:nvSpPr>
        <p:spPr>
          <a:xfrm>
            <a:off x="285750" y="1143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Ouvir é o processo fisiológico de captar sons; escutar ativamente envolve atenção consciente, interpretação e empatia.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42"/>
          <p:cNvSpPr/>
          <p:nvPr/>
        </p:nvSpPr>
        <p:spPr>
          <a:xfrm>
            <a:off x="285750" y="2286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Porque pessoas irritadas não assimilam soluções lógicas enquanto não sentem que sua frustração foi compreendida.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42"/>
          <p:cNvSpPr/>
          <p:nvPr/>
        </p:nvSpPr>
        <p:spPr>
          <a:xfrm>
            <a:off x="285750" y="3429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Atender à necessidade legítima do usuário respeitando simultaneamente as diretrizes e regras da instituição.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4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1fc02b53-c60e-4c98-840f-6576e51ea966/img_1198f6ede5e2216c51986e3c51e1178b.png" id="491" name="Google Shape;491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6280" y="765810"/>
            <a:ext cx="4457700" cy="480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8214647/backend/storage/app/render-specs/1fc02b53-c60e-4c98-840f-6576e51ea966/img_4bc4626e04fd40c0adf3592d4e579c7d.png" id="492" name="Google Shape;492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63490" y="1897380"/>
            <a:ext cx="3314700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43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Roteiro de Atendimento Empático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43"/>
          <p:cNvSpPr/>
          <p:nvPr/>
        </p:nvSpPr>
        <p:spPr>
          <a:xfrm>
            <a:off x="285750" y="925830"/>
            <a:ext cx="4263390" cy="38976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Redija em seu caderno uma fala de atendimento com três frases: (1) acolhimento com validação emocional, (2) explicação clara de um limite com gentileza e (3) proposta de solução alternativa viável.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você vai precisar: 🎨 🖌️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Caderno de anotações, caneta ou editor de texto digital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