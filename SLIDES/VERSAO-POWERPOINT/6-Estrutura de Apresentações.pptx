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89" r:id="rId38"/>
    <p:sldId id="290" r:id="rId39"/>
    <p:sldId id="291" r:id="rId40"/>
    <p:sldId id="292" r:id="rId41"/>
    <p:sldId id="293" r:id="rId42"/>
    <p:sldId id="294" r:id="rId43"/>
    <p:sldId id="295" r:id="rId44"/>
    <p:sldId id="296" r:id="rId45"/>
  </p:sldIdLst>
  <p:sldSz cy="5143500" cx="9144000"/>
  <p:notesSz cx="5143500" cy="9144000"/>
  <p:embeddedFontLst>
    <p:embeddedFont>
      <p:font typeface="Lexend"/>
      <p:regular r:id="rId46"/>
      <p:bold r:id="rId4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6.xml"/><Relationship Id="rId20" Type="http://schemas.openxmlformats.org/officeDocument/2006/relationships/slide" Target="slides/slide16.xml"/><Relationship Id="rId42" Type="http://schemas.openxmlformats.org/officeDocument/2006/relationships/slide" Target="slides/slide38.xml"/><Relationship Id="rId41" Type="http://schemas.openxmlformats.org/officeDocument/2006/relationships/slide" Target="slides/slide37.xml"/><Relationship Id="rId22" Type="http://schemas.openxmlformats.org/officeDocument/2006/relationships/slide" Target="slides/slide18.xml"/><Relationship Id="rId44" Type="http://schemas.openxmlformats.org/officeDocument/2006/relationships/slide" Target="slides/slide40.xml"/><Relationship Id="rId21" Type="http://schemas.openxmlformats.org/officeDocument/2006/relationships/slide" Target="slides/slide17.xml"/><Relationship Id="rId43" Type="http://schemas.openxmlformats.org/officeDocument/2006/relationships/slide" Target="slides/slide39.xml"/><Relationship Id="rId24" Type="http://schemas.openxmlformats.org/officeDocument/2006/relationships/slide" Target="slides/slide20.xml"/><Relationship Id="rId46" Type="http://schemas.openxmlformats.org/officeDocument/2006/relationships/font" Target="fonts/Lexend-regular.fntdata"/><Relationship Id="rId23" Type="http://schemas.openxmlformats.org/officeDocument/2006/relationships/slide" Target="slides/slide19.xml"/><Relationship Id="rId45" Type="http://schemas.openxmlformats.org/officeDocument/2006/relationships/slide" Target="slides/slide41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47" Type="http://schemas.openxmlformats.org/officeDocument/2006/relationships/font" Target="fonts/Lexend-bold.fntdata"/><Relationship Id="rId28" Type="http://schemas.openxmlformats.org/officeDocument/2006/relationships/slide" Target="slides/slide24.xml"/><Relationship Id="rId27" Type="http://schemas.openxmlformats.org/officeDocument/2006/relationships/slide" Target="slides/slide23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slide" Target="slides/slide25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31" Type="http://schemas.openxmlformats.org/officeDocument/2006/relationships/slide" Target="slides/slide27.xml"/><Relationship Id="rId30" Type="http://schemas.openxmlformats.org/officeDocument/2006/relationships/slide" Target="slides/slide26.xml"/><Relationship Id="rId11" Type="http://schemas.openxmlformats.org/officeDocument/2006/relationships/slide" Target="slides/slide7.xml"/><Relationship Id="rId33" Type="http://schemas.openxmlformats.org/officeDocument/2006/relationships/slide" Target="slides/slide29.xml"/><Relationship Id="rId10" Type="http://schemas.openxmlformats.org/officeDocument/2006/relationships/slide" Target="slides/slide6.xml"/><Relationship Id="rId32" Type="http://schemas.openxmlformats.org/officeDocument/2006/relationships/slide" Target="slides/slide28.xml"/><Relationship Id="rId13" Type="http://schemas.openxmlformats.org/officeDocument/2006/relationships/slide" Target="slides/slide9.xml"/><Relationship Id="rId35" Type="http://schemas.openxmlformats.org/officeDocument/2006/relationships/slide" Target="slides/slide31.xml"/><Relationship Id="rId12" Type="http://schemas.openxmlformats.org/officeDocument/2006/relationships/slide" Target="slides/slide8.xml"/><Relationship Id="rId34" Type="http://schemas.openxmlformats.org/officeDocument/2006/relationships/slide" Target="slides/slide30.xml"/><Relationship Id="rId15" Type="http://schemas.openxmlformats.org/officeDocument/2006/relationships/slide" Target="slides/slide11.xml"/><Relationship Id="rId37" Type="http://schemas.openxmlformats.org/officeDocument/2006/relationships/slide" Target="slides/slide33.xml"/><Relationship Id="rId14" Type="http://schemas.openxmlformats.org/officeDocument/2006/relationships/slide" Target="slides/slide10.xml"/><Relationship Id="rId36" Type="http://schemas.openxmlformats.org/officeDocument/2006/relationships/slide" Target="slides/slide32.xml"/><Relationship Id="rId17" Type="http://schemas.openxmlformats.org/officeDocument/2006/relationships/slide" Target="slides/slide13.xml"/><Relationship Id="rId39" Type="http://schemas.openxmlformats.org/officeDocument/2006/relationships/slide" Target="slides/slide35.xml"/><Relationship Id="rId16" Type="http://schemas.openxmlformats.org/officeDocument/2006/relationships/slide" Target="slides/slide12.xml"/><Relationship Id="rId38" Type="http://schemas.openxmlformats.org/officeDocument/2006/relationships/slide" Target="slides/slide34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" name="Google Shape;13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" name="Google Shape;28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" name="Google Shape;29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" name="Google Shape;43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5" name="Google Shape;85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4" name="Google Shape;94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8" name="Google Shape;138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9" name="Google Shape;139;p1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3" name="Google Shape;153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1" name="Google Shape;171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1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1" name="Google Shape;191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1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2" name="Google Shape;222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1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5" name="Google Shape;235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0" name="Google Shape;250;p2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4" name="Google Shape;274;p2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2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p2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2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1" name="Google Shape;301;p2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2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2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1" name="Google Shape;311;p2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2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2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1" name="Google Shape;321;p2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2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2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0" name="Google Shape;330;p2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2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9" name="Google Shape;339;p2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0" name="Google Shape;340;p2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p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1" name="Google Shape;351;p2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2" name="Google Shape;352;p2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p3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6" name="Google Shape;366;p3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7" name="Google Shape;367;p3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7" name="Google Shape;377;p3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8" name="Google Shape;378;p3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7" name="Google Shape;387;p3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3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5" name="Google Shape;395;p3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3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p3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5" name="Google Shape;405;p3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1" name="Google Shape;421;p3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2" name="Google Shape;422;p3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3" name="Google Shape;423;p3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3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3" name="Google Shape;433;p3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4" name="Google Shape;434;p3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3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9" name="Google Shape;449;p3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p3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4" name="Google Shape;464;p3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5" name="Google Shape;465;p3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3" name="Google Shape;473;p3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4" name="Google Shape;474;p3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4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p4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p4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p4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5" name="Google Shape;505;p4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6" name="Google Shape;506;p4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jpg"/><Relationship Id="rId4" Type="http://schemas.openxmlformats.org/officeDocument/2006/relationships/image" Target="../media/image13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jpg"/><Relationship Id="rId4" Type="http://schemas.openxmlformats.org/officeDocument/2006/relationships/image" Target="../media/image1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jpg"/><Relationship Id="rId4" Type="http://schemas.openxmlformats.org/officeDocument/2006/relationships/image" Target="../media/image1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Relationship Id="rId7" Type="http://schemas.openxmlformats.org/officeDocument/2006/relationships/image" Target="../media/image1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jpg"/><Relationship Id="rId4" Type="http://schemas.openxmlformats.org/officeDocument/2006/relationships/image" Target="../media/image2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Relationship Id="rId4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jpg"/><Relationship Id="rId4" Type="http://schemas.openxmlformats.org/officeDocument/2006/relationships/image" Target="../media/image2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jp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jpg"/><Relationship Id="rId4" Type="http://schemas.openxmlformats.org/officeDocument/2006/relationships/image" Target="../media/image30.png"/><Relationship Id="rId5" Type="http://schemas.openxmlformats.org/officeDocument/2006/relationships/image" Target="../media/image25.png"/><Relationship Id="rId6" Type="http://schemas.openxmlformats.org/officeDocument/2006/relationships/image" Target="../media/image37.png"/><Relationship Id="rId7" Type="http://schemas.openxmlformats.org/officeDocument/2006/relationships/image" Target="../media/image2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Relationship Id="rId4" Type="http://schemas.openxmlformats.org/officeDocument/2006/relationships/image" Target="../media/image4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5.jp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5.jpg"/><Relationship Id="rId4" Type="http://schemas.openxmlformats.org/officeDocument/2006/relationships/image" Target="../media/image33.png"/><Relationship Id="rId5" Type="http://schemas.openxmlformats.org/officeDocument/2006/relationships/image" Target="../media/image39.png"/><Relationship Id="rId6" Type="http://schemas.openxmlformats.org/officeDocument/2006/relationships/image" Target="../media/image34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5.jpg"/><Relationship Id="rId4" Type="http://schemas.openxmlformats.org/officeDocument/2006/relationships/image" Target="../media/image4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5.jpg"/><Relationship Id="rId4" Type="http://schemas.openxmlformats.org/officeDocument/2006/relationships/image" Target="../media/image44.png"/><Relationship Id="rId5" Type="http://schemas.openxmlformats.org/officeDocument/2006/relationships/image" Target="../media/image40.png"/><Relationship Id="rId6" Type="http://schemas.openxmlformats.org/officeDocument/2006/relationships/image" Target="../media/image4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5.jpg"/><Relationship Id="rId4" Type="http://schemas.openxmlformats.org/officeDocument/2006/relationships/image" Target="../media/image6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5.jpg"/><Relationship Id="rId4" Type="http://schemas.openxmlformats.org/officeDocument/2006/relationships/image" Target="../media/image4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5.jp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5.jp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5.jpg"/><Relationship Id="rId4" Type="http://schemas.openxmlformats.org/officeDocument/2006/relationships/image" Target="../media/image51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jpg"/><Relationship Id="rId4" Type="http://schemas.openxmlformats.org/officeDocument/2006/relationships/image" Target="../media/image49.png"/><Relationship Id="rId5" Type="http://schemas.openxmlformats.org/officeDocument/2006/relationships/image" Target="../media/image48.png"/><Relationship Id="rId6" Type="http://schemas.openxmlformats.org/officeDocument/2006/relationships/image" Target="../media/image58.png"/><Relationship Id="rId7" Type="http://schemas.openxmlformats.org/officeDocument/2006/relationships/image" Target="../media/image6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5.jpg"/><Relationship Id="rId4" Type="http://schemas.openxmlformats.org/officeDocument/2006/relationships/image" Target="../media/image8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5.jpg"/><Relationship Id="rId4" Type="http://schemas.openxmlformats.org/officeDocument/2006/relationships/image" Target="../media/image61.png"/><Relationship Id="rId5" Type="http://schemas.openxmlformats.org/officeDocument/2006/relationships/image" Target="../media/image69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5.jpg"/><Relationship Id="rId4" Type="http://schemas.openxmlformats.org/officeDocument/2006/relationships/image" Target="../media/image62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5.jp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5.jp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5.jpg"/><Relationship Id="rId4" Type="http://schemas.openxmlformats.org/officeDocument/2006/relationships/image" Target="../media/image65.png"/><Relationship Id="rId5" Type="http://schemas.openxmlformats.org/officeDocument/2006/relationships/image" Target="../media/image67.png"/><Relationship Id="rId6" Type="http://schemas.openxmlformats.org/officeDocument/2006/relationships/image" Target="../media/image71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5.jpg"/><Relationship Id="rId4" Type="http://schemas.openxmlformats.org/officeDocument/2006/relationships/image" Target="../media/image7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5.jpg"/><Relationship Id="rId4" Type="http://schemas.openxmlformats.org/officeDocument/2006/relationships/image" Target="../media/image74.png"/><Relationship Id="rId5" Type="http://schemas.openxmlformats.org/officeDocument/2006/relationships/image" Target="../media/image91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5.jpg"/><Relationship Id="rId4" Type="http://schemas.openxmlformats.org/officeDocument/2006/relationships/image" Target="../media/image7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5.jpg"/><Relationship Id="rId4" Type="http://schemas.openxmlformats.org/officeDocument/2006/relationships/image" Target="../media/image73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5.jpg"/><Relationship Id="rId4" Type="http://schemas.openxmlformats.org/officeDocument/2006/relationships/image" Target="../media/image79.png"/><Relationship Id="rId5" Type="http://schemas.openxmlformats.org/officeDocument/2006/relationships/image" Target="../media/image77.png"/><Relationship Id="rId6" Type="http://schemas.openxmlformats.org/officeDocument/2006/relationships/image" Target="../media/image84.png"/><Relationship Id="rId7" Type="http://schemas.openxmlformats.org/officeDocument/2006/relationships/image" Target="../media/image87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5.jp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5.jp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5.jp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5.jpg"/><Relationship Id="rId4" Type="http://schemas.openxmlformats.org/officeDocument/2006/relationships/image" Target="../media/image86.png"/><Relationship Id="rId5" Type="http://schemas.openxmlformats.org/officeDocument/2006/relationships/image" Target="../media/image90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5.jp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5.jp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3" Type="http://schemas.openxmlformats.org/officeDocument/2006/relationships/image" Target="../media/image5.jpg"/><Relationship Id="rId4" Type="http://schemas.openxmlformats.org/officeDocument/2006/relationships/image" Target="../media/image8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274320" y="274320"/>
            <a:ext cx="4023360" cy="459486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240"/>
              <a:buFont typeface="Lexend"/>
              <a:buNone/>
            </a:pPr>
            <a:r>
              <a:rPr b="1" i="0" lang="en-US" sz="32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de Apresentações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545C5C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Como planejar discursos memoráveis, claros e persuasivos</a:t>
            </a:r>
            <a:endParaRPr b="0" i="0" sz="32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610d5c81bd67280cf233c6cc26d32f0f.jpg" id="17" name="Google Shape;17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4320"/>
            <a:ext cx="4297680" cy="4594860"/>
          </a:xfrm>
          <a:prstGeom prst="roundRect">
            <a:avLst>
              <a:gd fmla="val 3191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e141720-73a4-408e-8771-93a12a98deb3/img_ebc3f658d08b6bac4f318ee66fe4f1a2.png" id="23" name="Google Shape;2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0"/>
            <a:ext cx="9144000" cy="217170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;p4"/>
          <p:cNvSpPr/>
          <p:nvPr/>
        </p:nvSpPr>
        <p:spPr>
          <a:xfrm>
            <a:off x="274320" y="244602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Por que falar em público assusta?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4"/>
          <p:cNvSpPr/>
          <p:nvPr/>
        </p:nvSpPr>
        <p:spPr>
          <a:xfrm>
            <a:off x="274320" y="3280410"/>
            <a:ext cx="859536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Pesquisas indicam que muitas pessoas temem mais falar em público do que enfrentar perigos físicos reais.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segredo para transformar a insegurança em clareza não é improvisar, mas sim dominar 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 do discurso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antes de subir ao palco.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Objetivos de Aprendizagem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5"/>
          <p:cNvSpPr/>
          <p:nvPr/>
        </p:nvSpPr>
        <p:spPr>
          <a:xfrm>
            <a:off x="274320" y="13030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5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5"/>
          <p:cNvSpPr/>
          <p:nvPr/>
        </p:nvSpPr>
        <p:spPr>
          <a:xfrm>
            <a:off x="1108710" y="14058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Organizar uma apresentação clássica em introdução, desenvolvimento e conclusão.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5"/>
          <p:cNvSpPr/>
          <p:nvPr/>
        </p:nvSpPr>
        <p:spPr>
          <a:xfrm>
            <a:off x="274320" y="245745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5"/>
          <p:cNvSpPr/>
          <p:nvPr/>
        </p:nvSpPr>
        <p:spPr>
          <a:xfrm>
            <a:off x="468630" y="272034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5"/>
          <p:cNvSpPr/>
          <p:nvPr/>
        </p:nvSpPr>
        <p:spPr>
          <a:xfrm>
            <a:off x="1108710" y="256032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Aplicar técnicas de ritmo (pacing), roteiro e controle prático do nervosismo.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5"/>
          <p:cNvSpPr/>
          <p:nvPr/>
        </p:nvSpPr>
        <p:spPr>
          <a:xfrm>
            <a:off x="274320" y="361188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5"/>
          <p:cNvSpPr/>
          <p:nvPr/>
        </p:nvSpPr>
        <p:spPr>
          <a:xfrm>
            <a:off x="468630" y="387477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5"/>
          <p:cNvSpPr/>
          <p:nvPr/>
        </p:nvSpPr>
        <p:spPr>
          <a:xfrm>
            <a:off x="1108710" y="371475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Planejar um roteiro conciso e persuasivo estruturado para discursos orais.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Vocabulário Essencial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cb67290c7c2e3a0787a83d028472748e.png" id="47" name="Google Shape;47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8" name="Google Shape;48;p6"/>
          <p:cNvSpPr/>
          <p:nvPr/>
        </p:nvSpPr>
        <p:spPr>
          <a:xfrm>
            <a:off x="274320" y="32118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Esqueleto que organiza ideias e guia a audiência.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118191dd0c6485b5018068cf26e75ca7.png" id="49" name="Google Shape;49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0" name="Google Shape;50;p6"/>
          <p:cNvSpPr/>
          <p:nvPr/>
        </p:nvSpPr>
        <p:spPr>
          <a:xfrm>
            <a:off x="2468880" y="321183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Roteiro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Guia de tópicos que apoia a fala sem leitura fixa.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61006ea8969d37dd63256c7153eabd02.png" id="51" name="Google Shape;51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2" name="Google Shape;52;p6"/>
          <p:cNvSpPr/>
          <p:nvPr/>
        </p:nvSpPr>
        <p:spPr>
          <a:xfrm>
            <a:off x="4663440" y="3211830"/>
            <a:ext cx="2011680" cy="9372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Pacing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Gestão da velocidade, pausas e tempo da fala.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c9197684145caf2b596a082c16857f9d.png" id="53" name="Google Shape;53;p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101727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54" name="Google Shape;54;p6"/>
          <p:cNvSpPr/>
          <p:nvPr/>
        </p:nvSpPr>
        <p:spPr>
          <a:xfrm>
            <a:off x="6858000" y="3211830"/>
            <a:ext cx="2011680" cy="11887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Persuasão</a:t>
            </a: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Capacidade de engajar e motivar reflexão.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/>
          <p:nvPr/>
        </p:nvSpPr>
        <p:spPr>
          <a:xfrm>
            <a:off x="274320" y="182880"/>
            <a:ext cx="1040130" cy="262890"/>
          </a:xfrm>
          <a:prstGeom prst="roundRect">
            <a:avLst>
              <a:gd fmla="val 17391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45700" lIns="114300" spcFirstLastPara="1" rIns="114300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80"/>
              <a:buFont typeface="Lexend"/>
              <a:buNone/>
            </a:pPr>
            <a:r>
              <a:rPr b="1" i="0" lang="en-US" sz="108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REVISÃO</a:t>
            </a:r>
            <a:endParaRPr b="0" i="0" sz="10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7"/>
          <p:cNvSpPr/>
          <p:nvPr/>
        </p:nvSpPr>
        <p:spPr>
          <a:xfrm>
            <a:off x="274320" y="582930"/>
            <a:ext cx="4114800" cy="28232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Ciclo do Módulo 1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No módulo anterior, vimos que comunicar exige emissor, mensagem, canal, receptor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feedback contínuo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apresentação em público nada mais é do que esse ciclo ampliado: o orador calibra sua mensagem observando as reações do público.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951a2bdcdec93d37545b4a3ee0db6836.png" id="62" name="Google Shape;6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e141720-73a4-408e-8771-93a12a98deb3/img_74db676abbf9321227487417a15623c8.png" id="68" name="Google Shape;6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349490" y="-91440"/>
            <a:ext cx="18288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do Módulo 1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0" name="Google Shape;70;p8"/>
          <p:cNvSpPr/>
          <p:nvPr/>
        </p:nvSpPr>
        <p:spPr>
          <a:xfrm>
            <a:off x="285750" y="1143000"/>
            <a:ext cx="8572500" cy="101498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componente do processo comunicativo confirma que a mensagem foi recebida e compreendida?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8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diferença entre um contexto formal e informal de fala?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8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ocorre quando há ruído no canal de comunicação?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Revisão do Módulo 1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9"/>
          <p:cNvSpPr/>
          <p:nvPr/>
        </p:nvSpPr>
        <p:spPr>
          <a:xfrm>
            <a:off x="285750" y="1143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1: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feedback (retorno do receptor).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9"/>
          <p:cNvSpPr/>
          <p:nvPr/>
        </p:nvSpPr>
        <p:spPr>
          <a:xfrm>
            <a:off x="285750" y="2286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2: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registro de linguagem, nível de protocolo e adequação ao público.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9"/>
          <p:cNvSpPr/>
          <p:nvPr/>
        </p:nvSpPr>
        <p:spPr>
          <a:xfrm>
            <a:off x="285750" y="3429000"/>
            <a:ext cx="8572500" cy="7680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Resposta 3: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mensagem sofre distorção ou perda parcial de sentido.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9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0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Comunicação Profissional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0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Exigências reais do mundo do trabalho e estudos.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bd2b92a30c07f46dc999664fdc854c22.png" id="90" name="Google Shape;90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0"/>
          <p:cNvSpPr/>
          <p:nvPr/>
        </p:nvSpPr>
        <p:spPr>
          <a:xfrm>
            <a:off x="3291840" y="182880"/>
            <a:ext cx="5577840" cy="29489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vida escolar avançada e no mercado de trabalho, expressar-se verbalmente não é apenas falar: é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alinhar expectativas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e propor soluções.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Objetividade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Respeito imediato ao tempo dos colegas e clientes.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Clareza técnica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Tradução de ideias complexas de forma compreensível.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Conexão visual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Postura que inspira segurança e parceria.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Estrutura Clássica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36dfa91c55c15031ad08521673d4786c.png" id="98" name="Google Shape;9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99" name="Google Shape;99;p11"/>
          <p:cNvSpPr/>
          <p:nvPr/>
        </p:nvSpPr>
        <p:spPr>
          <a:xfrm>
            <a:off x="18288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11"/>
          <p:cNvSpPr/>
          <p:nvPr/>
        </p:nvSpPr>
        <p:spPr>
          <a:xfrm>
            <a:off x="27432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Introdução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Capta a atenção, apresenta a tese e orienta o que esperar.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5109f171c4720892e42d8345a31382b2.png" id="101" name="Google Shape;10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2" name="Google Shape;102;p11"/>
          <p:cNvSpPr/>
          <p:nvPr/>
        </p:nvSpPr>
        <p:spPr>
          <a:xfrm>
            <a:off x="310896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11"/>
          <p:cNvSpPr/>
          <p:nvPr/>
        </p:nvSpPr>
        <p:spPr>
          <a:xfrm>
            <a:off x="3200400" y="3589020"/>
            <a:ext cx="274320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Desenvolvimento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 argumentos, evidências e conexões lógicas centrais.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729e1d31c815982728533541c11a6502.png" id="104" name="Google Shape;104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92583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05" name="Google Shape;105;p11"/>
          <p:cNvSpPr/>
          <p:nvPr/>
        </p:nvSpPr>
        <p:spPr>
          <a:xfrm>
            <a:off x="6035040" y="309753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1"/>
          <p:cNvSpPr/>
          <p:nvPr/>
        </p:nvSpPr>
        <p:spPr>
          <a:xfrm>
            <a:off x="6126480" y="3623310"/>
            <a:ext cx="2743200" cy="10744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Conclusão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Sintetiza os pontos e convida a uma reflexão ou ação final.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Gancho Inicial (The Hook)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d080b24b39b404f3d4962b4f64db793b.png" id="114" name="Google Shape;114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2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Pergunta Instigante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Ativa o pensamento crítico: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'Vocês já se perguntaram por que esquecemos discursos longos?'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2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b49cef79b215747f16215ea48ad178d8.png" id="117" name="Google Shape;117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2"/>
          <p:cNvSpPr/>
          <p:nvPr/>
        </p:nvSpPr>
        <p:spPr>
          <a:xfrm>
            <a:off x="5349240" y="1062990"/>
            <a:ext cx="3383280" cy="11658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Dado Surpreendente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 um fato contrastante que quebra expectativas comuns.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2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ad990b5965035e6923373a0dbbc94998.png" id="120" name="Google Shape;120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2"/>
          <p:cNvSpPr/>
          <p:nvPr/>
        </p:nvSpPr>
        <p:spPr>
          <a:xfrm>
            <a:off x="10058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História Curta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Uma anedota humana de 30 segundos que ilustra o problema real.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12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8f822b613136991f21984f5694c74a9f.png" id="123" name="Google Shape;123;p12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2"/>
          <p:cNvSpPr/>
          <p:nvPr/>
        </p:nvSpPr>
        <p:spPr>
          <a:xfrm>
            <a:off x="53492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Cenário Futuro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Conduz a plateia a visualizar uma transformação: </a:t>
            </a:r>
            <a:r>
              <a:rPr b="0" i="1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'Imaginem se...'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3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Primeiros 60 Segundos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3"/>
          <p:cNvSpPr/>
          <p:nvPr/>
        </p:nvSpPr>
        <p:spPr>
          <a:xfrm>
            <a:off x="274320" y="140589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atenção humana atinge o pico logo no início e tende a decair se não houver um direcionamento claro.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3"/>
          <p:cNvSpPr/>
          <p:nvPr/>
        </p:nvSpPr>
        <p:spPr>
          <a:xfrm>
            <a:off x="274320" y="2640330"/>
            <a:ext cx="4114800" cy="1920240"/>
          </a:xfrm>
          <a:prstGeom prst="roundRect">
            <a:avLst>
              <a:gd fmla="val 4762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13"/>
          <p:cNvSpPr/>
          <p:nvPr/>
        </p:nvSpPr>
        <p:spPr>
          <a:xfrm>
            <a:off x="400050" y="276606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13"/>
          <p:cNvSpPr/>
          <p:nvPr/>
        </p:nvSpPr>
        <p:spPr>
          <a:xfrm>
            <a:off x="811530" y="2766060"/>
            <a:ext cx="3451860" cy="166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Erro Comum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Gastar os primeiros dois minutos pedindo desculpas ou testando o microfone sem conteúdo.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bc68b5b3cac58af015593ec8a10308ab.png" id="135" name="Google Shape;13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4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Estratégias de Abertura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4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afirmações abaixo representam boas práticas para os primeiros minutos de uma apresentação?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4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4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Iniciar pedindo desculpas por estar despreparado ou ansioso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4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4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uma pergunta instigante ou história curta para prender a atenção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4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4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Ler todos os detalhes do primeiro slide sem olhar para a plateia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4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4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imediatamente o objetivo e o valor prático da fala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5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Estratégias de Abertura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15"/>
          <p:cNvSpPr/>
          <p:nvPr/>
        </p:nvSpPr>
        <p:spPr>
          <a:xfrm>
            <a:off x="285750" y="685800"/>
            <a:ext cx="8572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Quais das afirmações abaixo representam boas práticas para os primeiros minutos de uma apresentação? (Mais de uma está correta)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5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15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Iniciar pedindo desculpas por estar despreparado ou ansioso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15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15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Usar uma pergunta instigante ou história curta para prender a atenção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15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15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Ler todos os detalhes do primeiro slide sem olhar para a plateia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imediatamente o objetivo e o valor prático da fala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8721090" y="23774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Encadeamento Lógico de Tópicos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4a585ab7ecb40b83942cb2e3ada7c826.png" id="175" name="Google Shape;17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76" name="Google Shape;176;p16"/>
          <p:cNvSpPr/>
          <p:nvPr/>
        </p:nvSpPr>
        <p:spPr>
          <a:xfrm>
            <a:off x="274320" y="2834640"/>
            <a:ext cx="28117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Problema e Solução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Exponha o desafio enfrentado antes de revelar sua proposta central.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231b614dbdc567c17ca1d7ce508fe5d7.png" id="177" name="Google Shape;177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16611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78" name="Google Shape;178;p16"/>
          <p:cNvSpPr/>
          <p:nvPr/>
        </p:nvSpPr>
        <p:spPr>
          <a:xfrm>
            <a:off x="3166110" y="2834640"/>
            <a:ext cx="28117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Causa e Efeito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Demonstre com clareza como certas escolhas geram consequências específicas.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57953c408891bd2fa93499701275d0a1.png" id="179" name="Google Shape;179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330" y="925830"/>
            <a:ext cx="2811780" cy="1851660"/>
          </a:xfrm>
          <a:prstGeom prst="roundRect">
            <a:avLst>
              <a:gd fmla="val 7407" name="adj"/>
            </a:avLst>
          </a:prstGeom>
          <a:noFill/>
          <a:ln>
            <a:noFill/>
          </a:ln>
        </p:spPr>
      </p:pic>
      <p:sp>
        <p:nvSpPr>
          <p:cNvPr id="180" name="Google Shape;180;p16"/>
          <p:cNvSpPr/>
          <p:nvPr/>
        </p:nvSpPr>
        <p:spPr>
          <a:xfrm>
            <a:off x="6069330" y="2834640"/>
            <a:ext cx="28117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Cronológico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Apresente fatos em ordem temporal: passado, diagnóstico atual e futuro.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7"/>
          <p:cNvSpPr/>
          <p:nvPr/>
        </p:nvSpPr>
        <p:spPr>
          <a:xfrm>
            <a:off x="274320" y="94869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Frases de Transição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7"/>
          <p:cNvSpPr/>
          <p:nvPr/>
        </p:nvSpPr>
        <p:spPr>
          <a:xfrm>
            <a:off x="274320" y="1783080"/>
            <a:ext cx="4846320" cy="23202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As frases de transição funcionam como sinalizações em uma estrada: avisam que o tópico anterior acabou e o próximo começou.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'Entendido o problema, vejamos como isso impacta nosso dia...'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'Isso nos leva diretamente ao segundo ponto...'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b6d6d63c1427f5261e5ec1635c21894c.png" id="188" name="Google Shape;188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8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Regra dos Três Tópicos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4ca9f32451bf0823c5cada9a455369c0.png" id="195" name="Google Shape;19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6230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6" name="Google Shape;196;p18"/>
          <p:cNvSpPr/>
          <p:nvPr/>
        </p:nvSpPr>
        <p:spPr>
          <a:xfrm>
            <a:off x="274320" y="379476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Primeiro Pilar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Contexto essencial ou diagnóstico do cenário.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dd42b9e1e9122b7a26a764f7dfd29c55.png" id="197" name="Google Shape;197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515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198" name="Google Shape;198;p18"/>
          <p:cNvSpPr/>
          <p:nvPr/>
        </p:nvSpPr>
        <p:spPr>
          <a:xfrm>
            <a:off x="3200400" y="3223260"/>
            <a:ext cx="2743200" cy="13373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Segundo Pilar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Evidência analítica, argumento prático ou teste.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d8c8555df454aa20ced09b3a345897ca.png" id="199" name="Google Shape;199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62306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200" name="Google Shape;200;p18"/>
          <p:cNvSpPr/>
          <p:nvPr/>
        </p:nvSpPr>
        <p:spPr>
          <a:xfrm>
            <a:off x="6126480" y="3794760"/>
            <a:ext cx="27432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Terceiro Pilar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Proposta transformadora ou encaminhamento prático.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Ritmo de Fala (Pacing)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9075b4b138e8955907de65cacba42e16.png" id="207" name="Google Shape;20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1017270"/>
            <a:ext cx="4800600" cy="27432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208" name="Google Shape;208;p19"/>
          <p:cNvSpPr/>
          <p:nvPr/>
        </p:nvSpPr>
        <p:spPr>
          <a:xfrm>
            <a:off x="274320" y="394335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pacing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é a alternância consciente entre momentos de aceleração enérgica e pausas reflexivas.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0"/>
          <p:cNvSpPr/>
          <p:nvPr/>
        </p:nvSpPr>
        <p:spPr>
          <a:xfrm>
            <a:off x="274320" y="182880"/>
            <a:ext cx="411480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do Silêncio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0"/>
          <p:cNvSpPr/>
          <p:nvPr/>
        </p:nvSpPr>
        <p:spPr>
          <a:xfrm>
            <a:off x="274320" y="971550"/>
            <a:ext cx="4114800" cy="10515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Oradores inexperientes temem o silêncio e o preenchem com vícios de linguagem: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'né'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'tipo assim'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'ééé'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0"/>
          <p:cNvSpPr/>
          <p:nvPr/>
        </p:nvSpPr>
        <p:spPr>
          <a:xfrm>
            <a:off x="274320" y="2205990"/>
            <a:ext cx="4114800" cy="1920240"/>
          </a:xfrm>
          <a:prstGeom prst="roundRect">
            <a:avLst>
              <a:gd fmla="val 4762" name="adj"/>
            </a:avLst>
          </a:prstGeom>
          <a:solidFill>
            <a:srgbClr val="E6F1FB"/>
          </a:solidFill>
          <a:ln cap="flat" cmpd="sng" w="11425">
            <a:solidFill>
              <a:srgbClr val="0B2F50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0"/>
          <p:cNvSpPr/>
          <p:nvPr/>
        </p:nvSpPr>
        <p:spPr>
          <a:xfrm>
            <a:off x="400050" y="233172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📌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20"/>
          <p:cNvSpPr/>
          <p:nvPr/>
        </p:nvSpPr>
        <p:spPr>
          <a:xfrm>
            <a:off x="811530" y="2331720"/>
            <a:ext cx="3451860" cy="166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B2F50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Dica Prática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B2F50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B2F50"/>
                </a:solidFill>
                <a:latin typeface="Lexend"/>
                <a:ea typeface="Lexend"/>
                <a:cs typeface="Lexend"/>
                <a:sym typeface="Lexend"/>
              </a:rPr>
              <a:t>Uma pausa de dois segundos após uma afirmação importante permite que a mente dos ouvintes processe o dado.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62f4a427460d02ba75299f421a160168.png" id="219" name="Google Shape;21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Linha do Tempo da Gestão do Tempo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1"/>
          <p:cNvSpPr/>
          <p:nvPr/>
        </p:nvSpPr>
        <p:spPr>
          <a:xfrm>
            <a:off x="457200" y="2926080"/>
            <a:ext cx="8229600" cy="2286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21"/>
          <p:cNvSpPr/>
          <p:nvPr/>
        </p:nvSpPr>
        <p:spPr>
          <a:xfrm>
            <a:off x="16687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21"/>
          <p:cNvSpPr/>
          <p:nvPr/>
        </p:nvSpPr>
        <p:spPr>
          <a:xfrm>
            <a:off x="44119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9" name="Google Shape;229;p21"/>
          <p:cNvSpPr/>
          <p:nvPr/>
        </p:nvSpPr>
        <p:spPr>
          <a:xfrm>
            <a:off x="7155180" y="2777490"/>
            <a:ext cx="320040" cy="320040"/>
          </a:xfrm>
          <a:prstGeom prst="ellipse">
            <a:avLst/>
          </a:prstGeom>
          <a:solidFill>
            <a:srgbClr val="FFFFFF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1"/>
          <p:cNvSpPr/>
          <p:nvPr/>
        </p:nvSpPr>
        <p:spPr>
          <a:xfrm>
            <a:off x="685800" y="317754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15% do Tempo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Abertura, conexão e tese central.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21"/>
          <p:cNvSpPr/>
          <p:nvPr/>
        </p:nvSpPr>
        <p:spPr>
          <a:xfrm>
            <a:off x="3429000" y="1600200"/>
            <a:ext cx="22860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70% do Tempo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Desenvolvimento analítico e exemplos.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172200" y="3177540"/>
            <a:ext cx="228600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15% do Tempo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Conclusão memorável e dúvidas.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Ritmo e Fala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2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22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 Tática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22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Vício de Fala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22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Gancho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22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Silêncio breve empregado para dar ênfase a uma ideia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22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Elemento inicial concebido para capturar a atenção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2"/>
          <p:cNvSpPr/>
          <p:nvPr/>
        </p:nvSpPr>
        <p:spPr>
          <a:xfrm>
            <a:off x="3829050" y="31432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intencional do ritmo e velocidade verbal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22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involuntária repetida para preencher o silêncio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3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Conceitos de Ritmo e Fala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23"/>
          <p:cNvSpPr/>
          <p:nvPr/>
        </p:nvSpPr>
        <p:spPr>
          <a:xfrm>
            <a:off x="285750" y="742950"/>
            <a:ext cx="8572500" cy="3796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Relacione as palavras com as definições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5" name="Google Shape;255;p23"/>
          <p:cNvSpPr/>
          <p:nvPr/>
        </p:nvSpPr>
        <p:spPr>
          <a:xfrm>
            <a:off x="285750" y="13144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Pausa Tática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23"/>
          <p:cNvSpPr/>
          <p:nvPr/>
        </p:nvSpPr>
        <p:spPr>
          <a:xfrm>
            <a:off x="285750" y="22288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Vício de Fala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23"/>
          <p:cNvSpPr/>
          <p:nvPr/>
        </p:nvSpPr>
        <p:spPr>
          <a:xfrm>
            <a:off x="285750" y="31432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Pacing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23"/>
          <p:cNvSpPr/>
          <p:nvPr/>
        </p:nvSpPr>
        <p:spPr>
          <a:xfrm>
            <a:off x="285750" y="4057650"/>
            <a:ext cx="2286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Gancho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9" name="Google Shape;259;p23"/>
          <p:cNvSpPr/>
          <p:nvPr/>
        </p:nvSpPr>
        <p:spPr>
          <a:xfrm>
            <a:off x="3829050" y="13144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Silêncio breve empregado para dar ênfase a uma ideia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23"/>
          <p:cNvSpPr/>
          <p:nvPr/>
        </p:nvSpPr>
        <p:spPr>
          <a:xfrm>
            <a:off x="3829050" y="22288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Elemento inicial concebido para capturar a atenção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23"/>
          <p:cNvSpPr/>
          <p:nvPr/>
        </p:nvSpPr>
        <p:spPr>
          <a:xfrm>
            <a:off x="3829050" y="3143250"/>
            <a:ext cx="5143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Controle intencional do ritmo e velocidade verbal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23"/>
          <p:cNvSpPr/>
          <p:nvPr/>
        </p:nvSpPr>
        <p:spPr>
          <a:xfrm>
            <a:off x="3829050" y="4057650"/>
            <a:ext cx="5143500" cy="676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Expressão involuntária repetida para preencher o silêncio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23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64" name="Google Shape;264;p23"/>
          <p:cNvCxnSpPr/>
          <p:nvPr/>
        </p:nvCxnSpPr>
        <p:spPr>
          <a:xfrm>
            <a:off x="2571750" y="1623060"/>
            <a:ext cx="994410" cy="29718"/>
          </a:xfrm>
          <a:prstGeom prst="straightConnector1">
            <a:avLst/>
          </a:prstGeom>
          <a:noFill/>
          <a:ln cap="flat" cmpd="sng" w="28575">
            <a:solidFill>
              <a:srgbClr val="409E9E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5" name="Google Shape;265;p23"/>
          <p:cNvCxnSpPr/>
          <p:nvPr/>
        </p:nvCxnSpPr>
        <p:spPr>
          <a:xfrm>
            <a:off x="2571750" y="2537460"/>
            <a:ext cx="994410" cy="1858518"/>
          </a:xfrm>
          <a:prstGeom prst="straightConnector1">
            <a:avLst/>
          </a:prstGeom>
          <a:noFill/>
          <a:ln cap="flat" cmpd="sng" w="28575">
            <a:solidFill>
              <a:srgbClr val="D90368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6" name="Google Shape;266;p23"/>
          <p:cNvCxnSpPr/>
          <p:nvPr/>
        </p:nvCxnSpPr>
        <p:spPr>
          <a:xfrm flipH="1" rot="10800000">
            <a:off x="2571750" y="3358134"/>
            <a:ext cx="994410" cy="93726"/>
          </a:xfrm>
          <a:prstGeom prst="straightConnector1">
            <a:avLst/>
          </a:prstGeom>
          <a:noFill/>
          <a:ln cap="flat" cmpd="sng" w="28575">
            <a:solidFill>
              <a:srgbClr val="D68C45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67" name="Google Shape;267;p23"/>
          <p:cNvCxnSpPr/>
          <p:nvPr/>
        </p:nvCxnSpPr>
        <p:spPr>
          <a:xfrm flipH="1" rot="10800000">
            <a:off x="2571750" y="2567178"/>
            <a:ext cx="994410" cy="1799082"/>
          </a:xfrm>
          <a:prstGeom prst="straightConnector1">
            <a:avLst/>
          </a:prstGeom>
          <a:noFill/>
          <a:ln cap="flat" cmpd="sng" w="28575">
            <a:solidFill>
              <a:srgbClr val="4579A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68" name="Google Shape;268;p23"/>
          <p:cNvSpPr/>
          <p:nvPr/>
        </p:nvSpPr>
        <p:spPr>
          <a:xfrm>
            <a:off x="3394710" y="14813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09E9E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23"/>
          <p:cNvSpPr/>
          <p:nvPr/>
        </p:nvSpPr>
        <p:spPr>
          <a:xfrm>
            <a:off x="3394710" y="42245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90368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23"/>
          <p:cNvSpPr/>
          <p:nvPr/>
        </p:nvSpPr>
        <p:spPr>
          <a:xfrm>
            <a:off x="3394710" y="3186684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D68C45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C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23"/>
          <p:cNvSpPr/>
          <p:nvPr/>
        </p:nvSpPr>
        <p:spPr>
          <a:xfrm>
            <a:off x="3394710" y="2395728"/>
            <a:ext cx="342900" cy="342900"/>
          </a:xfrm>
          <a:prstGeom prst="roundRect">
            <a:avLst>
              <a:gd fmla="val 50000" name="adj"/>
            </a:avLst>
          </a:prstGeom>
          <a:solidFill>
            <a:srgbClr val="4579A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24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Gestão do Nervosismo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24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A ciência por trás do frio na barriga.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68042c1ff97389a9f312e2252bbfada0.png" id="279" name="Google Shape;27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p24"/>
          <p:cNvSpPr/>
          <p:nvPr/>
        </p:nvSpPr>
        <p:spPr>
          <a:xfrm>
            <a:off x="3291840" y="182880"/>
            <a:ext cx="55778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 ansiedade antes de falar em público é uma reação física normal do sistema simpático (luta ou fuga), produzindo adrenalina.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Não buscamos eliminar a energia, mas sim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canalizá-la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o corpo precisa aprender que o público é um parceiro de conversa, não uma ameaça.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25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Técnicas Fisiológicas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25"/>
          <p:cNvSpPr/>
          <p:nvPr/>
        </p:nvSpPr>
        <p:spPr>
          <a:xfrm>
            <a:off x="2743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bcd8d50d2fcab6910e34e97696b8c48e.png" id="288" name="Google Shape;288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14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5"/>
          <p:cNvSpPr/>
          <p:nvPr/>
        </p:nvSpPr>
        <p:spPr>
          <a:xfrm>
            <a:off x="10058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Respiração 4-4-4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Inspire em 4 segundos, retenha em 4 e expire em 4 para baixar os batimentos.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25"/>
          <p:cNvSpPr/>
          <p:nvPr/>
        </p:nvSpPr>
        <p:spPr>
          <a:xfrm>
            <a:off x="4617720" y="92583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9af13d3fdf2648887413f757ce020ecf.png" id="291" name="Google Shape;291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754880" y="106299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5"/>
          <p:cNvSpPr/>
          <p:nvPr/>
        </p:nvSpPr>
        <p:spPr>
          <a:xfrm>
            <a:off x="5349240" y="106299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Aterramento Físico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Mantenha os dois pés firmes no chão na largura dos ombros sem balançar.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25"/>
          <p:cNvSpPr/>
          <p:nvPr/>
        </p:nvSpPr>
        <p:spPr>
          <a:xfrm>
            <a:off x="2743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715e8c3a4d1c42d32ba7af17f1e6bac5.png" id="294" name="Google Shape;294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25"/>
          <p:cNvSpPr/>
          <p:nvPr/>
        </p:nvSpPr>
        <p:spPr>
          <a:xfrm>
            <a:off x="10058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Hidratação Estratégica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Tome pequenos goles de água em temperatura ambiente para evitar a boca seca.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25"/>
          <p:cNvSpPr/>
          <p:nvPr/>
        </p:nvSpPr>
        <p:spPr>
          <a:xfrm>
            <a:off x="4617720" y="2948940"/>
            <a:ext cx="4251960" cy="1931670"/>
          </a:xfrm>
          <a:prstGeom prst="roundRect">
            <a:avLst>
              <a:gd fmla="val 7101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B9BCB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/home/forge/chalkie-production-workers-1/releases/78214647/backend/storage/app/render-specs/0e141720-73a4-408e-8771-93a12a98deb3/img_161308b9c9f35140089b84d7cea7326e.png" id="297" name="Google Shape;297;p2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754880" y="3086100"/>
            <a:ext cx="548640" cy="548640"/>
          </a:xfrm>
          <a:prstGeom prst="rect">
            <a:avLst/>
          </a:prstGeom>
          <a:noFill/>
          <a:ln>
            <a:noFill/>
          </a:ln>
        </p:spPr>
      </p:pic>
      <p:sp>
        <p:nvSpPr>
          <p:cNvPr id="298" name="Google Shape;298;p25"/>
          <p:cNvSpPr/>
          <p:nvPr/>
        </p:nvSpPr>
        <p:spPr>
          <a:xfrm>
            <a:off x="5349240" y="3086100"/>
            <a:ext cx="3383280" cy="142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070"/>
              <a:buFont typeface="Lexend"/>
              <a:buNone/>
            </a:pPr>
            <a:r>
              <a:rPr b="1" i="0" lang="en-US" sz="207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Soltura Facial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530"/>
              <a:buFont typeface="Lexend"/>
              <a:buNone/>
            </a:pPr>
            <a:r>
              <a:rPr b="0" i="0" lang="en-US" sz="153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Exercite a mandíbula e relaxe os ombros antes de ser chamado ao palco.</a:t>
            </a:r>
            <a:endParaRPr b="0" i="0" sz="20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p26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Reenquadramento Cognitivo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26"/>
          <p:cNvSpPr/>
          <p:nvPr/>
        </p:nvSpPr>
        <p:spPr>
          <a:xfrm>
            <a:off x="274320" y="1405890"/>
            <a:ext cx="411480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Mudar a forma de enxergar a situação altera a química do cérebro.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26"/>
          <p:cNvSpPr/>
          <p:nvPr/>
        </p:nvSpPr>
        <p:spPr>
          <a:xfrm>
            <a:off x="274320" y="2354580"/>
            <a:ext cx="45720" cy="1920240"/>
          </a:xfrm>
          <a:prstGeom prst="rect">
            <a:avLst/>
          </a:prstGeom>
          <a:solidFill>
            <a:srgbClr val="040F0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6"/>
          <p:cNvSpPr/>
          <p:nvPr/>
        </p:nvSpPr>
        <p:spPr>
          <a:xfrm>
            <a:off x="548640" y="2354580"/>
            <a:ext cx="3840480" cy="1920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0" spcFirstLastPara="1" rIns="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“O nervosismo e o entusiasmo provocam a mesma reação biológica: a diferença está em como você rotula a experiência.”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Princípio de Reavaliação Cognitiva em Oratória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b7a16d8f2f2ca1df90f242eb59d893f5.png" id="308" name="Google Shape;308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7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Papel do Roteiro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f14cf2324f96916aa1b4a9b976d641e8.png" id="315" name="Google Shape;315;p2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16" name="Google Shape;316;p27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Erro do Texto Corrido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Ler frases inteiras corta o contato visual e torna a fala monótona e mecânica.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be0c5825db8dd2b1b478a308601a6961.png" id="317" name="Google Shape;317;p2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18" name="Google Shape;318;p27"/>
          <p:cNvSpPr/>
          <p:nvPr/>
        </p:nvSpPr>
        <p:spPr>
          <a:xfrm>
            <a:off x="466344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Poder dos Bullet Points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Palavras-chave ativam a memória e permitem que você fale com suas próprias palavras.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28"/>
          <p:cNvSpPr/>
          <p:nvPr/>
        </p:nvSpPr>
        <p:spPr>
          <a:xfrm>
            <a:off x="274320" y="1062990"/>
            <a:ext cx="484632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Apoio Visual Eficaz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28"/>
          <p:cNvSpPr/>
          <p:nvPr/>
        </p:nvSpPr>
        <p:spPr>
          <a:xfrm>
            <a:off x="274320" y="1897380"/>
            <a:ext cx="4846320" cy="20916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Os slides servem para o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público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compreender gráficos ou relações, não como muleta de leitura para o orador.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Pouco texto em cada lâmina.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Imagens com propósito pedagógico direto.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6666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Destaque para apenas um dado por tela.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91f8c7668b7373bfa096bcbb076bad2f.png" id="326" name="Google Shape;326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86400" y="0"/>
            <a:ext cx="36576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29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 de Roteiro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29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roteiro eficiente para apresentação oral deve conter a transcrição exata de cada palavra que será dita em voz alta.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29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29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29"/>
          <p:cNvSpPr/>
          <p:nvPr/>
        </p:nvSpPr>
        <p:spPr>
          <a:xfrm>
            <a:off x="2571750" y="3714750"/>
            <a:ext cx="571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🤔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Prepare-se para explicar o seu raciocínio.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Avaliação de Roteiro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0"/>
          <p:cNvSpPr/>
          <p:nvPr/>
        </p:nvSpPr>
        <p:spPr>
          <a:xfrm>
            <a:off x="822960" y="1143000"/>
            <a:ext cx="7372350" cy="1143000"/>
          </a:xfrm>
          <a:prstGeom prst="roundRect">
            <a:avLst>
              <a:gd fmla="val 10000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  <a:effectLst>
            <a:outerShdw rotWithShape="0" algn="bl" dir="2700000" dist="129286">
              <a:srgbClr val="000000"/>
            </a:outerShdw>
          </a:effectLst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Um roteiro eficiente para apresentação oral deve conter a transcrição exata de cada palavra que será dita em voz alta.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0"/>
          <p:cNvSpPr/>
          <p:nvPr/>
        </p:nvSpPr>
        <p:spPr>
          <a:xfrm>
            <a:off x="2571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👍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VERDADEIRO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0"/>
          <p:cNvSpPr/>
          <p:nvPr/>
        </p:nvSpPr>
        <p:spPr>
          <a:xfrm>
            <a:off x="4857750" y="2628900"/>
            <a:ext cx="1714500" cy="800100"/>
          </a:xfrm>
          <a:prstGeom prst="roundRect">
            <a:avLst>
              <a:gd fmla="val 17143" name="adj"/>
            </a:avLst>
          </a:prstGeom>
          <a:solidFill>
            <a:srgbClr val="FFFFFF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340"/>
              <a:buFont typeface="Lexend"/>
              <a:buNone/>
            </a:pPr>
            <a:r>
              <a:rPr b="0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👎 </a:t>
            </a:r>
            <a:r>
              <a:rPr b="1" i="0" lang="en-US" sz="23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FALSO</a:t>
            </a:r>
            <a:endParaRPr b="0" i="0" sz="23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0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0"/>
          <p:cNvSpPr/>
          <p:nvPr/>
        </p:nvSpPr>
        <p:spPr>
          <a:xfrm>
            <a:off x="457200" y="3657600"/>
            <a:ext cx="8229600" cy="1028700"/>
          </a:xfrm>
          <a:prstGeom prst="roundRect">
            <a:avLst>
              <a:gd fmla="val 8889" name="adj"/>
            </a:avLst>
          </a:prstGeom>
          <a:solidFill>
            <a:srgbClr val="FAEFDA"/>
          </a:solidFill>
          <a:ln cap="flat" cmpd="sng" w="11425">
            <a:solidFill>
              <a:srgbClr val="573B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125725" lIns="125725" spcFirstLastPara="1" rIns="125725" wrap="square" tIns="12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73B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🔑 Por que é isso?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630"/>
              </a:spcBef>
              <a:spcAft>
                <a:spcPts val="0"/>
              </a:spcAft>
              <a:buClr>
                <a:srgbClr val="573B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573B06"/>
                </a:solidFill>
                <a:latin typeface="Lexend"/>
                <a:ea typeface="Lexend"/>
                <a:cs typeface="Lexend"/>
                <a:sym typeface="Lexend"/>
              </a:rPr>
              <a:t>A leitura literal trava a espontaneidade, quebra o contato visual e dificulta a recuperação caso o orador se perca.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0"/>
          <p:cNvSpPr/>
          <p:nvPr/>
        </p:nvSpPr>
        <p:spPr>
          <a:xfrm>
            <a:off x="6435090" y="24917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31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Fechamento Memorável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d03657dce76ba663cee9a7ec7169db0a.png" id="355" name="Google Shape;355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744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6" name="Google Shape;356;p31"/>
          <p:cNvSpPr/>
          <p:nvPr/>
        </p:nvSpPr>
        <p:spPr>
          <a:xfrm>
            <a:off x="182880" y="32461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7" name="Google Shape;357;p31"/>
          <p:cNvSpPr/>
          <p:nvPr/>
        </p:nvSpPr>
        <p:spPr>
          <a:xfrm>
            <a:off x="274320" y="3771900"/>
            <a:ext cx="274320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Retomar a Tese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Relembre a mensagem central sem repetir detalhes.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041b9e1a86475d04c25b7ac3b3ffdb62.png" id="358" name="Google Shape;358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200400" y="10744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59" name="Google Shape;359;p31"/>
          <p:cNvSpPr/>
          <p:nvPr/>
        </p:nvSpPr>
        <p:spPr>
          <a:xfrm>
            <a:off x="3108960" y="32461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3200400" y="3771900"/>
            <a:ext cx="2743200" cy="7886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Conectar ao Início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Feche o ciclo do tema inicial.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cf9d655757eb93160f6bc1c20a06711d.png" id="361" name="Google Shape;361;p3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126480" y="1074420"/>
            <a:ext cx="274320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62" name="Google Shape;362;p31"/>
          <p:cNvSpPr/>
          <p:nvPr/>
        </p:nvSpPr>
        <p:spPr>
          <a:xfrm>
            <a:off x="6035040" y="3246120"/>
            <a:ext cx="292608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3" name="Google Shape;363;p31"/>
          <p:cNvSpPr/>
          <p:nvPr/>
        </p:nvSpPr>
        <p:spPr>
          <a:xfrm>
            <a:off x="6126480" y="3771900"/>
            <a:ext cx="2743200" cy="10401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800"/>
              <a:buFont typeface="Lexend"/>
              <a:buNone/>
            </a:pPr>
            <a:r>
              <a:rPr b="1" i="0" lang="en-US" sz="18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Chamada à Ação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Indique o próximo passo ou reflexão prática.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32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Erros no Encerramento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2"/>
          <p:cNvSpPr/>
          <p:nvPr/>
        </p:nvSpPr>
        <p:spPr>
          <a:xfrm>
            <a:off x="274320" y="1405890"/>
            <a:ext cx="411480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final é a última impressão gravada na memória de curto prazo do ouvinte.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2"/>
          <p:cNvSpPr/>
          <p:nvPr/>
        </p:nvSpPr>
        <p:spPr>
          <a:xfrm>
            <a:off x="274320" y="2354580"/>
            <a:ext cx="4114800" cy="1920240"/>
          </a:xfrm>
          <a:prstGeom prst="roundRect">
            <a:avLst>
              <a:gd fmla="val 4762" name="adj"/>
            </a:avLst>
          </a:prstGeom>
          <a:solidFill>
            <a:srgbClr val="FCEBEB"/>
          </a:solidFill>
          <a:ln cap="flat" cmpd="sng" w="11425">
            <a:solidFill>
              <a:srgbClr val="460606">
                <a:alpha val="20000"/>
              </a:srgbClr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32"/>
          <p:cNvSpPr/>
          <p:nvPr/>
        </p:nvSpPr>
        <p:spPr>
          <a:xfrm>
            <a:off x="400050" y="2480310"/>
            <a:ext cx="32004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2160"/>
              <a:buFont typeface="Lexend"/>
              <a:buNone/>
            </a:pPr>
            <a:r>
              <a:rPr b="0" i="0" lang="en-US" sz="216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⚠️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2"/>
          <p:cNvSpPr/>
          <p:nvPr/>
        </p:nvSpPr>
        <p:spPr>
          <a:xfrm>
            <a:off x="811530" y="2480310"/>
            <a:ext cx="3451860" cy="16687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460606"/>
              </a:buClr>
              <a:buSzPts val="1440"/>
              <a:buFont typeface="Lexend"/>
              <a:buNone/>
            </a:pPr>
            <a:r>
              <a:rPr b="1" i="0" lang="en-US" sz="144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Evite Terminar Assim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460606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Dizer simplesmente </a:t>
            </a:r>
            <a:r>
              <a:rPr b="0" i="1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'É só isso, acabou'</a:t>
            </a:r>
            <a:r>
              <a:rPr b="0" i="0" lang="en-US" sz="1620" u="none" cap="none" strike="noStrike">
                <a:solidFill>
                  <a:srgbClr val="460606"/>
                </a:solidFill>
                <a:latin typeface="Lexend"/>
                <a:ea typeface="Lexend"/>
                <a:cs typeface="Lexend"/>
                <a:sym typeface="Lexend"/>
              </a:rPr>
              <a:t> desperdiça a oportunidade de deixar um impacto duradouro.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f832809d9b8fffd90bfa2fac915e66e0.png" id="374" name="Google Shape;374;p3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3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Análise de Grandes Discursos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0ab377c67db1df846096ccc40d53a477.png" id="381" name="Google Shape;381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82" name="Google Shape;382;p33"/>
          <p:cNvSpPr/>
          <p:nvPr/>
        </p:nvSpPr>
        <p:spPr>
          <a:xfrm>
            <a:off x="274320" y="3188970"/>
            <a:ext cx="4206240" cy="1497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Martin Luther King Jr.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Em </a:t>
            </a:r>
            <a:r>
              <a:rPr b="0" i="1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'I Have a Dream'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, utilizou repetição rítmica (anáfora) para consolidar sua visão.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d5096e98d177b1a1c5d1d394909f8a04.png" id="383" name="Google Shape;383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663440" y="1017270"/>
            <a:ext cx="4206240" cy="2057400"/>
          </a:xfrm>
          <a:prstGeom prst="roundRect">
            <a:avLst>
              <a:gd fmla="val 6667" name="adj"/>
            </a:avLst>
          </a:prstGeom>
          <a:noFill/>
          <a:ln>
            <a:noFill/>
          </a:ln>
        </p:spPr>
      </p:pic>
      <p:sp>
        <p:nvSpPr>
          <p:cNvPr id="384" name="Google Shape;384;p33"/>
          <p:cNvSpPr/>
          <p:nvPr/>
        </p:nvSpPr>
        <p:spPr>
          <a:xfrm>
            <a:off x="4663440" y="3188970"/>
            <a:ext cx="4206240" cy="12115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160"/>
              <a:buFont typeface="Lexend"/>
              <a:buNone/>
            </a:pPr>
            <a:r>
              <a:rPr b="1" i="0" lang="en-US" sz="216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Steve Jobs (Stanford 2005)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81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Estruturou seu discurso em exatamente três histórias pessoais encadeadas.</a:t>
            </a:r>
            <a:endParaRPr b="0" i="0" sz="2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4"/>
          <p:cNvSpPr/>
          <p:nvPr/>
        </p:nvSpPr>
        <p:spPr>
          <a:xfrm>
            <a:off x="2011680" y="182880"/>
            <a:ext cx="513207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Princípio da Persuasão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25483c6590c1e9ffebafda89c0edf7ec.png" id="391" name="Google Shape;391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171700" y="1017270"/>
            <a:ext cx="4800600" cy="2743200"/>
          </a:xfrm>
          <a:prstGeom prst="roundRect">
            <a:avLst>
              <a:gd fmla="val 5000" name="adj"/>
            </a:avLst>
          </a:prstGeom>
          <a:noFill/>
          <a:ln>
            <a:noFill/>
          </a:ln>
        </p:spPr>
      </p:pic>
      <p:sp>
        <p:nvSpPr>
          <p:cNvPr id="392" name="Google Shape;392;p34"/>
          <p:cNvSpPr/>
          <p:nvPr/>
        </p:nvSpPr>
        <p:spPr>
          <a:xfrm>
            <a:off x="274320" y="3943350"/>
            <a:ext cx="85953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Aristóteles definiu que a persuasão exige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Ethos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(credibilidade),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Logos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(lógica e dados) e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Pathos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 (conexão emocional).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p35"/>
          <p:cNvSpPr/>
          <p:nvPr/>
        </p:nvSpPr>
        <p:spPr>
          <a:xfrm>
            <a:off x="274320" y="182880"/>
            <a:ext cx="27432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Tríade Retórica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5"/>
          <p:cNvSpPr/>
          <p:nvPr/>
        </p:nvSpPr>
        <p:spPr>
          <a:xfrm>
            <a:off x="274320" y="1360170"/>
            <a:ext cx="2743200" cy="67437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545C5C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545C5C"/>
                </a:solidFill>
                <a:latin typeface="Lexend"/>
                <a:ea typeface="Lexend"/>
                <a:cs typeface="Lexend"/>
                <a:sym typeface="Lexend"/>
              </a:rPr>
              <a:t>Equilíbrio essencial entre argumentos e credibilidade.</a:t>
            </a:r>
            <a:endParaRPr b="0" i="0" sz="144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f68bbfaccfdec5700b9c13af527420da.png" id="400" name="Google Shape;400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2125980"/>
            <a:ext cx="228600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3291840" y="182880"/>
            <a:ext cx="557784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Discursos que usam apenas números (Logos) podem soar frios; apresentações baseadas apenas em emoção (Pathos) perdem sustentação.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equilíbrio entre os três elementos constrói apresentações maduras e persuasivas no ambiente acadêmico e profissional.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6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Passo a Passo do Planejamento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1e9d956c298d50c4153f30c1b5a93a7c.png" id="408" name="Google Shape;408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7432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09" name="Google Shape;409;p36"/>
          <p:cNvSpPr/>
          <p:nvPr/>
        </p:nvSpPr>
        <p:spPr>
          <a:xfrm>
            <a:off x="18288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0" name="Google Shape;410;p36"/>
          <p:cNvSpPr/>
          <p:nvPr/>
        </p:nvSpPr>
        <p:spPr>
          <a:xfrm>
            <a:off x="27432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 Objetivo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Defina a mensagem central em uma única frase clara.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1fd44accb10ecc905e971897b10d4fe9.png" id="411" name="Google Shape;411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888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2" name="Google Shape;412;p36"/>
          <p:cNvSpPr/>
          <p:nvPr/>
        </p:nvSpPr>
        <p:spPr>
          <a:xfrm>
            <a:off x="237744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3" name="Google Shape;413;p36"/>
          <p:cNvSpPr/>
          <p:nvPr/>
        </p:nvSpPr>
        <p:spPr>
          <a:xfrm>
            <a:off x="246888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 Público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Identifique o conhecimento prévio dos ouvintes.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e65ac6a51f9fdfd181a203d4b5dfa6b3.png" id="414" name="Google Shape;414;p3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66344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5" name="Google Shape;415;p36"/>
          <p:cNvSpPr/>
          <p:nvPr/>
        </p:nvSpPr>
        <p:spPr>
          <a:xfrm>
            <a:off x="457200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6" name="Google Shape;416;p36"/>
          <p:cNvSpPr/>
          <p:nvPr/>
        </p:nvSpPr>
        <p:spPr>
          <a:xfrm>
            <a:off x="466344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 Tópicos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Selecione até três argumentos de sustentação.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68a0819299cc7344929905dff2c7189b.png" id="417" name="Google Shape;417;p3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858000" y="925830"/>
            <a:ext cx="2011680" cy="2057400"/>
          </a:xfrm>
          <a:prstGeom prst="roundRect">
            <a:avLst>
              <a:gd fmla="val 6818" name="adj"/>
            </a:avLst>
          </a:prstGeom>
          <a:noFill/>
          <a:ln>
            <a:noFill/>
          </a:ln>
        </p:spPr>
      </p:pic>
      <p:sp>
        <p:nvSpPr>
          <p:cNvPr id="418" name="Google Shape;418;p36"/>
          <p:cNvSpPr/>
          <p:nvPr/>
        </p:nvSpPr>
        <p:spPr>
          <a:xfrm>
            <a:off x="6766560" y="3097530"/>
            <a:ext cx="2194560" cy="400050"/>
          </a:xfrm>
          <a:prstGeom prst="chevron">
            <a:avLst>
              <a:gd fmla="val 50000" name="adj"/>
            </a:avLst>
          </a:prstGeom>
          <a:solidFill>
            <a:srgbClr val="F0F1F1"/>
          </a:solidFill>
          <a:ln cap="flat" cmpd="sng" w="22850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6"/>
          <p:cNvSpPr/>
          <p:nvPr/>
        </p:nvSpPr>
        <p:spPr>
          <a:xfrm>
            <a:off x="6858000" y="3589020"/>
            <a:ext cx="2011680" cy="1325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979"/>
              <a:buFont typeface="Lexend"/>
              <a:buNone/>
            </a:pPr>
            <a:r>
              <a:rPr b="1" i="0" lang="en-US" sz="19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 Ensaio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630"/>
              </a:spcBef>
              <a:spcAft>
                <a:spcPts val="0"/>
              </a:spcAft>
              <a:buClr>
                <a:srgbClr val="040F0F"/>
              </a:buClr>
              <a:buSzPts val="1440"/>
              <a:buFont typeface="Lexend"/>
              <a:buNone/>
            </a:pPr>
            <a:r>
              <a:rPr b="0" i="0" lang="en-US" sz="144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Cronometre a fala em voz alta pelo menos duas vezes.</a:t>
            </a:r>
            <a:endParaRPr b="0" i="0" sz="19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7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 Discurso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6" name="Google Shape;426;p37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canônicas da montagem e entrega de uma apresentação eficaz: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7" name="Google Shape;427;p37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Ensaiar em voz alta cronometrando o tempo de fala e pausas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8" name="Google Shape;428;p37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o roteiro em tópicos e sintetizar apoios visuais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9" name="Google Shape;429;p37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objetivo central e analisar o perfil do público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37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Criar um gancho de abertura e delimitar até três pontos essenciais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38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Ordem do Discurso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7" name="Google Shape;437;p38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Ordene as etapas canônicas da montagem e entrega de uma apresentação eficaz: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38"/>
          <p:cNvSpPr/>
          <p:nvPr/>
        </p:nvSpPr>
        <p:spPr>
          <a:xfrm>
            <a:off x="1714500" y="38862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Ensaiar em voz alta cronometrando o tempo de fala e pausas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9" name="Google Shape;439;p38"/>
          <p:cNvSpPr/>
          <p:nvPr/>
        </p:nvSpPr>
        <p:spPr>
          <a:xfrm>
            <a:off x="1714500" y="31432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Estruturar o roteiro em tópicos e sintetizar apoios visuais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38"/>
          <p:cNvSpPr/>
          <p:nvPr/>
        </p:nvSpPr>
        <p:spPr>
          <a:xfrm>
            <a:off x="1714500" y="165735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Definir objetivo central e analisar o perfil do público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1" name="Google Shape;441;p38"/>
          <p:cNvSpPr/>
          <p:nvPr/>
        </p:nvSpPr>
        <p:spPr>
          <a:xfrm>
            <a:off x="1714500" y="2400300"/>
            <a:ext cx="5715000" cy="617220"/>
          </a:xfrm>
          <a:prstGeom prst="roundRect">
            <a:avLst>
              <a:gd fmla="val 18519" name="adj"/>
            </a:avLst>
          </a:prstGeom>
          <a:solidFill>
            <a:srgbClr val="F4F9FC"/>
          </a:solidFill>
          <a:ln cap="flat" cmpd="sng" w="3427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000" lIns="80000" spcFirstLastPara="1" rIns="80000" wrap="square" tIns="80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Criar um gancho de abertura e delimitar até três pontos essenciais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38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3" name="Google Shape;443;p38"/>
          <p:cNvSpPr/>
          <p:nvPr/>
        </p:nvSpPr>
        <p:spPr>
          <a:xfrm>
            <a:off x="7292340" y="15201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8"/>
          <p:cNvSpPr/>
          <p:nvPr/>
        </p:nvSpPr>
        <p:spPr>
          <a:xfrm>
            <a:off x="7292340" y="22631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5" name="Google Shape;445;p38"/>
          <p:cNvSpPr/>
          <p:nvPr/>
        </p:nvSpPr>
        <p:spPr>
          <a:xfrm>
            <a:off x="7292340" y="300609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6" name="Google Shape;446;p38"/>
          <p:cNvSpPr/>
          <p:nvPr/>
        </p:nvSpPr>
        <p:spPr>
          <a:xfrm>
            <a:off x="7292340" y="37490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000000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4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39"/>
          <p:cNvSpPr/>
          <p:nvPr/>
        </p:nvSpPr>
        <p:spPr>
          <a:xfrm>
            <a:off x="274320" y="182880"/>
            <a:ext cx="8595360" cy="6515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Checklist do Orador Confiante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39"/>
          <p:cNvSpPr/>
          <p:nvPr/>
        </p:nvSpPr>
        <p:spPr>
          <a:xfrm>
            <a:off x="274320" y="1451610"/>
            <a:ext cx="8595360" cy="685800"/>
          </a:xfrm>
          <a:prstGeom prst="roundRect">
            <a:avLst>
              <a:gd fmla="val 20000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39"/>
          <p:cNvSpPr/>
          <p:nvPr/>
        </p:nvSpPr>
        <p:spPr>
          <a:xfrm>
            <a:off x="468630" y="156591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1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5" name="Google Shape;455;p39"/>
          <p:cNvSpPr/>
          <p:nvPr/>
        </p:nvSpPr>
        <p:spPr>
          <a:xfrm>
            <a:off x="1108710" y="1554480"/>
            <a:ext cx="7566660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Tenho um gancho inicial claro e ensaiado para os primeiros 30 segundos.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6" name="Google Shape;456;p39"/>
          <p:cNvSpPr/>
          <p:nvPr/>
        </p:nvSpPr>
        <p:spPr>
          <a:xfrm>
            <a:off x="274320" y="232029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7" name="Google Shape;457;p39"/>
          <p:cNvSpPr/>
          <p:nvPr/>
        </p:nvSpPr>
        <p:spPr>
          <a:xfrm>
            <a:off x="468630" y="257175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2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39"/>
          <p:cNvSpPr/>
          <p:nvPr/>
        </p:nvSpPr>
        <p:spPr>
          <a:xfrm>
            <a:off x="1108710" y="242316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Meus tópicos estão em tópicos resumidos (bullet points), sem textos longos nos slides.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9" name="Google Shape;459;p39"/>
          <p:cNvSpPr/>
          <p:nvPr/>
        </p:nvSpPr>
        <p:spPr>
          <a:xfrm>
            <a:off x="274320" y="3474720"/>
            <a:ext cx="8595360" cy="971550"/>
          </a:xfrm>
          <a:prstGeom prst="roundRect">
            <a:avLst>
              <a:gd fmla="val 14118" name="adj"/>
            </a:avLst>
          </a:prstGeom>
          <a:solidFill>
            <a:srgbClr val="FFFFFF">
              <a:alpha val="40000"/>
            </a:srgbClr>
          </a:solidFill>
          <a:ln cap="flat" cmpd="sng" w="11425">
            <a:solidFill>
              <a:srgbClr val="040F0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0" name="Google Shape;460;p39"/>
          <p:cNvSpPr/>
          <p:nvPr/>
        </p:nvSpPr>
        <p:spPr>
          <a:xfrm>
            <a:off x="468630" y="3726180"/>
            <a:ext cx="457200" cy="457200"/>
          </a:xfrm>
          <a:prstGeom prst="roundRect">
            <a:avLst>
              <a:gd fmla="val 50000" name="adj"/>
            </a:avLst>
          </a:prstGeom>
          <a:solidFill>
            <a:srgbClr val="040F0F"/>
          </a:solidFill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83333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20"/>
              <a:buFont typeface="Lexend"/>
              <a:buNone/>
            </a:pPr>
            <a:r>
              <a:rPr b="1" i="0" lang="en-US" sz="162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3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1" name="Google Shape;461;p39"/>
          <p:cNvSpPr/>
          <p:nvPr/>
        </p:nvSpPr>
        <p:spPr>
          <a:xfrm>
            <a:off x="1108710" y="3577590"/>
            <a:ext cx="7566660" cy="7658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Meu encerramento reafirma a mensagem principal com uma chamada à ação explícita.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/home/forge/chalkie-production-workers-1/releases/78214647/backend/storage/app/render-specs/0e141720-73a4-408e-8771-93a12a98deb3/img_1198f6ede5e2216c51986e3c51e1178b.png" id="467" name="Google Shape;467;p4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26280" y="765810"/>
            <a:ext cx="4457700" cy="4800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/home/forge/chalkie-production-workers-1/releases/78214647/backend/storage/app/render-specs/0e141720-73a4-408e-8771-93a12a98deb3/img_483c31ccaf5c232d8d65e33e75251887.png" id="468" name="Google Shape;468;p4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063490" y="1897380"/>
            <a:ext cx="3314700" cy="2400300"/>
          </a:xfrm>
          <a:prstGeom prst="rect">
            <a:avLst/>
          </a:prstGeom>
          <a:noFill/>
          <a:ln>
            <a:noFill/>
          </a:ln>
        </p:spPr>
      </p:pic>
      <p:sp>
        <p:nvSpPr>
          <p:cNvPr id="469" name="Google Shape;469;p40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Prática: Roteiro de 2 Minutos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0"/>
          <p:cNvSpPr/>
          <p:nvPr/>
        </p:nvSpPr>
        <p:spPr>
          <a:xfrm>
            <a:off x="285750" y="925830"/>
            <a:ext cx="4263390" cy="389763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Você já sentiu que, em uma reunião, ninguém estava ouvindo?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Escuta ativa reduz erros e evita retrabalho.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00000"/>
              </a:lnSpc>
              <a:spcBef>
                <a:spcPts val="45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Char char="•"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Ouvir com atenção fortalece a confiança.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585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Saber ouvir é vital para liderar e crescer.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Como ser um ouvinte melhor hoje?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O que você vai precisar: 🎨 🖌️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Folha de anotações ou bloco digital, cronômetro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41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Final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7" name="Google Shape;477;p41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do roteiro durante a apresentação oral em público?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1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1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ao público todas as frases completas que o orador vai pronunciar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41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1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Substituir completamente a necessidade de ensaios prévios antes da fala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2" name="Google Shape;482;p41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1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Permitir a leitura palavra por palavra garantindo que nada saia do previsto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1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5" name="Google Shape;485;p41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Servir como guia de apoio visual e de tópicos para orientar a fala espontânea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2"/>
          <p:cNvSpPr/>
          <p:nvPr/>
        </p:nvSpPr>
        <p:spPr>
          <a:xfrm>
            <a:off x="285750" y="171450"/>
            <a:ext cx="8572500" cy="6446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Checagem Final de Conceitos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2"/>
          <p:cNvSpPr/>
          <p:nvPr/>
        </p:nvSpPr>
        <p:spPr>
          <a:xfrm>
            <a:off x="285750" y="685800"/>
            <a:ext cx="8572500" cy="4297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Qual é a principal função do roteiro durante a apresentação oral em público?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2"/>
          <p:cNvSpPr/>
          <p:nvPr/>
        </p:nvSpPr>
        <p:spPr>
          <a:xfrm>
            <a:off x="285750" y="16573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1.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42"/>
          <p:cNvSpPr/>
          <p:nvPr/>
        </p:nvSpPr>
        <p:spPr>
          <a:xfrm>
            <a:off x="857250" y="16573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ao público todas as frases completas que o orador vai pronunciar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5" name="Google Shape;495;p42"/>
          <p:cNvSpPr/>
          <p:nvPr/>
        </p:nvSpPr>
        <p:spPr>
          <a:xfrm>
            <a:off x="285750" y="25146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2.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2"/>
          <p:cNvSpPr/>
          <p:nvPr/>
        </p:nvSpPr>
        <p:spPr>
          <a:xfrm>
            <a:off x="857250" y="25146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Substituir completamente a necessidade de ensaios prévios antes da fala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7" name="Google Shape;497;p42"/>
          <p:cNvSpPr/>
          <p:nvPr/>
        </p:nvSpPr>
        <p:spPr>
          <a:xfrm>
            <a:off x="285750" y="337185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3.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42"/>
          <p:cNvSpPr/>
          <p:nvPr/>
        </p:nvSpPr>
        <p:spPr>
          <a:xfrm>
            <a:off x="857250" y="337185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Permitir a leitura palavra por palavra garantindo que nada saia do previsto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9" name="Google Shape;499;p42"/>
          <p:cNvSpPr/>
          <p:nvPr/>
        </p:nvSpPr>
        <p:spPr>
          <a:xfrm>
            <a:off x="285750" y="4229100"/>
            <a:ext cx="52578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520"/>
              <a:buFont typeface="Lexend"/>
              <a:buNone/>
            </a:pPr>
            <a:r>
              <a:rPr b="1" i="0" lang="en-US" sz="25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4.</a:t>
            </a:r>
            <a:endParaRPr b="0" i="0" sz="25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2"/>
          <p:cNvSpPr/>
          <p:nvPr/>
        </p:nvSpPr>
        <p:spPr>
          <a:xfrm>
            <a:off x="857250" y="4229100"/>
            <a:ext cx="8001000" cy="685800"/>
          </a:xfrm>
          <a:prstGeom prst="roundRect">
            <a:avLst>
              <a:gd fmla="val 16667" name="adj"/>
            </a:avLst>
          </a:prstGeom>
          <a:solidFill>
            <a:srgbClr val="F4F9FC"/>
          </a:solidFill>
          <a:ln cap="flat" cmpd="sng" w="45700">
            <a:solidFill>
              <a:srgbClr val="2C6E4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02850" lIns="102850" spcFirstLastPara="1" rIns="102850" wrap="square" tIns="1028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Servir como guia de apoio visual e de tópicos para orientar a fala espontânea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Google Shape;501;p42"/>
          <p:cNvSpPr/>
          <p:nvPr/>
        </p:nvSpPr>
        <p:spPr>
          <a:xfrm>
            <a:off x="8366760" y="3429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3600"/>
              <a:buFont typeface="Lexend"/>
              <a:buNone/>
            </a:pPr>
            <a:r>
              <a:rPr b="0" i="0" lang="en-US" sz="360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✅</a:t>
            </a:r>
            <a:endParaRPr b="0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42"/>
          <p:cNvSpPr/>
          <p:nvPr/>
        </p:nvSpPr>
        <p:spPr>
          <a:xfrm>
            <a:off x="8721090" y="4091940"/>
            <a:ext cx="274320" cy="274320"/>
          </a:xfrm>
          <a:prstGeom prst="roundRect">
            <a:avLst>
              <a:gd fmla="val 25000" name="adj"/>
            </a:avLst>
          </a:prstGeom>
          <a:solidFill>
            <a:srgbClr val="2C6E49"/>
          </a:solidFill>
          <a:ln>
            <a:noFill/>
          </a:ln>
        </p:spPr>
        <p:txBody>
          <a:bodyPr anchorCtr="0" anchor="ctr" bIns="45700" lIns="45700" spcFirstLastPara="1" rIns="45700" wrap="square" tIns="45700">
            <a:noAutofit/>
          </a:bodyPr>
          <a:lstStyle/>
          <a:p>
            <a:pPr indent="0" lvl="0" marL="0" marR="0" rtl="0" algn="ctr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70"/>
              <a:buFont typeface="Lexend"/>
              <a:buNone/>
            </a:pPr>
            <a:r>
              <a:rPr b="1" i="0" lang="en-US" sz="1170" u="none" cap="none" strike="noStrike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✓</a:t>
            </a:r>
            <a:endParaRPr b="0" i="0" sz="117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p43"/>
          <p:cNvSpPr/>
          <p:nvPr/>
        </p:nvSpPr>
        <p:spPr>
          <a:xfrm>
            <a:off x="274320" y="182880"/>
            <a:ext cx="4114800" cy="10858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2880"/>
              <a:buFont typeface="Lexend"/>
              <a:buNone/>
            </a:pPr>
            <a:r>
              <a:rPr b="1" i="0" lang="en-US" sz="288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Síntese e Próximos Passos</a:t>
            </a:r>
            <a:endParaRPr b="0" i="0" sz="288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3"/>
          <p:cNvSpPr/>
          <p:nvPr/>
        </p:nvSpPr>
        <p:spPr>
          <a:xfrm>
            <a:off x="274320" y="1405890"/>
            <a:ext cx="4114800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45700" spcFirstLastPara="1" rIns="45700" wrap="square" tIns="45700">
            <a:noAutofit/>
          </a:bodyPr>
          <a:lstStyle/>
          <a:p>
            <a:pPr indent="0" lvl="0" marL="0" marR="0" rtl="0" algn="l">
              <a:lnSpc>
                <a:spcPct val="116666"/>
              </a:lnSpc>
              <a:spcBef>
                <a:spcPts val="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Apresentar bem é uma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competência treinável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. A estrutura sólida liberta sua mente para focar na conexão com as pessoas.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16666"/>
              </a:lnSpc>
              <a:spcBef>
                <a:spcPts val="720"/>
              </a:spcBef>
              <a:spcAft>
                <a:spcPts val="0"/>
              </a:spcAft>
              <a:buClr>
                <a:srgbClr val="040F0F"/>
              </a:buClr>
              <a:buSzPts val="1620"/>
              <a:buFont typeface="Lexend"/>
              <a:buNone/>
            </a:pP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Na próxima aula, entraremos a fundo em </a:t>
            </a:r>
            <a:r>
              <a:rPr b="1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Técnicas de Oratória</a:t>
            </a:r>
            <a:r>
              <a:rPr b="0" i="0" lang="en-US" sz="1620" u="none" cap="none" strike="noStrike">
                <a:solidFill>
                  <a:srgbClr val="040F0F"/>
                </a:solidFill>
                <a:latin typeface="Lexend"/>
                <a:ea typeface="Lexend"/>
                <a:cs typeface="Lexend"/>
                <a:sym typeface="Lexend"/>
              </a:rPr>
              <a:t>: modulação de tom de voz, pausas expressivas e postura física.</a:t>
            </a:r>
            <a:endParaRPr b="0" i="0" sz="162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/home/forge/chalkie-production-workers-1/releases/78214647/backend/storage/app/render-specs/0e141720-73a4-408e-8771-93a12a98deb3/img_016c52d8e1e702006cd245b8066b183f.png" id="510" name="Google Shape;510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54880" y="182880"/>
            <a:ext cx="4114800" cy="3611880"/>
          </a:xfrm>
          <a:prstGeom prst="roundRect">
            <a:avLst>
              <a:gd fmla="val 3797" name="adj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