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y="5143500" cx="9144000"/>
  <p:notesSz cx="5143500" cy="9144000"/>
  <p:embeddedFontLst>
    <p:embeddedFont>
      <p:font typeface="Lexend"/>
      <p:regular r:id="rId46"/>
      <p:bold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font" Target="fonts/Lexend-regular.fntdata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47" Type="http://schemas.openxmlformats.org/officeDocument/2006/relationships/font" Target="fonts/Lexend-bold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19.png"/><Relationship Id="rId7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12.png"/><Relationship Id="rId5" Type="http://schemas.openxmlformats.org/officeDocument/2006/relationships/image" Target="../media/image18.png"/><Relationship Id="rId6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image" Target="../media/image4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Relationship Id="rId4" Type="http://schemas.openxmlformats.org/officeDocument/2006/relationships/image" Target="../media/image36.png"/><Relationship Id="rId5" Type="http://schemas.openxmlformats.org/officeDocument/2006/relationships/image" Target="../media/image44.png"/><Relationship Id="rId6" Type="http://schemas.openxmlformats.org/officeDocument/2006/relationships/image" Target="../media/image27.png"/><Relationship Id="rId7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3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Relationship Id="rId4" Type="http://schemas.openxmlformats.org/officeDocument/2006/relationships/image" Target="../media/image39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Relationship Id="rId4" Type="http://schemas.openxmlformats.org/officeDocument/2006/relationships/image" Target="../media/image4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Relationship Id="rId4" Type="http://schemas.openxmlformats.org/officeDocument/2006/relationships/image" Target="../media/image40.png"/><Relationship Id="rId5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jpg"/><Relationship Id="rId4" Type="http://schemas.openxmlformats.org/officeDocument/2006/relationships/image" Target="../media/image5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jpg"/><Relationship Id="rId4" Type="http://schemas.openxmlformats.org/officeDocument/2006/relationships/image" Target="../media/image61.png"/><Relationship Id="rId5" Type="http://schemas.openxmlformats.org/officeDocument/2006/relationships/image" Target="../media/image50.png"/><Relationship Id="rId6" Type="http://schemas.openxmlformats.org/officeDocument/2006/relationships/image" Target="../media/image5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jpg"/><Relationship Id="rId4" Type="http://schemas.openxmlformats.org/officeDocument/2006/relationships/image" Target="../media/image5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jpg"/><Relationship Id="rId4" Type="http://schemas.openxmlformats.org/officeDocument/2006/relationships/image" Target="../media/image6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jpg"/><Relationship Id="rId4" Type="http://schemas.openxmlformats.org/officeDocument/2006/relationships/image" Target="../media/image5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jpg"/><Relationship Id="rId4" Type="http://schemas.openxmlformats.org/officeDocument/2006/relationships/image" Target="../media/image67.png"/><Relationship Id="rId5" Type="http://schemas.openxmlformats.org/officeDocument/2006/relationships/image" Target="../media/image80.png"/><Relationship Id="rId6" Type="http://schemas.openxmlformats.org/officeDocument/2006/relationships/image" Target="../media/image6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jpg"/><Relationship Id="rId4" Type="http://schemas.openxmlformats.org/officeDocument/2006/relationships/image" Target="../media/image6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jpg"/><Relationship Id="rId4" Type="http://schemas.openxmlformats.org/officeDocument/2006/relationships/image" Target="../media/image68.png"/><Relationship Id="rId5" Type="http://schemas.openxmlformats.org/officeDocument/2006/relationships/image" Target="../media/image78.png"/><Relationship Id="rId6" Type="http://schemas.openxmlformats.org/officeDocument/2006/relationships/image" Target="../media/image83.png"/><Relationship Id="rId7" Type="http://schemas.openxmlformats.org/officeDocument/2006/relationships/image" Target="../media/image7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jpg"/><Relationship Id="rId4" Type="http://schemas.openxmlformats.org/officeDocument/2006/relationships/image" Target="../media/image74.png"/><Relationship Id="rId5" Type="http://schemas.openxmlformats.org/officeDocument/2006/relationships/image" Target="../media/image79.png"/><Relationship Id="rId6" Type="http://schemas.openxmlformats.org/officeDocument/2006/relationships/image" Target="../media/image73.png"/><Relationship Id="rId7" Type="http://schemas.openxmlformats.org/officeDocument/2006/relationships/image" Target="../media/image6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jpg"/><Relationship Id="rId4" Type="http://schemas.openxmlformats.org/officeDocument/2006/relationships/image" Target="../media/image8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jpg"/><Relationship Id="rId4" Type="http://schemas.openxmlformats.org/officeDocument/2006/relationships/image" Target="../media/image8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jpg"/><Relationship Id="rId4" Type="http://schemas.openxmlformats.org/officeDocument/2006/relationships/image" Target="../media/image86.png"/><Relationship Id="rId5" Type="http://schemas.openxmlformats.org/officeDocument/2006/relationships/image" Target="../media/image92.png"/><Relationship Id="rId6" Type="http://schemas.openxmlformats.org/officeDocument/2006/relationships/image" Target="../media/image9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.jpg"/><Relationship Id="rId4" Type="http://schemas.openxmlformats.org/officeDocument/2006/relationships/image" Target="../media/image75.png"/><Relationship Id="rId5" Type="http://schemas.openxmlformats.org/officeDocument/2006/relationships/image" Target="../media/image9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.jpg"/><Relationship Id="rId4" Type="http://schemas.openxmlformats.org/officeDocument/2006/relationships/image" Target="../media/image7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.jpg"/><Relationship Id="rId4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274320" y="274320"/>
            <a:ext cx="4023360" cy="4594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240"/>
              <a:buFont typeface="Lexend"/>
              <a:buNone/>
            </a:pPr>
            <a:r>
              <a:rPr b="1" i="0" lang="en-US" sz="32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Plataformas Digitais de Comunicação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545C5C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Conectando equipes com eficiência, agilidade e clareza no trabalho.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031fd7a6a7af4a6c02668a1fa7a6c6f2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74320"/>
            <a:ext cx="4297680" cy="4594860"/>
          </a:xfrm>
          <a:prstGeom prst="roundRect">
            <a:avLst>
              <a:gd fmla="val 319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274320" y="582930"/>
            <a:ext cx="493776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Uma mensagem urgente ou ruído excessivo?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274320" y="1851660"/>
            <a:ext cx="493776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Imagine receber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47 notificações simultâneas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em cinco aplicativos diferentes enquanto tenta terminar uma tarefa essencial da escola ou do trabalho.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 plataformas digitais facilitaram o contato diário, mas será que sabemos quando usar cada aplicativo sem gerar caos e perda de foco?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82b24663ac37aff8a3babb9ef4439a6d.png" id="25" name="Google Shape;2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Objetivos de Aprendizagem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1108710" y="14058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Diferenciar comunicação síncrona e assíncrona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identificando o canal ideal para cada contexto operacional.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Dominar o uso profissional de chats corporativos, e-mails e plataformas de tarefas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para maximizar a produtividade.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1108710" y="37147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Aplicar boas práticas de etiqueta digital e compartilhamento seguro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de documentos colaborativos em nuvem.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Vocabulário Essencial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9a81f2b7ccfd3c8691a0febb87761e84.png" id="47" name="Google Shape;4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40589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48" name="Google Shape;48;p6"/>
          <p:cNvSpPr/>
          <p:nvPr/>
        </p:nvSpPr>
        <p:spPr>
          <a:xfrm>
            <a:off x="274320" y="364617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Plataforma: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Ambiente digital integrado para gestão e mensagens.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da1ce1e8ac190b68f100cb9673ef0ea5.png" id="49" name="Google Shape;4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>
            <a:off x="2468880" y="3166110"/>
            <a:ext cx="201168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Síncrono: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Comunicação em tempo real, exigindo presença simultânea dos participantes.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701bf99d9b66f1c60e42d75db41dfc2d.png" id="51" name="Google Shape;5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140589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2" name="Google Shape;52;p6"/>
          <p:cNvSpPr/>
          <p:nvPr/>
        </p:nvSpPr>
        <p:spPr>
          <a:xfrm>
            <a:off x="4663440" y="3474720"/>
            <a:ext cx="201168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Assíncrono: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Troca de mensagens sem necessidade de resposta imediata ou simultaneidade.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34119d1dd3783567be08a5dde06100d4.png" id="53" name="Google Shape;5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4" name="Google Shape;54;p6"/>
          <p:cNvSpPr/>
          <p:nvPr/>
        </p:nvSpPr>
        <p:spPr>
          <a:xfrm>
            <a:off x="6858000" y="3166110"/>
            <a:ext cx="201168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Ferramenta: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Aplicativo específico que executa funções operacionais e facilita fluxos.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01795897-466f-4ae2-924f-63aac10dc5e5/img_d57c2efc6898ac3f56ec278c5232d532.png" id="60" name="Google Shape;6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7"/>
          <p:cNvSpPr/>
          <p:nvPr/>
        </p:nvSpPr>
        <p:spPr>
          <a:xfrm>
            <a:off x="251460" y="2423160"/>
            <a:ext cx="864108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Recapitulação: Procedimentos e Manuais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251460" y="3086100"/>
            <a:ext cx="86410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aula anterior, aprendemos a redigir manuais e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Procedimentos Operacionais Padrão (POP)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 Documentos operacionais exigem clareza absoluta, sequência cronológica rigorosa e eliminação total de termos ambíguos.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domínio de verbos instrucionais (no infinitivo ou imperativo) garante que qualquer colaborador execute as rotinas com exatidão técnica, uma habilidade vital ao migrarmos para ferramentas de gestão digital.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Quiz: Verbos e Sequência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formulação apresenta a melhor redação técnica para um passo de manual de procedimentos?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Configurações são legais, tente salvar se você puder.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Clique em Salvar e reinicie o aplicativo para aplicar as novas configurações.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deveria talvez clicar no botão azul que salva tudo.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8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Acho bom reiniciar o app antes de qualquer coisa acontecer.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Quiz: Verbos e Sequência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9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formulação apresenta a melhor redação técnica para um passo de manual de procedimentos?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9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Configurações são legais, tente salvar se você puder.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9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9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Clique em Salvar e reinicie o aplicativo para aplicar as novas configurações.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deveria talvez clicar no botão azul que salva tudo.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Acho bom reiniciar o app antes de qualquer coisa acontecer.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9"/>
          <p:cNvSpPr/>
          <p:nvPr/>
        </p:nvSpPr>
        <p:spPr>
          <a:xfrm>
            <a:off x="8721090" y="23774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/>
          <p:nvPr/>
        </p:nvSpPr>
        <p:spPr>
          <a:xfrm>
            <a:off x="274320" y="182880"/>
            <a:ext cx="470916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Transformação Digital no Trabalho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0"/>
          <p:cNvSpPr/>
          <p:nvPr/>
        </p:nvSpPr>
        <p:spPr>
          <a:xfrm>
            <a:off x="274320" y="1451610"/>
            <a:ext cx="4709160" cy="3360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Da folha impressa à nuvem instantânea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evolução tecnológica redefiniu tanto os escritórios modernos quanto os ambientes acadêmicos. Relatórios físicos e memorandos impressos deram lugar a ecossistemas interconectados.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Hoje, equipes distribuídas geograficamente trabalham no mesmo documento simultaneamente, exigindo agilidade e novo rigor redacional.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4b8ac5b408188b34e32ee282dd583b70.png" id="102" name="Google Shape;10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6360" y="182880"/>
            <a:ext cx="3703320" cy="3246120"/>
          </a:xfrm>
          <a:prstGeom prst="roundRect">
            <a:avLst>
              <a:gd fmla="val 422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Panorama das Ferramentas Principais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88677b614265eb97b25ed1efcffaeb99.png" id="109" name="Google Shape;10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110" name="Google Shape;110;p11"/>
          <p:cNvSpPr/>
          <p:nvPr/>
        </p:nvSpPr>
        <p:spPr>
          <a:xfrm>
            <a:off x="274320" y="2834640"/>
            <a:ext cx="28117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Chat Interno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Alinhamentos rápidos, trocas dinâmicas em equipe e avisos operacionais do dia a dia.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24f48c1febb359966c04d12e6fcb4306.png" id="111" name="Google Shape;11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112" name="Google Shape;112;p11"/>
          <p:cNvSpPr/>
          <p:nvPr/>
        </p:nvSpPr>
        <p:spPr>
          <a:xfrm>
            <a:off x="3166110" y="2834640"/>
            <a:ext cx="2811780" cy="1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E-mail Corporativo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Registros oficiais, comunicações formais externas e arquivos que demandam histórico auditável.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6947a920eb964c32ac3906dccc324483.png" id="113" name="Google Shape;11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114" name="Google Shape;114;p11"/>
          <p:cNvSpPr/>
          <p:nvPr/>
        </p:nvSpPr>
        <p:spPr>
          <a:xfrm>
            <a:off x="6069330" y="2834640"/>
            <a:ext cx="2811780" cy="157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Videoconferência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Reuniões estratégicas, debates complexos, sessões de ideação e apresentações interativas.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/>
          <p:nvPr/>
        </p:nvSpPr>
        <p:spPr>
          <a:xfrm>
            <a:off x="274320" y="182880"/>
            <a:ext cx="274320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Comunicação Síncrona vs Assíncrona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2"/>
          <p:cNvSpPr/>
          <p:nvPr/>
        </p:nvSpPr>
        <p:spPr>
          <a:xfrm>
            <a:off x="274320" y="1805940"/>
            <a:ext cx="2743200" cy="674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O fator tempo na entrega da mensagem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d1f1cc905ecbd32d430585055e535aa8.png" id="122" name="Google Shape;12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57175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2"/>
          <p:cNvSpPr/>
          <p:nvPr/>
        </p:nvSpPr>
        <p:spPr>
          <a:xfrm>
            <a:off x="3291840" y="182880"/>
            <a:ext cx="196596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CONCEITO CENTRAL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2"/>
          <p:cNvSpPr/>
          <p:nvPr/>
        </p:nvSpPr>
        <p:spPr>
          <a:xfrm>
            <a:off x="3291840" y="628650"/>
            <a:ext cx="5577840" cy="3406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Tempo real versus autonomia de resposta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comunicação síncrona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emissor e receptor interagem no mesmo instante (como em ligações ou reuniões por vídeo). Há resposta imediata e espontaneidade.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comunicação assíncrona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o receptor lê e responde quando oportuno (como no e-mail ou comentários em tarefas). Isso garante reflexão e trabalho contínuo sem pausas forçadas.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Critérios de Escolha do Canal Ideal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d81f74682331130b3cdf4606dbcdfb71.png" id="131" name="Google Shape;13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017270"/>
            <a:ext cx="8595360" cy="3086100"/>
          </a:xfrm>
          <a:prstGeom prst="roundRect">
            <a:avLst>
              <a:gd fmla="val 4444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Vantagens do Fluxo Assíncrono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2743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01795897-466f-4ae2-924f-63aac10dc5e5/img_22c84ac30061ed32035ede0fa1211093.png" id="139" name="Google Shape;13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4"/>
          <p:cNvSpPr/>
          <p:nvPr/>
        </p:nvSpPr>
        <p:spPr>
          <a:xfrm>
            <a:off x="1005840" y="1062990"/>
            <a:ext cx="33832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Foco e Concentração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Permite períodos ininterruptos de trabalho profundo sem alertas sonoros constantes.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/>
          <p:nvPr/>
        </p:nvSpPr>
        <p:spPr>
          <a:xfrm>
            <a:off x="46177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01795897-466f-4ae2-924f-63aac10dc5e5/img_8538dabda1bf00922fbaea9f09e201be.png" id="142" name="Google Shape;14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4"/>
          <p:cNvSpPr/>
          <p:nvPr/>
        </p:nvSpPr>
        <p:spPr>
          <a:xfrm>
            <a:off x="5349240" y="1062990"/>
            <a:ext cx="33832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Registro Histórico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Decisões e orientações ficam arquivadas para consulta futura de novos membros da equipe.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2743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01795897-466f-4ae2-924f-63aac10dc5e5/img_8f6d52f18eeddd672100d3672a528aae.png" id="145" name="Google Shape;14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480" y="30861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4"/>
          <p:cNvSpPr/>
          <p:nvPr/>
        </p:nvSpPr>
        <p:spPr>
          <a:xfrm>
            <a:off x="1005840" y="3086100"/>
            <a:ext cx="33832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Flexibilidade de Horário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Facilita a colaboração entre pessoas que possuem turnos ou rotinas de estudo distintas.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/>
          <p:nvPr/>
        </p:nvSpPr>
        <p:spPr>
          <a:xfrm>
            <a:off x="46177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01795897-466f-4ae2-924f-63aac10dc5e5/img_1d30530491a46665622b6cccfe12f50e.png" id="148" name="Google Shape;14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4880" y="30861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4"/>
          <p:cNvSpPr/>
          <p:nvPr/>
        </p:nvSpPr>
        <p:spPr>
          <a:xfrm>
            <a:off x="5349240" y="3086100"/>
            <a:ext cx="33832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Respostas Elaboradas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Dá tempo para pesquisar dados, revisar cálculos e estruturar argumentos com calma.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Desafios da Comunicação Assíncrona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274320" y="925830"/>
            <a:ext cx="4983480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risco de ruídos e atrasos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ausência de contato imediato pode gerar </a:t>
            </a: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ansiedade por retorno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 atrasar decisões críticas se o remetente não indicar o prazo esperado.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Mensagens de texto sem contexto geram mal-entendidos de tom, parecendo secas sem intenção.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274320" y="3440430"/>
            <a:ext cx="4983480" cy="1303020"/>
          </a:xfrm>
          <a:prstGeom prst="roundRect">
            <a:avLst>
              <a:gd fmla="val 7018" name="adj"/>
            </a:avLst>
          </a:prstGeom>
          <a:solidFill>
            <a:srgbClr val="FCEBEB"/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5"/>
          <p:cNvSpPr/>
          <p:nvPr/>
        </p:nvSpPr>
        <p:spPr>
          <a:xfrm>
            <a:off x="400050" y="3566160"/>
            <a:ext cx="320040" cy="468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2070"/>
              <a:buFont typeface="Lexend"/>
              <a:buNone/>
            </a:pPr>
            <a:r>
              <a:rPr b="0" i="0" lang="en-US" sz="207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⚠️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811530" y="3566160"/>
            <a:ext cx="43205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460606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Nunca envie emergências por e-mail ou fóruns.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b44c6e149eae361bbb892a54cdbd518e.png" id="160" name="Google Shape;16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94960" y="925830"/>
            <a:ext cx="3474720" cy="3474720"/>
          </a:xfrm>
          <a:prstGeom prst="roundRect">
            <a:avLst>
              <a:gd fmla="val 394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Análise de Práticas Assíncronas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Quais das seguintes afirmativas sobre comunicação assíncrona são verdadeiras? (Mais de uma está correta)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Exige que a mensagem seja completa e autoexplicativa para evitar idas e vindas.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Permite que colaboradores pensem com calma e revisem dados antes de responder.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É o meio mais adequado para solucionar emergências graves de clientes em tempo real.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Torna obrigatória uma resposta em menos de cinco minutos em qualquer horário.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Análise de Práticas Assíncronas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Quais das seguintes afirmativas sobre comunicação assíncrona são verdadeiras? (Mais de uma está correta)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Exige que a mensagem seja completa e autoexplicativa para evitar idas e vindas.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Permite que colaboradores pensem com calma e revisem dados antes de responder.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É o meio mais adequado para solucionar emergências graves de clientes em tempo real.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Torna obrigatória uma resposta em menos de cinco minutos em qualquer horário.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872109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8721090" y="23774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Evitando a Sobrecarga Digital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a493fb62fc922e5c89c5c98d6831648e.png" id="200" name="Google Shape;20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01" name="Google Shape;201;p18"/>
          <p:cNvSpPr/>
          <p:nvPr/>
        </p:nvSpPr>
        <p:spPr>
          <a:xfrm>
            <a:off x="18288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8"/>
          <p:cNvSpPr/>
          <p:nvPr/>
        </p:nvSpPr>
        <p:spPr>
          <a:xfrm>
            <a:off x="274320" y="3623310"/>
            <a:ext cx="2743200" cy="1074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Agrupar Envios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Estruture dúvidas em um único texto completo.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d15b9e0fba9ec2695c65974ad46f2257.png" id="203" name="Google Shape;20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04" name="Google Shape;204;p18"/>
          <p:cNvSpPr/>
          <p:nvPr/>
        </p:nvSpPr>
        <p:spPr>
          <a:xfrm>
            <a:off x="310896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8"/>
          <p:cNvSpPr/>
          <p:nvPr/>
        </p:nvSpPr>
        <p:spPr>
          <a:xfrm>
            <a:off x="3200400" y="3623310"/>
            <a:ext cx="2743200" cy="1074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Filtrar Alertas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Silencie canais e fixe horários de checagem.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8b3b44752e1f170e270bead7c4ab336e.png" id="206" name="Google Shape;20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07" name="Google Shape;207;p18"/>
          <p:cNvSpPr/>
          <p:nvPr/>
        </p:nvSpPr>
        <p:spPr>
          <a:xfrm>
            <a:off x="603504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8"/>
          <p:cNvSpPr/>
          <p:nvPr/>
        </p:nvSpPr>
        <p:spPr>
          <a:xfrm>
            <a:off x="6126480" y="3543300"/>
            <a:ext cx="2743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Marcar com Rigor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Use menções gerais apenas em urgências.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Chat Interno Corporativo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274320" y="925830"/>
            <a:ext cx="5166360" cy="23088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Agilidade sem informalidade excessiva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Ferramentas como Slack e Teams organizam discussões por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canais temáticos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dedicados a cada projeto específico.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Embora o tom seja dinâmico, exige respeito profissional, correção gramatical e contexto objetivo.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274320" y="3326130"/>
            <a:ext cx="5166360" cy="971550"/>
          </a:xfrm>
          <a:prstGeom prst="roundRect">
            <a:avLst>
              <a:gd fmla="val 9412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9"/>
          <p:cNvSpPr/>
          <p:nvPr/>
        </p:nvSpPr>
        <p:spPr>
          <a:xfrm>
            <a:off x="388620" y="3440430"/>
            <a:ext cx="320040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979"/>
              <a:buFont typeface="Lexend"/>
              <a:buNone/>
            </a:pPr>
            <a:r>
              <a:rPr b="0" i="0" lang="en-US" sz="198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📌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800100" y="3440430"/>
            <a:ext cx="452628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Dica Prática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Responda em tópicos para organizar o canal.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6c4884e1bac31caef1115c096ee8ba26.png" id="219" name="Google Shape;21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7840" y="925830"/>
            <a:ext cx="3291840" cy="3291840"/>
          </a:xfrm>
          <a:prstGeom prst="roundRect">
            <a:avLst>
              <a:gd fmla="val 41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Anatomia da Mensagem Instantânea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fdc57110a08bc2cc60bcf3393e39df67.png" id="226" name="Google Shape;22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425196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27" name="Google Shape;227;p20"/>
          <p:cNvSpPr/>
          <p:nvPr/>
        </p:nvSpPr>
        <p:spPr>
          <a:xfrm>
            <a:off x="274320" y="3040380"/>
            <a:ext cx="42519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Fragmentada (Ineficaz)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"Oi" / "Tudo bem?" / "Preciso falar contigo" / "Depois me liga". Gera ansiedade e 4 notificações desnecessárias.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8d8bab86fb3d86281ec4c71af501d341.png" id="228" name="Google Shape;22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7720" y="925830"/>
            <a:ext cx="425196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29" name="Google Shape;229;p20"/>
          <p:cNvSpPr/>
          <p:nvPr/>
        </p:nvSpPr>
        <p:spPr>
          <a:xfrm>
            <a:off x="4617720" y="3040380"/>
            <a:ext cx="42519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Completa (Eficaz)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"Olá, Lucas! Você pode revisar o slide 4 do projeto até as 16h? O link está anexado aqui." Pronta para ação imediata.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1"/>
          <p:cNvSpPr/>
          <p:nvPr/>
        </p:nvSpPr>
        <p:spPr>
          <a:xfrm>
            <a:off x="274320" y="582930"/>
            <a:ext cx="484632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E-mail Corporativo: O Registro Oficial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274320" y="1851660"/>
            <a:ext cx="484632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e-mail permanece indispensável no mundo corporativo para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formalizar combinados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enviar orçamentos e arquivar decisões com valor jurídico ou institucional.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redigir, o campo de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Assunto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deve ser claro e específico (ex: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"Relatório Mensal - Equipe A - Revisão Final"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), evitando assuntos vagos como "Dúvida" ou "Urgente".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8d0faf2408888e189b85169d49bac53b.png" id="237" name="Google Shape;23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2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Correspondência de Canais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E-mail Corporativo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Chat de Equipe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Videoconferência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Quadro de Tarefas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Canal assíncrono para formalização de acordos e envio de documentos oficiais.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Espaço visual para acompanhar o status e prazos de cada atividade do projeto.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Reunião síncrona para debate aprofundado e alinhamento visual de equipes.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Canal dinâmico para dúvidas pontuais e avisos operacionais rápidos do dia.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Correspondência de Canais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E-mail Corporativo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Chat de Equipe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Videoconferência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Quadro de Tarefas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Canal assíncrono para formalização de acordos e envio de documentos oficiais.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Espaço visual para acompanhar o status e prazos de cada atividade do projeto.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Reunião síncrona para debate aprofundado e alinhamento visual de equipes.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Canal dinâmico para dúvidas pontuais e avisos operacionais rápidos do dia.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9" name="Google Shape;269;p23"/>
          <p:cNvCxnSpPr/>
          <p:nvPr/>
        </p:nvCxnSpPr>
        <p:spPr>
          <a:xfrm>
            <a:off x="2571750" y="1623060"/>
            <a:ext cx="994410" cy="29718"/>
          </a:xfrm>
          <a:prstGeom prst="straightConnector1">
            <a:avLst/>
          </a:prstGeom>
          <a:noFill/>
          <a:ln cap="flat" cmpd="sng" w="285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0" name="Google Shape;270;p23"/>
          <p:cNvCxnSpPr/>
          <p:nvPr/>
        </p:nvCxnSpPr>
        <p:spPr>
          <a:xfrm>
            <a:off x="2571750" y="2537460"/>
            <a:ext cx="994410" cy="1858518"/>
          </a:xfrm>
          <a:prstGeom prst="straightConnector1">
            <a:avLst/>
          </a:prstGeom>
          <a:noFill/>
          <a:ln cap="flat" cmpd="sng" w="285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1" name="Google Shape;271;p23"/>
          <p:cNvCxnSpPr/>
          <p:nvPr/>
        </p:nvCxnSpPr>
        <p:spPr>
          <a:xfrm>
            <a:off x="2571750" y="3451860"/>
            <a:ext cx="994410" cy="29718"/>
          </a:xfrm>
          <a:prstGeom prst="straightConnector1">
            <a:avLst/>
          </a:prstGeom>
          <a:noFill/>
          <a:ln cap="flat" cmpd="sng" w="285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2" name="Google Shape;272;p23"/>
          <p:cNvCxnSpPr/>
          <p:nvPr/>
        </p:nvCxnSpPr>
        <p:spPr>
          <a:xfrm flipH="1" rot="10800000">
            <a:off x="2571750" y="2567178"/>
            <a:ext cx="994410" cy="1799082"/>
          </a:xfrm>
          <a:prstGeom prst="straightConnector1">
            <a:avLst/>
          </a:prstGeom>
          <a:noFill/>
          <a:ln cap="flat" cmpd="sng" w="285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3" name="Google Shape;273;p23"/>
          <p:cNvSpPr/>
          <p:nvPr/>
        </p:nvSpPr>
        <p:spPr>
          <a:xfrm>
            <a:off x="3394710" y="14813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09E9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3394710" y="42245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9036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3394710" y="33101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68C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3394710" y="23957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579A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4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Videoconferências Produtivas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7ffd7bca193e761b2347f408b10eec28.png" id="283" name="Google Shape;28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84" name="Google Shape;284;p24"/>
          <p:cNvSpPr/>
          <p:nvPr/>
        </p:nvSpPr>
        <p:spPr>
          <a:xfrm>
            <a:off x="18288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4"/>
          <p:cNvSpPr/>
          <p:nvPr/>
        </p:nvSpPr>
        <p:spPr>
          <a:xfrm>
            <a:off x="274320" y="3623310"/>
            <a:ext cx="2743200" cy="1074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Pauta Prévia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Envie os tópicos antes para preparar a equipe.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6e8532dd93a7d1c46ac78e3c09224f87.png" id="286" name="Google Shape;28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87" name="Google Shape;287;p24"/>
          <p:cNvSpPr/>
          <p:nvPr/>
        </p:nvSpPr>
        <p:spPr>
          <a:xfrm>
            <a:off x="310896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4"/>
          <p:cNvSpPr/>
          <p:nvPr/>
        </p:nvSpPr>
        <p:spPr>
          <a:xfrm>
            <a:off x="3200400" y="3543300"/>
            <a:ext cx="2743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Pontualidade e Áudio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Inicie na hora e silencie o microfone.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f467c0c1c6d99f09b6b13c5d13578b5d.png" id="289" name="Google Shape;28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90" name="Google Shape;290;p24"/>
          <p:cNvSpPr/>
          <p:nvPr/>
        </p:nvSpPr>
        <p:spPr>
          <a:xfrm>
            <a:off x="603504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4"/>
          <p:cNvSpPr/>
          <p:nvPr/>
        </p:nvSpPr>
        <p:spPr>
          <a:xfrm>
            <a:off x="6126480" y="3623310"/>
            <a:ext cx="2743200" cy="1074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Registro de Ações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Documente decisões e prazos definidos.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5"/>
          <p:cNvSpPr/>
          <p:nvPr/>
        </p:nvSpPr>
        <p:spPr>
          <a:xfrm>
            <a:off x="274320" y="182880"/>
            <a:ext cx="470916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Gestão de Tarefas Integrada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5"/>
          <p:cNvSpPr/>
          <p:nvPr/>
        </p:nvSpPr>
        <p:spPr>
          <a:xfrm>
            <a:off x="274320" y="1451610"/>
            <a:ext cx="4709160" cy="28232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Visualizando fluxos no modelo Kanban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Plataformas como Trello, Asana, Jira e ClickUp organizam demandas em cartões visuais divididos em colunas: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Fazer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Andamento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Concluído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Essa centralização evita perguntas repetitivas no chat sobre o andamento das tarefas, pois qualquer colaborador pode checar prazos e responsáveis diretamente no quadro.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e9b1e2601ec39fbed7db98f30bb3d37f.png" id="299" name="Google Shape;29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6360" y="182880"/>
            <a:ext cx="3703320" cy="3246120"/>
          </a:xfrm>
          <a:prstGeom prst="roundRect">
            <a:avLst>
              <a:gd fmla="val 422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Ciclo do Cartão de Tarefa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6"/>
          <p:cNvSpPr/>
          <p:nvPr/>
        </p:nvSpPr>
        <p:spPr>
          <a:xfrm>
            <a:off x="457200" y="2834640"/>
            <a:ext cx="8229600" cy="2286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6"/>
          <p:cNvSpPr/>
          <p:nvPr/>
        </p:nvSpPr>
        <p:spPr>
          <a:xfrm>
            <a:off x="13258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6"/>
          <p:cNvSpPr/>
          <p:nvPr/>
        </p:nvSpPr>
        <p:spPr>
          <a:xfrm>
            <a:off x="33832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6"/>
          <p:cNvSpPr/>
          <p:nvPr/>
        </p:nvSpPr>
        <p:spPr>
          <a:xfrm>
            <a:off x="54406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6"/>
          <p:cNvSpPr/>
          <p:nvPr/>
        </p:nvSpPr>
        <p:spPr>
          <a:xfrm>
            <a:off x="74980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6"/>
          <p:cNvSpPr/>
          <p:nvPr/>
        </p:nvSpPr>
        <p:spPr>
          <a:xfrm>
            <a:off x="514350" y="3086100"/>
            <a:ext cx="19431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Etapa 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Criação do cartão com descrição clara e prazo.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6"/>
          <p:cNvSpPr/>
          <p:nvPr/>
        </p:nvSpPr>
        <p:spPr>
          <a:xfrm>
            <a:off x="2571750" y="937260"/>
            <a:ext cx="19431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Etapa 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Atribuição ao responsável e envio à coluna Em Produção.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6"/>
          <p:cNvSpPr/>
          <p:nvPr/>
        </p:nvSpPr>
        <p:spPr>
          <a:xfrm>
            <a:off x="4629150" y="3086100"/>
            <a:ext cx="19431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Etapa 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Revisão técnica e aprovação por pares ou líder.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6"/>
          <p:cNvSpPr/>
          <p:nvPr/>
        </p:nvSpPr>
        <p:spPr>
          <a:xfrm>
            <a:off x="6686550" y="1223010"/>
            <a:ext cx="19431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Etapa 4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Conclusão final e arquivamento no repositório.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01795897-466f-4ae2-924f-63aac10dc5e5/img_27d009a9455e7f76733287d4d3e02734.png" id="320" name="Google Shape;32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7"/>
          <p:cNvSpPr/>
          <p:nvPr/>
        </p:nvSpPr>
        <p:spPr>
          <a:xfrm>
            <a:off x="262890" y="2434590"/>
            <a:ext cx="861822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Organização e Pastas na Nuvem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7"/>
          <p:cNvSpPr/>
          <p:nvPr/>
        </p:nvSpPr>
        <p:spPr>
          <a:xfrm>
            <a:off x="262890" y="3177540"/>
            <a:ext cx="8618220" cy="16802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Trabalhar em plataformas como Google Drive, OneDrive ou Dropbox exige padronização rigorosa de pastas. Sem normas, arquivos se perdem ou são sobrescritos acidentalmente.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Pastas devem ser separadas por </a:t>
            </a: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projetos, períodos letivos ou setores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garantindo acesso rápido e controle transparente sobre quem visualiza ou edita cada pasta.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8"/>
          <p:cNvSpPr/>
          <p:nvPr/>
        </p:nvSpPr>
        <p:spPr>
          <a:xfrm>
            <a:off x="274320" y="182880"/>
            <a:ext cx="470916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Padronização de Nomenclatura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8"/>
          <p:cNvSpPr/>
          <p:nvPr/>
        </p:nvSpPr>
        <p:spPr>
          <a:xfrm>
            <a:off x="274320" y="1451610"/>
            <a:ext cx="47091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fim do "trabalho_final_v2_agora_vai"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 dos maiores problemas no ambiente profissional é nomear arquivos de forma amadora ou confusa, o que impede a busca automatizada e gera erros de versão.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Adote a fórmula padrão: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[PROJETO]_[DOCUMENTO]_[VERSAO]_[DATA]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Exemplo recomendado: PROJETO-COM_RELATORIO_V01_2026-10.pdf.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a0066e68fb304bc0de4b29b5e6a1d103.png" id="330" name="Google Shape;33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6360" y="182880"/>
            <a:ext cx="3703320" cy="3246120"/>
          </a:xfrm>
          <a:prstGeom prst="roundRect">
            <a:avLst>
              <a:gd fmla="val 422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9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Compartilhamento e Permissões Seguras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e3f80f91fa3bd4ad8160d75d6b112d65.png" id="337" name="Google Shape;33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338" name="Google Shape;338;p29"/>
          <p:cNvSpPr/>
          <p:nvPr/>
        </p:nvSpPr>
        <p:spPr>
          <a:xfrm>
            <a:off x="274320" y="2937510"/>
            <a:ext cx="28117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Leitor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Acesso apenas para leitura e download. Ideal para relatórios finalizados e manuais corporativos.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016e144d79f9abfd6d0aa7f223286ea1.png" id="339" name="Google Shape;339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340" name="Google Shape;340;p29"/>
          <p:cNvSpPr/>
          <p:nvPr/>
        </p:nvSpPr>
        <p:spPr>
          <a:xfrm>
            <a:off x="3166110" y="2937510"/>
            <a:ext cx="28117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Comentador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Pode sugerir alterações e deixar notas nas margens sem alterar diretamente o texto principal.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8a548067778f8953a5eb0c093fc60838.png" id="341" name="Google Shape;341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342" name="Google Shape;342;p29"/>
          <p:cNvSpPr/>
          <p:nvPr/>
        </p:nvSpPr>
        <p:spPr>
          <a:xfrm>
            <a:off x="6069330" y="2937510"/>
            <a:ext cx="28117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Editor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Pode modificar, excluir conteúdo e compartilhar. Deve ser restrito apenas aos autores diretos.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0"/>
          <p:cNvSpPr/>
          <p:nvPr/>
        </p:nvSpPr>
        <p:spPr>
          <a:xfrm>
            <a:off x="274320" y="182880"/>
            <a:ext cx="274320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Etiqueta nas Mensagens de Trabalho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0"/>
          <p:cNvSpPr/>
          <p:nvPr/>
        </p:nvSpPr>
        <p:spPr>
          <a:xfrm>
            <a:off x="274320" y="1805940"/>
            <a:ext cx="2743200" cy="422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Postura, pontuação e clareza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c65b898660ab89956489bda900135a1b.png" id="350" name="Google Shape;35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32029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/>
          <p:nvPr/>
        </p:nvSpPr>
        <p:spPr>
          <a:xfrm>
            <a:off x="3291840" y="182880"/>
            <a:ext cx="163449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REGRA DE OURO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0"/>
          <p:cNvSpPr/>
          <p:nvPr/>
        </p:nvSpPr>
        <p:spPr>
          <a:xfrm>
            <a:off x="3291840" y="628650"/>
            <a:ext cx="5577840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tom da voz digital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Evite escrever frases inteiras em letras MAIÚSCULAS, pois no ambiente digital isso transmite a sensação de que você está gritando com o interlocutor.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Emojis podem ser usados moderadamente em chats internos para humanizar a conversa, mas devem ser evitados em e-mails formais para clientes ou relatórios oficiais.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Verificação: Permissões de Nuvem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1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29286">
              <a:srgbClr val="000000"/>
            </a:outerShdw>
          </a:effectLst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enviar um relatório pronto para clientes externos, o link de acesso deve ser configurado como Editor para facilitar o download.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1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1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1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🤔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Prepare-se para explicar o seu raciocínio.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2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Verificação: Permissões de Nuvem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2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29286">
              <a:srgbClr val="000000"/>
            </a:outerShdw>
          </a:effectLst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enviar um relatório pronto para clientes externos, o link de acesso deve ser configurado como Editor para facilitar o download.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2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2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2"/>
          <p:cNvSpPr/>
          <p:nvPr/>
        </p:nvSpPr>
        <p:spPr>
          <a:xfrm>
            <a:off x="457200" y="3657600"/>
            <a:ext cx="8229600" cy="1028700"/>
          </a:xfrm>
          <a:prstGeom prst="roundRect">
            <a:avLst>
              <a:gd fmla="val 8889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5725" lIns="125725" spcFirstLastPara="1" rIns="125725" wrap="square" tIns="12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🔑 Por que é isso?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Clientes externos devem receber permissão de Leitor para evitar alterações acidentais ou perda do conteúdo original.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2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Fluxos de Trabalho Integrados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c830571beacc2a2548203205fbd8e3b1.png" id="381" name="Google Shape;38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382" name="Google Shape;382;p33"/>
          <p:cNvSpPr/>
          <p:nvPr/>
        </p:nvSpPr>
        <p:spPr>
          <a:xfrm>
            <a:off x="182880" y="309753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3"/>
          <p:cNvSpPr/>
          <p:nvPr/>
        </p:nvSpPr>
        <p:spPr>
          <a:xfrm>
            <a:off x="274320" y="3589020"/>
            <a:ext cx="20116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Ideação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equipe debate a proposta inicial em canal de chat.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39996c05348a33e35513c45c11e02d94.png" id="384" name="Google Shape;384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385" name="Google Shape;385;p33"/>
          <p:cNvSpPr/>
          <p:nvPr/>
        </p:nvSpPr>
        <p:spPr>
          <a:xfrm>
            <a:off x="2377440" y="309753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3"/>
          <p:cNvSpPr/>
          <p:nvPr/>
        </p:nvSpPr>
        <p:spPr>
          <a:xfrm>
            <a:off x="2468880" y="3589020"/>
            <a:ext cx="20116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Criação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Cria-se um cartão no quadro com metas e prazos.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679c413b91b2cceb167d51e838d72e4e.png" id="387" name="Google Shape;387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388" name="Google Shape;388;p33"/>
          <p:cNvSpPr/>
          <p:nvPr/>
        </p:nvSpPr>
        <p:spPr>
          <a:xfrm>
            <a:off x="4572000" y="309753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3"/>
          <p:cNvSpPr/>
          <p:nvPr/>
        </p:nvSpPr>
        <p:spPr>
          <a:xfrm>
            <a:off x="4663440" y="3589020"/>
            <a:ext cx="20116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Execução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Edição compartilhada em nuvem.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57a9819329c64fe9906df8642c2e7f88.png" id="390" name="Google Shape;390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391" name="Google Shape;391;p33"/>
          <p:cNvSpPr/>
          <p:nvPr/>
        </p:nvSpPr>
        <p:spPr>
          <a:xfrm>
            <a:off x="6766560" y="309753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3"/>
          <p:cNvSpPr/>
          <p:nvPr/>
        </p:nvSpPr>
        <p:spPr>
          <a:xfrm>
            <a:off x="6858000" y="3589020"/>
            <a:ext cx="20116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 Entrega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Envio formal por e-mail institucional e encerramento.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4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Segurança da Informação e Privacidade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4"/>
          <p:cNvSpPr/>
          <p:nvPr/>
        </p:nvSpPr>
        <p:spPr>
          <a:xfrm>
            <a:off x="2743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01795897-466f-4ae2-924f-63aac10dc5e5/img_22542d347c8be31554f5141b1de98a01.png" id="400" name="Google Shape;40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4"/>
          <p:cNvSpPr/>
          <p:nvPr/>
        </p:nvSpPr>
        <p:spPr>
          <a:xfrm>
            <a:off x="1005840" y="1062990"/>
            <a:ext cx="3383280" cy="1623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Autenticação em 2 Etapas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Proteja todas as suas contas corporativas e escolares com código no celular.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4"/>
          <p:cNvSpPr/>
          <p:nvPr/>
        </p:nvSpPr>
        <p:spPr>
          <a:xfrm>
            <a:off x="46177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01795897-466f-4ae2-924f-63aac10dc5e5/img_0d7d12ccfb46fb3336b9e61b9f186a1d.png" id="403" name="Google Shape;403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4"/>
          <p:cNvSpPr/>
          <p:nvPr/>
        </p:nvSpPr>
        <p:spPr>
          <a:xfrm>
            <a:off x="5349240" y="1062990"/>
            <a:ext cx="33832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Dados Pessoais (LGPD)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Nunca exponha CPF, senhas ou dados bancários em canais abertos ou chats de grupo.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4"/>
          <p:cNvSpPr/>
          <p:nvPr/>
        </p:nvSpPr>
        <p:spPr>
          <a:xfrm>
            <a:off x="2743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01795897-466f-4ae2-924f-63aac10dc5e5/img_e78d46259d299c4d276e9c02f02d73fb.png" id="406" name="Google Shape;406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480" y="30861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4"/>
          <p:cNvSpPr/>
          <p:nvPr/>
        </p:nvSpPr>
        <p:spPr>
          <a:xfrm>
            <a:off x="1005840" y="3086100"/>
            <a:ext cx="3383280" cy="1623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Cuidado com Links Suspeitos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Verifique sempre a origem de anexos e links recebidos por e-mail ou mensagens.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4"/>
          <p:cNvSpPr/>
          <p:nvPr/>
        </p:nvSpPr>
        <p:spPr>
          <a:xfrm>
            <a:off x="46177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01795897-466f-4ae2-924f-63aac10dc5e5/img_3791a2c7f84bf36825f49abdf494278e.png" id="409" name="Google Shape;409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4880" y="30861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4"/>
          <p:cNvSpPr/>
          <p:nvPr/>
        </p:nvSpPr>
        <p:spPr>
          <a:xfrm>
            <a:off x="5349240" y="3086100"/>
            <a:ext cx="3383280" cy="1623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Desconectar em Máquinas Públicas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usar computadores da escola ou biblioteca, encerre a sessão de todas as plataformas.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5"/>
          <p:cNvSpPr/>
          <p:nvPr/>
        </p:nvSpPr>
        <p:spPr>
          <a:xfrm>
            <a:off x="274320" y="182880"/>
            <a:ext cx="470916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Estudo de Caso: O Projeto em Crise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5"/>
          <p:cNvSpPr/>
          <p:nvPr/>
        </p:nvSpPr>
        <p:spPr>
          <a:xfrm>
            <a:off x="274320" y="1451610"/>
            <a:ext cx="4709160" cy="2777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custo da desorganização digital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Uma equipe de quatro pessoas combinou a entrega de um trabalho escolar importante. No entanto, usaram o grupo pessoal de mensagens para enviar 12 versões diferentes do mesmo arquivo sem nome padrão.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Resultado: o líder enviou para a avaliação a versão antiga e incompleta, perdendo notas por pura falha no uso das plataformas colaborativas.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4c33175e95dcb4f99e703f2149843a86.png" id="418" name="Google Shape;41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6360" y="182880"/>
            <a:ext cx="3703320" cy="3246120"/>
          </a:xfrm>
          <a:prstGeom prst="roundRect">
            <a:avLst>
              <a:gd fmla="val 422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Guia Rápido de Decisão de Canais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b48da8453644b67330bf8ca9bc27ae63.png" id="425" name="Google Shape;425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017270"/>
            <a:ext cx="8595360" cy="3086100"/>
          </a:xfrm>
          <a:prstGeom prst="roundRect">
            <a:avLst>
              <a:gd fmla="val 4444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7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Erros Digitais Comuns a Evitar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edb7d2ee296216f7212b9a77a5d1020f.png" id="432" name="Google Shape;43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433" name="Google Shape;433;p37"/>
          <p:cNvSpPr/>
          <p:nvPr/>
        </p:nvSpPr>
        <p:spPr>
          <a:xfrm>
            <a:off x="274320" y="3040380"/>
            <a:ext cx="281178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Assunto Vazio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Enviar e-mails sem assunto definido faz sua mensagem ir para o spam ou ser ignorada.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b35b05fbdfad93e850796351c90ea8be.png" id="434" name="Google Shape;434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435" name="Google Shape;435;p37"/>
          <p:cNvSpPr/>
          <p:nvPr/>
        </p:nvSpPr>
        <p:spPr>
          <a:xfrm>
            <a:off x="3166110" y="3040380"/>
            <a:ext cx="281178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Excesso de @todos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Acionar notificações gerais no chat para assuntos que competem a apenas uma pessoa.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fdf323acdbd0c118e75af2e53b645e2b.png" id="436" name="Google Shape;436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437" name="Google Shape;437;p37"/>
          <p:cNvSpPr/>
          <p:nvPr/>
        </p:nvSpPr>
        <p:spPr>
          <a:xfrm>
            <a:off x="6069330" y="3040380"/>
            <a:ext cx="281178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Links Públicos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Liberar documentos sensíveis como 'qualquer pessoa com o link pode editar'.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Síntese: Pilares da Comunicação Eficaz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8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8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8"/>
          <p:cNvSpPr/>
          <p:nvPr/>
        </p:nvSpPr>
        <p:spPr>
          <a:xfrm>
            <a:off x="1108710" y="14058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Canal Adequado: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Escolha entre síncrono ou assíncrono conforme a urgência, formalidade e complexidade.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8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38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8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Mensagem Completa: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Forneça contexto, objetivo e prazos claros para evitar trocas excessivas e improdutivas.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8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8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8"/>
          <p:cNvSpPr/>
          <p:nvPr/>
        </p:nvSpPr>
        <p:spPr>
          <a:xfrm>
            <a:off x="1108710" y="37147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Organização e Segurança: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Nomeie arquivos com padrão e configure permissões rigorosas de nuvem.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Ordem: Ciclo de Comunicação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9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Ordene as etapas corretas para resolver um problema técnico com a equipe de TI da empresa: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9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Acompanhar o status da demanda no quadro de chamados sem abrir múltiplos tópicos.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9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Testar a solução aplicada e confirmar o encerramento do chamado no sistema.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9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Identificar o problema e coletar prints de erro e evidências.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9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Registrar o chamado detalhado no canal oficial de suporte técnico.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Ordem: Ciclo de Comunicação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40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Ordene as etapas corretas para resolver um problema técnico com a equipe de TI da empresa: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40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Acompanhar o status da demanda no quadro de chamados sem abrir múltiplos tópicos.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40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Testar a solução aplicada e confirmar o encerramento do chamado no sistema.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40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Identificar o problema e coletar prints de erro e evidências.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40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Registrar o chamado detalhado no canal oficial de suporte técnico.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0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40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40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40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40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01795897-466f-4ae2-924f-63aac10dc5e5/img_88f2cf22d50efe57d124336ea25cb3a9.png" id="485" name="Google Shape;485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8214647/backend/storage/app/render-specs/01795897-466f-4ae2-924f-63aac10dc5e5/img_cf15df4a94d84a8b94c303fee8c33288.png" id="486" name="Google Shape;486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3020" y="1657350"/>
            <a:ext cx="283464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4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Cenários Operacionais Práticos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41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qual canal você conduziria cada um destes 3 cenários operacionais e por quê?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Uma queda total dos servidores da empresa com clientes reclamando.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envio do contrato revisado para a assinatura da diretoria.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Uma dúvida rápida sobre qual imagem usar no post do Instagram.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01795897-466f-4ae2-924f-63aac10dc5e5/img_88f2cf22d50efe57d124336ea25cb3a9.png" id="494" name="Google Shape;494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2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Cenários Operacionais Práticos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42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poderia ter dito...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ctr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Queda de servidores: Canal síncrono (chamada ou chat) pela urgência.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Contrato: E-mail ou plataforma de assinatura para valor legal.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Imagem do post: Chat interno ou comentário no cartão da tarefa.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4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3"/>
          <p:cNvSpPr/>
          <p:nvPr/>
        </p:nvSpPr>
        <p:spPr>
          <a:xfrm>
            <a:off x="274320" y="182880"/>
            <a:ext cx="470916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Próximos Passos: Etiqueta e Segurança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43"/>
          <p:cNvSpPr/>
          <p:nvPr/>
        </p:nvSpPr>
        <p:spPr>
          <a:xfrm>
            <a:off x="274320" y="1451610"/>
            <a:ext cx="470916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Consolidando sua presença digital profissional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Hoje você dominou os canais e ferramentas do ecossistema digital. Nas próximas aulas, aprofundaremos a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segurança de dados corporativos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 as normas de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etiqueta virtual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em reuniões e apresentações.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Lembre-se: em ambientes profissionais, comunicar-se com clareza e respeito economiza tempo, fortalece relações e constrói reputação sólida.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1795897-466f-4ae2-924f-63aac10dc5e5/img_10228e234379e9cd326bd7e05c52b11e.png" id="505" name="Google Shape;505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6360" y="182880"/>
            <a:ext cx="3703320" cy="3246120"/>
          </a:xfrm>
          <a:prstGeom prst="roundRect">
            <a:avLst>
              <a:gd fmla="val 422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