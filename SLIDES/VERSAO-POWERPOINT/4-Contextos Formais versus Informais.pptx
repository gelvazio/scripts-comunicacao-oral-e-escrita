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Lst>
  <p:sldSz cy="5143500" cx="9144000"/>
  <p:notesSz cx="5143500" cy="9144000"/>
  <p:embeddedFontLst>
    <p:embeddedFont>
      <p:font typeface="Lexend"/>
      <p:regular r:id="rId46"/>
      <p:bold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20" Type="http://schemas.openxmlformats.org/officeDocument/2006/relationships/slide" Target="slides/slide16.xml"/><Relationship Id="rId42" Type="http://schemas.openxmlformats.org/officeDocument/2006/relationships/slide" Target="slides/slide38.xml"/><Relationship Id="rId41" Type="http://schemas.openxmlformats.org/officeDocument/2006/relationships/slide" Target="slides/slide37.xml"/><Relationship Id="rId22" Type="http://schemas.openxmlformats.org/officeDocument/2006/relationships/slide" Target="slides/slide18.xml"/><Relationship Id="rId44" Type="http://schemas.openxmlformats.org/officeDocument/2006/relationships/slide" Target="slides/slide40.xml"/><Relationship Id="rId21" Type="http://schemas.openxmlformats.org/officeDocument/2006/relationships/slide" Target="slides/slide17.xml"/><Relationship Id="rId43" Type="http://schemas.openxmlformats.org/officeDocument/2006/relationships/slide" Target="slides/slide39.xml"/><Relationship Id="rId24" Type="http://schemas.openxmlformats.org/officeDocument/2006/relationships/slide" Target="slides/slide20.xml"/><Relationship Id="rId46" Type="http://schemas.openxmlformats.org/officeDocument/2006/relationships/font" Target="fonts/Lexend-regular.fntdata"/><Relationship Id="rId23" Type="http://schemas.openxmlformats.org/officeDocument/2006/relationships/slide" Target="slides/slide19.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47" Type="http://schemas.openxmlformats.org/officeDocument/2006/relationships/font" Target="fonts/Lexend-bold.fntdata"/><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 name="Shape 18"/>
        <p:cNvGrpSpPr/>
        <p:nvPr/>
      </p:nvGrpSpPr>
      <p:grpSpPr>
        <a:xfrm>
          <a:off x="0" y="0"/>
          <a:ext cx="0" cy="0"/>
          <a:chOff x="0" y="0"/>
          <a:chExt cx="0" cy="0"/>
        </a:xfrm>
      </p:grpSpPr>
      <p:sp>
        <p:nvSpPr>
          <p:cNvPr id="19" name="Google Shape;1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 name="Google Shape;2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 name="Google Shape;2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 name="Google Shape;2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 name="Google Shape;2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 name="Google Shape;4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 name="Google Shape;4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 name="Google Shape;5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 name="Google Shape;5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 name="Google Shape;6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 name="Google Shape;7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 name="Google Shape;8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 name="Google Shape;281;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2" name="Google Shape;322;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 name="Google Shape;337;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 name="Google Shape;355;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 name="Google Shape;366;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 name="Google Shape;367;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7" name="Google Shape;377;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 name="Google Shape;378;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3" name="Google Shape;393;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8" name="Google Shape;408;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9" name="Google Shape;409;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6" name="Google Shape;426;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7" name="Google Shape;427;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4" name="Google Shape;434;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5" name="Google Shape;435;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9" name="Google Shape;449;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0" name="Google Shape;450;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9" name="Google Shape;459;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7" name="Google Shape;467;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8" name="Google Shape;468;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6" name="Google Shape;476;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7" name="Google Shape;477;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image" Target="../media/image2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 Id="rId4" Type="http://schemas.openxmlformats.org/officeDocument/2006/relationships/image" Target="../media/image17.png"/><Relationship Id="rId5" Type="http://schemas.openxmlformats.org/officeDocument/2006/relationships/image" Target="../media/image11.png"/><Relationship Id="rId6" Type="http://schemas.openxmlformats.org/officeDocument/2006/relationships/image" Target="../media/image34.png"/><Relationship Id="rId7"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image" Target="../media/image2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image" Target="../media/image64.png"/><Relationship Id="rId5"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image" Target="../media/image19.png"/><Relationship Id="rId5" Type="http://schemas.openxmlformats.org/officeDocument/2006/relationships/image" Target="../media/image15.png"/><Relationship Id="rId6" Type="http://schemas.openxmlformats.org/officeDocument/2006/relationships/image" Target="../media/image14.png"/><Relationship Id="rId7"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jp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jpg"/><Relationship Id="rId4" Type="http://schemas.openxmlformats.org/officeDocument/2006/relationships/image" Target="../media/image3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jpg"/><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jpg"/><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jpg"/><Relationship Id="rId4" Type="http://schemas.openxmlformats.org/officeDocument/2006/relationships/image" Target="../media/image36.png"/><Relationship Id="rId5" Type="http://schemas.openxmlformats.org/officeDocument/2006/relationships/image" Target="../media/image3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jpg"/><Relationship Id="rId4" Type="http://schemas.openxmlformats.org/officeDocument/2006/relationships/image" Target="../media/image5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jpg"/><Relationship Id="rId4" Type="http://schemas.openxmlformats.org/officeDocument/2006/relationships/image" Target="../media/image4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jpg"/><Relationship Id="rId4" Type="http://schemas.openxmlformats.org/officeDocument/2006/relationships/image" Target="../media/image4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jpg"/><Relationship Id="rId4" Type="http://schemas.openxmlformats.org/officeDocument/2006/relationships/image" Target="../media/image4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jpg"/><Relationship Id="rId4" Type="http://schemas.openxmlformats.org/officeDocument/2006/relationships/image" Target="../media/image5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jpg"/><Relationship Id="rId4" Type="http://schemas.openxmlformats.org/officeDocument/2006/relationships/image" Target="../media/image54.png"/><Relationship Id="rId5" Type="http://schemas.openxmlformats.org/officeDocument/2006/relationships/image" Target="../media/image49.png"/><Relationship Id="rId6" Type="http://schemas.openxmlformats.org/officeDocument/2006/relationships/image" Target="../media/image6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jpg"/><Relationship Id="rId4" Type="http://schemas.openxmlformats.org/officeDocument/2006/relationships/image" Target="../media/image5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jpg"/><Relationship Id="rId4" Type="http://schemas.openxmlformats.org/officeDocument/2006/relationships/image" Target="../media/image5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jpg"/><Relationship Id="rId4" Type="http://schemas.openxmlformats.org/officeDocument/2006/relationships/image" Target="../media/image73.png"/><Relationship Id="rId5" Type="http://schemas.openxmlformats.org/officeDocument/2006/relationships/image" Target="../media/image6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jpg"/><Relationship Id="rId4" Type="http://schemas.openxmlformats.org/officeDocument/2006/relationships/image" Target="../media/image6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jpg"/><Relationship Id="rId4" Type="http://schemas.openxmlformats.org/officeDocument/2006/relationships/image" Target="../media/image7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jpg"/><Relationship Id="rId4" Type="http://schemas.openxmlformats.org/officeDocument/2006/relationships/image" Target="../media/image6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jpg"/><Relationship Id="rId4" Type="http://schemas.openxmlformats.org/officeDocument/2006/relationships/image" Target="../media/image6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jpg"/><Relationship Id="rId4" Type="http://schemas.openxmlformats.org/officeDocument/2006/relationships/image" Target="../media/image85.png"/><Relationship Id="rId5" Type="http://schemas.openxmlformats.org/officeDocument/2006/relationships/image" Target="../media/image74.png"/><Relationship Id="rId6" Type="http://schemas.openxmlformats.org/officeDocument/2006/relationships/image" Target="../media/image75.png"/><Relationship Id="rId7" Type="http://schemas.openxmlformats.org/officeDocument/2006/relationships/image" Target="../media/image8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jpg"/><Relationship Id="rId4" Type="http://schemas.openxmlformats.org/officeDocument/2006/relationships/image" Target="../media/image7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jpg"/><Relationship Id="rId4" Type="http://schemas.openxmlformats.org/officeDocument/2006/relationships/image" Target="../media/image76.png"/><Relationship Id="rId5" Type="http://schemas.openxmlformats.org/officeDocument/2006/relationships/image" Target="../media/image8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jpg"/><Relationship Id="rId4" Type="http://schemas.openxmlformats.org/officeDocument/2006/relationships/image" Target="../media/image7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jpg"/><Relationship Id="rId4" Type="http://schemas.openxmlformats.org/officeDocument/2006/relationships/image" Target="../media/image83.png"/><Relationship Id="rId5" Type="http://schemas.openxmlformats.org/officeDocument/2006/relationships/image" Target="../media/image8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jpg"/><Relationship Id="rId4" Type="http://schemas.openxmlformats.org/officeDocument/2006/relationships/image" Target="../media/image8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 name="Shape 15"/>
        <p:cNvGrpSpPr/>
        <p:nvPr/>
      </p:nvGrpSpPr>
      <p:grpSpPr>
        <a:xfrm>
          <a:off x="0" y="0"/>
          <a:ext cx="0" cy="0"/>
          <a:chOff x="0" y="0"/>
          <a:chExt cx="0" cy="0"/>
        </a:xfrm>
      </p:grpSpPr>
      <p:sp>
        <p:nvSpPr>
          <p:cNvPr id="16" name="Google Shape;16;p3"/>
          <p:cNvSpPr/>
          <p:nvPr/>
        </p:nvSpPr>
        <p:spPr>
          <a:xfrm>
            <a:off x="274320" y="274320"/>
            <a:ext cx="4023360" cy="4594860"/>
          </a:xfrm>
          <a:prstGeom prst="rect">
            <a:avLst/>
          </a:prstGeom>
          <a:no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40F0F"/>
              </a:buClr>
              <a:buSzPts val="3240"/>
              <a:buFont typeface="Lexend"/>
              <a:buNone/>
            </a:pPr>
            <a:r>
              <a:rPr b="1" i="0" lang="en-US" sz="3240" u="none" cap="none" strike="noStrike">
                <a:solidFill>
                  <a:srgbClr val="040F0F"/>
                </a:solidFill>
                <a:latin typeface="Lexend"/>
                <a:ea typeface="Lexend"/>
                <a:cs typeface="Lexend"/>
                <a:sym typeface="Lexend"/>
              </a:rPr>
              <a:t>Contextos Formais versus Informais</a:t>
            </a:r>
            <a:endParaRPr b="0" i="0" sz="3240" u="none" cap="none" strike="noStrike">
              <a:solidFill>
                <a:schemeClr val="dk1"/>
              </a:solidFill>
              <a:latin typeface="Calibri"/>
              <a:ea typeface="Calibri"/>
              <a:cs typeface="Calibri"/>
              <a:sym typeface="Calibri"/>
            </a:endParaRPr>
          </a:p>
          <a:p>
            <a:pPr indent="0" lvl="0" marL="0" marR="0" rtl="0" algn="l">
              <a:lnSpc>
                <a:spcPct val="116666"/>
              </a:lnSpc>
              <a:spcBef>
                <a:spcPts val="810"/>
              </a:spcBef>
              <a:spcAft>
                <a:spcPts val="0"/>
              </a:spcAft>
              <a:buClr>
                <a:srgbClr val="545C5C"/>
              </a:buClr>
              <a:buSzPts val="1620"/>
              <a:buFont typeface="Lexend"/>
              <a:buNone/>
            </a:pPr>
            <a:r>
              <a:rPr b="0" i="0" lang="en-US" sz="1620" u="none" cap="none" strike="noStrike">
                <a:solidFill>
                  <a:srgbClr val="545C5C"/>
                </a:solidFill>
                <a:latin typeface="Lexend"/>
                <a:ea typeface="Lexend"/>
                <a:cs typeface="Lexend"/>
                <a:sym typeface="Lexend"/>
              </a:rPr>
              <a:t>Adequação comunicativa, registros e impacto profissional</a:t>
            </a:r>
            <a:endParaRPr b="0" i="0" sz="3240" u="none" cap="none" strike="noStrike">
              <a:solidFill>
                <a:schemeClr val="dk1"/>
              </a:solidFill>
              <a:latin typeface="Calibri"/>
              <a:ea typeface="Calibri"/>
              <a:cs typeface="Calibri"/>
              <a:sym typeface="Calibri"/>
            </a:endParaRPr>
          </a:p>
        </p:txBody>
      </p:sp>
      <p:pic>
        <p:nvPicPr>
          <p:cNvPr descr="/home/forge/chalkie-production-workers-2/releases/78214720/backend/storage/app/render-specs/a150a017-74b3-45d2-90a1-ee5e1050d2e7/img_fe57b1a24300bde1ce1b6321c573c8b2.png" id="17" name="Google Shape;17;p3"/>
          <p:cNvPicPr preferRelativeResize="0"/>
          <p:nvPr/>
        </p:nvPicPr>
        <p:blipFill rotWithShape="1">
          <a:blip r:embed="rId4">
            <a:alphaModFix/>
          </a:blip>
          <a:srcRect b="0" l="0" r="0" t="0"/>
          <a:stretch/>
        </p:blipFill>
        <p:spPr>
          <a:xfrm>
            <a:off x="4572000" y="274320"/>
            <a:ext cx="4297680" cy="459486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 name="Shape 22"/>
        <p:cNvGrpSpPr/>
        <p:nvPr/>
      </p:nvGrpSpPr>
      <p:grpSpPr>
        <a:xfrm>
          <a:off x="0" y="0"/>
          <a:ext cx="0" cy="0"/>
          <a:chOff x="0" y="0"/>
          <a:chExt cx="0" cy="0"/>
        </a:xfrm>
      </p:grpSpPr>
      <p:pic>
        <p:nvPicPr>
          <p:cNvPr descr="/home/forge/chalkie-production-workers-2/releases/78214720/backend/storage/app/render-specs/a150a017-74b3-45d2-90a1-ee5e1050d2e7/img_0856fcedd3dd845a19713edf3295dce9.png" id="23" name="Google Shape;23;p4"/>
          <p:cNvPicPr preferRelativeResize="0"/>
          <p:nvPr/>
        </p:nvPicPr>
        <p:blipFill rotWithShape="1">
          <a:blip r:embed="rId4">
            <a:alphaModFix/>
          </a:blip>
          <a:srcRect b="0" l="0" r="0" t="0"/>
          <a:stretch/>
        </p:blipFill>
        <p:spPr>
          <a:xfrm>
            <a:off x="0" y="0"/>
            <a:ext cx="9144000" cy="2171700"/>
          </a:xfrm>
          <a:prstGeom prst="rect">
            <a:avLst/>
          </a:prstGeom>
          <a:noFill/>
          <a:ln>
            <a:noFill/>
          </a:ln>
        </p:spPr>
      </p:pic>
      <p:sp>
        <p:nvSpPr>
          <p:cNvPr id="24" name="Google Shape;24;p4"/>
          <p:cNvSpPr/>
          <p:nvPr/>
        </p:nvSpPr>
        <p:spPr>
          <a:xfrm>
            <a:off x="274320" y="2446020"/>
            <a:ext cx="8595360" cy="651510"/>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2880"/>
              <a:buFont typeface="Lexend"/>
              <a:buNone/>
            </a:pPr>
            <a:r>
              <a:rPr b="1" i="0" lang="en-US" sz="2880" u="none" cap="none" strike="noStrike">
                <a:solidFill>
                  <a:srgbClr val="040F0F"/>
                </a:solidFill>
                <a:latin typeface="Lexend"/>
                <a:ea typeface="Lexend"/>
                <a:cs typeface="Lexend"/>
                <a:sym typeface="Lexend"/>
              </a:rPr>
              <a:t>Você contrataria este candidato?</a:t>
            </a:r>
            <a:endParaRPr b="0" i="0" sz="2880" u="none" cap="none" strike="noStrike">
              <a:solidFill>
                <a:schemeClr val="dk1"/>
              </a:solidFill>
              <a:latin typeface="Calibri"/>
              <a:ea typeface="Calibri"/>
              <a:cs typeface="Calibri"/>
              <a:sym typeface="Calibri"/>
            </a:endParaRPr>
          </a:p>
        </p:txBody>
      </p:sp>
      <p:sp>
        <p:nvSpPr>
          <p:cNvPr id="25" name="Google Shape;25;p4"/>
          <p:cNvSpPr/>
          <p:nvPr/>
        </p:nvSpPr>
        <p:spPr>
          <a:xfrm>
            <a:off x="274320" y="3280410"/>
            <a:ext cx="8595360" cy="1428750"/>
          </a:xfrm>
          <a:prstGeom prst="rect">
            <a:avLst/>
          </a:prstGeom>
          <a:noFill/>
          <a:ln>
            <a:noFill/>
          </a:ln>
        </p:spPr>
        <p:txBody>
          <a:bodyPr anchorCtr="0" anchor="t" bIns="45700" lIns="45700" spcFirstLastPara="1" rIns="45700" wrap="square" tIns="45700">
            <a:noAutofit/>
          </a:bodyPr>
          <a:lstStyle/>
          <a:p>
            <a:pPr indent="0" lvl="0" marL="0" marR="0" rtl="0" algn="l">
              <a:lnSpc>
                <a:spcPct val="116666"/>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Imagine abrir um e-mail de processo seletivo e ler: </a:t>
            </a:r>
            <a:r>
              <a:rPr b="0" i="1" lang="en-US" sz="1620" u="none" cap="none" strike="noStrike">
                <a:solidFill>
                  <a:srgbClr val="040F0F"/>
                </a:solidFill>
                <a:latin typeface="Lexend"/>
                <a:ea typeface="Lexend"/>
                <a:cs typeface="Lexend"/>
                <a:sym typeface="Lexend"/>
              </a:rPr>
              <a:t>"Fala chefe, blz? Manda aí a vaga q to dentro, vlw!"</a:t>
            </a:r>
            <a:endParaRPr b="0" i="0" sz="1620" u="none" cap="none" strike="noStrike">
              <a:solidFill>
                <a:schemeClr val="dk1"/>
              </a:solidFill>
              <a:latin typeface="Calibri"/>
              <a:ea typeface="Calibri"/>
              <a:cs typeface="Calibri"/>
              <a:sym typeface="Calibri"/>
            </a:endParaRPr>
          </a:p>
          <a:p>
            <a:pPr indent="0" lvl="0" marL="0" marR="0" rtl="0" algn="l">
              <a:lnSpc>
                <a:spcPct val="116666"/>
              </a:lnSpc>
              <a:spcBef>
                <a:spcPts val="72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A mensagem transmite a mesma informação de um texto formal, mas a forma destrói a credibilidade do autor antes mesmo da entrevista.</a:t>
            </a:r>
            <a:endParaRPr b="0" i="0" sz="162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 name="Shape 30"/>
        <p:cNvGrpSpPr/>
        <p:nvPr/>
      </p:nvGrpSpPr>
      <p:grpSpPr>
        <a:xfrm>
          <a:off x="0" y="0"/>
          <a:ext cx="0" cy="0"/>
          <a:chOff x="0" y="0"/>
          <a:chExt cx="0" cy="0"/>
        </a:xfrm>
      </p:grpSpPr>
      <p:sp>
        <p:nvSpPr>
          <p:cNvPr id="31" name="Google Shape;31;p5"/>
          <p:cNvSpPr/>
          <p:nvPr/>
        </p:nvSpPr>
        <p:spPr>
          <a:xfrm>
            <a:off x="274320" y="182880"/>
            <a:ext cx="8595360" cy="651510"/>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2880"/>
              <a:buFont typeface="Lexend"/>
              <a:buNone/>
            </a:pPr>
            <a:r>
              <a:rPr b="1" i="0" lang="en-US" sz="2880" u="none" cap="none" strike="noStrike">
                <a:solidFill>
                  <a:srgbClr val="040F0F"/>
                </a:solidFill>
                <a:latin typeface="Lexend"/>
                <a:ea typeface="Lexend"/>
                <a:cs typeface="Lexend"/>
                <a:sym typeface="Lexend"/>
              </a:rPr>
              <a:t>Objetivos da Nossa Aula</a:t>
            </a:r>
            <a:endParaRPr b="0" i="0" sz="2880" u="none" cap="none" strike="noStrike">
              <a:solidFill>
                <a:schemeClr val="dk1"/>
              </a:solidFill>
              <a:latin typeface="Calibri"/>
              <a:ea typeface="Calibri"/>
              <a:cs typeface="Calibri"/>
              <a:sym typeface="Calibri"/>
            </a:endParaRPr>
          </a:p>
        </p:txBody>
      </p:sp>
      <p:sp>
        <p:nvSpPr>
          <p:cNvPr id="32" name="Google Shape;32;p5"/>
          <p:cNvSpPr/>
          <p:nvPr/>
        </p:nvSpPr>
        <p:spPr>
          <a:xfrm>
            <a:off x="274320" y="1303020"/>
            <a:ext cx="8595360" cy="971550"/>
          </a:xfrm>
          <a:prstGeom prst="roundRect">
            <a:avLst>
              <a:gd fmla="val 14118" name="adj"/>
            </a:avLst>
          </a:prstGeom>
          <a:solidFill>
            <a:srgbClr val="FFFFFF">
              <a:alpha val="40000"/>
            </a:srgbClr>
          </a:solidFill>
          <a:ln cap="flat" cmpd="sng" w="11425">
            <a:solidFill>
              <a:srgbClr val="040F0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5"/>
          <p:cNvSpPr/>
          <p:nvPr/>
        </p:nvSpPr>
        <p:spPr>
          <a:xfrm>
            <a:off x="468630" y="1565910"/>
            <a:ext cx="457200" cy="457200"/>
          </a:xfrm>
          <a:prstGeom prst="roundRect">
            <a:avLst>
              <a:gd fmla="val 50000" name="adj"/>
            </a:avLst>
          </a:prstGeom>
          <a:solidFill>
            <a:srgbClr val="040F0F"/>
          </a:solidFill>
          <a:ln>
            <a:noFill/>
          </a:ln>
        </p:spPr>
        <p:txBody>
          <a:bodyPr anchorCtr="0" anchor="ctr" bIns="0" lIns="0" spcFirstLastPara="1" rIns="0" wrap="square" tIns="0">
            <a:noAutofit/>
          </a:bodyPr>
          <a:lstStyle/>
          <a:p>
            <a:pPr indent="0" lvl="0" marL="0" marR="0" rtl="0" algn="ctr">
              <a:lnSpc>
                <a:spcPct val="83333"/>
              </a:lnSpc>
              <a:spcBef>
                <a:spcPts val="0"/>
              </a:spcBef>
              <a:spcAft>
                <a:spcPts val="0"/>
              </a:spcAft>
              <a:buClr>
                <a:srgbClr val="FFFFFF"/>
              </a:buClr>
              <a:buSzPts val="1620"/>
              <a:buFont typeface="Lexend"/>
              <a:buNone/>
            </a:pPr>
            <a:r>
              <a:rPr b="1" i="0" lang="en-US" sz="1620" u="none" cap="none" strike="noStrike">
                <a:solidFill>
                  <a:srgbClr val="FFFFFF"/>
                </a:solidFill>
                <a:latin typeface="Lexend"/>
                <a:ea typeface="Lexend"/>
                <a:cs typeface="Lexend"/>
                <a:sym typeface="Lexend"/>
              </a:rPr>
              <a:t>1</a:t>
            </a:r>
            <a:endParaRPr b="0" i="0" sz="1620" u="none" cap="none" strike="noStrike">
              <a:solidFill>
                <a:schemeClr val="dk1"/>
              </a:solidFill>
              <a:latin typeface="Calibri"/>
              <a:ea typeface="Calibri"/>
              <a:cs typeface="Calibri"/>
              <a:sym typeface="Calibri"/>
            </a:endParaRPr>
          </a:p>
        </p:txBody>
      </p:sp>
      <p:sp>
        <p:nvSpPr>
          <p:cNvPr id="34" name="Google Shape;34;p5"/>
          <p:cNvSpPr/>
          <p:nvPr/>
        </p:nvSpPr>
        <p:spPr>
          <a:xfrm>
            <a:off x="1108710" y="1405890"/>
            <a:ext cx="7566660" cy="765810"/>
          </a:xfrm>
          <a:prstGeom prst="rect">
            <a:avLst/>
          </a:prstGeom>
          <a:noFill/>
          <a:ln>
            <a:noFill/>
          </a:ln>
        </p:spPr>
        <p:txBody>
          <a:bodyPr anchorCtr="0" anchor="t" bIns="45700" lIns="45700" spcFirstLastPara="1" rIns="45700" wrap="square" tIns="45700">
            <a:noAutofit/>
          </a:bodyPr>
          <a:lstStyle/>
          <a:p>
            <a:pPr indent="0" lvl="0" marL="0" marR="0" rtl="0" algn="l">
              <a:lnSpc>
                <a:spcPct val="116666"/>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Diferenciar registros formais e informais com base no contexto, público e objetivo.</a:t>
            </a:r>
            <a:endParaRPr b="0" i="0" sz="1620" u="none" cap="none" strike="noStrike">
              <a:solidFill>
                <a:schemeClr val="dk1"/>
              </a:solidFill>
              <a:latin typeface="Calibri"/>
              <a:ea typeface="Calibri"/>
              <a:cs typeface="Calibri"/>
              <a:sym typeface="Calibri"/>
            </a:endParaRPr>
          </a:p>
        </p:txBody>
      </p:sp>
      <p:sp>
        <p:nvSpPr>
          <p:cNvPr id="35" name="Google Shape;35;p5"/>
          <p:cNvSpPr/>
          <p:nvPr/>
        </p:nvSpPr>
        <p:spPr>
          <a:xfrm>
            <a:off x="274320" y="2457450"/>
            <a:ext cx="8595360" cy="971550"/>
          </a:xfrm>
          <a:prstGeom prst="roundRect">
            <a:avLst>
              <a:gd fmla="val 14118" name="adj"/>
            </a:avLst>
          </a:prstGeom>
          <a:solidFill>
            <a:srgbClr val="FFFFFF">
              <a:alpha val="40000"/>
            </a:srgbClr>
          </a:solidFill>
          <a:ln cap="flat" cmpd="sng" w="11425">
            <a:solidFill>
              <a:srgbClr val="040F0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5"/>
          <p:cNvSpPr/>
          <p:nvPr/>
        </p:nvSpPr>
        <p:spPr>
          <a:xfrm>
            <a:off x="468630" y="2720340"/>
            <a:ext cx="457200" cy="457200"/>
          </a:xfrm>
          <a:prstGeom prst="roundRect">
            <a:avLst>
              <a:gd fmla="val 50000" name="adj"/>
            </a:avLst>
          </a:prstGeom>
          <a:solidFill>
            <a:srgbClr val="040F0F"/>
          </a:solidFill>
          <a:ln>
            <a:noFill/>
          </a:ln>
        </p:spPr>
        <p:txBody>
          <a:bodyPr anchorCtr="0" anchor="ctr" bIns="0" lIns="0" spcFirstLastPara="1" rIns="0" wrap="square" tIns="0">
            <a:noAutofit/>
          </a:bodyPr>
          <a:lstStyle/>
          <a:p>
            <a:pPr indent="0" lvl="0" marL="0" marR="0" rtl="0" algn="ctr">
              <a:lnSpc>
                <a:spcPct val="83333"/>
              </a:lnSpc>
              <a:spcBef>
                <a:spcPts val="0"/>
              </a:spcBef>
              <a:spcAft>
                <a:spcPts val="0"/>
              </a:spcAft>
              <a:buClr>
                <a:srgbClr val="FFFFFF"/>
              </a:buClr>
              <a:buSzPts val="1620"/>
              <a:buFont typeface="Lexend"/>
              <a:buNone/>
            </a:pPr>
            <a:r>
              <a:rPr b="1" i="0" lang="en-US" sz="1620" u="none" cap="none" strike="noStrike">
                <a:solidFill>
                  <a:srgbClr val="FFFFFF"/>
                </a:solidFill>
                <a:latin typeface="Lexend"/>
                <a:ea typeface="Lexend"/>
                <a:cs typeface="Lexend"/>
                <a:sym typeface="Lexend"/>
              </a:rPr>
              <a:t>2</a:t>
            </a:r>
            <a:endParaRPr b="0" i="0" sz="1620" u="none" cap="none" strike="noStrike">
              <a:solidFill>
                <a:schemeClr val="dk1"/>
              </a:solidFill>
              <a:latin typeface="Calibri"/>
              <a:ea typeface="Calibri"/>
              <a:cs typeface="Calibri"/>
              <a:sym typeface="Calibri"/>
            </a:endParaRPr>
          </a:p>
        </p:txBody>
      </p:sp>
      <p:sp>
        <p:nvSpPr>
          <p:cNvPr id="37" name="Google Shape;37;p5"/>
          <p:cNvSpPr/>
          <p:nvPr/>
        </p:nvSpPr>
        <p:spPr>
          <a:xfrm>
            <a:off x="1108710" y="2560320"/>
            <a:ext cx="7566660" cy="765810"/>
          </a:xfrm>
          <a:prstGeom prst="rect">
            <a:avLst/>
          </a:prstGeom>
          <a:noFill/>
          <a:ln>
            <a:noFill/>
          </a:ln>
        </p:spPr>
        <p:txBody>
          <a:bodyPr anchorCtr="0" anchor="t" bIns="45700" lIns="45700" spcFirstLastPara="1" rIns="45700" wrap="square" tIns="45700">
            <a:noAutofit/>
          </a:bodyPr>
          <a:lstStyle/>
          <a:p>
            <a:pPr indent="0" lvl="0" marL="0" marR="0" rtl="0" algn="l">
              <a:lnSpc>
                <a:spcPct val="116666"/>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Identificar os riscos da hipercorreção e da informalidade excessiva em ambientes profissionais.</a:t>
            </a:r>
            <a:endParaRPr b="0" i="0" sz="1620" u="none" cap="none" strike="noStrike">
              <a:solidFill>
                <a:schemeClr val="dk1"/>
              </a:solidFill>
              <a:latin typeface="Calibri"/>
              <a:ea typeface="Calibri"/>
              <a:cs typeface="Calibri"/>
              <a:sym typeface="Calibri"/>
            </a:endParaRPr>
          </a:p>
        </p:txBody>
      </p:sp>
      <p:sp>
        <p:nvSpPr>
          <p:cNvPr id="38" name="Google Shape;38;p5"/>
          <p:cNvSpPr/>
          <p:nvPr/>
        </p:nvSpPr>
        <p:spPr>
          <a:xfrm>
            <a:off x="274320" y="3611880"/>
            <a:ext cx="8595360" cy="971550"/>
          </a:xfrm>
          <a:prstGeom prst="roundRect">
            <a:avLst>
              <a:gd fmla="val 14118" name="adj"/>
            </a:avLst>
          </a:prstGeom>
          <a:solidFill>
            <a:srgbClr val="FFFFFF">
              <a:alpha val="40000"/>
            </a:srgbClr>
          </a:solidFill>
          <a:ln cap="flat" cmpd="sng" w="11425">
            <a:solidFill>
              <a:srgbClr val="040F0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5"/>
          <p:cNvSpPr/>
          <p:nvPr/>
        </p:nvSpPr>
        <p:spPr>
          <a:xfrm>
            <a:off x="468630" y="3874770"/>
            <a:ext cx="457200" cy="457200"/>
          </a:xfrm>
          <a:prstGeom prst="roundRect">
            <a:avLst>
              <a:gd fmla="val 50000" name="adj"/>
            </a:avLst>
          </a:prstGeom>
          <a:solidFill>
            <a:srgbClr val="040F0F"/>
          </a:solidFill>
          <a:ln>
            <a:noFill/>
          </a:ln>
        </p:spPr>
        <p:txBody>
          <a:bodyPr anchorCtr="0" anchor="ctr" bIns="0" lIns="0" spcFirstLastPara="1" rIns="0" wrap="square" tIns="0">
            <a:noAutofit/>
          </a:bodyPr>
          <a:lstStyle/>
          <a:p>
            <a:pPr indent="0" lvl="0" marL="0" marR="0" rtl="0" algn="ctr">
              <a:lnSpc>
                <a:spcPct val="83333"/>
              </a:lnSpc>
              <a:spcBef>
                <a:spcPts val="0"/>
              </a:spcBef>
              <a:spcAft>
                <a:spcPts val="0"/>
              </a:spcAft>
              <a:buClr>
                <a:srgbClr val="FFFFFF"/>
              </a:buClr>
              <a:buSzPts val="1620"/>
              <a:buFont typeface="Lexend"/>
              <a:buNone/>
            </a:pPr>
            <a:r>
              <a:rPr b="1" i="0" lang="en-US" sz="1620" u="none" cap="none" strike="noStrike">
                <a:solidFill>
                  <a:srgbClr val="FFFFFF"/>
                </a:solidFill>
                <a:latin typeface="Lexend"/>
                <a:ea typeface="Lexend"/>
                <a:cs typeface="Lexend"/>
                <a:sym typeface="Lexend"/>
              </a:rPr>
              <a:t>3</a:t>
            </a:r>
            <a:endParaRPr b="0" i="0" sz="1620" u="none" cap="none" strike="noStrike">
              <a:solidFill>
                <a:schemeClr val="dk1"/>
              </a:solidFill>
              <a:latin typeface="Calibri"/>
              <a:ea typeface="Calibri"/>
              <a:cs typeface="Calibri"/>
              <a:sym typeface="Calibri"/>
            </a:endParaRPr>
          </a:p>
        </p:txBody>
      </p:sp>
      <p:sp>
        <p:nvSpPr>
          <p:cNvPr id="40" name="Google Shape;40;p5"/>
          <p:cNvSpPr/>
          <p:nvPr/>
        </p:nvSpPr>
        <p:spPr>
          <a:xfrm>
            <a:off x="1108710" y="3714750"/>
            <a:ext cx="7566660" cy="765810"/>
          </a:xfrm>
          <a:prstGeom prst="rect">
            <a:avLst/>
          </a:prstGeom>
          <a:noFill/>
          <a:ln>
            <a:noFill/>
          </a:ln>
        </p:spPr>
        <p:txBody>
          <a:bodyPr anchorCtr="0" anchor="t" bIns="45700" lIns="45700" spcFirstLastPara="1" rIns="45700" wrap="square" tIns="45700">
            <a:noAutofit/>
          </a:bodyPr>
          <a:lstStyle/>
          <a:p>
            <a:pPr indent="0" lvl="0" marL="0" marR="0" rtl="0" algn="l">
              <a:lnSpc>
                <a:spcPct val="116666"/>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Reescrever mensagens cotidianas aplicando o registro formal de forma natural e precisa.</a:t>
            </a:r>
            <a:endParaRPr b="0" i="0" sz="162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5" name="Shape 45"/>
        <p:cNvGrpSpPr/>
        <p:nvPr/>
      </p:nvGrpSpPr>
      <p:grpSpPr>
        <a:xfrm>
          <a:off x="0" y="0"/>
          <a:ext cx="0" cy="0"/>
          <a:chOff x="0" y="0"/>
          <a:chExt cx="0" cy="0"/>
        </a:xfrm>
      </p:grpSpPr>
      <p:sp>
        <p:nvSpPr>
          <p:cNvPr id="46" name="Google Shape;46;p6"/>
          <p:cNvSpPr/>
          <p:nvPr/>
        </p:nvSpPr>
        <p:spPr>
          <a:xfrm>
            <a:off x="274320" y="182880"/>
            <a:ext cx="8595360" cy="651510"/>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2880"/>
              <a:buFont typeface="Lexend"/>
              <a:buNone/>
            </a:pPr>
            <a:r>
              <a:rPr b="1" i="0" lang="en-US" sz="2880" u="none" cap="none" strike="noStrike">
                <a:solidFill>
                  <a:srgbClr val="040F0F"/>
                </a:solidFill>
                <a:latin typeface="Lexend"/>
                <a:ea typeface="Lexend"/>
                <a:cs typeface="Lexend"/>
                <a:sym typeface="Lexend"/>
              </a:rPr>
              <a:t>Vocabulário Essencial</a:t>
            </a:r>
            <a:endParaRPr b="0" i="0" sz="2880" u="none" cap="none" strike="noStrike">
              <a:solidFill>
                <a:schemeClr val="dk1"/>
              </a:solidFill>
              <a:latin typeface="Calibri"/>
              <a:ea typeface="Calibri"/>
              <a:cs typeface="Calibri"/>
              <a:sym typeface="Calibri"/>
            </a:endParaRPr>
          </a:p>
        </p:txBody>
      </p:sp>
      <p:pic>
        <p:nvPicPr>
          <p:cNvPr descr="/home/forge/chalkie-production-workers-2/releases/78214720/backend/storage/app/render-specs/a150a017-74b3-45d2-90a1-ee5e1050d2e7/img_7360a1639929c4dea4d2b555794563c3.png" id="47" name="Google Shape;47;p6"/>
          <p:cNvPicPr preferRelativeResize="0"/>
          <p:nvPr/>
        </p:nvPicPr>
        <p:blipFill rotWithShape="1">
          <a:blip r:embed="rId4">
            <a:alphaModFix/>
          </a:blip>
          <a:srcRect b="0" l="0" r="0" t="0"/>
          <a:stretch/>
        </p:blipFill>
        <p:spPr>
          <a:xfrm>
            <a:off x="274320" y="1497330"/>
            <a:ext cx="2011680" cy="2057400"/>
          </a:xfrm>
          <a:prstGeom prst="roundRect">
            <a:avLst>
              <a:gd fmla="val 6818" name="adj"/>
            </a:avLst>
          </a:prstGeom>
          <a:noFill/>
          <a:ln>
            <a:noFill/>
          </a:ln>
        </p:spPr>
      </p:pic>
      <p:sp>
        <p:nvSpPr>
          <p:cNvPr id="48" name="Google Shape;48;p6"/>
          <p:cNvSpPr/>
          <p:nvPr/>
        </p:nvSpPr>
        <p:spPr>
          <a:xfrm>
            <a:off x="274320" y="3657600"/>
            <a:ext cx="2011680" cy="1257300"/>
          </a:xfrm>
          <a:prstGeom prst="rect">
            <a:avLst/>
          </a:prstGeom>
          <a:noFill/>
          <a:ln>
            <a:noFill/>
          </a:ln>
        </p:spPr>
        <p:txBody>
          <a:bodyPr anchorCtr="0" anchor="t" bIns="45700" lIns="45700" spcFirstLastPara="1" rIns="45700" wrap="square" tIns="45700">
            <a:noAutofit/>
          </a:bodyPr>
          <a:lstStyle/>
          <a:p>
            <a:pPr indent="0" lvl="0" marL="0" marR="0" rtl="0" algn="l">
              <a:lnSpc>
                <a:spcPct val="116666"/>
              </a:lnSpc>
              <a:spcBef>
                <a:spcPts val="0"/>
              </a:spcBef>
              <a:spcAft>
                <a:spcPts val="0"/>
              </a:spcAft>
              <a:buClr>
                <a:srgbClr val="040F0F"/>
              </a:buClr>
              <a:buSzPts val="1440"/>
              <a:buFont typeface="Lexend"/>
              <a:buNone/>
            </a:pPr>
            <a:r>
              <a:rPr b="1" i="0" lang="en-US" sz="1440" u="none" cap="none" strike="noStrike">
                <a:solidFill>
                  <a:srgbClr val="040F0F"/>
                </a:solidFill>
                <a:latin typeface="Lexend"/>
                <a:ea typeface="Lexend"/>
                <a:cs typeface="Lexend"/>
                <a:sym typeface="Lexend"/>
              </a:rPr>
              <a:t>Registro</a:t>
            </a:r>
            <a:endParaRPr b="0" i="0" sz="1440" u="none" cap="none" strike="noStrike">
              <a:solidFill>
                <a:schemeClr val="dk1"/>
              </a:solidFill>
              <a:latin typeface="Calibri"/>
              <a:ea typeface="Calibri"/>
              <a:cs typeface="Calibri"/>
              <a:sym typeface="Calibri"/>
            </a:endParaRPr>
          </a:p>
          <a:p>
            <a:pPr indent="0" lvl="0" marL="0" marR="0" rtl="0" algn="l">
              <a:lnSpc>
                <a:spcPct val="116666"/>
              </a:lnSpc>
              <a:spcBef>
                <a:spcPts val="540"/>
              </a:spcBef>
              <a:spcAft>
                <a:spcPts val="0"/>
              </a:spcAft>
              <a:buClr>
                <a:srgbClr val="040F0F"/>
              </a:buClr>
              <a:buSzPts val="1440"/>
              <a:buFont typeface="Lexend"/>
              <a:buNone/>
            </a:pPr>
            <a:r>
              <a:rPr b="0" i="0" lang="en-US" sz="1440" u="none" cap="none" strike="noStrike">
                <a:solidFill>
                  <a:srgbClr val="040F0F"/>
                </a:solidFill>
                <a:latin typeface="Lexend"/>
                <a:ea typeface="Lexend"/>
                <a:cs typeface="Lexend"/>
                <a:sym typeface="Lexend"/>
              </a:rPr>
              <a:t>Variedade da língua adotada conforme a situação de uso.</a:t>
            </a:r>
            <a:endParaRPr b="0" i="0" sz="1440" u="none" cap="none" strike="noStrike">
              <a:solidFill>
                <a:schemeClr val="dk1"/>
              </a:solidFill>
              <a:latin typeface="Calibri"/>
              <a:ea typeface="Calibri"/>
              <a:cs typeface="Calibri"/>
              <a:sym typeface="Calibri"/>
            </a:endParaRPr>
          </a:p>
        </p:txBody>
      </p:sp>
      <p:pic>
        <p:nvPicPr>
          <p:cNvPr descr="/home/forge/chalkie-production-workers-2/releases/78214720/backend/storage/app/render-specs/a150a017-74b3-45d2-90a1-ee5e1050d2e7/img_d953619c1ece1b68ae2be81ff5f6f020.png" id="49" name="Google Shape;49;p6"/>
          <p:cNvPicPr preferRelativeResize="0"/>
          <p:nvPr/>
        </p:nvPicPr>
        <p:blipFill rotWithShape="1">
          <a:blip r:embed="rId5">
            <a:alphaModFix/>
          </a:blip>
          <a:srcRect b="0" l="0" r="0" t="0"/>
          <a:stretch/>
        </p:blipFill>
        <p:spPr>
          <a:xfrm>
            <a:off x="2468880" y="925830"/>
            <a:ext cx="2011680" cy="2057400"/>
          </a:xfrm>
          <a:prstGeom prst="roundRect">
            <a:avLst>
              <a:gd fmla="val 6818" name="adj"/>
            </a:avLst>
          </a:prstGeom>
          <a:noFill/>
          <a:ln>
            <a:noFill/>
          </a:ln>
        </p:spPr>
      </p:pic>
      <p:sp>
        <p:nvSpPr>
          <p:cNvPr id="50" name="Google Shape;50;p6"/>
          <p:cNvSpPr/>
          <p:nvPr/>
        </p:nvSpPr>
        <p:spPr>
          <a:xfrm>
            <a:off x="2468880" y="3097530"/>
            <a:ext cx="2011680" cy="1257300"/>
          </a:xfrm>
          <a:prstGeom prst="rect">
            <a:avLst/>
          </a:prstGeom>
          <a:noFill/>
          <a:ln>
            <a:noFill/>
          </a:ln>
        </p:spPr>
        <p:txBody>
          <a:bodyPr anchorCtr="0" anchor="t" bIns="45700" lIns="45700" spcFirstLastPara="1" rIns="45700" wrap="square" tIns="45700">
            <a:noAutofit/>
          </a:bodyPr>
          <a:lstStyle/>
          <a:p>
            <a:pPr indent="0" lvl="0" marL="0" marR="0" rtl="0" algn="l">
              <a:lnSpc>
                <a:spcPct val="116666"/>
              </a:lnSpc>
              <a:spcBef>
                <a:spcPts val="0"/>
              </a:spcBef>
              <a:spcAft>
                <a:spcPts val="0"/>
              </a:spcAft>
              <a:buClr>
                <a:srgbClr val="040F0F"/>
              </a:buClr>
              <a:buSzPts val="1440"/>
              <a:buFont typeface="Lexend"/>
              <a:buNone/>
            </a:pPr>
            <a:r>
              <a:rPr b="1" i="0" lang="en-US" sz="1440" u="none" cap="none" strike="noStrike">
                <a:solidFill>
                  <a:srgbClr val="040F0F"/>
                </a:solidFill>
                <a:latin typeface="Lexend"/>
                <a:ea typeface="Lexend"/>
                <a:cs typeface="Lexend"/>
                <a:sym typeface="Lexend"/>
              </a:rPr>
              <a:t>Formalidade</a:t>
            </a:r>
            <a:endParaRPr b="0" i="0" sz="1440" u="none" cap="none" strike="noStrike">
              <a:solidFill>
                <a:schemeClr val="dk1"/>
              </a:solidFill>
              <a:latin typeface="Calibri"/>
              <a:ea typeface="Calibri"/>
              <a:cs typeface="Calibri"/>
              <a:sym typeface="Calibri"/>
            </a:endParaRPr>
          </a:p>
          <a:p>
            <a:pPr indent="0" lvl="0" marL="0" marR="0" rtl="0" algn="l">
              <a:lnSpc>
                <a:spcPct val="116666"/>
              </a:lnSpc>
              <a:spcBef>
                <a:spcPts val="540"/>
              </a:spcBef>
              <a:spcAft>
                <a:spcPts val="0"/>
              </a:spcAft>
              <a:buClr>
                <a:srgbClr val="040F0F"/>
              </a:buClr>
              <a:buSzPts val="1440"/>
              <a:buFont typeface="Lexend"/>
              <a:buNone/>
            </a:pPr>
            <a:r>
              <a:rPr b="0" i="0" lang="en-US" sz="1440" u="none" cap="none" strike="noStrike">
                <a:solidFill>
                  <a:srgbClr val="040F0F"/>
                </a:solidFill>
                <a:latin typeface="Lexend"/>
                <a:ea typeface="Lexend"/>
                <a:cs typeface="Lexend"/>
                <a:sym typeface="Lexend"/>
              </a:rPr>
              <a:t>Uso rigoroso da norma-padrão e tom impessoal.</a:t>
            </a:r>
            <a:endParaRPr b="0" i="0" sz="1440" u="none" cap="none" strike="noStrike">
              <a:solidFill>
                <a:schemeClr val="dk1"/>
              </a:solidFill>
              <a:latin typeface="Calibri"/>
              <a:ea typeface="Calibri"/>
              <a:cs typeface="Calibri"/>
              <a:sym typeface="Calibri"/>
            </a:endParaRPr>
          </a:p>
        </p:txBody>
      </p:sp>
      <p:pic>
        <p:nvPicPr>
          <p:cNvPr descr="/home/forge/chalkie-production-workers-2/releases/78214720/backend/storage/app/render-specs/a150a017-74b3-45d2-90a1-ee5e1050d2e7/img_07a18e9be3d44c36c30a2af591b47c40.png" id="51" name="Google Shape;51;p6"/>
          <p:cNvPicPr preferRelativeResize="0"/>
          <p:nvPr/>
        </p:nvPicPr>
        <p:blipFill rotWithShape="1">
          <a:blip r:embed="rId6">
            <a:alphaModFix/>
          </a:blip>
          <a:srcRect b="0" l="0" r="0" t="0"/>
          <a:stretch/>
        </p:blipFill>
        <p:spPr>
          <a:xfrm>
            <a:off x="4663440" y="1497330"/>
            <a:ext cx="2011680" cy="2057400"/>
          </a:xfrm>
          <a:prstGeom prst="roundRect">
            <a:avLst>
              <a:gd fmla="val 6818" name="adj"/>
            </a:avLst>
          </a:prstGeom>
          <a:noFill/>
          <a:ln>
            <a:noFill/>
          </a:ln>
        </p:spPr>
      </p:pic>
      <p:sp>
        <p:nvSpPr>
          <p:cNvPr id="52" name="Google Shape;52;p6"/>
          <p:cNvSpPr/>
          <p:nvPr/>
        </p:nvSpPr>
        <p:spPr>
          <a:xfrm>
            <a:off x="4663440" y="3657600"/>
            <a:ext cx="2011680" cy="1257300"/>
          </a:xfrm>
          <a:prstGeom prst="rect">
            <a:avLst/>
          </a:prstGeom>
          <a:noFill/>
          <a:ln>
            <a:noFill/>
          </a:ln>
        </p:spPr>
        <p:txBody>
          <a:bodyPr anchorCtr="0" anchor="t" bIns="45700" lIns="45700" spcFirstLastPara="1" rIns="45700" wrap="square" tIns="45700">
            <a:noAutofit/>
          </a:bodyPr>
          <a:lstStyle/>
          <a:p>
            <a:pPr indent="0" lvl="0" marL="0" marR="0" rtl="0" algn="l">
              <a:lnSpc>
                <a:spcPct val="116666"/>
              </a:lnSpc>
              <a:spcBef>
                <a:spcPts val="0"/>
              </a:spcBef>
              <a:spcAft>
                <a:spcPts val="0"/>
              </a:spcAft>
              <a:buClr>
                <a:srgbClr val="040F0F"/>
              </a:buClr>
              <a:buSzPts val="1440"/>
              <a:buFont typeface="Lexend"/>
              <a:buNone/>
            </a:pPr>
            <a:r>
              <a:rPr b="1" i="0" lang="en-US" sz="1440" u="none" cap="none" strike="noStrike">
                <a:solidFill>
                  <a:srgbClr val="040F0F"/>
                </a:solidFill>
                <a:latin typeface="Lexend"/>
                <a:ea typeface="Lexend"/>
                <a:cs typeface="Lexend"/>
                <a:sym typeface="Lexend"/>
              </a:rPr>
              <a:t>Informalidade</a:t>
            </a:r>
            <a:endParaRPr b="0" i="0" sz="1440" u="none" cap="none" strike="noStrike">
              <a:solidFill>
                <a:schemeClr val="dk1"/>
              </a:solidFill>
              <a:latin typeface="Calibri"/>
              <a:ea typeface="Calibri"/>
              <a:cs typeface="Calibri"/>
              <a:sym typeface="Calibri"/>
            </a:endParaRPr>
          </a:p>
          <a:p>
            <a:pPr indent="0" lvl="0" marL="0" marR="0" rtl="0" algn="l">
              <a:lnSpc>
                <a:spcPct val="116666"/>
              </a:lnSpc>
              <a:spcBef>
                <a:spcPts val="540"/>
              </a:spcBef>
              <a:spcAft>
                <a:spcPts val="0"/>
              </a:spcAft>
              <a:buClr>
                <a:srgbClr val="040F0F"/>
              </a:buClr>
              <a:buSzPts val="1440"/>
              <a:buFont typeface="Lexend"/>
              <a:buNone/>
            </a:pPr>
            <a:r>
              <a:rPr b="0" i="0" lang="en-US" sz="1440" u="none" cap="none" strike="noStrike">
                <a:solidFill>
                  <a:srgbClr val="040F0F"/>
                </a:solidFill>
                <a:latin typeface="Lexend"/>
                <a:ea typeface="Lexend"/>
                <a:cs typeface="Lexend"/>
                <a:sym typeface="Lexend"/>
              </a:rPr>
              <a:t>Linguagem espontânea, afetiva e coloquial.</a:t>
            </a:r>
            <a:endParaRPr b="0" i="0" sz="1440" u="none" cap="none" strike="noStrike">
              <a:solidFill>
                <a:schemeClr val="dk1"/>
              </a:solidFill>
              <a:latin typeface="Calibri"/>
              <a:ea typeface="Calibri"/>
              <a:cs typeface="Calibri"/>
              <a:sym typeface="Calibri"/>
            </a:endParaRPr>
          </a:p>
        </p:txBody>
      </p:sp>
      <p:pic>
        <p:nvPicPr>
          <p:cNvPr descr="/home/forge/chalkie-production-workers-2/releases/78214720/backend/storage/app/render-specs/a150a017-74b3-45d2-90a1-ee5e1050d2e7/img_35f40ab8516673eeec58cffb6b530913.png" id="53" name="Google Shape;53;p6"/>
          <p:cNvPicPr preferRelativeResize="0"/>
          <p:nvPr/>
        </p:nvPicPr>
        <p:blipFill rotWithShape="1">
          <a:blip r:embed="rId7">
            <a:alphaModFix/>
          </a:blip>
          <a:srcRect b="0" l="0" r="0" t="0"/>
          <a:stretch/>
        </p:blipFill>
        <p:spPr>
          <a:xfrm>
            <a:off x="6858000" y="925830"/>
            <a:ext cx="2011680" cy="2057400"/>
          </a:xfrm>
          <a:prstGeom prst="roundRect">
            <a:avLst>
              <a:gd fmla="val 6818" name="adj"/>
            </a:avLst>
          </a:prstGeom>
          <a:noFill/>
          <a:ln>
            <a:noFill/>
          </a:ln>
        </p:spPr>
      </p:pic>
      <p:sp>
        <p:nvSpPr>
          <p:cNvPr id="54" name="Google Shape;54;p6"/>
          <p:cNvSpPr/>
          <p:nvPr/>
        </p:nvSpPr>
        <p:spPr>
          <a:xfrm>
            <a:off x="6858000" y="3097530"/>
            <a:ext cx="2011680" cy="1257300"/>
          </a:xfrm>
          <a:prstGeom prst="rect">
            <a:avLst/>
          </a:prstGeom>
          <a:noFill/>
          <a:ln>
            <a:noFill/>
          </a:ln>
        </p:spPr>
        <p:txBody>
          <a:bodyPr anchorCtr="0" anchor="t" bIns="45700" lIns="45700" spcFirstLastPara="1" rIns="45700" wrap="square" tIns="45700">
            <a:noAutofit/>
          </a:bodyPr>
          <a:lstStyle/>
          <a:p>
            <a:pPr indent="0" lvl="0" marL="0" marR="0" rtl="0" algn="l">
              <a:lnSpc>
                <a:spcPct val="116666"/>
              </a:lnSpc>
              <a:spcBef>
                <a:spcPts val="0"/>
              </a:spcBef>
              <a:spcAft>
                <a:spcPts val="0"/>
              </a:spcAft>
              <a:buClr>
                <a:srgbClr val="040F0F"/>
              </a:buClr>
              <a:buSzPts val="1440"/>
              <a:buFont typeface="Lexend"/>
              <a:buNone/>
            </a:pPr>
            <a:r>
              <a:rPr b="1" i="0" lang="en-US" sz="1440" u="none" cap="none" strike="noStrike">
                <a:solidFill>
                  <a:srgbClr val="040F0F"/>
                </a:solidFill>
                <a:latin typeface="Lexend"/>
                <a:ea typeface="Lexend"/>
                <a:cs typeface="Lexend"/>
                <a:sym typeface="Lexend"/>
              </a:rPr>
              <a:t>Adequação</a:t>
            </a:r>
            <a:endParaRPr b="0" i="0" sz="1440" u="none" cap="none" strike="noStrike">
              <a:solidFill>
                <a:schemeClr val="dk1"/>
              </a:solidFill>
              <a:latin typeface="Calibri"/>
              <a:ea typeface="Calibri"/>
              <a:cs typeface="Calibri"/>
              <a:sym typeface="Calibri"/>
            </a:endParaRPr>
          </a:p>
          <a:p>
            <a:pPr indent="0" lvl="0" marL="0" marR="0" rtl="0" algn="l">
              <a:lnSpc>
                <a:spcPct val="116666"/>
              </a:lnSpc>
              <a:spcBef>
                <a:spcPts val="540"/>
              </a:spcBef>
              <a:spcAft>
                <a:spcPts val="0"/>
              </a:spcAft>
              <a:buClr>
                <a:srgbClr val="040F0F"/>
              </a:buClr>
              <a:buSzPts val="1440"/>
              <a:buFont typeface="Lexend"/>
              <a:buNone/>
            </a:pPr>
            <a:r>
              <a:rPr b="0" i="0" lang="en-US" sz="1440" u="none" cap="none" strike="noStrike">
                <a:solidFill>
                  <a:srgbClr val="040F0F"/>
                </a:solidFill>
                <a:latin typeface="Lexend"/>
                <a:ea typeface="Lexend"/>
                <a:cs typeface="Lexend"/>
                <a:sym typeface="Lexend"/>
              </a:rPr>
              <a:t>Capacidade de ajustar a mensagem ao contexto real.</a:t>
            </a:r>
            <a:endParaRPr b="0" i="0" sz="144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 name="Shape 59"/>
        <p:cNvGrpSpPr/>
        <p:nvPr/>
      </p:nvGrpSpPr>
      <p:grpSpPr>
        <a:xfrm>
          <a:off x="0" y="0"/>
          <a:ext cx="0" cy="0"/>
          <a:chOff x="0" y="0"/>
          <a:chExt cx="0" cy="0"/>
        </a:xfrm>
      </p:grpSpPr>
      <p:sp>
        <p:nvSpPr>
          <p:cNvPr id="60" name="Google Shape;60;p7"/>
          <p:cNvSpPr/>
          <p:nvPr/>
        </p:nvSpPr>
        <p:spPr>
          <a:xfrm>
            <a:off x="274320" y="182880"/>
            <a:ext cx="1040130" cy="262890"/>
          </a:xfrm>
          <a:prstGeom prst="roundRect">
            <a:avLst>
              <a:gd fmla="val 17391" name="adj"/>
            </a:avLst>
          </a:prstGeom>
          <a:solidFill>
            <a:srgbClr val="040F0F"/>
          </a:solidFill>
          <a:ln>
            <a:noFill/>
          </a:ln>
        </p:spPr>
        <p:txBody>
          <a:bodyPr anchorCtr="0" anchor="t" bIns="45700" lIns="114300" spcFirstLastPara="1" rIns="114300" wrap="square" tIns="45700">
            <a:noAutofit/>
          </a:bodyPr>
          <a:lstStyle/>
          <a:p>
            <a:pPr indent="0" lvl="0" marL="0" marR="0" rtl="0" algn="ctr">
              <a:lnSpc>
                <a:spcPct val="100000"/>
              </a:lnSpc>
              <a:spcBef>
                <a:spcPts val="0"/>
              </a:spcBef>
              <a:spcAft>
                <a:spcPts val="0"/>
              </a:spcAft>
              <a:buClr>
                <a:srgbClr val="FFFFFF"/>
              </a:buClr>
              <a:buSzPts val="1080"/>
              <a:buFont typeface="Lexend"/>
              <a:buNone/>
            </a:pPr>
            <a:r>
              <a:rPr b="1" i="0" lang="en-US" sz="1080" u="none" cap="none" strike="noStrike">
                <a:solidFill>
                  <a:srgbClr val="FFFFFF"/>
                </a:solidFill>
                <a:latin typeface="Lexend"/>
                <a:ea typeface="Lexend"/>
                <a:cs typeface="Lexend"/>
                <a:sym typeface="Lexend"/>
              </a:rPr>
              <a:t>REVISÃO</a:t>
            </a:r>
            <a:endParaRPr b="0" i="0" sz="1080" u="none" cap="none" strike="noStrike">
              <a:solidFill>
                <a:schemeClr val="dk1"/>
              </a:solidFill>
              <a:latin typeface="Calibri"/>
              <a:ea typeface="Calibri"/>
              <a:cs typeface="Calibri"/>
              <a:sym typeface="Calibri"/>
            </a:endParaRPr>
          </a:p>
        </p:txBody>
      </p:sp>
      <p:sp>
        <p:nvSpPr>
          <p:cNvPr id="61" name="Google Shape;61;p7"/>
          <p:cNvSpPr/>
          <p:nvPr/>
        </p:nvSpPr>
        <p:spPr>
          <a:xfrm>
            <a:off x="274320" y="582930"/>
            <a:ext cx="4297680" cy="4126230"/>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2160"/>
              <a:buFont typeface="Lexend"/>
              <a:buNone/>
            </a:pPr>
            <a:r>
              <a:rPr b="1" i="0" lang="en-US" sz="2160" u="none" cap="none" strike="noStrike">
                <a:solidFill>
                  <a:srgbClr val="040F0F"/>
                </a:solidFill>
                <a:latin typeface="Lexend"/>
                <a:ea typeface="Lexend"/>
                <a:cs typeface="Lexend"/>
                <a:sym typeface="Lexend"/>
              </a:rPr>
              <a:t>O Ciclo do Feedback Bidirecional</a:t>
            </a:r>
            <a:endParaRPr b="0" i="0" sz="2160" u="none" cap="none" strike="noStrike">
              <a:solidFill>
                <a:schemeClr val="dk1"/>
              </a:solidFill>
              <a:latin typeface="Calibri"/>
              <a:ea typeface="Calibri"/>
              <a:cs typeface="Calibri"/>
              <a:sym typeface="Calibri"/>
            </a:endParaRPr>
          </a:p>
          <a:p>
            <a:pPr indent="0" lvl="0" marL="0" marR="0" rtl="0" algn="l">
              <a:lnSpc>
                <a:spcPct val="116666"/>
              </a:lnSpc>
              <a:spcBef>
                <a:spcPts val="81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Na aula anterior, compreendemos que a comunicação não é uma via de mão única. O emissor envia a mensagem, e o feedback valida se a ideia foi realmente absorvida.</a:t>
            </a:r>
            <a:endParaRPr b="0" i="0" sz="2160" u="none" cap="none" strike="noStrike">
              <a:solidFill>
                <a:schemeClr val="dk1"/>
              </a:solidFill>
              <a:latin typeface="Calibri"/>
              <a:ea typeface="Calibri"/>
              <a:cs typeface="Calibri"/>
              <a:sym typeface="Calibri"/>
            </a:endParaRPr>
          </a:p>
          <a:p>
            <a:pPr indent="-228600" lvl="0" marL="228600" marR="0" rtl="0" algn="l">
              <a:lnSpc>
                <a:spcPct val="116666"/>
              </a:lnSpc>
              <a:spcBef>
                <a:spcPts val="585"/>
              </a:spcBef>
              <a:spcAft>
                <a:spcPts val="0"/>
              </a:spcAft>
              <a:buClr>
                <a:srgbClr val="040F0F"/>
              </a:buClr>
              <a:buSzPts val="1620"/>
              <a:buFont typeface="Lexend"/>
              <a:buChar char="•"/>
            </a:pPr>
            <a:r>
              <a:rPr b="1" i="0" lang="en-US" sz="1620" u="none" cap="none" strike="noStrike">
                <a:solidFill>
                  <a:srgbClr val="040F0F"/>
                </a:solidFill>
                <a:latin typeface="Lexend"/>
                <a:ea typeface="Lexend"/>
                <a:cs typeface="Lexend"/>
                <a:sym typeface="Lexend"/>
              </a:rPr>
              <a:t>Bidirecionalidade:</a:t>
            </a:r>
            <a:r>
              <a:rPr b="0" i="0" lang="en-US" sz="1620" u="none" cap="none" strike="noStrike">
                <a:solidFill>
                  <a:srgbClr val="040F0F"/>
                </a:solidFill>
                <a:latin typeface="Lexend"/>
                <a:ea typeface="Lexend"/>
                <a:cs typeface="Lexend"/>
                <a:sym typeface="Lexend"/>
              </a:rPr>
              <a:t> Ambos os interlocutores aprendem e ajustam o discurso.</a:t>
            </a:r>
            <a:endParaRPr b="0" i="0" sz="2160" u="none" cap="none" strike="noStrike">
              <a:solidFill>
                <a:schemeClr val="dk1"/>
              </a:solidFill>
              <a:latin typeface="Calibri"/>
              <a:ea typeface="Calibri"/>
              <a:cs typeface="Calibri"/>
              <a:sym typeface="Calibri"/>
            </a:endParaRPr>
          </a:p>
          <a:p>
            <a:pPr indent="-228600" lvl="0" marL="228600" marR="0" rtl="0" algn="l">
              <a:lnSpc>
                <a:spcPct val="116666"/>
              </a:lnSpc>
              <a:spcBef>
                <a:spcPts val="450"/>
              </a:spcBef>
              <a:spcAft>
                <a:spcPts val="0"/>
              </a:spcAft>
              <a:buClr>
                <a:srgbClr val="040F0F"/>
              </a:buClr>
              <a:buSzPts val="1620"/>
              <a:buFont typeface="Lexend"/>
              <a:buChar char="•"/>
            </a:pPr>
            <a:r>
              <a:rPr b="1" i="0" lang="en-US" sz="1620" u="none" cap="none" strike="noStrike">
                <a:solidFill>
                  <a:srgbClr val="040F0F"/>
                </a:solidFill>
                <a:latin typeface="Lexend"/>
                <a:ea typeface="Lexend"/>
                <a:cs typeface="Lexend"/>
                <a:sym typeface="Lexend"/>
              </a:rPr>
              <a:t>Ajuste contínuo:</a:t>
            </a:r>
            <a:r>
              <a:rPr b="0" i="0" lang="en-US" sz="1620" u="none" cap="none" strike="noStrike">
                <a:solidFill>
                  <a:srgbClr val="040F0F"/>
                </a:solidFill>
                <a:latin typeface="Lexend"/>
                <a:ea typeface="Lexend"/>
                <a:cs typeface="Lexend"/>
                <a:sym typeface="Lexend"/>
              </a:rPr>
              <a:t> A reação do receptor dita se precisamos clarificar o tom.</a:t>
            </a:r>
            <a:endParaRPr b="0" i="0" sz="2160" u="none" cap="none" strike="noStrike">
              <a:solidFill>
                <a:schemeClr val="dk1"/>
              </a:solidFill>
              <a:latin typeface="Calibri"/>
              <a:ea typeface="Calibri"/>
              <a:cs typeface="Calibri"/>
              <a:sym typeface="Calibri"/>
            </a:endParaRPr>
          </a:p>
        </p:txBody>
      </p:sp>
      <p:pic>
        <p:nvPicPr>
          <p:cNvPr descr="/home/forge/chalkie-production-workers-2/releases/78214720/backend/storage/app/render-specs/a150a017-74b3-45d2-90a1-ee5e1050d2e7/img_97ff3c4137fdaf2851394be8f532f71b.png" id="62" name="Google Shape;62;p7"/>
          <p:cNvPicPr preferRelativeResize="0"/>
          <p:nvPr/>
        </p:nvPicPr>
        <p:blipFill rotWithShape="1">
          <a:blip r:embed="rId4">
            <a:alphaModFix/>
          </a:blip>
          <a:srcRect b="0" l="0" r="0" t="0"/>
          <a:stretch/>
        </p:blipFill>
        <p:spPr>
          <a:xfrm>
            <a:off x="4754880" y="182880"/>
            <a:ext cx="4114800" cy="3611880"/>
          </a:xfrm>
          <a:prstGeom prst="roundRect">
            <a:avLst>
              <a:gd fmla="val 3797" name="adj"/>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7" name="Shape 67"/>
        <p:cNvGrpSpPr/>
        <p:nvPr/>
      </p:nvGrpSpPr>
      <p:grpSpPr>
        <a:xfrm>
          <a:off x="0" y="0"/>
          <a:ext cx="0" cy="0"/>
          <a:chOff x="0" y="0"/>
          <a:chExt cx="0" cy="0"/>
        </a:xfrm>
      </p:grpSpPr>
      <p:pic>
        <p:nvPicPr>
          <p:cNvPr descr="/home/forge/chalkie-production-workers-2/releases/78214720/backend/storage/app/render-specs/a150a017-74b3-45d2-90a1-ee5e1050d2e7/img_74db676abbf9321227487417a15623c8.png" id="68" name="Google Shape;68;p8"/>
          <p:cNvPicPr preferRelativeResize="0"/>
          <p:nvPr/>
        </p:nvPicPr>
        <p:blipFill rotWithShape="1">
          <a:blip r:embed="rId4">
            <a:alphaModFix/>
          </a:blip>
          <a:srcRect b="0" l="0" r="0" t="0"/>
          <a:stretch/>
        </p:blipFill>
        <p:spPr>
          <a:xfrm>
            <a:off x="7349490" y="-91440"/>
            <a:ext cx="1828800" cy="1828800"/>
          </a:xfrm>
          <a:prstGeom prst="rect">
            <a:avLst/>
          </a:prstGeom>
          <a:noFill/>
          <a:ln>
            <a:noFill/>
          </a:ln>
        </p:spPr>
      </p:pic>
      <p:sp>
        <p:nvSpPr>
          <p:cNvPr id="69" name="Google Shape;69;p8"/>
          <p:cNvSpPr/>
          <p:nvPr/>
        </p:nvSpPr>
        <p:spPr>
          <a:xfrm>
            <a:off x="285750" y="171450"/>
            <a:ext cx="8572500" cy="644652"/>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2880"/>
              <a:buFont typeface="Lexend"/>
              <a:buNone/>
            </a:pPr>
            <a:r>
              <a:rPr b="1" i="0" lang="en-US" sz="2880" u="none" cap="none" strike="noStrike">
                <a:solidFill>
                  <a:srgbClr val="040F0F"/>
                </a:solidFill>
                <a:latin typeface="Lexend"/>
                <a:ea typeface="Lexend"/>
                <a:cs typeface="Lexend"/>
                <a:sym typeface="Lexend"/>
              </a:rPr>
              <a:t>Revisão: Feedback Construtivo</a:t>
            </a:r>
            <a:endParaRPr b="0" i="0" sz="2880" u="none" cap="none" strike="noStrike">
              <a:solidFill>
                <a:schemeClr val="dk1"/>
              </a:solidFill>
              <a:latin typeface="Calibri"/>
              <a:ea typeface="Calibri"/>
              <a:cs typeface="Calibri"/>
              <a:sym typeface="Calibri"/>
            </a:endParaRPr>
          </a:p>
        </p:txBody>
      </p:sp>
      <p:sp>
        <p:nvSpPr>
          <p:cNvPr id="70" name="Google Shape;70;p8"/>
          <p:cNvSpPr/>
          <p:nvPr/>
        </p:nvSpPr>
        <p:spPr>
          <a:xfrm>
            <a:off x="285750" y="1143000"/>
            <a:ext cx="8572500" cy="768096"/>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1620"/>
              <a:buFont typeface="Lexend"/>
              <a:buNone/>
            </a:pPr>
            <a:r>
              <a:rPr b="1" i="0" lang="en-US" sz="1620" u="none" cap="none" strike="noStrike">
                <a:solidFill>
                  <a:srgbClr val="040F0F"/>
                </a:solidFill>
                <a:latin typeface="Lexend"/>
                <a:ea typeface="Lexend"/>
                <a:cs typeface="Lexend"/>
                <a:sym typeface="Lexend"/>
              </a:rPr>
              <a:t>Pergunta 1:</a:t>
            </a:r>
            <a:endParaRPr b="0" i="0" sz="1620" u="none" cap="none" strike="noStrike">
              <a:solidFill>
                <a:schemeClr val="dk1"/>
              </a:solidFill>
              <a:latin typeface="Calibri"/>
              <a:ea typeface="Calibri"/>
              <a:cs typeface="Calibri"/>
              <a:sym typeface="Calibri"/>
            </a:endParaRPr>
          </a:p>
          <a:p>
            <a:pPr indent="0" lvl="0" marL="0" marR="0" rtl="0" algn="l">
              <a:lnSpc>
                <a:spcPct val="100000"/>
              </a:lnSpc>
              <a:spcBef>
                <a:spcPts val="72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Qual é o principal propósito do feedback bidirecional no ciclo comunicativo?</a:t>
            </a:r>
            <a:endParaRPr b="0" i="0" sz="1620" u="none" cap="none" strike="noStrike">
              <a:solidFill>
                <a:schemeClr val="dk1"/>
              </a:solidFill>
              <a:latin typeface="Calibri"/>
              <a:ea typeface="Calibri"/>
              <a:cs typeface="Calibri"/>
              <a:sym typeface="Calibri"/>
            </a:endParaRPr>
          </a:p>
        </p:txBody>
      </p:sp>
      <p:sp>
        <p:nvSpPr>
          <p:cNvPr id="71" name="Google Shape;71;p8"/>
          <p:cNvSpPr/>
          <p:nvPr/>
        </p:nvSpPr>
        <p:spPr>
          <a:xfrm>
            <a:off x="285750" y="2286000"/>
            <a:ext cx="8572500" cy="1014984"/>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1620"/>
              <a:buFont typeface="Lexend"/>
              <a:buNone/>
            </a:pPr>
            <a:r>
              <a:rPr b="1" i="0" lang="en-US" sz="1620" u="none" cap="none" strike="noStrike">
                <a:solidFill>
                  <a:srgbClr val="040F0F"/>
                </a:solidFill>
                <a:latin typeface="Lexend"/>
                <a:ea typeface="Lexend"/>
                <a:cs typeface="Lexend"/>
                <a:sym typeface="Lexend"/>
              </a:rPr>
              <a:t>Pergunta 2:</a:t>
            </a:r>
            <a:endParaRPr b="0" i="0" sz="1620" u="none" cap="none" strike="noStrike">
              <a:solidFill>
                <a:schemeClr val="dk1"/>
              </a:solidFill>
              <a:latin typeface="Calibri"/>
              <a:ea typeface="Calibri"/>
              <a:cs typeface="Calibri"/>
              <a:sym typeface="Calibri"/>
            </a:endParaRPr>
          </a:p>
          <a:p>
            <a:pPr indent="0" lvl="0" marL="0" marR="0" rtl="0" algn="l">
              <a:lnSpc>
                <a:spcPct val="100000"/>
              </a:lnSpc>
              <a:spcBef>
                <a:spcPts val="72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Por que um feedback deve focar no comportamento ou mensagem, e não na pessoa?</a:t>
            </a:r>
            <a:endParaRPr b="0" i="0" sz="1620" u="none" cap="none" strike="noStrike">
              <a:solidFill>
                <a:schemeClr val="dk1"/>
              </a:solidFill>
              <a:latin typeface="Calibri"/>
              <a:ea typeface="Calibri"/>
              <a:cs typeface="Calibri"/>
              <a:sym typeface="Calibri"/>
            </a:endParaRPr>
          </a:p>
        </p:txBody>
      </p:sp>
      <p:sp>
        <p:nvSpPr>
          <p:cNvPr id="72" name="Google Shape;72;p8"/>
          <p:cNvSpPr/>
          <p:nvPr/>
        </p:nvSpPr>
        <p:spPr>
          <a:xfrm>
            <a:off x="285750" y="3429000"/>
            <a:ext cx="8572500" cy="768096"/>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1620"/>
              <a:buFont typeface="Lexend"/>
              <a:buNone/>
            </a:pPr>
            <a:r>
              <a:rPr b="1" i="0" lang="en-US" sz="1620" u="none" cap="none" strike="noStrike">
                <a:solidFill>
                  <a:srgbClr val="040F0F"/>
                </a:solidFill>
                <a:latin typeface="Lexend"/>
                <a:ea typeface="Lexend"/>
                <a:cs typeface="Lexend"/>
                <a:sym typeface="Lexend"/>
              </a:rPr>
              <a:t>Pergunta 3:</a:t>
            </a:r>
            <a:endParaRPr b="0" i="0" sz="1620" u="none" cap="none" strike="noStrike">
              <a:solidFill>
                <a:schemeClr val="dk1"/>
              </a:solidFill>
              <a:latin typeface="Calibri"/>
              <a:ea typeface="Calibri"/>
              <a:cs typeface="Calibri"/>
              <a:sym typeface="Calibri"/>
            </a:endParaRPr>
          </a:p>
          <a:p>
            <a:pPr indent="0" lvl="0" marL="0" marR="0" rtl="0" algn="l">
              <a:lnSpc>
                <a:spcPct val="100000"/>
              </a:lnSpc>
              <a:spcBef>
                <a:spcPts val="72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O que caracteriza um feedback eficaz no ambiente acadêmico ou profissional?</a:t>
            </a:r>
            <a:endParaRPr b="0" i="0" sz="162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7" name="Shape 77"/>
        <p:cNvGrpSpPr/>
        <p:nvPr/>
      </p:nvGrpSpPr>
      <p:grpSpPr>
        <a:xfrm>
          <a:off x="0" y="0"/>
          <a:ext cx="0" cy="0"/>
          <a:chOff x="0" y="0"/>
          <a:chExt cx="0" cy="0"/>
        </a:xfrm>
      </p:grpSpPr>
      <p:sp>
        <p:nvSpPr>
          <p:cNvPr id="78" name="Google Shape;78;p9"/>
          <p:cNvSpPr/>
          <p:nvPr/>
        </p:nvSpPr>
        <p:spPr>
          <a:xfrm>
            <a:off x="285750" y="171450"/>
            <a:ext cx="8572500" cy="644652"/>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2880"/>
              <a:buFont typeface="Lexend"/>
              <a:buNone/>
            </a:pPr>
            <a:r>
              <a:rPr b="1" i="0" lang="en-US" sz="2880" u="none" cap="none" strike="noStrike">
                <a:solidFill>
                  <a:srgbClr val="040F0F"/>
                </a:solidFill>
                <a:latin typeface="Lexend"/>
                <a:ea typeface="Lexend"/>
                <a:cs typeface="Lexend"/>
                <a:sym typeface="Lexend"/>
              </a:rPr>
              <a:t>Revisão: Feedback Construtivo</a:t>
            </a:r>
            <a:endParaRPr b="0" i="0" sz="2880" u="none" cap="none" strike="noStrike">
              <a:solidFill>
                <a:schemeClr val="dk1"/>
              </a:solidFill>
              <a:latin typeface="Calibri"/>
              <a:ea typeface="Calibri"/>
              <a:cs typeface="Calibri"/>
              <a:sym typeface="Calibri"/>
            </a:endParaRPr>
          </a:p>
        </p:txBody>
      </p:sp>
      <p:sp>
        <p:nvSpPr>
          <p:cNvPr id="79" name="Google Shape;79;p9"/>
          <p:cNvSpPr/>
          <p:nvPr/>
        </p:nvSpPr>
        <p:spPr>
          <a:xfrm>
            <a:off x="285750" y="1143000"/>
            <a:ext cx="8572500" cy="768096"/>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1620"/>
              <a:buFont typeface="Lexend"/>
              <a:buNone/>
            </a:pPr>
            <a:r>
              <a:rPr b="1" i="0" lang="en-US" sz="1620" u="none" cap="none" strike="noStrike">
                <a:solidFill>
                  <a:srgbClr val="040F0F"/>
                </a:solidFill>
                <a:latin typeface="Lexend"/>
                <a:ea typeface="Lexend"/>
                <a:cs typeface="Lexend"/>
                <a:sym typeface="Lexend"/>
              </a:rPr>
              <a:t>Resposta 1:</a:t>
            </a:r>
            <a:endParaRPr b="0" i="0" sz="1620" u="none" cap="none" strike="noStrike">
              <a:solidFill>
                <a:schemeClr val="dk1"/>
              </a:solidFill>
              <a:latin typeface="Calibri"/>
              <a:ea typeface="Calibri"/>
              <a:cs typeface="Calibri"/>
              <a:sym typeface="Calibri"/>
            </a:endParaRPr>
          </a:p>
          <a:p>
            <a:pPr indent="0" lvl="0" marL="0" marR="0" rtl="0" algn="l">
              <a:lnSpc>
                <a:spcPct val="100000"/>
              </a:lnSpc>
              <a:spcBef>
                <a:spcPts val="72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Permitir que emissor e receptor alinhem entendimentos e ajustem a mensagem.</a:t>
            </a:r>
            <a:endParaRPr b="0" i="0" sz="1620" u="none" cap="none" strike="noStrike">
              <a:solidFill>
                <a:schemeClr val="dk1"/>
              </a:solidFill>
              <a:latin typeface="Calibri"/>
              <a:ea typeface="Calibri"/>
              <a:cs typeface="Calibri"/>
              <a:sym typeface="Calibri"/>
            </a:endParaRPr>
          </a:p>
        </p:txBody>
      </p:sp>
      <p:sp>
        <p:nvSpPr>
          <p:cNvPr id="80" name="Google Shape;80;p9"/>
          <p:cNvSpPr/>
          <p:nvPr/>
        </p:nvSpPr>
        <p:spPr>
          <a:xfrm>
            <a:off x="285750" y="2286000"/>
            <a:ext cx="8572500" cy="768096"/>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1620"/>
              <a:buFont typeface="Lexend"/>
              <a:buNone/>
            </a:pPr>
            <a:r>
              <a:rPr b="1" i="0" lang="en-US" sz="1620" u="none" cap="none" strike="noStrike">
                <a:solidFill>
                  <a:srgbClr val="040F0F"/>
                </a:solidFill>
                <a:latin typeface="Lexend"/>
                <a:ea typeface="Lexend"/>
                <a:cs typeface="Lexend"/>
                <a:sym typeface="Lexend"/>
              </a:rPr>
              <a:t>Resposta 2:</a:t>
            </a:r>
            <a:endParaRPr b="0" i="0" sz="1620" u="none" cap="none" strike="noStrike">
              <a:solidFill>
                <a:schemeClr val="dk1"/>
              </a:solidFill>
              <a:latin typeface="Calibri"/>
              <a:ea typeface="Calibri"/>
              <a:cs typeface="Calibri"/>
              <a:sym typeface="Calibri"/>
            </a:endParaRPr>
          </a:p>
          <a:p>
            <a:pPr indent="0" lvl="0" marL="0" marR="0" rtl="0" algn="l">
              <a:lnSpc>
                <a:spcPct val="100000"/>
              </a:lnSpc>
              <a:spcBef>
                <a:spcPts val="72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Para manter a objetividade profissional e evitar reações defensivas ou conflitos.</a:t>
            </a:r>
            <a:endParaRPr b="0" i="0" sz="1620" u="none" cap="none" strike="noStrike">
              <a:solidFill>
                <a:schemeClr val="dk1"/>
              </a:solidFill>
              <a:latin typeface="Calibri"/>
              <a:ea typeface="Calibri"/>
              <a:cs typeface="Calibri"/>
              <a:sym typeface="Calibri"/>
            </a:endParaRPr>
          </a:p>
        </p:txBody>
      </p:sp>
      <p:sp>
        <p:nvSpPr>
          <p:cNvPr id="81" name="Google Shape;81;p9"/>
          <p:cNvSpPr/>
          <p:nvPr/>
        </p:nvSpPr>
        <p:spPr>
          <a:xfrm>
            <a:off x="285750" y="3429000"/>
            <a:ext cx="8572500" cy="768096"/>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1620"/>
              <a:buFont typeface="Lexend"/>
              <a:buNone/>
            </a:pPr>
            <a:r>
              <a:rPr b="1" i="0" lang="en-US" sz="1620" u="none" cap="none" strike="noStrike">
                <a:solidFill>
                  <a:srgbClr val="040F0F"/>
                </a:solidFill>
                <a:latin typeface="Lexend"/>
                <a:ea typeface="Lexend"/>
                <a:cs typeface="Lexend"/>
                <a:sym typeface="Lexend"/>
              </a:rPr>
              <a:t>Resposta 3:</a:t>
            </a:r>
            <a:endParaRPr b="0" i="0" sz="1620" u="none" cap="none" strike="noStrike">
              <a:solidFill>
                <a:schemeClr val="dk1"/>
              </a:solidFill>
              <a:latin typeface="Calibri"/>
              <a:ea typeface="Calibri"/>
              <a:cs typeface="Calibri"/>
              <a:sym typeface="Calibri"/>
            </a:endParaRPr>
          </a:p>
          <a:p>
            <a:pPr indent="0" lvl="0" marL="0" marR="0" rtl="0" algn="l">
              <a:lnSpc>
                <a:spcPct val="100000"/>
              </a:lnSpc>
              <a:spcBef>
                <a:spcPts val="72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Clareza, dados específicos, oportunidade temporal e orientação para melhoria.</a:t>
            </a:r>
            <a:endParaRPr b="0" i="0" sz="1620" u="none" cap="none" strike="noStrike">
              <a:solidFill>
                <a:schemeClr val="dk1"/>
              </a:solidFill>
              <a:latin typeface="Calibri"/>
              <a:ea typeface="Calibri"/>
              <a:cs typeface="Calibri"/>
              <a:sym typeface="Calibri"/>
            </a:endParaRPr>
          </a:p>
        </p:txBody>
      </p:sp>
      <p:sp>
        <p:nvSpPr>
          <p:cNvPr id="82" name="Google Shape;82;p9"/>
          <p:cNvSpPr/>
          <p:nvPr/>
        </p:nvSpPr>
        <p:spPr>
          <a:xfrm>
            <a:off x="8366760" y="342900"/>
            <a:ext cx="548640" cy="548640"/>
          </a:xfrm>
          <a:prstGeom prst="rect">
            <a:avLst/>
          </a:prstGeom>
          <a:noFill/>
          <a:ln>
            <a:noFill/>
          </a:ln>
        </p:spPr>
        <p:txBody>
          <a:bodyPr anchorCtr="0" anchor="ctr" bIns="45700" lIns="45700" spcFirstLastPara="1" rIns="45700" wrap="square" tIns="45700">
            <a:noAutofit/>
          </a:bodyPr>
          <a:lstStyle/>
          <a:p>
            <a:pPr indent="0" lvl="0" marL="0" marR="0" rtl="0" algn="r">
              <a:lnSpc>
                <a:spcPct val="100000"/>
              </a:lnSpc>
              <a:spcBef>
                <a:spcPts val="0"/>
              </a:spcBef>
              <a:spcAft>
                <a:spcPts val="0"/>
              </a:spcAft>
              <a:buClr>
                <a:srgbClr val="040F0F"/>
              </a:buClr>
              <a:buSzPts val="3600"/>
              <a:buFont typeface="Lexend"/>
              <a:buNone/>
            </a:pPr>
            <a:r>
              <a:rPr b="0" i="0" lang="en-US" sz="3600" u="none" cap="none" strike="noStrike">
                <a:solidFill>
                  <a:srgbClr val="040F0F"/>
                </a:solidFill>
                <a:latin typeface="Lexend"/>
                <a:ea typeface="Lexend"/>
                <a:cs typeface="Lexend"/>
                <a:sym typeface="Lexend"/>
              </a:rPr>
              <a:t>✅</a:t>
            </a:r>
            <a:endParaRPr b="0" i="0" sz="36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7" name="Shape 87"/>
        <p:cNvGrpSpPr/>
        <p:nvPr/>
      </p:nvGrpSpPr>
      <p:grpSpPr>
        <a:xfrm>
          <a:off x="0" y="0"/>
          <a:ext cx="0" cy="0"/>
          <a:chOff x="0" y="0"/>
          <a:chExt cx="0" cy="0"/>
        </a:xfrm>
      </p:grpSpPr>
      <p:sp>
        <p:nvSpPr>
          <p:cNvPr id="88" name="Google Shape;88;p10"/>
          <p:cNvSpPr/>
          <p:nvPr/>
        </p:nvSpPr>
        <p:spPr>
          <a:xfrm>
            <a:off x="274320" y="182880"/>
            <a:ext cx="8595360" cy="651510"/>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2880"/>
              <a:buFont typeface="Lexend"/>
              <a:buNone/>
            </a:pPr>
            <a:r>
              <a:rPr b="1" i="0" lang="en-US" sz="2880" u="none" cap="none" strike="noStrike">
                <a:solidFill>
                  <a:srgbClr val="040F0F"/>
                </a:solidFill>
                <a:latin typeface="Lexend"/>
                <a:ea typeface="Lexend"/>
                <a:cs typeface="Lexend"/>
                <a:sym typeface="Lexend"/>
              </a:rPr>
              <a:t>O Que É Registro Linguístico?</a:t>
            </a:r>
            <a:endParaRPr b="0" i="0" sz="2880" u="none" cap="none" strike="noStrike">
              <a:solidFill>
                <a:schemeClr val="dk1"/>
              </a:solidFill>
              <a:latin typeface="Calibri"/>
              <a:ea typeface="Calibri"/>
              <a:cs typeface="Calibri"/>
              <a:sym typeface="Calibri"/>
            </a:endParaRPr>
          </a:p>
        </p:txBody>
      </p:sp>
      <p:pic>
        <p:nvPicPr>
          <p:cNvPr descr="/home/forge/chalkie-production-workers-2/releases/78214720/backend/storage/app/render-specs/a150a017-74b3-45d2-90a1-ee5e1050d2e7/img_4ceb829d42d1ed6360bd9ceff0bd3dbe.png" id="89" name="Google Shape;89;p10"/>
          <p:cNvPicPr preferRelativeResize="0"/>
          <p:nvPr/>
        </p:nvPicPr>
        <p:blipFill rotWithShape="1">
          <a:blip r:embed="rId4">
            <a:alphaModFix/>
          </a:blip>
          <a:srcRect b="0" l="0" r="0" t="0"/>
          <a:stretch/>
        </p:blipFill>
        <p:spPr>
          <a:xfrm>
            <a:off x="274320" y="1017270"/>
            <a:ext cx="4206240" cy="2057400"/>
          </a:xfrm>
          <a:prstGeom prst="roundRect">
            <a:avLst>
              <a:gd fmla="val 6667" name="adj"/>
            </a:avLst>
          </a:prstGeom>
          <a:noFill/>
          <a:ln>
            <a:noFill/>
          </a:ln>
        </p:spPr>
      </p:pic>
      <p:sp>
        <p:nvSpPr>
          <p:cNvPr id="90" name="Google Shape;90;p10"/>
          <p:cNvSpPr/>
          <p:nvPr/>
        </p:nvSpPr>
        <p:spPr>
          <a:xfrm>
            <a:off x="274320" y="3188970"/>
            <a:ext cx="4206240" cy="1554480"/>
          </a:xfrm>
          <a:prstGeom prst="rect">
            <a:avLst/>
          </a:prstGeom>
          <a:noFill/>
          <a:ln>
            <a:noFill/>
          </a:ln>
        </p:spPr>
        <p:txBody>
          <a:bodyPr anchorCtr="0" anchor="t" bIns="45700" lIns="45700" spcFirstLastPara="1" rIns="45700" wrap="square" tIns="45700">
            <a:noAutofit/>
          </a:bodyPr>
          <a:lstStyle/>
          <a:p>
            <a:pPr indent="0" lvl="0" marL="0" marR="0" rtl="0" algn="l">
              <a:lnSpc>
                <a:spcPct val="116666"/>
              </a:lnSpc>
              <a:spcBef>
                <a:spcPts val="0"/>
              </a:spcBef>
              <a:spcAft>
                <a:spcPts val="0"/>
              </a:spcAft>
              <a:buClr>
                <a:srgbClr val="040F0F"/>
              </a:buClr>
              <a:buSzPts val="2160"/>
              <a:buFont typeface="Lexend"/>
              <a:buNone/>
            </a:pPr>
            <a:r>
              <a:rPr b="1" i="0" lang="en-US" sz="2160" u="none" cap="none" strike="noStrike">
                <a:solidFill>
                  <a:srgbClr val="040F0F"/>
                </a:solidFill>
                <a:latin typeface="Lexend"/>
                <a:ea typeface="Lexend"/>
                <a:cs typeface="Lexend"/>
                <a:sym typeface="Lexend"/>
              </a:rPr>
              <a:t>Registro Formal</a:t>
            </a:r>
            <a:endParaRPr b="0" i="0" sz="2160" u="none" cap="none" strike="noStrike">
              <a:solidFill>
                <a:schemeClr val="dk1"/>
              </a:solidFill>
              <a:latin typeface="Calibri"/>
              <a:ea typeface="Calibri"/>
              <a:cs typeface="Calibri"/>
              <a:sym typeface="Calibri"/>
            </a:endParaRPr>
          </a:p>
          <a:p>
            <a:pPr indent="0" lvl="0" marL="0" marR="0" rtl="0" algn="l">
              <a:lnSpc>
                <a:spcPct val="116666"/>
              </a:lnSpc>
              <a:spcBef>
                <a:spcPts val="81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Segue a norma-padrão gramatical, possui vocabulário preciso, evita gírias e prioriza a objetividade.</a:t>
            </a:r>
            <a:endParaRPr b="0" i="0" sz="2160" u="none" cap="none" strike="noStrike">
              <a:solidFill>
                <a:schemeClr val="dk1"/>
              </a:solidFill>
              <a:latin typeface="Calibri"/>
              <a:ea typeface="Calibri"/>
              <a:cs typeface="Calibri"/>
              <a:sym typeface="Calibri"/>
            </a:endParaRPr>
          </a:p>
        </p:txBody>
      </p:sp>
      <p:pic>
        <p:nvPicPr>
          <p:cNvPr descr="/home/forge/chalkie-production-workers-2/releases/78214720/backend/storage/app/render-specs/a150a017-74b3-45d2-90a1-ee5e1050d2e7/img_6437ce2068451bc3818039912010997f.png" id="91" name="Google Shape;91;p10"/>
          <p:cNvPicPr preferRelativeResize="0"/>
          <p:nvPr/>
        </p:nvPicPr>
        <p:blipFill rotWithShape="1">
          <a:blip r:embed="rId5">
            <a:alphaModFix/>
          </a:blip>
          <a:srcRect b="0" l="0" r="0" t="0"/>
          <a:stretch/>
        </p:blipFill>
        <p:spPr>
          <a:xfrm>
            <a:off x="4663440" y="1017270"/>
            <a:ext cx="4206240" cy="2057400"/>
          </a:xfrm>
          <a:prstGeom prst="roundRect">
            <a:avLst>
              <a:gd fmla="val 6667" name="adj"/>
            </a:avLst>
          </a:prstGeom>
          <a:noFill/>
          <a:ln>
            <a:noFill/>
          </a:ln>
        </p:spPr>
      </p:pic>
      <p:sp>
        <p:nvSpPr>
          <p:cNvPr id="92" name="Google Shape;92;p10"/>
          <p:cNvSpPr/>
          <p:nvPr/>
        </p:nvSpPr>
        <p:spPr>
          <a:xfrm>
            <a:off x="4663440" y="3188970"/>
            <a:ext cx="4206240" cy="1554480"/>
          </a:xfrm>
          <a:prstGeom prst="rect">
            <a:avLst/>
          </a:prstGeom>
          <a:noFill/>
          <a:ln>
            <a:noFill/>
          </a:ln>
        </p:spPr>
        <p:txBody>
          <a:bodyPr anchorCtr="0" anchor="t" bIns="45700" lIns="45700" spcFirstLastPara="1" rIns="45700" wrap="square" tIns="45700">
            <a:noAutofit/>
          </a:bodyPr>
          <a:lstStyle/>
          <a:p>
            <a:pPr indent="0" lvl="0" marL="0" marR="0" rtl="0" algn="l">
              <a:lnSpc>
                <a:spcPct val="116666"/>
              </a:lnSpc>
              <a:spcBef>
                <a:spcPts val="0"/>
              </a:spcBef>
              <a:spcAft>
                <a:spcPts val="0"/>
              </a:spcAft>
              <a:buClr>
                <a:srgbClr val="040F0F"/>
              </a:buClr>
              <a:buSzPts val="2160"/>
              <a:buFont typeface="Lexend"/>
              <a:buNone/>
            </a:pPr>
            <a:r>
              <a:rPr b="1" i="0" lang="en-US" sz="2160" u="none" cap="none" strike="noStrike">
                <a:solidFill>
                  <a:srgbClr val="040F0F"/>
                </a:solidFill>
                <a:latin typeface="Lexend"/>
                <a:ea typeface="Lexend"/>
                <a:cs typeface="Lexend"/>
                <a:sym typeface="Lexend"/>
              </a:rPr>
              <a:t>Registro Informal</a:t>
            </a:r>
            <a:endParaRPr b="0" i="0" sz="2160" u="none" cap="none" strike="noStrike">
              <a:solidFill>
                <a:schemeClr val="dk1"/>
              </a:solidFill>
              <a:latin typeface="Calibri"/>
              <a:ea typeface="Calibri"/>
              <a:cs typeface="Calibri"/>
              <a:sym typeface="Calibri"/>
            </a:endParaRPr>
          </a:p>
          <a:p>
            <a:pPr indent="0" lvl="0" marL="0" marR="0" rtl="0" algn="l">
              <a:lnSpc>
                <a:spcPct val="116666"/>
              </a:lnSpc>
              <a:spcBef>
                <a:spcPts val="81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Marcado pela espontaneidade, uso de termos coloquiais, abreviações e forte proximidade afetiva.</a:t>
            </a:r>
            <a:endParaRPr b="0" i="0" sz="216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7" name="Shape 97"/>
        <p:cNvGrpSpPr/>
        <p:nvPr/>
      </p:nvGrpSpPr>
      <p:grpSpPr>
        <a:xfrm>
          <a:off x="0" y="0"/>
          <a:ext cx="0" cy="0"/>
          <a:chOff x="0" y="0"/>
          <a:chExt cx="0" cy="0"/>
        </a:xfrm>
      </p:grpSpPr>
      <p:sp>
        <p:nvSpPr>
          <p:cNvPr id="98" name="Google Shape;98;p11"/>
          <p:cNvSpPr/>
          <p:nvPr/>
        </p:nvSpPr>
        <p:spPr>
          <a:xfrm>
            <a:off x="274320" y="182880"/>
            <a:ext cx="8595360" cy="651510"/>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2880"/>
              <a:buFont typeface="Lexend"/>
              <a:buNone/>
            </a:pPr>
            <a:r>
              <a:rPr b="1" i="0" lang="en-US" sz="2880" u="none" cap="none" strike="noStrike">
                <a:solidFill>
                  <a:srgbClr val="040F0F"/>
                </a:solidFill>
                <a:latin typeface="Lexend"/>
                <a:ea typeface="Lexend"/>
                <a:cs typeface="Lexend"/>
                <a:sym typeface="Lexend"/>
              </a:rPr>
              <a:t>O Tripé da Escolha Comunicativa</a:t>
            </a:r>
            <a:endParaRPr b="0" i="0" sz="2880" u="none" cap="none" strike="noStrike">
              <a:solidFill>
                <a:schemeClr val="dk1"/>
              </a:solidFill>
              <a:latin typeface="Calibri"/>
              <a:ea typeface="Calibri"/>
              <a:cs typeface="Calibri"/>
              <a:sym typeface="Calibri"/>
            </a:endParaRPr>
          </a:p>
        </p:txBody>
      </p:sp>
      <p:sp>
        <p:nvSpPr>
          <p:cNvPr id="99" name="Google Shape;99;p11"/>
          <p:cNvSpPr/>
          <p:nvPr/>
        </p:nvSpPr>
        <p:spPr>
          <a:xfrm>
            <a:off x="274320" y="925830"/>
            <a:ext cx="4251960" cy="1931670"/>
          </a:xfrm>
          <a:prstGeom prst="roundRect">
            <a:avLst>
              <a:gd fmla="val 7101" name="adj"/>
            </a:avLst>
          </a:prstGeom>
          <a:solidFill>
            <a:srgbClr val="FFFFFF">
              <a:alpha val="40000"/>
            </a:srgbClr>
          </a:solidFill>
          <a:ln cap="flat" cmpd="sng" w="11425">
            <a:solidFill>
              <a:srgbClr val="B9BC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forge/chalkie-production-workers-2/releases/78214720/backend/storage/app/render-specs/a150a017-74b3-45d2-90a1-ee5e1050d2e7/img_3cf055081f47b92867813e6ecd990558.png" id="100" name="Google Shape;100;p11"/>
          <p:cNvPicPr preferRelativeResize="0"/>
          <p:nvPr/>
        </p:nvPicPr>
        <p:blipFill rotWithShape="1">
          <a:blip r:embed="rId4">
            <a:alphaModFix/>
          </a:blip>
          <a:srcRect b="0" l="0" r="0" t="0"/>
          <a:stretch/>
        </p:blipFill>
        <p:spPr>
          <a:xfrm>
            <a:off x="411480" y="1062990"/>
            <a:ext cx="548640" cy="548640"/>
          </a:xfrm>
          <a:prstGeom prst="rect">
            <a:avLst/>
          </a:prstGeom>
          <a:noFill/>
          <a:ln>
            <a:noFill/>
          </a:ln>
        </p:spPr>
      </p:pic>
      <p:sp>
        <p:nvSpPr>
          <p:cNvPr id="101" name="Google Shape;101;p11"/>
          <p:cNvSpPr/>
          <p:nvPr/>
        </p:nvSpPr>
        <p:spPr>
          <a:xfrm>
            <a:off x="1005840" y="1062990"/>
            <a:ext cx="3383280" cy="1371600"/>
          </a:xfrm>
          <a:prstGeom prst="rect">
            <a:avLst/>
          </a:prstGeom>
          <a:noFill/>
          <a:ln>
            <a:noFill/>
          </a:ln>
        </p:spPr>
        <p:txBody>
          <a:bodyPr anchorCtr="0" anchor="t" bIns="45700" lIns="45700" spcFirstLastPara="1" rIns="45700" wrap="square" tIns="45700">
            <a:noAutofit/>
          </a:bodyPr>
          <a:lstStyle/>
          <a:p>
            <a:pPr indent="0" lvl="0" marL="0" marR="0" rtl="0" algn="l">
              <a:lnSpc>
                <a:spcPct val="116666"/>
              </a:lnSpc>
              <a:spcBef>
                <a:spcPts val="0"/>
              </a:spcBef>
              <a:spcAft>
                <a:spcPts val="0"/>
              </a:spcAft>
              <a:buClr>
                <a:srgbClr val="040F0F"/>
              </a:buClr>
              <a:buSzPts val="1979"/>
              <a:buFont typeface="Lexend"/>
              <a:buNone/>
            </a:pPr>
            <a:r>
              <a:rPr b="1" i="0" lang="en-US" sz="1980" u="none" cap="none" strike="noStrike">
                <a:solidFill>
                  <a:srgbClr val="040F0F"/>
                </a:solidFill>
                <a:latin typeface="Lexend"/>
                <a:ea typeface="Lexend"/>
                <a:cs typeface="Lexend"/>
                <a:sym typeface="Lexend"/>
              </a:rPr>
              <a:t>O Ambiente</a:t>
            </a:r>
            <a:endParaRPr b="0" i="0" sz="1980" u="none" cap="none" strike="noStrike">
              <a:solidFill>
                <a:schemeClr val="dk1"/>
              </a:solidFill>
              <a:latin typeface="Calibri"/>
              <a:ea typeface="Calibri"/>
              <a:cs typeface="Calibri"/>
              <a:sym typeface="Calibri"/>
            </a:endParaRPr>
          </a:p>
          <a:p>
            <a:pPr indent="0" lvl="0" marL="0" marR="0" rtl="0" algn="l">
              <a:lnSpc>
                <a:spcPct val="116666"/>
              </a:lnSpc>
              <a:spcBef>
                <a:spcPts val="630"/>
              </a:spcBef>
              <a:spcAft>
                <a:spcPts val="0"/>
              </a:spcAft>
              <a:buClr>
                <a:srgbClr val="040F0F"/>
              </a:buClr>
              <a:buSzPts val="1440"/>
              <a:buFont typeface="Lexend"/>
              <a:buNone/>
            </a:pPr>
            <a:r>
              <a:rPr b="0" i="0" lang="en-US" sz="1440" u="none" cap="none" strike="noStrike">
                <a:solidFill>
                  <a:srgbClr val="040F0F"/>
                </a:solidFill>
                <a:latin typeface="Lexend"/>
                <a:ea typeface="Lexend"/>
                <a:cs typeface="Lexend"/>
                <a:sym typeface="Lexend"/>
              </a:rPr>
              <a:t>O espaço físico ou virtual dita as regras sociais: plenário, sala de reunião ou grupo familiar.</a:t>
            </a:r>
            <a:endParaRPr b="0" i="0" sz="1980" u="none" cap="none" strike="noStrike">
              <a:solidFill>
                <a:schemeClr val="dk1"/>
              </a:solidFill>
              <a:latin typeface="Calibri"/>
              <a:ea typeface="Calibri"/>
              <a:cs typeface="Calibri"/>
              <a:sym typeface="Calibri"/>
            </a:endParaRPr>
          </a:p>
        </p:txBody>
      </p:sp>
      <p:sp>
        <p:nvSpPr>
          <p:cNvPr id="102" name="Google Shape;102;p11"/>
          <p:cNvSpPr/>
          <p:nvPr/>
        </p:nvSpPr>
        <p:spPr>
          <a:xfrm>
            <a:off x="4617720" y="925830"/>
            <a:ext cx="4251960" cy="1931670"/>
          </a:xfrm>
          <a:prstGeom prst="roundRect">
            <a:avLst>
              <a:gd fmla="val 7101" name="adj"/>
            </a:avLst>
          </a:prstGeom>
          <a:solidFill>
            <a:srgbClr val="FFFFFF">
              <a:alpha val="40000"/>
            </a:srgbClr>
          </a:solidFill>
          <a:ln cap="flat" cmpd="sng" w="11425">
            <a:solidFill>
              <a:srgbClr val="B9BC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forge/chalkie-production-workers-2/releases/78214720/backend/storage/app/render-specs/a150a017-74b3-45d2-90a1-ee5e1050d2e7/img_b670a855a8d133bfcc4654feef0806f9.png" id="103" name="Google Shape;103;p11"/>
          <p:cNvPicPr preferRelativeResize="0"/>
          <p:nvPr/>
        </p:nvPicPr>
        <p:blipFill rotWithShape="1">
          <a:blip r:embed="rId5">
            <a:alphaModFix/>
          </a:blip>
          <a:srcRect b="0" l="0" r="0" t="0"/>
          <a:stretch/>
        </p:blipFill>
        <p:spPr>
          <a:xfrm>
            <a:off x="4754880" y="1062990"/>
            <a:ext cx="548640" cy="548640"/>
          </a:xfrm>
          <a:prstGeom prst="rect">
            <a:avLst/>
          </a:prstGeom>
          <a:noFill/>
          <a:ln>
            <a:noFill/>
          </a:ln>
        </p:spPr>
      </p:pic>
      <p:sp>
        <p:nvSpPr>
          <p:cNvPr id="104" name="Google Shape;104;p11"/>
          <p:cNvSpPr/>
          <p:nvPr/>
        </p:nvSpPr>
        <p:spPr>
          <a:xfrm>
            <a:off x="5349240" y="1062990"/>
            <a:ext cx="3383280" cy="1371600"/>
          </a:xfrm>
          <a:prstGeom prst="rect">
            <a:avLst/>
          </a:prstGeom>
          <a:noFill/>
          <a:ln>
            <a:noFill/>
          </a:ln>
        </p:spPr>
        <p:txBody>
          <a:bodyPr anchorCtr="0" anchor="t" bIns="45700" lIns="45700" spcFirstLastPara="1" rIns="45700" wrap="square" tIns="45700">
            <a:noAutofit/>
          </a:bodyPr>
          <a:lstStyle/>
          <a:p>
            <a:pPr indent="0" lvl="0" marL="0" marR="0" rtl="0" algn="l">
              <a:lnSpc>
                <a:spcPct val="116666"/>
              </a:lnSpc>
              <a:spcBef>
                <a:spcPts val="0"/>
              </a:spcBef>
              <a:spcAft>
                <a:spcPts val="0"/>
              </a:spcAft>
              <a:buClr>
                <a:srgbClr val="040F0F"/>
              </a:buClr>
              <a:buSzPts val="1979"/>
              <a:buFont typeface="Lexend"/>
              <a:buNone/>
            </a:pPr>
            <a:r>
              <a:rPr b="1" i="0" lang="en-US" sz="1980" u="none" cap="none" strike="noStrike">
                <a:solidFill>
                  <a:srgbClr val="040F0F"/>
                </a:solidFill>
                <a:latin typeface="Lexend"/>
                <a:ea typeface="Lexend"/>
                <a:cs typeface="Lexend"/>
                <a:sym typeface="Lexend"/>
              </a:rPr>
              <a:t>O Interlocutor</a:t>
            </a:r>
            <a:endParaRPr b="0" i="0" sz="1980" u="none" cap="none" strike="noStrike">
              <a:solidFill>
                <a:schemeClr val="dk1"/>
              </a:solidFill>
              <a:latin typeface="Calibri"/>
              <a:ea typeface="Calibri"/>
              <a:cs typeface="Calibri"/>
              <a:sym typeface="Calibri"/>
            </a:endParaRPr>
          </a:p>
          <a:p>
            <a:pPr indent="0" lvl="0" marL="0" marR="0" rtl="0" algn="l">
              <a:lnSpc>
                <a:spcPct val="116666"/>
              </a:lnSpc>
              <a:spcBef>
                <a:spcPts val="630"/>
              </a:spcBef>
              <a:spcAft>
                <a:spcPts val="0"/>
              </a:spcAft>
              <a:buClr>
                <a:srgbClr val="040F0F"/>
              </a:buClr>
              <a:buSzPts val="1440"/>
              <a:buFont typeface="Lexend"/>
              <a:buNone/>
            </a:pPr>
            <a:r>
              <a:rPr b="0" i="0" lang="en-US" sz="1440" u="none" cap="none" strike="noStrike">
                <a:solidFill>
                  <a:srgbClr val="040F0F"/>
                </a:solidFill>
                <a:latin typeface="Lexend"/>
                <a:ea typeface="Lexend"/>
                <a:cs typeface="Lexend"/>
                <a:sym typeface="Lexend"/>
              </a:rPr>
              <a:t>O grau de intimidade, idade e hierarquia definem a proximidade e o tratamento empregado.</a:t>
            </a:r>
            <a:endParaRPr b="0" i="0" sz="1980" u="none" cap="none" strike="noStrike">
              <a:solidFill>
                <a:schemeClr val="dk1"/>
              </a:solidFill>
              <a:latin typeface="Calibri"/>
              <a:ea typeface="Calibri"/>
              <a:cs typeface="Calibri"/>
              <a:sym typeface="Calibri"/>
            </a:endParaRPr>
          </a:p>
        </p:txBody>
      </p:sp>
      <p:sp>
        <p:nvSpPr>
          <p:cNvPr id="105" name="Google Shape;105;p11"/>
          <p:cNvSpPr/>
          <p:nvPr/>
        </p:nvSpPr>
        <p:spPr>
          <a:xfrm>
            <a:off x="274320" y="2948940"/>
            <a:ext cx="4251960" cy="1931670"/>
          </a:xfrm>
          <a:prstGeom prst="roundRect">
            <a:avLst>
              <a:gd fmla="val 7101" name="adj"/>
            </a:avLst>
          </a:prstGeom>
          <a:solidFill>
            <a:srgbClr val="FFFFFF">
              <a:alpha val="40000"/>
            </a:srgbClr>
          </a:solidFill>
          <a:ln cap="flat" cmpd="sng" w="11425">
            <a:solidFill>
              <a:srgbClr val="B9BC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forge/chalkie-production-workers-2/releases/78214720/backend/storage/app/render-specs/a150a017-74b3-45d2-90a1-ee5e1050d2e7/img_07abc1cadd6af57be7f85fa328c5786f.png" id="106" name="Google Shape;106;p11"/>
          <p:cNvPicPr preferRelativeResize="0"/>
          <p:nvPr/>
        </p:nvPicPr>
        <p:blipFill rotWithShape="1">
          <a:blip r:embed="rId6">
            <a:alphaModFix/>
          </a:blip>
          <a:srcRect b="0" l="0" r="0" t="0"/>
          <a:stretch/>
        </p:blipFill>
        <p:spPr>
          <a:xfrm>
            <a:off x="411480" y="3086100"/>
            <a:ext cx="548640" cy="548640"/>
          </a:xfrm>
          <a:prstGeom prst="rect">
            <a:avLst/>
          </a:prstGeom>
          <a:noFill/>
          <a:ln>
            <a:noFill/>
          </a:ln>
        </p:spPr>
      </p:pic>
      <p:sp>
        <p:nvSpPr>
          <p:cNvPr id="107" name="Google Shape;107;p11"/>
          <p:cNvSpPr/>
          <p:nvPr/>
        </p:nvSpPr>
        <p:spPr>
          <a:xfrm>
            <a:off x="1005840" y="3086100"/>
            <a:ext cx="3383280" cy="1634490"/>
          </a:xfrm>
          <a:prstGeom prst="rect">
            <a:avLst/>
          </a:prstGeom>
          <a:noFill/>
          <a:ln>
            <a:noFill/>
          </a:ln>
        </p:spPr>
        <p:txBody>
          <a:bodyPr anchorCtr="0" anchor="t" bIns="45700" lIns="45700" spcFirstLastPara="1" rIns="45700" wrap="square" tIns="45700">
            <a:noAutofit/>
          </a:bodyPr>
          <a:lstStyle/>
          <a:p>
            <a:pPr indent="0" lvl="0" marL="0" marR="0" rtl="0" algn="l">
              <a:lnSpc>
                <a:spcPct val="116666"/>
              </a:lnSpc>
              <a:spcBef>
                <a:spcPts val="0"/>
              </a:spcBef>
              <a:spcAft>
                <a:spcPts val="0"/>
              </a:spcAft>
              <a:buClr>
                <a:srgbClr val="040F0F"/>
              </a:buClr>
              <a:buSzPts val="1979"/>
              <a:buFont typeface="Lexend"/>
              <a:buNone/>
            </a:pPr>
            <a:r>
              <a:rPr b="1" i="0" lang="en-US" sz="1980" u="none" cap="none" strike="noStrike">
                <a:solidFill>
                  <a:srgbClr val="040F0F"/>
                </a:solidFill>
                <a:latin typeface="Lexend"/>
                <a:ea typeface="Lexend"/>
                <a:cs typeface="Lexend"/>
                <a:sym typeface="Lexend"/>
              </a:rPr>
              <a:t>O Objetivo</a:t>
            </a:r>
            <a:endParaRPr b="0" i="0" sz="1980" u="none" cap="none" strike="noStrike">
              <a:solidFill>
                <a:schemeClr val="dk1"/>
              </a:solidFill>
              <a:latin typeface="Calibri"/>
              <a:ea typeface="Calibri"/>
              <a:cs typeface="Calibri"/>
              <a:sym typeface="Calibri"/>
            </a:endParaRPr>
          </a:p>
          <a:p>
            <a:pPr indent="0" lvl="0" marL="0" marR="0" rtl="0" algn="l">
              <a:lnSpc>
                <a:spcPct val="116666"/>
              </a:lnSpc>
              <a:spcBef>
                <a:spcPts val="630"/>
              </a:spcBef>
              <a:spcAft>
                <a:spcPts val="0"/>
              </a:spcAft>
              <a:buClr>
                <a:srgbClr val="040F0F"/>
              </a:buClr>
              <a:buSzPts val="1440"/>
              <a:buFont typeface="Lexend"/>
              <a:buNone/>
            </a:pPr>
            <a:r>
              <a:rPr b="0" i="0" lang="en-US" sz="1440" u="none" cap="none" strike="noStrike">
                <a:solidFill>
                  <a:srgbClr val="040F0F"/>
                </a:solidFill>
                <a:latin typeface="Lexend"/>
                <a:ea typeface="Lexend"/>
                <a:cs typeface="Lexend"/>
                <a:sym typeface="Lexend"/>
              </a:rPr>
              <a:t>O que você pretende alcançar: solicitar algo formalmente, desabafar, ensinar ou fechar um acordo.</a:t>
            </a:r>
            <a:endParaRPr b="0" i="0" sz="1980" u="none" cap="none" strike="noStrike">
              <a:solidFill>
                <a:schemeClr val="dk1"/>
              </a:solidFill>
              <a:latin typeface="Calibri"/>
              <a:ea typeface="Calibri"/>
              <a:cs typeface="Calibri"/>
              <a:sym typeface="Calibri"/>
            </a:endParaRPr>
          </a:p>
        </p:txBody>
      </p:sp>
      <p:sp>
        <p:nvSpPr>
          <p:cNvPr id="108" name="Google Shape;108;p11"/>
          <p:cNvSpPr/>
          <p:nvPr/>
        </p:nvSpPr>
        <p:spPr>
          <a:xfrm>
            <a:off x="4617720" y="2948940"/>
            <a:ext cx="4251960" cy="1931670"/>
          </a:xfrm>
          <a:prstGeom prst="roundRect">
            <a:avLst>
              <a:gd fmla="val 7101" name="adj"/>
            </a:avLst>
          </a:prstGeom>
          <a:solidFill>
            <a:srgbClr val="FFFFFF">
              <a:alpha val="40000"/>
            </a:srgbClr>
          </a:solidFill>
          <a:ln cap="flat" cmpd="sng" w="11425">
            <a:solidFill>
              <a:srgbClr val="B9BC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forge/chalkie-production-workers-2/releases/78214720/backend/storage/app/render-specs/a150a017-74b3-45d2-90a1-ee5e1050d2e7/img_1cd6710d795dec3cd9712226da815563.png" id="109" name="Google Shape;109;p11"/>
          <p:cNvPicPr preferRelativeResize="0"/>
          <p:nvPr/>
        </p:nvPicPr>
        <p:blipFill rotWithShape="1">
          <a:blip r:embed="rId7">
            <a:alphaModFix/>
          </a:blip>
          <a:srcRect b="0" l="0" r="0" t="0"/>
          <a:stretch/>
        </p:blipFill>
        <p:spPr>
          <a:xfrm>
            <a:off x="4754880" y="3086100"/>
            <a:ext cx="548640" cy="548640"/>
          </a:xfrm>
          <a:prstGeom prst="rect">
            <a:avLst/>
          </a:prstGeom>
          <a:noFill/>
          <a:ln>
            <a:noFill/>
          </a:ln>
        </p:spPr>
      </p:pic>
      <p:sp>
        <p:nvSpPr>
          <p:cNvPr id="110" name="Google Shape;110;p11"/>
          <p:cNvSpPr/>
          <p:nvPr/>
        </p:nvSpPr>
        <p:spPr>
          <a:xfrm>
            <a:off x="5349240" y="3086100"/>
            <a:ext cx="3383280" cy="1634490"/>
          </a:xfrm>
          <a:prstGeom prst="rect">
            <a:avLst/>
          </a:prstGeom>
          <a:noFill/>
          <a:ln>
            <a:noFill/>
          </a:ln>
        </p:spPr>
        <p:txBody>
          <a:bodyPr anchorCtr="0" anchor="t" bIns="45700" lIns="45700" spcFirstLastPara="1" rIns="45700" wrap="square" tIns="45700">
            <a:noAutofit/>
          </a:bodyPr>
          <a:lstStyle/>
          <a:p>
            <a:pPr indent="0" lvl="0" marL="0" marR="0" rtl="0" algn="l">
              <a:lnSpc>
                <a:spcPct val="116666"/>
              </a:lnSpc>
              <a:spcBef>
                <a:spcPts val="0"/>
              </a:spcBef>
              <a:spcAft>
                <a:spcPts val="0"/>
              </a:spcAft>
              <a:buClr>
                <a:srgbClr val="040F0F"/>
              </a:buClr>
              <a:buSzPts val="1979"/>
              <a:buFont typeface="Lexend"/>
              <a:buNone/>
            </a:pPr>
            <a:r>
              <a:rPr b="1" i="0" lang="en-US" sz="1980" u="none" cap="none" strike="noStrike">
                <a:solidFill>
                  <a:srgbClr val="040F0F"/>
                </a:solidFill>
                <a:latin typeface="Lexend"/>
                <a:ea typeface="Lexend"/>
                <a:cs typeface="Lexend"/>
                <a:sym typeface="Lexend"/>
              </a:rPr>
              <a:t>A Adequação</a:t>
            </a:r>
            <a:endParaRPr b="0" i="0" sz="1980" u="none" cap="none" strike="noStrike">
              <a:solidFill>
                <a:schemeClr val="dk1"/>
              </a:solidFill>
              <a:latin typeface="Calibri"/>
              <a:ea typeface="Calibri"/>
              <a:cs typeface="Calibri"/>
              <a:sym typeface="Calibri"/>
            </a:endParaRPr>
          </a:p>
          <a:p>
            <a:pPr indent="0" lvl="0" marL="0" marR="0" rtl="0" algn="l">
              <a:lnSpc>
                <a:spcPct val="116666"/>
              </a:lnSpc>
              <a:spcBef>
                <a:spcPts val="630"/>
              </a:spcBef>
              <a:spcAft>
                <a:spcPts val="0"/>
              </a:spcAft>
              <a:buClr>
                <a:srgbClr val="040F0F"/>
              </a:buClr>
              <a:buSzPts val="1440"/>
              <a:buFont typeface="Lexend"/>
              <a:buNone/>
            </a:pPr>
            <a:r>
              <a:rPr b="0" i="0" lang="en-US" sz="1440" u="none" cap="none" strike="noStrike">
                <a:solidFill>
                  <a:srgbClr val="040F0F"/>
                </a:solidFill>
                <a:latin typeface="Lexend"/>
                <a:ea typeface="Lexend"/>
                <a:cs typeface="Lexend"/>
                <a:sym typeface="Lexend"/>
              </a:rPr>
              <a:t>A convergência harmônica desses três pilares garante que a mensagem gere o impacto planejado.</a:t>
            </a:r>
            <a:endParaRPr b="0" i="0" sz="198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5" name="Shape 115"/>
        <p:cNvGrpSpPr/>
        <p:nvPr/>
      </p:nvGrpSpPr>
      <p:grpSpPr>
        <a:xfrm>
          <a:off x="0" y="0"/>
          <a:ext cx="0" cy="0"/>
          <a:chOff x="0" y="0"/>
          <a:chExt cx="0" cy="0"/>
        </a:xfrm>
      </p:grpSpPr>
      <p:sp>
        <p:nvSpPr>
          <p:cNvPr id="116" name="Google Shape;116;p12"/>
          <p:cNvSpPr/>
          <p:nvPr/>
        </p:nvSpPr>
        <p:spPr>
          <a:xfrm>
            <a:off x="274320" y="697230"/>
            <a:ext cx="4846320" cy="1085850"/>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2880"/>
              <a:buFont typeface="Lexend"/>
              <a:buNone/>
            </a:pPr>
            <a:r>
              <a:rPr b="1" i="0" lang="en-US" sz="2880" u="none" cap="none" strike="noStrike">
                <a:solidFill>
                  <a:srgbClr val="040F0F"/>
                </a:solidFill>
                <a:latin typeface="Lexend"/>
                <a:ea typeface="Lexend"/>
                <a:cs typeface="Lexend"/>
                <a:sym typeface="Lexend"/>
              </a:rPr>
              <a:t>Certo ou Errado Não Existem</a:t>
            </a:r>
            <a:endParaRPr b="0" i="0" sz="2880" u="none" cap="none" strike="noStrike">
              <a:solidFill>
                <a:schemeClr val="dk1"/>
              </a:solidFill>
              <a:latin typeface="Calibri"/>
              <a:ea typeface="Calibri"/>
              <a:cs typeface="Calibri"/>
              <a:sym typeface="Calibri"/>
            </a:endParaRPr>
          </a:p>
        </p:txBody>
      </p:sp>
      <p:sp>
        <p:nvSpPr>
          <p:cNvPr id="117" name="Google Shape;117;p12"/>
          <p:cNvSpPr/>
          <p:nvPr/>
        </p:nvSpPr>
        <p:spPr>
          <a:xfrm>
            <a:off x="274320" y="1965960"/>
            <a:ext cx="4846320" cy="2388870"/>
          </a:xfrm>
          <a:prstGeom prst="rect">
            <a:avLst/>
          </a:prstGeom>
          <a:noFill/>
          <a:ln>
            <a:noFill/>
          </a:ln>
        </p:spPr>
        <p:txBody>
          <a:bodyPr anchorCtr="0" anchor="t" bIns="45700" lIns="45700" spcFirstLastPara="1" rIns="45700" wrap="square" tIns="45700">
            <a:noAutofit/>
          </a:bodyPr>
          <a:lstStyle/>
          <a:p>
            <a:pPr indent="0" lvl="0" marL="0" marR="0" rtl="0" algn="l">
              <a:lnSpc>
                <a:spcPct val="116666"/>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Na linguística moderna, substituímos a dicotomia "certo versus errado" pelo conceito de </a:t>
            </a:r>
            <a:r>
              <a:rPr b="1" i="0" lang="en-US" sz="1620" u="none" cap="none" strike="noStrike">
                <a:solidFill>
                  <a:srgbClr val="040F0F"/>
                </a:solidFill>
                <a:latin typeface="Lexend"/>
                <a:ea typeface="Lexend"/>
                <a:cs typeface="Lexend"/>
                <a:sym typeface="Lexend"/>
              </a:rPr>
              <a:t>adequação ao contexto</a:t>
            </a:r>
            <a:r>
              <a:rPr b="0" i="0" lang="en-US" sz="1620" u="none" cap="none" strike="noStrike">
                <a:solidFill>
                  <a:srgbClr val="040F0F"/>
                </a:solidFill>
                <a:latin typeface="Lexend"/>
                <a:ea typeface="Lexend"/>
                <a:cs typeface="Lexend"/>
                <a:sym typeface="Lexend"/>
              </a:rPr>
              <a:t>.</a:t>
            </a:r>
            <a:endParaRPr b="0" i="0" sz="1620" u="none" cap="none" strike="noStrike">
              <a:solidFill>
                <a:schemeClr val="dk1"/>
              </a:solidFill>
              <a:latin typeface="Calibri"/>
              <a:ea typeface="Calibri"/>
              <a:cs typeface="Calibri"/>
              <a:sym typeface="Calibri"/>
            </a:endParaRPr>
          </a:p>
          <a:p>
            <a:pPr indent="0" lvl="0" marL="0" marR="0" rtl="0" algn="l">
              <a:lnSpc>
                <a:spcPct val="116666"/>
              </a:lnSpc>
              <a:spcBef>
                <a:spcPts val="72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Falar de terno na praia soa tão estranho quanto comparecer de bermuda a uma audiência judicial. Com as palavras ocorre exatamente o mesmo fenômeno social.</a:t>
            </a:r>
            <a:endParaRPr b="0" i="0" sz="1620" u="none" cap="none" strike="noStrike">
              <a:solidFill>
                <a:schemeClr val="dk1"/>
              </a:solidFill>
              <a:latin typeface="Calibri"/>
              <a:ea typeface="Calibri"/>
              <a:cs typeface="Calibri"/>
              <a:sym typeface="Calibri"/>
            </a:endParaRPr>
          </a:p>
        </p:txBody>
      </p:sp>
      <p:pic>
        <p:nvPicPr>
          <p:cNvPr descr="/home/forge/chalkie-production-workers-2/releases/78214720/backend/storage/app/render-specs/a150a017-74b3-45d2-90a1-ee5e1050d2e7/img_51f3028b52418c9e1b6251ef74dc79c2.png" id="118" name="Google Shape;118;p12"/>
          <p:cNvPicPr preferRelativeResize="0"/>
          <p:nvPr/>
        </p:nvPicPr>
        <p:blipFill rotWithShape="1">
          <a:blip r:embed="rId4">
            <a:alphaModFix/>
          </a:blip>
          <a:srcRect b="0" l="0" r="0" t="0"/>
          <a:stretch/>
        </p:blipFill>
        <p:spPr>
          <a:xfrm>
            <a:off x="5486400" y="0"/>
            <a:ext cx="3657600" cy="5143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3" name="Shape 123"/>
        <p:cNvGrpSpPr/>
        <p:nvPr/>
      </p:nvGrpSpPr>
      <p:grpSpPr>
        <a:xfrm>
          <a:off x="0" y="0"/>
          <a:ext cx="0" cy="0"/>
          <a:chOff x="0" y="0"/>
          <a:chExt cx="0" cy="0"/>
        </a:xfrm>
      </p:grpSpPr>
      <p:sp>
        <p:nvSpPr>
          <p:cNvPr id="124" name="Google Shape;124;p13"/>
          <p:cNvSpPr/>
          <p:nvPr/>
        </p:nvSpPr>
        <p:spPr>
          <a:xfrm>
            <a:off x="274320" y="182880"/>
            <a:ext cx="8595360" cy="651510"/>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2880"/>
              <a:buFont typeface="Lexend"/>
              <a:buNone/>
            </a:pPr>
            <a:r>
              <a:rPr b="1" i="0" lang="en-US" sz="2880" u="none" cap="none" strike="noStrike">
                <a:solidFill>
                  <a:srgbClr val="040F0F"/>
                </a:solidFill>
                <a:latin typeface="Lexend"/>
                <a:ea typeface="Lexend"/>
                <a:cs typeface="Lexend"/>
                <a:sym typeface="Lexend"/>
              </a:rPr>
              <a:t>Gírias: Quando Elas Cabem?</a:t>
            </a:r>
            <a:endParaRPr b="0" i="0" sz="2880" u="none" cap="none" strike="noStrike">
              <a:solidFill>
                <a:schemeClr val="dk1"/>
              </a:solidFill>
              <a:latin typeface="Calibri"/>
              <a:ea typeface="Calibri"/>
              <a:cs typeface="Calibri"/>
              <a:sym typeface="Calibri"/>
            </a:endParaRPr>
          </a:p>
        </p:txBody>
      </p:sp>
      <p:sp>
        <p:nvSpPr>
          <p:cNvPr id="125" name="Google Shape;125;p13"/>
          <p:cNvSpPr/>
          <p:nvPr/>
        </p:nvSpPr>
        <p:spPr>
          <a:xfrm>
            <a:off x="274320" y="925830"/>
            <a:ext cx="4503420" cy="2571750"/>
          </a:xfrm>
          <a:prstGeom prst="rect">
            <a:avLst/>
          </a:prstGeom>
          <a:noFill/>
          <a:ln>
            <a:noFill/>
          </a:ln>
        </p:spPr>
        <p:txBody>
          <a:bodyPr anchorCtr="0" anchor="t" bIns="45700" lIns="45700" spcFirstLastPara="1" rIns="45700" wrap="square" tIns="45700">
            <a:noAutofit/>
          </a:bodyPr>
          <a:lstStyle/>
          <a:p>
            <a:pPr indent="0" lvl="0" marL="0" marR="0" rtl="0" algn="l">
              <a:lnSpc>
                <a:spcPct val="116666"/>
              </a:lnSpc>
              <a:spcBef>
                <a:spcPts val="0"/>
              </a:spcBef>
              <a:spcAft>
                <a:spcPts val="0"/>
              </a:spcAft>
              <a:buClr>
                <a:srgbClr val="040F0F"/>
              </a:buClr>
              <a:buSzPts val="1530"/>
              <a:buFont typeface="Lexend"/>
              <a:buNone/>
            </a:pPr>
            <a:r>
              <a:rPr b="0" i="0" lang="en-US" sz="1530" u="none" cap="none" strike="noStrike">
                <a:solidFill>
                  <a:srgbClr val="040F0F"/>
                </a:solidFill>
                <a:latin typeface="Lexend"/>
                <a:ea typeface="Lexend"/>
                <a:cs typeface="Lexend"/>
                <a:sym typeface="Lexend"/>
              </a:rPr>
              <a:t>As gírias são expressões dinâmicas que criam </a:t>
            </a:r>
            <a:r>
              <a:rPr b="1" i="0" lang="en-US" sz="1530" u="none" cap="none" strike="noStrike">
                <a:solidFill>
                  <a:srgbClr val="040F0F"/>
                </a:solidFill>
                <a:latin typeface="Lexend"/>
                <a:ea typeface="Lexend"/>
                <a:cs typeface="Lexend"/>
                <a:sym typeface="Lexend"/>
              </a:rPr>
              <a:t>identidade e vínculo</a:t>
            </a:r>
            <a:r>
              <a:rPr b="0" i="0" lang="en-US" sz="1530" u="none" cap="none" strike="noStrike">
                <a:solidFill>
                  <a:srgbClr val="040F0F"/>
                </a:solidFill>
                <a:latin typeface="Lexend"/>
                <a:ea typeface="Lexend"/>
                <a:cs typeface="Lexend"/>
                <a:sym typeface="Lexend"/>
              </a:rPr>
              <a:t> entre membros de um mesmo grupo social ou faixa etária.</a:t>
            </a:r>
            <a:endParaRPr b="0" i="0" sz="1530" u="none" cap="none" strike="noStrike">
              <a:solidFill>
                <a:schemeClr val="dk1"/>
              </a:solidFill>
              <a:latin typeface="Calibri"/>
              <a:ea typeface="Calibri"/>
              <a:cs typeface="Calibri"/>
              <a:sym typeface="Calibri"/>
            </a:endParaRPr>
          </a:p>
          <a:p>
            <a:pPr indent="-228600" lvl="0" marL="228600" marR="0" rtl="0" algn="l">
              <a:lnSpc>
                <a:spcPct val="116666"/>
              </a:lnSpc>
              <a:spcBef>
                <a:spcPts val="585"/>
              </a:spcBef>
              <a:spcAft>
                <a:spcPts val="0"/>
              </a:spcAft>
              <a:buClr>
                <a:srgbClr val="040F0F"/>
              </a:buClr>
              <a:buSzPts val="1530"/>
              <a:buFont typeface="Lexend"/>
              <a:buChar char="•"/>
            </a:pPr>
            <a:r>
              <a:rPr b="1" i="0" lang="en-US" sz="1530" u="none" cap="none" strike="noStrike">
                <a:solidFill>
                  <a:srgbClr val="040F0F"/>
                </a:solidFill>
                <a:latin typeface="Lexend"/>
                <a:ea typeface="Lexend"/>
                <a:cs typeface="Lexend"/>
                <a:sym typeface="Lexend"/>
              </a:rPr>
              <a:t>No convívio pessoal:</a:t>
            </a:r>
            <a:r>
              <a:rPr b="0" i="0" lang="en-US" sz="1530" u="none" cap="none" strike="noStrike">
                <a:solidFill>
                  <a:srgbClr val="040F0F"/>
                </a:solidFill>
                <a:latin typeface="Lexend"/>
                <a:ea typeface="Lexend"/>
                <a:cs typeface="Lexend"/>
                <a:sym typeface="Lexend"/>
              </a:rPr>
              <a:t> Abreviam caminhos e demonstram intimidade calorosa.</a:t>
            </a:r>
            <a:endParaRPr b="0" i="0" sz="1530" u="none" cap="none" strike="noStrike">
              <a:solidFill>
                <a:schemeClr val="dk1"/>
              </a:solidFill>
              <a:latin typeface="Calibri"/>
              <a:ea typeface="Calibri"/>
              <a:cs typeface="Calibri"/>
              <a:sym typeface="Calibri"/>
            </a:endParaRPr>
          </a:p>
          <a:p>
            <a:pPr indent="-228600" lvl="0" marL="228600" marR="0" rtl="0" algn="l">
              <a:lnSpc>
                <a:spcPct val="116666"/>
              </a:lnSpc>
              <a:spcBef>
                <a:spcPts val="450"/>
              </a:spcBef>
              <a:spcAft>
                <a:spcPts val="0"/>
              </a:spcAft>
              <a:buClr>
                <a:srgbClr val="040F0F"/>
              </a:buClr>
              <a:buSzPts val="1530"/>
              <a:buFont typeface="Lexend"/>
              <a:buChar char="•"/>
            </a:pPr>
            <a:r>
              <a:rPr b="1" i="0" lang="en-US" sz="1530" u="none" cap="none" strike="noStrike">
                <a:solidFill>
                  <a:srgbClr val="040F0F"/>
                </a:solidFill>
                <a:latin typeface="Lexend"/>
                <a:ea typeface="Lexend"/>
                <a:cs typeface="Lexend"/>
                <a:sym typeface="Lexend"/>
              </a:rPr>
              <a:t>No contexto corporativo:</a:t>
            </a:r>
            <a:r>
              <a:rPr b="0" i="0" lang="en-US" sz="1530" u="none" cap="none" strike="noStrike">
                <a:solidFill>
                  <a:srgbClr val="040F0F"/>
                </a:solidFill>
                <a:latin typeface="Lexend"/>
                <a:ea typeface="Lexend"/>
                <a:cs typeface="Lexend"/>
                <a:sym typeface="Lexend"/>
              </a:rPr>
              <a:t> Podem soar desleixadas ou excluir interlocutores de outras gerações.</a:t>
            </a:r>
            <a:endParaRPr b="0" i="0" sz="1530" u="none" cap="none" strike="noStrike">
              <a:solidFill>
                <a:schemeClr val="dk1"/>
              </a:solidFill>
              <a:latin typeface="Calibri"/>
              <a:ea typeface="Calibri"/>
              <a:cs typeface="Calibri"/>
              <a:sym typeface="Calibri"/>
            </a:endParaRPr>
          </a:p>
        </p:txBody>
      </p:sp>
      <p:sp>
        <p:nvSpPr>
          <p:cNvPr id="126" name="Google Shape;126;p13"/>
          <p:cNvSpPr/>
          <p:nvPr/>
        </p:nvSpPr>
        <p:spPr>
          <a:xfrm>
            <a:off x="274320" y="3497580"/>
            <a:ext cx="4503420" cy="1303020"/>
          </a:xfrm>
          <a:prstGeom prst="roundRect">
            <a:avLst>
              <a:gd fmla="val 7018" name="adj"/>
            </a:avLst>
          </a:prstGeom>
          <a:solidFill>
            <a:srgbClr val="E6F1FB"/>
          </a:solidFill>
          <a:ln cap="flat" cmpd="sng" w="11425">
            <a:solidFill>
              <a:srgbClr val="0B2F50">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3"/>
          <p:cNvSpPr/>
          <p:nvPr/>
        </p:nvSpPr>
        <p:spPr>
          <a:xfrm>
            <a:off x="400050" y="3623310"/>
            <a:ext cx="320040" cy="468630"/>
          </a:xfrm>
          <a:prstGeom prst="rect">
            <a:avLst/>
          </a:prstGeom>
          <a:noFill/>
          <a:ln>
            <a:noFill/>
          </a:ln>
        </p:spPr>
        <p:txBody>
          <a:bodyPr anchorCtr="0" anchor="t" bIns="45700" lIns="45700" spcFirstLastPara="1" rIns="45700" wrap="square" tIns="45700">
            <a:noAutofit/>
          </a:bodyPr>
          <a:lstStyle/>
          <a:p>
            <a:pPr indent="0" lvl="0" marL="0" marR="0" rtl="0" algn="l">
              <a:lnSpc>
                <a:spcPct val="83333"/>
              </a:lnSpc>
              <a:spcBef>
                <a:spcPts val="0"/>
              </a:spcBef>
              <a:spcAft>
                <a:spcPts val="0"/>
              </a:spcAft>
              <a:buClr>
                <a:srgbClr val="0B2F50"/>
              </a:buClr>
              <a:buSzPts val="2070"/>
              <a:buFont typeface="Lexend"/>
              <a:buNone/>
            </a:pPr>
            <a:r>
              <a:rPr b="0" i="0" lang="en-US" sz="2070" u="none" cap="none" strike="noStrike">
                <a:solidFill>
                  <a:srgbClr val="0B2F50"/>
                </a:solidFill>
                <a:latin typeface="Lexend"/>
                <a:ea typeface="Lexend"/>
                <a:cs typeface="Lexend"/>
                <a:sym typeface="Lexend"/>
              </a:rPr>
              <a:t>📌</a:t>
            </a:r>
            <a:endParaRPr b="0" i="0" sz="2070" u="none" cap="none" strike="noStrike">
              <a:solidFill>
                <a:schemeClr val="dk1"/>
              </a:solidFill>
              <a:latin typeface="Calibri"/>
              <a:ea typeface="Calibri"/>
              <a:cs typeface="Calibri"/>
              <a:sym typeface="Calibri"/>
            </a:endParaRPr>
          </a:p>
        </p:txBody>
      </p:sp>
      <p:sp>
        <p:nvSpPr>
          <p:cNvPr id="128" name="Google Shape;128;p13"/>
          <p:cNvSpPr/>
          <p:nvPr/>
        </p:nvSpPr>
        <p:spPr>
          <a:xfrm>
            <a:off x="765810" y="3623310"/>
            <a:ext cx="3886200" cy="1051560"/>
          </a:xfrm>
          <a:prstGeom prst="rect">
            <a:avLst/>
          </a:prstGeom>
          <a:noFill/>
          <a:ln>
            <a:noFill/>
          </a:ln>
        </p:spPr>
        <p:txBody>
          <a:bodyPr anchorCtr="0" anchor="t" bIns="45700" lIns="45700" spcFirstLastPara="1" rIns="45700" wrap="square" tIns="45700">
            <a:noAutofit/>
          </a:bodyPr>
          <a:lstStyle/>
          <a:p>
            <a:pPr indent="0" lvl="0" marL="0" marR="0" rtl="0" algn="l">
              <a:lnSpc>
                <a:spcPct val="116666"/>
              </a:lnSpc>
              <a:spcBef>
                <a:spcPts val="0"/>
              </a:spcBef>
              <a:spcAft>
                <a:spcPts val="0"/>
              </a:spcAft>
              <a:buClr>
                <a:srgbClr val="0B2F50"/>
              </a:buClr>
              <a:buSzPts val="1440"/>
              <a:buFont typeface="Lexend"/>
              <a:buNone/>
            </a:pPr>
            <a:r>
              <a:rPr b="1" i="0" lang="en-US" sz="1440" u="none" cap="none" strike="noStrike">
                <a:solidFill>
                  <a:srgbClr val="0B2F50"/>
                </a:solidFill>
                <a:latin typeface="Lexend"/>
                <a:ea typeface="Lexend"/>
                <a:cs typeface="Lexend"/>
                <a:sym typeface="Lexend"/>
              </a:rPr>
              <a:t>Definição</a:t>
            </a:r>
            <a:endParaRPr b="0" i="0" sz="1440" u="none" cap="none" strike="noStrike">
              <a:solidFill>
                <a:schemeClr val="dk1"/>
              </a:solidFill>
              <a:latin typeface="Calibri"/>
              <a:ea typeface="Calibri"/>
              <a:cs typeface="Calibri"/>
              <a:sym typeface="Calibri"/>
            </a:endParaRPr>
          </a:p>
          <a:p>
            <a:pPr indent="0" lvl="0" marL="0" marR="0" rtl="0" algn="l">
              <a:lnSpc>
                <a:spcPct val="116666"/>
              </a:lnSpc>
              <a:spcBef>
                <a:spcPts val="630"/>
              </a:spcBef>
              <a:spcAft>
                <a:spcPts val="0"/>
              </a:spcAft>
              <a:buClr>
                <a:srgbClr val="0B2F50"/>
              </a:buClr>
              <a:buSzPts val="1530"/>
              <a:buFont typeface="Lexend"/>
              <a:buNone/>
            </a:pPr>
            <a:r>
              <a:rPr b="0" i="0" lang="en-US" sz="1530" u="none" cap="none" strike="noStrike">
                <a:solidFill>
                  <a:srgbClr val="0B2F50"/>
                </a:solidFill>
                <a:latin typeface="Lexend"/>
                <a:ea typeface="Lexend"/>
                <a:cs typeface="Lexend"/>
                <a:sym typeface="Lexend"/>
              </a:rPr>
              <a:t>Gíria é instrumento de pertencimento, não de universalidade.</a:t>
            </a:r>
            <a:endParaRPr b="0" i="0" sz="1440" u="none" cap="none" strike="noStrike">
              <a:solidFill>
                <a:schemeClr val="dk1"/>
              </a:solidFill>
              <a:latin typeface="Calibri"/>
              <a:ea typeface="Calibri"/>
              <a:cs typeface="Calibri"/>
              <a:sym typeface="Calibri"/>
            </a:endParaRPr>
          </a:p>
        </p:txBody>
      </p:sp>
      <p:pic>
        <p:nvPicPr>
          <p:cNvPr descr="/home/forge/chalkie-production-workers-2/releases/78214720/backend/storage/app/render-specs/a150a017-74b3-45d2-90a1-ee5e1050d2e7/img_416ab14739a5fcb42f68b6095c0c82a3.png" id="129" name="Google Shape;129;p13"/>
          <p:cNvPicPr preferRelativeResize="0"/>
          <p:nvPr/>
        </p:nvPicPr>
        <p:blipFill rotWithShape="1">
          <a:blip r:embed="rId4">
            <a:alphaModFix/>
          </a:blip>
          <a:srcRect b="0" l="0" r="0" t="0"/>
          <a:stretch/>
        </p:blipFill>
        <p:spPr>
          <a:xfrm>
            <a:off x="4960620" y="925830"/>
            <a:ext cx="3909060" cy="3429000"/>
          </a:xfrm>
          <a:prstGeom prst="roundRect">
            <a:avLst>
              <a:gd fmla="val 4000" name="adj"/>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4" name="Shape 134"/>
        <p:cNvGrpSpPr/>
        <p:nvPr/>
      </p:nvGrpSpPr>
      <p:grpSpPr>
        <a:xfrm>
          <a:off x="0" y="0"/>
          <a:ext cx="0" cy="0"/>
          <a:chOff x="0" y="0"/>
          <a:chExt cx="0" cy="0"/>
        </a:xfrm>
      </p:grpSpPr>
      <p:sp>
        <p:nvSpPr>
          <p:cNvPr id="135" name="Google Shape;135;p14"/>
          <p:cNvSpPr/>
          <p:nvPr/>
        </p:nvSpPr>
        <p:spPr>
          <a:xfrm>
            <a:off x="274320" y="182880"/>
            <a:ext cx="2743200" cy="1085850"/>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2880"/>
              <a:buFont typeface="Lexend"/>
              <a:buNone/>
            </a:pPr>
            <a:r>
              <a:rPr b="1" i="0" lang="en-US" sz="2880" u="none" cap="none" strike="noStrike">
                <a:solidFill>
                  <a:srgbClr val="040F0F"/>
                </a:solidFill>
                <a:latin typeface="Lexend"/>
                <a:ea typeface="Lexend"/>
                <a:cs typeface="Lexend"/>
                <a:sym typeface="Lexend"/>
              </a:rPr>
              <a:t>Abreviações Digitais</a:t>
            </a:r>
            <a:endParaRPr b="0" i="0" sz="2880" u="none" cap="none" strike="noStrike">
              <a:solidFill>
                <a:schemeClr val="dk1"/>
              </a:solidFill>
              <a:latin typeface="Calibri"/>
              <a:ea typeface="Calibri"/>
              <a:cs typeface="Calibri"/>
              <a:sym typeface="Calibri"/>
            </a:endParaRPr>
          </a:p>
        </p:txBody>
      </p:sp>
      <p:sp>
        <p:nvSpPr>
          <p:cNvPr id="136" name="Google Shape;136;p14"/>
          <p:cNvSpPr/>
          <p:nvPr/>
        </p:nvSpPr>
        <p:spPr>
          <a:xfrm>
            <a:off x="274320" y="1360170"/>
            <a:ext cx="2743200" cy="674370"/>
          </a:xfrm>
          <a:prstGeom prst="rect">
            <a:avLst/>
          </a:prstGeom>
          <a:noFill/>
          <a:ln>
            <a:noFill/>
          </a:ln>
        </p:spPr>
        <p:txBody>
          <a:bodyPr anchorCtr="0" anchor="t" bIns="45700" lIns="45700" spcFirstLastPara="1" rIns="45700" wrap="square" tIns="45700">
            <a:noAutofit/>
          </a:bodyPr>
          <a:lstStyle/>
          <a:p>
            <a:pPr indent="0" lvl="0" marL="0" marR="0" rtl="0" algn="l">
              <a:lnSpc>
                <a:spcPct val="116666"/>
              </a:lnSpc>
              <a:spcBef>
                <a:spcPts val="0"/>
              </a:spcBef>
              <a:spcAft>
                <a:spcPts val="0"/>
              </a:spcAft>
              <a:buClr>
                <a:srgbClr val="545C5C"/>
              </a:buClr>
              <a:buSzPts val="1440"/>
              <a:buFont typeface="Lexend"/>
              <a:buNone/>
            </a:pPr>
            <a:r>
              <a:rPr b="0" i="0" lang="en-US" sz="1440" u="none" cap="none" strike="noStrike">
                <a:solidFill>
                  <a:srgbClr val="545C5C"/>
                </a:solidFill>
                <a:latin typeface="Lexend"/>
                <a:ea typeface="Lexend"/>
                <a:cs typeface="Lexend"/>
                <a:sym typeface="Lexend"/>
              </a:rPr>
              <a:t>Economia de toques vs. ruído na mensagem</a:t>
            </a:r>
            <a:endParaRPr b="0" i="0" sz="1440" u="none" cap="none" strike="noStrike">
              <a:solidFill>
                <a:schemeClr val="dk1"/>
              </a:solidFill>
              <a:latin typeface="Calibri"/>
              <a:ea typeface="Calibri"/>
              <a:cs typeface="Calibri"/>
              <a:sym typeface="Calibri"/>
            </a:endParaRPr>
          </a:p>
        </p:txBody>
      </p:sp>
      <p:pic>
        <p:nvPicPr>
          <p:cNvPr descr="/home/forge/chalkie-production-workers-2/releases/78214720/backend/storage/app/render-specs/a150a017-74b3-45d2-90a1-ee5e1050d2e7/img_522e28ec56d696dd8daa4a87fddd142c.png" id="137" name="Google Shape;137;p14"/>
          <p:cNvPicPr preferRelativeResize="0"/>
          <p:nvPr/>
        </p:nvPicPr>
        <p:blipFill rotWithShape="1">
          <a:blip r:embed="rId4">
            <a:alphaModFix/>
          </a:blip>
          <a:srcRect b="0" l="0" r="0" t="0"/>
          <a:stretch/>
        </p:blipFill>
        <p:spPr>
          <a:xfrm>
            <a:off x="274320" y="2125980"/>
            <a:ext cx="2286000" cy="1828800"/>
          </a:xfrm>
          <a:prstGeom prst="rect">
            <a:avLst/>
          </a:prstGeom>
          <a:noFill/>
          <a:ln>
            <a:noFill/>
          </a:ln>
        </p:spPr>
      </p:pic>
      <p:sp>
        <p:nvSpPr>
          <p:cNvPr id="138" name="Google Shape;138;p14"/>
          <p:cNvSpPr/>
          <p:nvPr/>
        </p:nvSpPr>
        <p:spPr>
          <a:xfrm>
            <a:off x="3291840" y="182880"/>
            <a:ext cx="5577840" cy="2011680"/>
          </a:xfrm>
          <a:prstGeom prst="rect">
            <a:avLst/>
          </a:prstGeom>
          <a:noFill/>
          <a:ln>
            <a:noFill/>
          </a:ln>
        </p:spPr>
        <p:txBody>
          <a:bodyPr anchorCtr="0" anchor="t" bIns="45700" lIns="45700" spcFirstLastPara="1" rIns="45700" wrap="square" tIns="45700">
            <a:noAutofit/>
          </a:bodyPr>
          <a:lstStyle/>
          <a:p>
            <a:pPr indent="0" lvl="0" marL="0" marR="0" rtl="0" algn="l">
              <a:lnSpc>
                <a:spcPct val="116666"/>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Expressões como </a:t>
            </a:r>
            <a:r>
              <a:rPr b="0" i="1" lang="en-US" sz="1620" u="none" cap="none" strike="noStrike">
                <a:solidFill>
                  <a:srgbClr val="040F0F"/>
                </a:solidFill>
                <a:latin typeface="Lexend"/>
                <a:ea typeface="Lexend"/>
                <a:cs typeface="Lexend"/>
                <a:sym typeface="Lexend"/>
              </a:rPr>
              <a:t>"vc"</a:t>
            </a:r>
            <a:r>
              <a:rPr b="0" i="0" lang="en-US" sz="1620" u="none" cap="none" strike="noStrike">
                <a:solidFill>
                  <a:srgbClr val="040F0F"/>
                </a:solidFill>
                <a:latin typeface="Lexend"/>
                <a:ea typeface="Lexend"/>
                <a:cs typeface="Lexend"/>
                <a:sym typeface="Lexend"/>
              </a:rPr>
              <a:t>, </a:t>
            </a:r>
            <a:r>
              <a:rPr b="0" i="1" lang="en-US" sz="1620" u="none" cap="none" strike="noStrike">
                <a:solidFill>
                  <a:srgbClr val="040F0F"/>
                </a:solidFill>
                <a:latin typeface="Lexend"/>
                <a:ea typeface="Lexend"/>
                <a:cs typeface="Lexend"/>
                <a:sym typeface="Lexend"/>
              </a:rPr>
              <a:t>"tbm"</a:t>
            </a:r>
            <a:r>
              <a:rPr b="0" i="0" lang="en-US" sz="1620" u="none" cap="none" strike="noStrike">
                <a:solidFill>
                  <a:srgbClr val="040F0F"/>
                </a:solidFill>
                <a:latin typeface="Lexend"/>
                <a:ea typeface="Lexend"/>
                <a:cs typeface="Lexend"/>
                <a:sym typeface="Lexend"/>
              </a:rPr>
              <a:t>, </a:t>
            </a:r>
            <a:r>
              <a:rPr b="0" i="1" lang="en-US" sz="1620" u="none" cap="none" strike="noStrike">
                <a:solidFill>
                  <a:srgbClr val="040F0F"/>
                </a:solidFill>
                <a:latin typeface="Lexend"/>
                <a:ea typeface="Lexend"/>
                <a:cs typeface="Lexend"/>
                <a:sym typeface="Lexend"/>
              </a:rPr>
              <a:t>"fds"</a:t>
            </a:r>
            <a:r>
              <a:rPr b="0" i="0" lang="en-US" sz="1620" u="none" cap="none" strike="noStrike">
                <a:solidFill>
                  <a:srgbClr val="040F0F"/>
                </a:solidFill>
                <a:latin typeface="Lexend"/>
                <a:ea typeface="Lexend"/>
                <a:cs typeface="Lexend"/>
                <a:sym typeface="Lexend"/>
              </a:rPr>
              <a:t> e </a:t>
            </a:r>
            <a:r>
              <a:rPr b="0" i="1" lang="en-US" sz="1620" u="none" cap="none" strike="noStrike">
                <a:solidFill>
                  <a:srgbClr val="040F0F"/>
                </a:solidFill>
                <a:latin typeface="Lexend"/>
                <a:ea typeface="Lexend"/>
                <a:cs typeface="Lexend"/>
                <a:sym typeface="Lexend"/>
              </a:rPr>
              <a:t>"pq"</a:t>
            </a:r>
            <a:r>
              <a:rPr b="0" i="0" lang="en-US" sz="1620" u="none" cap="none" strike="noStrike">
                <a:solidFill>
                  <a:srgbClr val="040F0F"/>
                </a:solidFill>
                <a:latin typeface="Lexend"/>
                <a:ea typeface="Lexend"/>
                <a:cs typeface="Lexend"/>
                <a:sym typeface="Lexend"/>
              </a:rPr>
              <a:t> nasceram da necessidade de digitação rápida em teclados móveis de mensagens instantâneas.</a:t>
            </a:r>
            <a:endParaRPr b="0" i="0" sz="1620" u="none" cap="none" strike="noStrike">
              <a:solidFill>
                <a:schemeClr val="dk1"/>
              </a:solidFill>
              <a:latin typeface="Calibri"/>
              <a:ea typeface="Calibri"/>
              <a:cs typeface="Calibri"/>
              <a:sym typeface="Calibri"/>
            </a:endParaRPr>
          </a:p>
          <a:p>
            <a:pPr indent="0" lvl="0" marL="0" marR="0" rtl="0" algn="l">
              <a:lnSpc>
                <a:spcPct val="116666"/>
              </a:lnSpc>
              <a:spcBef>
                <a:spcPts val="72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Contudo, em relatórios, correspondências oficiais ou e-mails corporativos, a economia de toques passa a impressão de pressa e falta de apreço pelo receptor.</a:t>
            </a:r>
            <a:endParaRPr b="0" i="0" sz="1620" u="none" cap="none" strike="noStrike">
              <a:solidFill>
                <a:schemeClr val="dk1"/>
              </a:solidFill>
              <a:latin typeface="Calibri"/>
              <a:ea typeface="Calibri"/>
              <a:cs typeface="Calibri"/>
              <a:sym typeface="Calibri"/>
            </a:endParaRPr>
          </a:p>
        </p:txBody>
      </p:sp>
      <p:sp>
        <p:nvSpPr>
          <p:cNvPr id="139" name="Google Shape;139;p14"/>
          <p:cNvSpPr/>
          <p:nvPr/>
        </p:nvSpPr>
        <p:spPr>
          <a:xfrm>
            <a:off x="3291840" y="2377440"/>
            <a:ext cx="5577840" cy="1337310"/>
          </a:xfrm>
          <a:prstGeom prst="roundRect">
            <a:avLst>
              <a:gd fmla="val 6838" name="adj"/>
            </a:avLst>
          </a:prstGeom>
          <a:solidFill>
            <a:srgbClr val="FCEBEB"/>
          </a:solidFill>
          <a:ln cap="flat" cmpd="sng" w="11425">
            <a:solidFill>
              <a:srgbClr val="460606">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4"/>
          <p:cNvSpPr/>
          <p:nvPr/>
        </p:nvSpPr>
        <p:spPr>
          <a:xfrm>
            <a:off x="3417570" y="2503170"/>
            <a:ext cx="320040" cy="480060"/>
          </a:xfrm>
          <a:prstGeom prst="rect">
            <a:avLst/>
          </a:prstGeom>
          <a:noFill/>
          <a:ln>
            <a:noFill/>
          </a:ln>
        </p:spPr>
        <p:txBody>
          <a:bodyPr anchorCtr="0" anchor="t" bIns="45700" lIns="45700" spcFirstLastPara="1" rIns="45700" wrap="square" tIns="45700">
            <a:noAutofit/>
          </a:bodyPr>
          <a:lstStyle/>
          <a:p>
            <a:pPr indent="0" lvl="0" marL="0" marR="0" rtl="0" algn="l">
              <a:lnSpc>
                <a:spcPct val="83333"/>
              </a:lnSpc>
              <a:spcBef>
                <a:spcPts val="0"/>
              </a:spcBef>
              <a:spcAft>
                <a:spcPts val="0"/>
              </a:spcAft>
              <a:buClr>
                <a:srgbClr val="460606"/>
              </a:buClr>
              <a:buSzPts val="2160"/>
              <a:buFont typeface="Lexend"/>
              <a:buNone/>
            </a:pPr>
            <a:r>
              <a:rPr b="0" i="0" lang="en-US" sz="2160" u="none" cap="none" strike="noStrike">
                <a:solidFill>
                  <a:srgbClr val="460606"/>
                </a:solidFill>
                <a:latin typeface="Lexend"/>
                <a:ea typeface="Lexend"/>
                <a:cs typeface="Lexend"/>
                <a:sym typeface="Lexend"/>
              </a:rPr>
              <a:t>⚠️</a:t>
            </a:r>
            <a:endParaRPr b="0" i="0" sz="2160" u="none" cap="none" strike="noStrike">
              <a:solidFill>
                <a:schemeClr val="dk1"/>
              </a:solidFill>
              <a:latin typeface="Calibri"/>
              <a:ea typeface="Calibri"/>
              <a:cs typeface="Calibri"/>
              <a:sym typeface="Calibri"/>
            </a:endParaRPr>
          </a:p>
        </p:txBody>
      </p:sp>
      <p:sp>
        <p:nvSpPr>
          <p:cNvPr id="141" name="Google Shape;141;p14"/>
          <p:cNvSpPr/>
          <p:nvPr/>
        </p:nvSpPr>
        <p:spPr>
          <a:xfrm>
            <a:off x="3829050" y="2503170"/>
            <a:ext cx="4914900" cy="1085850"/>
          </a:xfrm>
          <a:prstGeom prst="rect">
            <a:avLst/>
          </a:prstGeom>
          <a:noFill/>
          <a:ln>
            <a:noFill/>
          </a:ln>
        </p:spPr>
        <p:txBody>
          <a:bodyPr anchorCtr="0" anchor="t" bIns="45700" lIns="45700" spcFirstLastPara="1" rIns="45700" wrap="square" tIns="45700">
            <a:noAutofit/>
          </a:bodyPr>
          <a:lstStyle/>
          <a:p>
            <a:pPr indent="0" lvl="0" marL="0" marR="0" rtl="0" algn="l">
              <a:lnSpc>
                <a:spcPct val="116666"/>
              </a:lnSpc>
              <a:spcBef>
                <a:spcPts val="0"/>
              </a:spcBef>
              <a:spcAft>
                <a:spcPts val="0"/>
              </a:spcAft>
              <a:buClr>
                <a:srgbClr val="460606"/>
              </a:buClr>
              <a:buSzPts val="1440"/>
              <a:buFont typeface="Lexend"/>
              <a:buNone/>
            </a:pPr>
            <a:r>
              <a:rPr b="1" i="0" lang="en-US" sz="1440" u="none" cap="none" strike="noStrike">
                <a:solidFill>
                  <a:srgbClr val="460606"/>
                </a:solidFill>
                <a:latin typeface="Lexend"/>
                <a:ea typeface="Lexend"/>
                <a:cs typeface="Lexend"/>
                <a:sym typeface="Lexend"/>
              </a:rPr>
              <a:t>Atenção</a:t>
            </a:r>
            <a:endParaRPr b="0" i="0" sz="1440" u="none" cap="none" strike="noStrike">
              <a:solidFill>
                <a:schemeClr val="dk1"/>
              </a:solidFill>
              <a:latin typeface="Calibri"/>
              <a:ea typeface="Calibri"/>
              <a:cs typeface="Calibri"/>
              <a:sym typeface="Calibri"/>
            </a:endParaRPr>
          </a:p>
          <a:p>
            <a:pPr indent="0" lvl="0" marL="0" marR="0" rtl="0" algn="l">
              <a:lnSpc>
                <a:spcPct val="116666"/>
              </a:lnSpc>
              <a:spcBef>
                <a:spcPts val="630"/>
              </a:spcBef>
              <a:spcAft>
                <a:spcPts val="0"/>
              </a:spcAft>
              <a:buClr>
                <a:srgbClr val="460606"/>
              </a:buClr>
              <a:buSzPts val="1620"/>
              <a:buFont typeface="Lexend"/>
              <a:buNone/>
            </a:pPr>
            <a:r>
              <a:rPr b="0" i="0" lang="en-US" sz="1620" u="none" cap="none" strike="noStrike">
                <a:solidFill>
                  <a:srgbClr val="460606"/>
                </a:solidFill>
                <a:latin typeface="Lexend"/>
                <a:ea typeface="Lexend"/>
                <a:cs typeface="Lexend"/>
                <a:sym typeface="Lexend"/>
              </a:rPr>
              <a:t>Evite abreviações fonéticas em comunicações formais por escrito.</a:t>
            </a:r>
            <a:endParaRPr b="0" i="0" sz="144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6" name="Shape 146"/>
        <p:cNvGrpSpPr/>
        <p:nvPr/>
      </p:nvGrpSpPr>
      <p:grpSpPr>
        <a:xfrm>
          <a:off x="0" y="0"/>
          <a:ext cx="0" cy="0"/>
          <a:chOff x="0" y="0"/>
          <a:chExt cx="0" cy="0"/>
        </a:xfrm>
      </p:grpSpPr>
      <p:sp>
        <p:nvSpPr>
          <p:cNvPr id="147" name="Google Shape;147;p15"/>
          <p:cNvSpPr/>
          <p:nvPr/>
        </p:nvSpPr>
        <p:spPr>
          <a:xfrm>
            <a:off x="274320" y="182880"/>
            <a:ext cx="8595360" cy="651510"/>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2880"/>
              <a:buFont typeface="Lexend"/>
              <a:buNone/>
            </a:pPr>
            <a:r>
              <a:rPr b="1" i="0" lang="en-US" sz="2880" u="none" cap="none" strike="noStrike">
                <a:solidFill>
                  <a:srgbClr val="040F0F"/>
                </a:solidFill>
                <a:latin typeface="Lexend"/>
                <a:ea typeface="Lexend"/>
                <a:cs typeface="Lexend"/>
                <a:sym typeface="Lexend"/>
              </a:rPr>
              <a:t>Jargões Profissionais e Seus Limites</a:t>
            </a:r>
            <a:endParaRPr b="0" i="0" sz="2880" u="none" cap="none" strike="noStrike">
              <a:solidFill>
                <a:schemeClr val="dk1"/>
              </a:solidFill>
              <a:latin typeface="Calibri"/>
              <a:ea typeface="Calibri"/>
              <a:cs typeface="Calibri"/>
              <a:sym typeface="Calibri"/>
            </a:endParaRPr>
          </a:p>
        </p:txBody>
      </p:sp>
      <p:sp>
        <p:nvSpPr>
          <p:cNvPr id="148" name="Google Shape;148;p15"/>
          <p:cNvSpPr/>
          <p:nvPr/>
        </p:nvSpPr>
        <p:spPr>
          <a:xfrm>
            <a:off x="274320" y="925830"/>
            <a:ext cx="4503420" cy="3943350"/>
          </a:xfrm>
          <a:prstGeom prst="rect">
            <a:avLst/>
          </a:prstGeom>
          <a:noFill/>
          <a:ln>
            <a:noFill/>
          </a:ln>
        </p:spPr>
        <p:txBody>
          <a:bodyPr anchorCtr="0" anchor="t" bIns="45700" lIns="45700" spcFirstLastPara="1" rIns="45700" wrap="square" tIns="45700">
            <a:noAutofit/>
          </a:bodyPr>
          <a:lstStyle/>
          <a:p>
            <a:pPr indent="0" lvl="0" marL="0" marR="0" rtl="0" algn="l">
              <a:lnSpc>
                <a:spcPct val="116666"/>
              </a:lnSpc>
              <a:spcBef>
                <a:spcPts val="0"/>
              </a:spcBef>
              <a:spcAft>
                <a:spcPts val="0"/>
              </a:spcAft>
              <a:buClr>
                <a:srgbClr val="040F0F"/>
              </a:buClr>
              <a:buSzPts val="1530"/>
              <a:buFont typeface="Lexend"/>
              <a:buNone/>
            </a:pPr>
            <a:r>
              <a:rPr b="0" i="0" lang="en-US" sz="1530" u="none" cap="none" strike="noStrike">
                <a:solidFill>
                  <a:srgbClr val="040F0F"/>
                </a:solidFill>
                <a:latin typeface="Lexend"/>
                <a:ea typeface="Lexend"/>
                <a:cs typeface="Lexend"/>
                <a:sym typeface="Lexend"/>
              </a:rPr>
              <a:t>Jargões são termos técnicos próprios de uma área (médica, jurídica, financeira, tecnológica).</a:t>
            </a:r>
            <a:endParaRPr b="0" i="0" sz="1530" u="none" cap="none" strike="noStrike">
              <a:solidFill>
                <a:schemeClr val="dk1"/>
              </a:solidFill>
              <a:latin typeface="Calibri"/>
              <a:ea typeface="Calibri"/>
              <a:cs typeface="Calibri"/>
              <a:sym typeface="Calibri"/>
            </a:endParaRPr>
          </a:p>
          <a:p>
            <a:pPr indent="-228600" lvl="0" marL="228600" marR="0" rtl="0" algn="l">
              <a:lnSpc>
                <a:spcPct val="116666"/>
              </a:lnSpc>
              <a:spcBef>
                <a:spcPts val="585"/>
              </a:spcBef>
              <a:spcAft>
                <a:spcPts val="0"/>
              </a:spcAft>
              <a:buClr>
                <a:srgbClr val="040F0F"/>
              </a:buClr>
              <a:buSzPts val="1530"/>
              <a:buFont typeface="Lexend"/>
              <a:buChar char="•"/>
            </a:pPr>
            <a:r>
              <a:rPr b="1" i="0" lang="en-US" sz="1530" u="none" cap="none" strike="noStrike">
                <a:solidFill>
                  <a:srgbClr val="040F0F"/>
                </a:solidFill>
                <a:latin typeface="Lexend"/>
                <a:ea typeface="Lexend"/>
                <a:cs typeface="Lexend"/>
                <a:sym typeface="Lexend"/>
              </a:rPr>
              <a:t>Uso interno:</a:t>
            </a:r>
            <a:r>
              <a:rPr b="0" i="0" lang="en-US" sz="1530" u="none" cap="none" strike="noStrike">
                <a:solidFill>
                  <a:srgbClr val="040F0F"/>
                </a:solidFill>
                <a:latin typeface="Lexend"/>
                <a:ea typeface="Lexend"/>
                <a:cs typeface="Lexend"/>
                <a:sym typeface="Lexend"/>
              </a:rPr>
              <a:t> Agilizam a precisão conceitual entre especialistas (ex.: </a:t>
            </a:r>
            <a:r>
              <a:rPr b="0" i="1" lang="en-US" sz="1530" u="none" cap="none" strike="noStrike">
                <a:solidFill>
                  <a:srgbClr val="040F0F"/>
                </a:solidFill>
                <a:latin typeface="Lexend"/>
                <a:ea typeface="Lexend"/>
                <a:cs typeface="Lexend"/>
                <a:sym typeface="Lexend"/>
              </a:rPr>
              <a:t>"deferimento"</a:t>
            </a:r>
            <a:r>
              <a:rPr b="0" i="0" lang="en-US" sz="1530" u="none" cap="none" strike="noStrike">
                <a:solidFill>
                  <a:srgbClr val="040F0F"/>
                </a:solidFill>
                <a:latin typeface="Lexend"/>
                <a:ea typeface="Lexend"/>
                <a:cs typeface="Lexend"/>
                <a:sym typeface="Lexend"/>
              </a:rPr>
              <a:t>, </a:t>
            </a:r>
            <a:r>
              <a:rPr b="0" i="1" lang="en-US" sz="1530" u="none" cap="none" strike="noStrike">
                <a:solidFill>
                  <a:srgbClr val="040F0F"/>
                </a:solidFill>
                <a:latin typeface="Lexend"/>
                <a:ea typeface="Lexend"/>
                <a:cs typeface="Lexend"/>
                <a:sym typeface="Lexend"/>
              </a:rPr>
              <a:t>"deploy"</a:t>
            </a:r>
            <a:r>
              <a:rPr b="0" i="0" lang="en-US" sz="1530" u="none" cap="none" strike="noStrike">
                <a:solidFill>
                  <a:srgbClr val="040F0F"/>
                </a:solidFill>
                <a:latin typeface="Lexend"/>
                <a:ea typeface="Lexend"/>
                <a:cs typeface="Lexend"/>
                <a:sym typeface="Lexend"/>
              </a:rPr>
              <a:t>, </a:t>
            </a:r>
            <a:r>
              <a:rPr b="0" i="1" lang="en-US" sz="1530" u="none" cap="none" strike="noStrike">
                <a:solidFill>
                  <a:srgbClr val="040F0F"/>
                </a:solidFill>
                <a:latin typeface="Lexend"/>
                <a:ea typeface="Lexend"/>
                <a:cs typeface="Lexend"/>
                <a:sym typeface="Lexend"/>
              </a:rPr>
              <a:t>"compliance"</a:t>
            </a:r>
            <a:r>
              <a:rPr b="0" i="0" lang="en-US" sz="1530" u="none" cap="none" strike="noStrike">
                <a:solidFill>
                  <a:srgbClr val="040F0F"/>
                </a:solidFill>
                <a:latin typeface="Lexend"/>
                <a:ea typeface="Lexend"/>
                <a:cs typeface="Lexend"/>
                <a:sym typeface="Lexend"/>
              </a:rPr>
              <a:t>).</a:t>
            </a:r>
            <a:endParaRPr b="0" i="0" sz="1530" u="none" cap="none" strike="noStrike">
              <a:solidFill>
                <a:schemeClr val="dk1"/>
              </a:solidFill>
              <a:latin typeface="Calibri"/>
              <a:ea typeface="Calibri"/>
              <a:cs typeface="Calibri"/>
              <a:sym typeface="Calibri"/>
            </a:endParaRPr>
          </a:p>
          <a:p>
            <a:pPr indent="-228600" lvl="0" marL="228600" marR="0" rtl="0" algn="l">
              <a:lnSpc>
                <a:spcPct val="116666"/>
              </a:lnSpc>
              <a:spcBef>
                <a:spcPts val="450"/>
              </a:spcBef>
              <a:spcAft>
                <a:spcPts val="0"/>
              </a:spcAft>
              <a:buClr>
                <a:srgbClr val="040F0F"/>
              </a:buClr>
              <a:buSzPts val="1530"/>
              <a:buFont typeface="Lexend"/>
              <a:buChar char="•"/>
            </a:pPr>
            <a:r>
              <a:rPr b="1" i="0" lang="en-US" sz="1530" u="none" cap="none" strike="noStrike">
                <a:solidFill>
                  <a:srgbClr val="040F0F"/>
                </a:solidFill>
                <a:latin typeface="Lexend"/>
                <a:ea typeface="Lexend"/>
                <a:cs typeface="Lexend"/>
                <a:sym typeface="Lexend"/>
              </a:rPr>
              <a:t>Uso com público leigo:</a:t>
            </a:r>
            <a:r>
              <a:rPr b="0" i="0" lang="en-US" sz="1530" u="none" cap="none" strike="noStrike">
                <a:solidFill>
                  <a:srgbClr val="040F0F"/>
                </a:solidFill>
                <a:latin typeface="Lexend"/>
                <a:ea typeface="Lexend"/>
                <a:cs typeface="Lexend"/>
                <a:sym typeface="Lexend"/>
              </a:rPr>
              <a:t> Criam barreiras instransponíveis e geram distanciamento.</a:t>
            </a:r>
            <a:endParaRPr b="0" i="0" sz="1530" u="none" cap="none" strike="noStrike">
              <a:solidFill>
                <a:schemeClr val="dk1"/>
              </a:solidFill>
              <a:latin typeface="Calibri"/>
              <a:ea typeface="Calibri"/>
              <a:cs typeface="Calibri"/>
              <a:sym typeface="Calibri"/>
            </a:endParaRPr>
          </a:p>
          <a:p>
            <a:pPr indent="-228600" lvl="0" marL="228600" marR="0" rtl="0" algn="l">
              <a:lnSpc>
                <a:spcPct val="116666"/>
              </a:lnSpc>
              <a:spcBef>
                <a:spcPts val="450"/>
              </a:spcBef>
              <a:spcAft>
                <a:spcPts val="0"/>
              </a:spcAft>
              <a:buClr>
                <a:srgbClr val="040F0F"/>
              </a:buClr>
              <a:buSzPts val="1530"/>
              <a:buFont typeface="Lexend"/>
              <a:buChar char="•"/>
            </a:pPr>
            <a:r>
              <a:rPr b="1" i="0" lang="en-US" sz="1530" u="none" cap="none" strike="noStrike">
                <a:solidFill>
                  <a:srgbClr val="040F0F"/>
                </a:solidFill>
                <a:latin typeface="Lexend"/>
                <a:ea typeface="Lexend"/>
                <a:cs typeface="Lexend"/>
                <a:sym typeface="Lexend"/>
              </a:rPr>
              <a:t>A regra de ouro:</a:t>
            </a:r>
            <a:r>
              <a:rPr b="0" i="0" lang="en-US" sz="1530" u="none" cap="none" strike="noStrike">
                <a:solidFill>
                  <a:srgbClr val="040F0F"/>
                </a:solidFill>
                <a:latin typeface="Lexend"/>
                <a:ea typeface="Lexend"/>
                <a:cs typeface="Lexend"/>
                <a:sym typeface="Lexend"/>
              </a:rPr>
              <a:t> Só use jargão se tiver certeza de que seu interlocutor domina o significado.</a:t>
            </a:r>
            <a:endParaRPr b="0" i="0" sz="1530" u="none" cap="none" strike="noStrike">
              <a:solidFill>
                <a:schemeClr val="dk1"/>
              </a:solidFill>
              <a:latin typeface="Calibri"/>
              <a:ea typeface="Calibri"/>
              <a:cs typeface="Calibri"/>
              <a:sym typeface="Calibri"/>
            </a:endParaRPr>
          </a:p>
        </p:txBody>
      </p:sp>
      <p:pic>
        <p:nvPicPr>
          <p:cNvPr descr="/home/forge/chalkie-production-workers-2/releases/78214720/backend/storage/app/render-specs/a150a017-74b3-45d2-90a1-ee5e1050d2e7/img_cb413d666db591cdc26aa98007b5e574.png" id="149" name="Google Shape;149;p15"/>
          <p:cNvPicPr preferRelativeResize="0"/>
          <p:nvPr/>
        </p:nvPicPr>
        <p:blipFill rotWithShape="1">
          <a:blip r:embed="rId4">
            <a:alphaModFix/>
          </a:blip>
          <a:srcRect b="0" l="0" r="0" t="0"/>
          <a:stretch/>
        </p:blipFill>
        <p:spPr>
          <a:xfrm>
            <a:off x="4960620" y="925830"/>
            <a:ext cx="3909060" cy="3429000"/>
          </a:xfrm>
          <a:prstGeom prst="roundRect">
            <a:avLst>
              <a:gd fmla="val 4000" name="adj"/>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4" name="Shape 154"/>
        <p:cNvGrpSpPr/>
        <p:nvPr/>
      </p:nvGrpSpPr>
      <p:grpSpPr>
        <a:xfrm>
          <a:off x="0" y="0"/>
          <a:ext cx="0" cy="0"/>
          <a:chOff x="0" y="0"/>
          <a:chExt cx="0" cy="0"/>
        </a:xfrm>
      </p:grpSpPr>
      <p:sp>
        <p:nvSpPr>
          <p:cNvPr id="155" name="Google Shape;155;p16"/>
          <p:cNvSpPr/>
          <p:nvPr/>
        </p:nvSpPr>
        <p:spPr>
          <a:xfrm>
            <a:off x="285750" y="171450"/>
            <a:ext cx="8572500" cy="644652"/>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2880"/>
              <a:buFont typeface="Lexend"/>
              <a:buNone/>
            </a:pPr>
            <a:r>
              <a:rPr b="1" i="0" lang="en-US" sz="2880" u="none" cap="none" strike="noStrike">
                <a:solidFill>
                  <a:srgbClr val="040F0F"/>
                </a:solidFill>
                <a:latin typeface="Lexend"/>
                <a:ea typeface="Lexend"/>
                <a:cs typeface="Lexend"/>
                <a:sym typeface="Lexend"/>
              </a:rPr>
              <a:t>Conecte o Elemento ao Impacto</a:t>
            </a:r>
            <a:endParaRPr b="0" i="0" sz="2880" u="none" cap="none" strike="noStrike">
              <a:solidFill>
                <a:schemeClr val="dk1"/>
              </a:solidFill>
              <a:latin typeface="Calibri"/>
              <a:ea typeface="Calibri"/>
              <a:cs typeface="Calibri"/>
              <a:sym typeface="Calibri"/>
            </a:endParaRPr>
          </a:p>
        </p:txBody>
      </p:sp>
      <p:sp>
        <p:nvSpPr>
          <p:cNvPr id="156" name="Google Shape;156;p16"/>
          <p:cNvSpPr/>
          <p:nvPr/>
        </p:nvSpPr>
        <p:spPr>
          <a:xfrm>
            <a:off x="285750" y="742950"/>
            <a:ext cx="8572500" cy="379603"/>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1440"/>
              <a:buFont typeface="Lexend"/>
              <a:buNone/>
            </a:pPr>
            <a:r>
              <a:rPr b="0" i="0" lang="en-US" sz="1440" u="none" cap="none" strike="noStrike">
                <a:solidFill>
                  <a:srgbClr val="040F0F"/>
                </a:solidFill>
                <a:latin typeface="Lexend"/>
                <a:ea typeface="Lexend"/>
                <a:cs typeface="Lexend"/>
                <a:sym typeface="Lexend"/>
              </a:rPr>
              <a:t>Relacione as palavras com as definições</a:t>
            </a:r>
            <a:endParaRPr b="0" i="0" sz="1440" u="none" cap="none" strike="noStrike">
              <a:solidFill>
                <a:schemeClr val="dk1"/>
              </a:solidFill>
              <a:latin typeface="Calibri"/>
              <a:ea typeface="Calibri"/>
              <a:cs typeface="Calibri"/>
              <a:sym typeface="Calibri"/>
            </a:endParaRPr>
          </a:p>
        </p:txBody>
      </p:sp>
      <p:sp>
        <p:nvSpPr>
          <p:cNvPr id="157" name="Google Shape;157;p16"/>
          <p:cNvSpPr/>
          <p:nvPr/>
        </p:nvSpPr>
        <p:spPr>
          <a:xfrm>
            <a:off x="285750" y="1314450"/>
            <a:ext cx="2286000" cy="617220"/>
          </a:xfrm>
          <a:prstGeom prst="roundRect">
            <a:avLst>
              <a:gd fmla="val 18519" name="adj"/>
            </a:avLst>
          </a:prstGeom>
          <a:solidFill>
            <a:srgbClr val="F4F9FC"/>
          </a:solidFill>
          <a:ln cap="flat" cmpd="sng" w="34275">
            <a:solidFill>
              <a:srgbClr val="00000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40F0F"/>
              </a:buClr>
              <a:buSzPts val="1800"/>
              <a:buFont typeface="Lexend"/>
              <a:buNone/>
            </a:pPr>
            <a:r>
              <a:rPr b="1" i="0" lang="en-US" sz="1800" u="none" cap="none" strike="noStrike">
                <a:solidFill>
                  <a:srgbClr val="040F0F"/>
                </a:solidFill>
                <a:latin typeface="Lexend"/>
                <a:ea typeface="Lexend"/>
                <a:cs typeface="Lexend"/>
                <a:sym typeface="Lexend"/>
              </a:rPr>
              <a:t>Jargão Técnico</a:t>
            </a:r>
            <a:endParaRPr b="0" i="0" sz="1800" u="none" cap="none" strike="noStrike">
              <a:solidFill>
                <a:schemeClr val="dk1"/>
              </a:solidFill>
              <a:latin typeface="Calibri"/>
              <a:ea typeface="Calibri"/>
              <a:cs typeface="Calibri"/>
              <a:sym typeface="Calibri"/>
            </a:endParaRPr>
          </a:p>
        </p:txBody>
      </p:sp>
      <p:sp>
        <p:nvSpPr>
          <p:cNvPr id="158" name="Google Shape;158;p16"/>
          <p:cNvSpPr/>
          <p:nvPr/>
        </p:nvSpPr>
        <p:spPr>
          <a:xfrm>
            <a:off x="285750" y="2228850"/>
            <a:ext cx="2286000" cy="617220"/>
          </a:xfrm>
          <a:prstGeom prst="roundRect">
            <a:avLst>
              <a:gd fmla="val 18519" name="adj"/>
            </a:avLst>
          </a:prstGeom>
          <a:solidFill>
            <a:srgbClr val="F4F9FC"/>
          </a:solidFill>
          <a:ln cap="flat" cmpd="sng" w="34275">
            <a:solidFill>
              <a:srgbClr val="00000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40F0F"/>
              </a:buClr>
              <a:buSzPts val="1800"/>
              <a:buFont typeface="Lexend"/>
              <a:buNone/>
            </a:pPr>
            <a:r>
              <a:rPr b="1" i="0" lang="en-US" sz="1800" u="none" cap="none" strike="noStrike">
                <a:solidFill>
                  <a:srgbClr val="040F0F"/>
                </a:solidFill>
                <a:latin typeface="Lexend"/>
                <a:ea typeface="Lexend"/>
                <a:cs typeface="Lexend"/>
                <a:sym typeface="Lexend"/>
              </a:rPr>
              <a:t>Norma-Padrão</a:t>
            </a:r>
            <a:endParaRPr b="0" i="0" sz="1800" u="none" cap="none" strike="noStrike">
              <a:solidFill>
                <a:schemeClr val="dk1"/>
              </a:solidFill>
              <a:latin typeface="Calibri"/>
              <a:ea typeface="Calibri"/>
              <a:cs typeface="Calibri"/>
              <a:sym typeface="Calibri"/>
            </a:endParaRPr>
          </a:p>
        </p:txBody>
      </p:sp>
      <p:sp>
        <p:nvSpPr>
          <p:cNvPr id="159" name="Google Shape;159;p16"/>
          <p:cNvSpPr/>
          <p:nvPr/>
        </p:nvSpPr>
        <p:spPr>
          <a:xfrm>
            <a:off x="285750" y="3143250"/>
            <a:ext cx="2286000" cy="617220"/>
          </a:xfrm>
          <a:prstGeom prst="roundRect">
            <a:avLst>
              <a:gd fmla="val 18519" name="adj"/>
            </a:avLst>
          </a:prstGeom>
          <a:solidFill>
            <a:srgbClr val="F4F9FC"/>
          </a:solidFill>
          <a:ln cap="flat" cmpd="sng" w="34275">
            <a:solidFill>
              <a:srgbClr val="00000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40F0F"/>
              </a:buClr>
              <a:buSzPts val="1800"/>
              <a:buFont typeface="Lexend"/>
              <a:buNone/>
            </a:pPr>
            <a:r>
              <a:rPr b="1" i="0" lang="en-US" sz="1800" u="none" cap="none" strike="noStrike">
                <a:solidFill>
                  <a:srgbClr val="040F0F"/>
                </a:solidFill>
                <a:latin typeface="Lexend"/>
                <a:ea typeface="Lexend"/>
                <a:cs typeface="Lexend"/>
                <a:sym typeface="Lexend"/>
              </a:rPr>
              <a:t>Gíria</a:t>
            </a:r>
            <a:endParaRPr b="0" i="0" sz="1800" u="none" cap="none" strike="noStrike">
              <a:solidFill>
                <a:schemeClr val="dk1"/>
              </a:solidFill>
              <a:latin typeface="Calibri"/>
              <a:ea typeface="Calibri"/>
              <a:cs typeface="Calibri"/>
              <a:sym typeface="Calibri"/>
            </a:endParaRPr>
          </a:p>
        </p:txBody>
      </p:sp>
      <p:sp>
        <p:nvSpPr>
          <p:cNvPr id="160" name="Google Shape;160;p16"/>
          <p:cNvSpPr/>
          <p:nvPr/>
        </p:nvSpPr>
        <p:spPr>
          <a:xfrm>
            <a:off x="285750" y="4057650"/>
            <a:ext cx="2286000" cy="617220"/>
          </a:xfrm>
          <a:prstGeom prst="roundRect">
            <a:avLst>
              <a:gd fmla="val 18519" name="adj"/>
            </a:avLst>
          </a:prstGeom>
          <a:solidFill>
            <a:srgbClr val="F4F9FC"/>
          </a:solidFill>
          <a:ln cap="flat" cmpd="sng" w="34275">
            <a:solidFill>
              <a:srgbClr val="00000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40F0F"/>
              </a:buClr>
              <a:buSzPts val="1800"/>
              <a:buFont typeface="Lexend"/>
              <a:buNone/>
            </a:pPr>
            <a:r>
              <a:rPr b="1" i="0" lang="en-US" sz="1800" u="none" cap="none" strike="noStrike">
                <a:solidFill>
                  <a:srgbClr val="040F0F"/>
                </a:solidFill>
                <a:latin typeface="Lexend"/>
                <a:ea typeface="Lexend"/>
                <a:cs typeface="Lexend"/>
                <a:sym typeface="Lexend"/>
              </a:rPr>
              <a:t>Abreviação</a:t>
            </a:r>
            <a:endParaRPr b="0" i="0" sz="1800" u="none" cap="none" strike="noStrike">
              <a:solidFill>
                <a:schemeClr val="dk1"/>
              </a:solidFill>
              <a:latin typeface="Calibri"/>
              <a:ea typeface="Calibri"/>
              <a:cs typeface="Calibri"/>
              <a:sym typeface="Calibri"/>
            </a:endParaRPr>
          </a:p>
        </p:txBody>
      </p:sp>
      <p:sp>
        <p:nvSpPr>
          <p:cNvPr id="161" name="Google Shape;161;p16"/>
          <p:cNvSpPr/>
          <p:nvPr/>
        </p:nvSpPr>
        <p:spPr>
          <a:xfrm>
            <a:off x="3829050" y="1314450"/>
            <a:ext cx="5143500" cy="676656"/>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Expressão identitária para grupos informais íntimos.</a:t>
            </a:r>
            <a:endParaRPr b="0" i="0" sz="1620" u="none" cap="none" strike="noStrike">
              <a:solidFill>
                <a:schemeClr val="dk1"/>
              </a:solidFill>
              <a:latin typeface="Calibri"/>
              <a:ea typeface="Calibri"/>
              <a:cs typeface="Calibri"/>
              <a:sym typeface="Calibri"/>
            </a:endParaRPr>
          </a:p>
        </p:txBody>
      </p:sp>
      <p:sp>
        <p:nvSpPr>
          <p:cNvPr id="162" name="Google Shape;162;p16"/>
          <p:cNvSpPr/>
          <p:nvPr/>
        </p:nvSpPr>
        <p:spPr>
          <a:xfrm>
            <a:off x="3829050" y="2228850"/>
            <a:ext cx="5143500" cy="676656"/>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Termo específico compreendido apenas por especialistas.</a:t>
            </a:r>
            <a:endParaRPr b="0" i="0" sz="1620" u="none" cap="none" strike="noStrike">
              <a:solidFill>
                <a:schemeClr val="dk1"/>
              </a:solidFill>
              <a:latin typeface="Calibri"/>
              <a:ea typeface="Calibri"/>
              <a:cs typeface="Calibri"/>
              <a:sym typeface="Calibri"/>
            </a:endParaRPr>
          </a:p>
        </p:txBody>
      </p:sp>
      <p:sp>
        <p:nvSpPr>
          <p:cNvPr id="163" name="Google Shape;163;p16"/>
          <p:cNvSpPr/>
          <p:nvPr/>
        </p:nvSpPr>
        <p:spPr>
          <a:xfrm>
            <a:off x="3829050" y="3143250"/>
            <a:ext cx="5143500" cy="676656"/>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Regra gramatical adotada para comunicação institucional.</a:t>
            </a:r>
            <a:endParaRPr b="0" i="0" sz="1620" u="none" cap="none" strike="noStrike">
              <a:solidFill>
                <a:schemeClr val="dk1"/>
              </a:solidFill>
              <a:latin typeface="Calibri"/>
              <a:ea typeface="Calibri"/>
              <a:cs typeface="Calibri"/>
              <a:sym typeface="Calibri"/>
            </a:endParaRPr>
          </a:p>
        </p:txBody>
      </p:sp>
      <p:sp>
        <p:nvSpPr>
          <p:cNvPr id="164" name="Google Shape;164;p16"/>
          <p:cNvSpPr/>
          <p:nvPr/>
        </p:nvSpPr>
        <p:spPr>
          <a:xfrm>
            <a:off x="3829050" y="4057650"/>
            <a:ext cx="5143500" cy="676656"/>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Redução gráfica que deve ser evitada em documentos.</a:t>
            </a:r>
            <a:endParaRPr b="0" i="0" sz="162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9" name="Shape 169"/>
        <p:cNvGrpSpPr/>
        <p:nvPr/>
      </p:nvGrpSpPr>
      <p:grpSpPr>
        <a:xfrm>
          <a:off x="0" y="0"/>
          <a:ext cx="0" cy="0"/>
          <a:chOff x="0" y="0"/>
          <a:chExt cx="0" cy="0"/>
        </a:xfrm>
      </p:grpSpPr>
      <p:sp>
        <p:nvSpPr>
          <p:cNvPr id="170" name="Google Shape;170;p17"/>
          <p:cNvSpPr/>
          <p:nvPr/>
        </p:nvSpPr>
        <p:spPr>
          <a:xfrm>
            <a:off x="285750" y="171450"/>
            <a:ext cx="8572500" cy="644652"/>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2880"/>
              <a:buFont typeface="Lexend"/>
              <a:buNone/>
            </a:pPr>
            <a:r>
              <a:rPr b="1" i="0" lang="en-US" sz="2880" u="none" cap="none" strike="noStrike">
                <a:solidFill>
                  <a:srgbClr val="040F0F"/>
                </a:solidFill>
                <a:latin typeface="Lexend"/>
                <a:ea typeface="Lexend"/>
                <a:cs typeface="Lexend"/>
                <a:sym typeface="Lexend"/>
              </a:rPr>
              <a:t>Conecte o Elemento ao Impacto</a:t>
            </a:r>
            <a:endParaRPr b="0" i="0" sz="2880" u="none" cap="none" strike="noStrike">
              <a:solidFill>
                <a:schemeClr val="dk1"/>
              </a:solidFill>
              <a:latin typeface="Calibri"/>
              <a:ea typeface="Calibri"/>
              <a:cs typeface="Calibri"/>
              <a:sym typeface="Calibri"/>
            </a:endParaRPr>
          </a:p>
        </p:txBody>
      </p:sp>
      <p:sp>
        <p:nvSpPr>
          <p:cNvPr id="171" name="Google Shape;171;p17"/>
          <p:cNvSpPr/>
          <p:nvPr/>
        </p:nvSpPr>
        <p:spPr>
          <a:xfrm>
            <a:off x="285750" y="742950"/>
            <a:ext cx="8572500" cy="379603"/>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1440"/>
              <a:buFont typeface="Lexend"/>
              <a:buNone/>
            </a:pPr>
            <a:r>
              <a:rPr b="0" i="0" lang="en-US" sz="1440" u="none" cap="none" strike="noStrike">
                <a:solidFill>
                  <a:srgbClr val="040F0F"/>
                </a:solidFill>
                <a:latin typeface="Lexend"/>
                <a:ea typeface="Lexend"/>
                <a:cs typeface="Lexend"/>
                <a:sym typeface="Lexend"/>
              </a:rPr>
              <a:t>Relacione as palavras com as definições</a:t>
            </a:r>
            <a:endParaRPr b="0" i="0" sz="1440" u="none" cap="none" strike="noStrike">
              <a:solidFill>
                <a:schemeClr val="dk1"/>
              </a:solidFill>
              <a:latin typeface="Calibri"/>
              <a:ea typeface="Calibri"/>
              <a:cs typeface="Calibri"/>
              <a:sym typeface="Calibri"/>
            </a:endParaRPr>
          </a:p>
        </p:txBody>
      </p:sp>
      <p:sp>
        <p:nvSpPr>
          <p:cNvPr id="172" name="Google Shape;172;p17"/>
          <p:cNvSpPr/>
          <p:nvPr/>
        </p:nvSpPr>
        <p:spPr>
          <a:xfrm>
            <a:off x="285750" y="1314450"/>
            <a:ext cx="2286000" cy="617220"/>
          </a:xfrm>
          <a:prstGeom prst="roundRect">
            <a:avLst>
              <a:gd fmla="val 18519" name="adj"/>
            </a:avLst>
          </a:prstGeom>
          <a:solidFill>
            <a:srgbClr val="F4F9FC"/>
          </a:solidFill>
          <a:ln cap="flat" cmpd="sng" w="34275">
            <a:solidFill>
              <a:srgbClr val="409E9E"/>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40F0F"/>
              </a:buClr>
              <a:buSzPts val="1800"/>
              <a:buFont typeface="Lexend"/>
              <a:buNone/>
            </a:pPr>
            <a:r>
              <a:rPr b="1" i="0" lang="en-US" sz="1800" u="none" cap="none" strike="noStrike">
                <a:solidFill>
                  <a:srgbClr val="040F0F"/>
                </a:solidFill>
                <a:latin typeface="Lexend"/>
                <a:ea typeface="Lexend"/>
                <a:cs typeface="Lexend"/>
                <a:sym typeface="Lexend"/>
              </a:rPr>
              <a:t>Jargão Técnico</a:t>
            </a:r>
            <a:endParaRPr b="0" i="0" sz="1800" u="none" cap="none" strike="noStrike">
              <a:solidFill>
                <a:schemeClr val="dk1"/>
              </a:solidFill>
              <a:latin typeface="Calibri"/>
              <a:ea typeface="Calibri"/>
              <a:cs typeface="Calibri"/>
              <a:sym typeface="Calibri"/>
            </a:endParaRPr>
          </a:p>
        </p:txBody>
      </p:sp>
      <p:sp>
        <p:nvSpPr>
          <p:cNvPr id="173" name="Google Shape;173;p17"/>
          <p:cNvSpPr/>
          <p:nvPr/>
        </p:nvSpPr>
        <p:spPr>
          <a:xfrm>
            <a:off x="285750" y="2228850"/>
            <a:ext cx="2286000" cy="617220"/>
          </a:xfrm>
          <a:prstGeom prst="roundRect">
            <a:avLst>
              <a:gd fmla="val 18519" name="adj"/>
            </a:avLst>
          </a:prstGeom>
          <a:solidFill>
            <a:srgbClr val="F4F9FC"/>
          </a:solidFill>
          <a:ln cap="flat" cmpd="sng" w="34275">
            <a:solidFill>
              <a:srgbClr val="D90368"/>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40F0F"/>
              </a:buClr>
              <a:buSzPts val="1800"/>
              <a:buFont typeface="Lexend"/>
              <a:buNone/>
            </a:pPr>
            <a:r>
              <a:rPr b="1" i="0" lang="en-US" sz="1800" u="none" cap="none" strike="noStrike">
                <a:solidFill>
                  <a:srgbClr val="040F0F"/>
                </a:solidFill>
                <a:latin typeface="Lexend"/>
                <a:ea typeface="Lexend"/>
                <a:cs typeface="Lexend"/>
                <a:sym typeface="Lexend"/>
              </a:rPr>
              <a:t>Norma-Padrão</a:t>
            </a:r>
            <a:endParaRPr b="0" i="0" sz="1800" u="none" cap="none" strike="noStrike">
              <a:solidFill>
                <a:schemeClr val="dk1"/>
              </a:solidFill>
              <a:latin typeface="Calibri"/>
              <a:ea typeface="Calibri"/>
              <a:cs typeface="Calibri"/>
              <a:sym typeface="Calibri"/>
            </a:endParaRPr>
          </a:p>
        </p:txBody>
      </p:sp>
      <p:sp>
        <p:nvSpPr>
          <p:cNvPr id="174" name="Google Shape;174;p17"/>
          <p:cNvSpPr/>
          <p:nvPr/>
        </p:nvSpPr>
        <p:spPr>
          <a:xfrm>
            <a:off x="285750" y="3143250"/>
            <a:ext cx="2286000" cy="617220"/>
          </a:xfrm>
          <a:prstGeom prst="roundRect">
            <a:avLst>
              <a:gd fmla="val 18519" name="adj"/>
            </a:avLst>
          </a:prstGeom>
          <a:solidFill>
            <a:srgbClr val="F4F9FC"/>
          </a:solidFill>
          <a:ln cap="flat" cmpd="sng" w="34275">
            <a:solidFill>
              <a:srgbClr val="D68C45"/>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40F0F"/>
              </a:buClr>
              <a:buSzPts val="1800"/>
              <a:buFont typeface="Lexend"/>
              <a:buNone/>
            </a:pPr>
            <a:r>
              <a:rPr b="1" i="0" lang="en-US" sz="1800" u="none" cap="none" strike="noStrike">
                <a:solidFill>
                  <a:srgbClr val="040F0F"/>
                </a:solidFill>
                <a:latin typeface="Lexend"/>
                <a:ea typeface="Lexend"/>
                <a:cs typeface="Lexend"/>
                <a:sym typeface="Lexend"/>
              </a:rPr>
              <a:t>Gíria</a:t>
            </a:r>
            <a:endParaRPr b="0" i="0" sz="1800" u="none" cap="none" strike="noStrike">
              <a:solidFill>
                <a:schemeClr val="dk1"/>
              </a:solidFill>
              <a:latin typeface="Calibri"/>
              <a:ea typeface="Calibri"/>
              <a:cs typeface="Calibri"/>
              <a:sym typeface="Calibri"/>
            </a:endParaRPr>
          </a:p>
        </p:txBody>
      </p:sp>
      <p:sp>
        <p:nvSpPr>
          <p:cNvPr id="175" name="Google Shape;175;p17"/>
          <p:cNvSpPr/>
          <p:nvPr/>
        </p:nvSpPr>
        <p:spPr>
          <a:xfrm>
            <a:off x="285750" y="4057650"/>
            <a:ext cx="2286000" cy="617220"/>
          </a:xfrm>
          <a:prstGeom prst="roundRect">
            <a:avLst>
              <a:gd fmla="val 18519" name="adj"/>
            </a:avLst>
          </a:prstGeom>
          <a:solidFill>
            <a:srgbClr val="F4F9FC"/>
          </a:solidFill>
          <a:ln cap="flat" cmpd="sng" w="34275">
            <a:solidFill>
              <a:srgbClr val="4579A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40F0F"/>
              </a:buClr>
              <a:buSzPts val="1800"/>
              <a:buFont typeface="Lexend"/>
              <a:buNone/>
            </a:pPr>
            <a:r>
              <a:rPr b="1" i="0" lang="en-US" sz="1800" u="none" cap="none" strike="noStrike">
                <a:solidFill>
                  <a:srgbClr val="040F0F"/>
                </a:solidFill>
                <a:latin typeface="Lexend"/>
                <a:ea typeface="Lexend"/>
                <a:cs typeface="Lexend"/>
                <a:sym typeface="Lexend"/>
              </a:rPr>
              <a:t>Abreviação</a:t>
            </a:r>
            <a:endParaRPr b="0" i="0" sz="1800" u="none" cap="none" strike="noStrike">
              <a:solidFill>
                <a:schemeClr val="dk1"/>
              </a:solidFill>
              <a:latin typeface="Calibri"/>
              <a:ea typeface="Calibri"/>
              <a:cs typeface="Calibri"/>
              <a:sym typeface="Calibri"/>
            </a:endParaRPr>
          </a:p>
        </p:txBody>
      </p:sp>
      <p:sp>
        <p:nvSpPr>
          <p:cNvPr id="176" name="Google Shape;176;p17"/>
          <p:cNvSpPr/>
          <p:nvPr/>
        </p:nvSpPr>
        <p:spPr>
          <a:xfrm>
            <a:off x="3829050" y="1314450"/>
            <a:ext cx="5143500" cy="676656"/>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Expressão identitária para grupos informais íntimos.</a:t>
            </a:r>
            <a:endParaRPr b="0" i="0" sz="1620" u="none" cap="none" strike="noStrike">
              <a:solidFill>
                <a:schemeClr val="dk1"/>
              </a:solidFill>
              <a:latin typeface="Calibri"/>
              <a:ea typeface="Calibri"/>
              <a:cs typeface="Calibri"/>
              <a:sym typeface="Calibri"/>
            </a:endParaRPr>
          </a:p>
        </p:txBody>
      </p:sp>
      <p:sp>
        <p:nvSpPr>
          <p:cNvPr id="177" name="Google Shape;177;p17"/>
          <p:cNvSpPr/>
          <p:nvPr/>
        </p:nvSpPr>
        <p:spPr>
          <a:xfrm>
            <a:off x="3829050" y="2228850"/>
            <a:ext cx="5143500" cy="676656"/>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Termo específico compreendido apenas por especialistas.</a:t>
            </a:r>
            <a:endParaRPr b="0" i="0" sz="1620" u="none" cap="none" strike="noStrike">
              <a:solidFill>
                <a:schemeClr val="dk1"/>
              </a:solidFill>
              <a:latin typeface="Calibri"/>
              <a:ea typeface="Calibri"/>
              <a:cs typeface="Calibri"/>
              <a:sym typeface="Calibri"/>
            </a:endParaRPr>
          </a:p>
        </p:txBody>
      </p:sp>
      <p:sp>
        <p:nvSpPr>
          <p:cNvPr id="178" name="Google Shape;178;p17"/>
          <p:cNvSpPr/>
          <p:nvPr/>
        </p:nvSpPr>
        <p:spPr>
          <a:xfrm>
            <a:off x="3829050" y="3143250"/>
            <a:ext cx="5143500" cy="676656"/>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Regra gramatical adotada para comunicação institucional.</a:t>
            </a:r>
            <a:endParaRPr b="0" i="0" sz="1620" u="none" cap="none" strike="noStrike">
              <a:solidFill>
                <a:schemeClr val="dk1"/>
              </a:solidFill>
              <a:latin typeface="Calibri"/>
              <a:ea typeface="Calibri"/>
              <a:cs typeface="Calibri"/>
              <a:sym typeface="Calibri"/>
            </a:endParaRPr>
          </a:p>
        </p:txBody>
      </p:sp>
      <p:sp>
        <p:nvSpPr>
          <p:cNvPr id="179" name="Google Shape;179;p17"/>
          <p:cNvSpPr/>
          <p:nvPr/>
        </p:nvSpPr>
        <p:spPr>
          <a:xfrm>
            <a:off x="3829050" y="4057650"/>
            <a:ext cx="5143500" cy="676656"/>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Redução gráfica que deve ser evitada em documentos.</a:t>
            </a:r>
            <a:endParaRPr b="0" i="0" sz="1620" u="none" cap="none" strike="noStrike">
              <a:solidFill>
                <a:schemeClr val="dk1"/>
              </a:solidFill>
              <a:latin typeface="Calibri"/>
              <a:ea typeface="Calibri"/>
              <a:cs typeface="Calibri"/>
              <a:sym typeface="Calibri"/>
            </a:endParaRPr>
          </a:p>
        </p:txBody>
      </p:sp>
      <p:sp>
        <p:nvSpPr>
          <p:cNvPr id="180" name="Google Shape;180;p17"/>
          <p:cNvSpPr/>
          <p:nvPr/>
        </p:nvSpPr>
        <p:spPr>
          <a:xfrm>
            <a:off x="8366760" y="342900"/>
            <a:ext cx="548640" cy="548640"/>
          </a:xfrm>
          <a:prstGeom prst="rect">
            <a:avLst/>
          </a:prstGeom>
          <a:noFill/>
          <a:ln>
            <a:noFill/>
          </a:ln>
        </p:spPr>
        <p:txBody>
          <a:bodyPr anchorCtr="0" anchor="ctr" bIns="45700" lIns="45700" spcFirstLastPara="1" rIns="45700" wrap="square" tIns="45700">
            <a:noAutofit/>
          </a:bodyPr>
          <a:lstStyle/>
          <a:p>
            <a:pPr indent="0" lvl="0" marL="0" marR="0" rtl="0" algn="r">
              <a:lnSpc>
                <a:spcPct val="100000"/>
              </a:lnSpc>
              <a:spcBef>
                <a:spcPts val="0"/>
              </a:spcBef>
              <a:spcAft>
                <a:spcPts val="0"/>
              </a:spcAft>
              <a:buClr>
                <a:srgbClr val="040F0F"/>
              </a:buClr>
              <a:buSzPts val="3600"/>
              <a:buFont typeface="Lexend"/>
              <a:buNone/>
            </a:pPr>
            <a:r>
              <a:rPr b="0" i="0" lang="en-US" sz="3600" u="none" cap="none" strike="noStrike">
                <a:solidFill>
                  <a:srgbClr val="040F0F"/>
                </a:solidFill>
                <a:latin typeface="Lexend"/>
                <a:ea typeface="Lexend"/>
                <a:cs typeface="Lexend"/>
                <a:sym typeface="Lexend"/>
              </a:rPr>
              <a:t>✅</a:t>
            </a:r>
            <a:endParaRPr b="0" i="0" sz="3600" u="none" cap="none" strike="noStrike">
              <a:solidFill>
                <a:schemeClr val="dk1"/>
              </a:solidFill>
              <a:latin typeface="Calibri"/>
              <a:ea typeface="Calibri"/>
              <a:cs typeface="Calibri"/>
              <a:sym typeface="Calibri"/>
            </a:endParaRPr>
          </a:p>
        </p:txBody>
      </p:sp>
      <p:cxnSp>
        <p:nvCxnSpPr>
          <p:cNvPr id="181" name="Google Shape;181;p17"/>
          <p:cNvCxnSpPr/>
          <p:nvPr/>
        </p:nvCxnSpPr>
        <p:spPr>
          <a:xfrm>
            <a:off x="2571750" y="1623060"/>
            <a:ext cx="994410" cy="944118"/>
          </a:xfrm>
          <a:prstGeom prst="straightConnector1">
            <a:avLst/>
          </a:prstGeom>
          <a:noFill/>
          <a:ln cap="flat" cmpd="sng" w="28575">
            <a:solidFill>
              <a:srgbClr val="409E9E"/>
            </a:solidFill>
            <a:prstDash val="solid"/>
            <a:round/>
            <a:headEnd len="sm" w="sm" type="none"/>
            <a:tailEnd len="sm" w="sm" type="none"/>
          </a:ln>
        </p:spPr>
      </p:cxnSp>
      <p:cxnSp>
        <p:nvCxnSpPr>
          <p:cNvPr id="182" name="Google Shape;182;p17"/>
          <p:cNvCxnSpPr/>
          <p:nvPr/>
        </p:nvCxnSpPr>
        <p:spPr>
          <a:xfrm>
            <a:off x="2571750" y="2537460"/>
            <a:ext cx="994410" cy="944118"/>
          </a:xfrm>
          <a:prstGeom prst="straightConnector1">
            <a:avLst/>
          </a:prstGeom>
          <a:noFill/>
          <a:ln cap="flat" cmpd="sng" w="28575">
            <a:solidFill>
              <a:srgbClr val="D90368"/>
            </a:solidFill>
            <a:prstDash val="solid"/>
            <a:round/>
            <a:headEnd len="sm" w="sm" type="none"/>
            <a:tailEnd len="sm" w="sm" type="none"/>
          </a:ln>
        </p:spPr>
      </p:cxnSp>
      <p:cxnSp>
        <p:nvCxnSpPr>
          <p:cNvPr id="183" name="Google Shape;183;p17"/>
          <p:cNvCxnSpPr/>
          <p:nvPr/>
        </p:nvCxnSpPr>
        <p:spPr>
          <a:xfrm flipH="1" rot="10800000">
            <a:off x="2571750" y="1652778"/>
            <a:ext cx="994410" cy="1799082"/>
          </a:xfrm>
          <a:prstGeom prst="straightConnector1">
            <a:avLst/>
          </a:prstGeom>
          <a:noFill/>
          <a:ln cap="flat" cmpd="sng" w="28575">
            <a:solidFill>
              <a:srgbClr val="D68C45"/>
            </a:solidFill>
            <a:prstDash val="solid"/>
            <a:round/>
            <a:headEnd len="sm" w="sm" type="none"/>
            <a:tailEnd len="sm" w="sm" type="none"/>
          </a:ln>
        </p:spPr>
      </p:cxnSp>
      <p:cxnSp>
        <p:nvCxnSpPr>
          <p:cNvPr id="184" name="Google Shape;184;p17"/>
          <p:cNvCxnSpPr/>
          <p:nvPr/>
        </p:nvCxnSpPr>
        <p:spPr>
          <a:xfrm>
            <a:off x="2571750" y="4366260"/>
            <a:ext cx="994410" cy="29718"/>
          </a:xfrm>
          <a:prstGeom prst="straightConnector1">
            <a:avLst/>
          </a:prstGeom>
          <a:noFill/>
          <a:ln cap="flat" cmpd="sng" w="28575">
            <a:solidFill>
              <a:srgbClr val="4579A9"/>
            </a:solidFill>
            <a:prstDash val="solid"/>
            <a:round/>
            <a:headEnd len="sm" w="sm" type="none"/>
            <a:tailEnd len="sm" w="sm" type="none"/>
          </a:ln>
        </p:spPr>
      </p:cxnSp>
      <p:sp>
        <p:nvSpPr>
          <p:cNvPr id="185" name="Google Shape;185;p17"/>
          <p:cNvSpPr/>
          <p:nvPr/>
        </p:nvSpPr>
        <p:spPr>
          <a:xfrm>
            <a:off x="3394710" y="2395728"/>
            <a:ext cx="342900" cy="342900"/>
          </a:xfrm>
          <a:prstGeom prst="roundRect">
            <a:avLst>
              <a:gd fmla="val 50000" name="adj"/>
            </a:avLst>
          </a:prstGeom>
          <a:solidFill>
            <a:srgbClr val="409E9E"/>
          </a:solidFill>
          <a:ln>
            <a:noFill/>
          </a:ln>
        </p:spPr>
        <p:txBody>
          <a:bodyPr anchorCtr="0" anchor="ctr" bIns="45700" lIns="45700" spcFirstLastPara="1" rIns="45700" wrap="square" tIns="45700">
            <a:noAutofit/>
          </a:bodyPr>
          <a:lstStyle/>
          <a:p>
            <a:pPr indent="0" lvl="0" marL="0" marR="0" rtl="0" algn="ctr">
              <a:lnSpc>
                <a:spcPct val="116666"/>
              </a:lnSpc>
              <a:spcBef>
                <a:spcPts val="0"/>
              </a:spcBef>
              <a:spcAft>
                <a:spcPts val="0"/>
              </a:spcAft>
              <a:buClr>
                <a:srgbClr val="FFFFFF"/>
              </a:buClr>
              <a:buSzPts val="1170"/>
              <a:buFont typeface="Lexend"/>
              <a:buNone/>
            </a:pPr>
            <a:r>
              <a:rPr b="1" i="0" lang="en-US" sz="1170" u="none" cap="none" strike="noStrike">
                <a:solidFill>
                  <a:srgbClr val="FFFFFF"/>
                </a:solidFill>
                <a:latin typeface="Lexend"/>
                <a:ea typeface="Lexend"/>
                <a:cs typeface="Lexend"/>
                <a:sym typeface="Lexend"/>
              </a:rPr>
              <a:t>B</a:t>
            </a:r>
            <a:endParaRPr b="0" i="0" sz="1170" u="none" cap="none" strike="noStrike">
              <a:solidFill>
                <a:schemeClr val="dk1"/>
              </a:solidFill>
              <a:latin typeface="Calibri"/>
              <a:ea typeface="Calibri"/>
              <a:cs typeface="Calibri"/>
              <a:sym typeface="Calibri"/>
            </a:endParaRPr>
          </a:p>
        </p:txBody>
      </p:sp>
      <p:sp>
        <p:nvSpPr>
          <p:cNvPr id="186" name="Google Shape;186;p17"/>
          <p:cNvSpPr/>
          <p:nvPr/>
        </p:nvSpPr>
        <p:spPr>
          <a:xfrm>
            <a:off x="3394710" y="3310128"/>
            <a:ext cx="342900" cy="342900"/>
          </a:xfrm>
          <a:prstGeom prst="roundRect">
            <a:avLst>
              <a:gd fmla="val 50000" name="adj"/>
            </a:avLst>
          </a:prstGeom>
          <a:solidFill>
            <a:srgbClr val="D90368"/>
          </a:solidFill>
          <a:ln>
            <a:noFill/>
          </a:ln>
        </p:spPr>
        <p:txBody>
          <a:bodyPr anchorCtr="0" anchor="ctr" bIns="45700" lIns="45700" spcFirstLastPara="1" rIns="45700" wrap="square" tIns="45700">
            <a:noAutofit/>
          </a:bodyPr>
          <a:lstStyle/>
          <a:p>
            <a:pPr indent="0" lvl="0" marL="0" marR="0" rtl="0" algn="ctr">
              <a:lnSpc>
                <a:spcPct val="116666"/>
              </a:lnSpc>
              <a:spcBef>
                <a:spcPts val="0"/>
              </a:spcBef>
              <a:spcAft>
                <a:spcPts val="0"/>
              </a:spcAft>
              <a:buClr>
                <a:srgbClr val="FFFFFF"/>
              </a:buClr>
              <a:buSzPts val="1170"/>
              <a:buFont typeface="Lexend"/>
              <a:buNone/>
            </a:pPr>
            <a:r>
              <a:rPr b="1" i="0" lang="en-US" sz="1170" u="none" cap="none" strike="noStrike">
                <a:solidFill>
                  <a:srgbClr val="FFFFFF"/>
                </a:solidFill>
                <a:latin typeface="Lexend"/>
                <a:ea typeface="Lexend"/>
                <a:cs typeface="Lexend"/>
                <a:sym typeface="Lexend"/>
              </a:rPr>
              <a:t>C</a:t>
            </a:r>
            <a:endParaRPr b="0" i="0" sz="1170" u="none" cap="none" strike="noStrike">
              <a:solidFill>
                <a:schemeClr val="dk1"/>
              </a:solidFill>
              <a:latin typeface="Calibri"/>
              <a:ea typeface="Calibri"/>
              <a:cs typeface="Calibri"/>
              <a:sym typeface="Calibri"/>
            </a:endParaRPr>
          </a:p>
        </p:txBody>
      </p:sp>
      <p:sp>
        <p:nvSpPr>
          <p:cNvPr id="187" name="Google Shape;187;p17"/>
          <p:cNvSpPr/>
          <p:nvPr/>
        </p:nvSpPr>
        <p:spPr>
          <a:xfrm>
            <a:off x="3394710" y="1481328"/>
            <a:ext cx="342900" cy="342900"/>
          </a:xfrm>
          <a:prstGeom prst="roundRect">
            <a:avLst>
              <a:gd fmla="val 50000" name="adj"/>
            </a:avLst>
          </a:prstGeom>
          <a:solidFill>
            <a:srgbClr val="D68C45"/>
          </a:solidFill>
          <a:ln>
            <a:noFill/>
          </a:ln>
        </p:spPr>
        <p:txBody>
          <a:bodyPr anchorCtr="0" anchor="ctr" bIns="45700" lIns="45700" spcFirstLastPara="1" rIns="45700" wrap="square" tIns="45700">
            <a:noAutofit/>
          </a:bodyPr>
          <a:lstStyle/>
          <a:p>
            <a:pPr indent="0" lvl="0" marL="0" marR="0" rtl="0" algn="ctr">
              <a:lnSpc>
                <a:spcPct val="116666"/>
              </a:lnSpc>
              <a:spcBef>
                <a:spcPts val="0"/>
              </a:spcBef>
              <a:spcAft>
                <a:spcPts val="0"/>
              </a:spcAft>
              <a:buClr>
                <a:srgbClr val="FFFFFF"/>
              </a:buClr>
              <a:buSzPts val="1170"/>
              <a:buFont typeface="Lexend"/>
              <a:buNone/>
            </a:pPr>
            <a:r>
              <a:rPr b="1" i="0" lang="en-US" sz="1170" u="none" cap="none" strike="noStrike">
                <a:solidFill>
                  <a:srgbClr val="FFFFFF"/>
                </a:solidFill>
                <a:latin typeface="Lexend"/>
                <a:ea typeface="Lexend"/>
                <a:cs typeface="Lexend"/>
                <a:sym typeface="Lexend"/>
              </a:rPr>
              <a:t>A</a:t>
            </a:r>
            <a:endParaRPr b="0" i="0" sz="1170" u="none" cap="none" strike="noStrike">
              <a:solidFill>
                <a:schemeClr val="dk1"/>
              </a:solidFill>
              <a:latin typeface="Calibri"/>
              <a:ea typeface="Calibri"/>
              <a:cs typeface="Calibri"/>
              <a:sym typeface="Calibri"/>
            </a:endParaRPr>
          </a:p>
        </p:txBody>
      </p:sp>
      <p:sp>
        <p:nvSpPr>
          <p:cNvPr id="188" name="Google Shape;188;p17"/>
          <p:cNvSpPr/>
          <p:nvPr/>
        </p:nvSpPr>
        <p:spPr>
          <a:xfrm>
            <a:off x="3394710" y="4224528"/>
            <a:ext cx="342900" cy="342900"/>
          </a:xfrm>
          <a:prstGeom prst="roundRect">
            <a:avLst>
              <a:gd fmla="val 50000" name="adj"/>
            </a:avLst>
          </a:prstGeom>
          <a:solidFill>
            <a:srgbClr val="4579A9"/>
          </a:solidFill>
          <a:ln>
            <a:noFill/>
          </a:ln>
        </p:spPr>
        <p:txBody>
          <a:bodyPr anchorCtr="0" anchor="ctr" bIns="45700" lIns="45700" spcFirstLastPara="1" rIns="45700" wrap="square" tIns="45700">
            <a:noAutofit/>
          </a:bodyPr>
          <a:lstStyle/>
          <a:p>
            <a:pPr indent="0" lvl="0" marL="0" marR="0" rtl="0" algn="ctr">
              <a:lnSpc>
                <a:spcPct val="116666"/>
              </a:lnSpc>
              <a:spcBef>
                <a:spcPts val="0"/>
              </a:spcBef>
              <a:spcAft>
                <a:spcPts val="0"/>
              </a:spcAft>
              <a:buClr>
                <a:srgbClr val="FFFFFF"/>
              </a:buClr>
              <a:buSzPts val="1170"/>
              <a:buFont typeface="Lexend"/>
              <a:buNone/>
            </a:pPr>
            <a:r>
              <a:rPr b="1" i="0" lang="en-US" sz="1170" u="none" cap="none" strike="noStrike">
                <a:solidFill>
                  <a:srgbClr val="FFFFFF"/>
                </a:solidFill>
                <a:latin typeface="Lexend"/>
                <a:ea typeface="Lexend"/>
                <a:cs typeface="Lexend"/>
                <a:sym typeface="Lexend"/>
              </a:rPr>
              <a:t>D</a:t>
            </a:r>
            <a:endParaRPr b="0" i="0" sz="117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3" name="Shape 193"/>
        <p:cNvGrpSpPr/>
        <p:nvPr/>
      </p:nvGrpSpPr>
      <p:grpSpPr>
        <a:xfrm>
          <a:off x="0" y="0"/>
          <a:ext cx="0" cy="0"/>
          <a:chOff x="0" y="0"/>
          <a:chExt cx="0" cy="0"/>
        </a:xfrm>
      </p:grpSpPr>
      <p:sp>
        <p:nvSpPr>
          <p:cNvPr id="194" name="Google Shape;194;p18"/>
          <p:cNvSpPr/>
          <p:nvPr/>
        </p:nvSpPr>
        <p:spPr>
          <a:xfrm>
            <a:off x="274320" y="182880"/>
            <a:ext cx="8595360" cy="651510"/>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2880"/>
              <a:buFont typeface="Lexend"/>
              <a:buNone/>
            </a:pPr>
            <a:r>
              <a:rPr b="1" i="0" lang="en-US" sz="2880" u="none" cap="none" strike="noStrike">
                <a:solidFill>
                  <a:srgbClr val="040F0F"/>
                </a:solidFill>
                <a:latin typeface="Lexend"/>
                <a:ea typeface="Lexend"/>
                <a:cs typeface="Lexend"/>
                <a:sym typeface="Lexend"/>
              </a:rPr>
              <a:t>Comunicação Pessoal vs. Corporativa</a:t>
            </a:r>
            <a:endParaRPr b="0" i="0" sz="2880" u="none" cap="none" strike="noStrike">
              <a:solidFill>
                <a:schemeClr val="dk1"/>
              </a:solidFill>
              <a:latin typeface="Calibri"/>
              <a:ea typeface="Calibri"/>
              <a:cs typeface="Calibri"/>
              <a:sym typeface="Calibri"/>
            </a:endParaRPr>
          </a:p>
        </p:txBody>
      </p:sp>
      <p:pic>
        <p:nvPicPr>
          <p:cNvPr descr="/home/forge/chalkie-production-workers-2/releases/78214720/backend/storage/app/render-specs/a150a017-74b3-45d2-90a1-ee5e1050d2e7/img_abe6d4727a8babb89ce6bd0065696fb8.png" id="195" name="Google Shape;195;p18"/>
          <p:cNvPicPr preferRelativeResize="0"/>
          <p:nvPr/>
        </p:nvPicPr>
        <p:blipFill rotWithShape="1">
          <a:blip r:embed="rId4">
            <a:alphaModFix/>
          </a:blip>
          <a:srcRect b="0" l="0" r="0" t="0"/>
          <a:stretch/>
        </p:blipFill>
        <p:spPr>
          <a:xfrm>
            <a:off x="274320" y="925830"/>
            <a:ext cx="4251960" cy="2057400"/>
          </a:xfrm>
          <a:prstGeom prst="roundRect">
            <a:avLst>
              <a:gd fmla="val 6667" name="adj"/>
            </a:avLst>
          </a:prstGeom>
          <a:noFill/>
          <a:ln>
            <a:noFill/>
          </a:ln>
        </p:spPr>
      </p:pic>
      <p:sp>
        <p:nvSpPr>
          <p:cNvPr id="196" name="Google Shape;196;p18"/>
          <p:cNvSpPr/>
          <p:nvPr/>
        </p:nvSpPr>
        <p:spPr>
          <a:xfrm>
            <a:off x="274320" y="3040380"/>
            <a:ext cx="4251960" cy="1554480"/>
          </a:xfrm>
          <a:prstGeom prst="rect">
            <a:avLst/>
          </a:prstGeom>
          <a:noFill/>
          <a:ln>
            <a:noFill/>
          </a:ln>
        </p:spPr>
        <p:txBody>
          <a:bodyPr anchorCtr="0" anchor="t" bIns="45700" lIns="45700" spcFirstLastPara="1" rIns="45700" wrap="square" tIns="45700">
            <a:noAutofit/>
          </a:bodyPr>
          <a:lstStyle/>
          <a:p>
            <a:pPr indent="0" lvl="0" marL="0" marR="0" rtl="0" algn="l">
              <a:lnSpc>
                <a:spcPct val="116666"/>
              </a:lnSpc>
              <a:spcBef>
                <a:spcPts val="0"/>
              </a:spcBef>
              <a:spcAft>
                <a:spcPts val="0"/>
              </a:spcAft>
              <a:buClr>
                <a:srgbClr val="040F0F"/>
              </a:buClr>
              <a:buSzPts val="2160"/>
              <a:buFont typeface="Lexend"/>
              <a:buNone/>
            </a:pPr>
            <a:r>
              <a:rPr b="1" i="0" lang="en-US" sz="2160" u="none" cap="none" strike="noStrike">
                <a:solidFill>
                  <a:srgbClr val="040F0F"/>
                </a:solidFill>
                <a:latin typeface="Lexend"/>
                <a:ea typeface="Lexend"/>
                <a:cs typeface="Lexend"/>
                <a:sym typeface="Lexend"/>
              </a:rPr>
              <a:t>Âmbito Pessoal</a:t>
            </a:r>
            <a:endParaRPr b="0" i="0" sz="2160" u="none" cap="none" strike="noStrike">
              <a:solidFill>
                <a:schemeClr val="dk1"/>
              </a:solidFill>
              <a:latin typeface="Calibri"/>
              <a:ea typeface="Calibri"/>
              <a:cs typeface="Calibri"/>
              <a:sym typeface="Calibri"/>
            </a:endParaRPr>
          </a:p>
          <a:p>
            <a:pPr indent="0" lvl="0" marL="0" marR="0" rtl="0" algn="l">
              <a:lnSpc>
                <a:spcPct val="116666"/>
              </a:lnSpc>
              <a:spcBef>
                <a:spcPts val="81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Focado na conexão emocional, liberdade estrutural e partilha espontânea de sentimentos do dia a dia.</a:t>
            </a:r>
            <a:endParaRPr b="0" i="0" sz="2160" u="none" cap="none" strike="noStrike">
              <a:solidFill>
                <a:schemeClr val="dk1"/>
              </a:solidFill>
              <a:latin typeface="Calibri"/>
              <a:ea typeface="Calibri"/>
              <a:cs typeface="Calibri"/>
              <a:sym typeface="Calibri"/>
            </a:endParaRPr>
          </a:p>
        </p:txBody>
      </p:sp>
      <p:pic>
        <p:nvPicPr>
          <p:cNvPr descr="/home/forge/chalkie-production-workers-2/releases/78214720/backend/storage/app/render-specs/a150a017-74b3-45d2-90a1-ee5e1050d2e7/img_7ec07bc02cca35a7dcc8e235eb75044f.png" id="197" name="Google Shape;197;p18"/>
          <p:cNvPicPr preferRelativeResize="0"/>
          <p:nvPr/>
        </p:nvPicPr>
        <p:blipFill rotWithShape="1">
          <a:blip r:embed="rId5">
            <a:alphaModFix/>
          </a:blip>
          <a:srcRect b="0" l="0" r="0" t="0"/>
          <a:stretch/>
        </p:blipFill>
        <p:spPr>
          <a:xfrm>
            <a:off x="4617720" y="925830"/>
            <a:ext cx="4251960" cy="2057400"/>
          </a:xfrm>
          <a:prstGeom prst="roundRect">
            <a:avLst>
              <a:gd fmla="val 6667" name="adj"/>
            </a:avLst>
          </a:prstGeom>
          <a:noFill/>
          <a:ln>
            <a:noFill/>
          </a:ln>
        </p:spPr>
      </p:pic>
      <p:sp>
        <p:nvSpPr>
          <p:cNvPr id="198" name="Google Shape;198;p18"/>
          <p:cNvSpPr/>
          <p:nvPr/>
        </p:nvSpPr>
        <p:spPr>
          <a:xfrm>
            <a:off x="4617720" y="3040380"/>
            <a:ext cx="4251960" cy="1554480"/>
          </a:xfrm>
          <a:prstGeom prst="rect">
            <a:avLst/>
          </a:prstGeom>
          <a:noFill/>
          <a:ln>
            <a:noFill/>
          </a:ln>
        </p:spPr>
        <p:txBody>
          <a:bodyPr anchorCtr="0" anchor="t" bIns="45700" lIns="45700" spcFirstLastPara="1" rIns="45700" wrap="square" tIns="45700">
            <a:noAutofit/>
          </a:bodyPr>
          <a:lstStyle/>
          <a:p>
            <a:pPr indent="0" lvl="0" marL="0" marR="0" rtl="0" algn="l">
              <a:lnSpc>
                <a:spcPct val="116666"/>
              </a:lnSpc>
              <a:spcBef>
                <a:spcPts val="0"/>
              </a:spcBef>
              <a:spcAft>
                <a:spcPts val="0"/>
              </a:spcAft>
              <a:buClr>
                <a:srgbClr val="040F0F"/>
              </a:buClr>
              <a:buSzPts val="2160"/>
              <a:buFont typeface="Lexend"/>
              <a:buNone/>
            </a:pPr>
            <a:r>
              <a:rPr b="1" i="0" lang="en-US" sz="2160" u="none" cap="none" strike="noStrike">
                <a:solidFill>
                  <a:srgbClr val="040F0F"/>
                </a:solidFill>
                <a:latin typeface="Lexend"/>
                <a:ea typeface="Lexend"/>
                <a:cs typeface="Lexend"/>
                <a:sym typeface="Lexend"/>
              </a:rPr>
              <a:t>Âmbito Corporativo</a:t>
            </a:r>
            <a:endParaRPr b="0" i="0" sz="2160" u="none" cap="none" strike="noStrike">
              <a:solidFill>
                <a:schemeClr val="dk1"/>
              </a:solidFill>
              <a:latin typeface="Calibri"/>
              <a:ea typeface="Calibri"/>
              <a:cs typeface="Calibri"/>
              <a:sym typeface="Calibri"/>
            </a:endParaRPr>
          </a:p>
          <a:p>
            <a:pPr indent="0" lvl="0" marL="0" marR="0" rtl="0" algn="l">
              <a:lnSpc>
                <a:spcPct val="116666"/>
              </a:lnSpc>
              <a:spcBef>
                <a:spcPts val="81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Focado na entrega de resultados, transparência de processos, alinhamento de metas e registro formal.</a:t>
            </a:r>
            <a:endParaRPr b="0" i="0" sz="216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3" name="Shape 203"/>
        <p:cNvGrpSpPr/>
        <p:nvPr/>
      </p:nvGrpSpPr>
      <p:grpSpPr>
        <a:xfrm>
          <a:off x="0" y="0"/>
          <a:ext cx="0" cy="0"/>
          <a:chOff x="0" y="0"/>
          <a:chExt cx="0" cy="0"/>
        </a:xfrm>
      </p:grpSpPr>
      <p:sp>
        <p:nvSpPr>
          <p:cNvPr id="204" name="Google Shape;204;p19"/>
          <p:cNvSpPr/>
          <p:nvPr/>
        </p:nvSpPr>
        <p:spPr>
          <a:xfrm>
            <a:off x="274320" y="400050"/>
            <a:ext cx="4846320" cy="1085850"/>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2880"/>
              <a:buFont typeface="Lexend"/>
              <a:buNone/>
            </a:pPr>
            <a:r>
              <a:rPr b="1" i="0" lang="en-US" sz="2880" u="none" cap="none" strike="noStrike">
                <a:solidFill>
                  <a:srgbClr val="040F0F"/>
                </a:solidFill>
                <a:latin typeface="Lexend"/>
                <a:ea typeface="Lexend"/>
                <a:cs typeface="Lexend"/>
                <a:sym typeface="Lexend"/>
              </a:rPr>
              <a:t>O Rigor da Esfera Acadêmica</a:t>
            </a:r>
            <a:endParaRPr b="0" i="0" sz="2880" u="none" cap="none" strike="noStrike">
              <a:solidFill>
                <a:schemeClr val="dk1"/>
              </a:solidFill>
              <a:latin typeface="Calibri"/>
              <a:ea typeface="Calibri"/>
              <a:cs typeface="Calibri"/>
              <a:sym typeface="Calibri"/>
            </a:endParaRPr>
          </a:p>
        </p:txBody>
      </p:sp>
      <p:sp>
        <p:nvSpPr>
          <p:cNvPr id="205" name="Google Shape;205;p19"/>
          <p:cNvSpPr/>
          <p:nvPr/>
        </p:nvSpPr>
        <p:spPr>
          <a:xfrm>
            <a:off x="274320" y="1668780"/>
            <a:ext cx="4846320" cy="2983230"/>
          </a:xfrm>
          <a:prstGeom prst="rect">
            <a:avLst/>
          </a:prstGeom>
          <a:noFill/>
          <a:ln>
            <a:noFill/>
          </a:ln>
        </p:spPr>
        <p:txBody>
          <a:bodyPr anchorCtr="0" anchor="t" bIns="45700" lIns="45700" spcFirstLastPara="1" rIns="45700" wrap="square" tIns="45700">
            <a:noAutofit/>
          </a:bodyPr>
          <a:lstStyle/>
          <a:p>
            <a:pPr indent="0" lvl="0" marL="0" marR="0" rtl="0" algn="l">
              <a:lnSpc>
                <a:spcPct val="116666"/>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Na escola e na universidade, a escrita exige precisão conceitual e respeito aos fatos comprovados.</a:t>
            </a:r>
            <a:endParaRPr b="0" i="0" sz="1620" u="none" cap="none" strike="noStrike">
              <a:solidFill>
                <a:schemeClr val="dk1"/>
              </a:solidFill>
              <a:latin typeface="Calibri"/>
              <a:ea typeface="Calibri"/>
              <a:cs typeface="Calibri"/>
              <a:sym typeface="Calibri"/>
            </a:endParaRPr>
          </a:p>
          <a:p>
            <a:pPr indent="-228600" lvl="0" marL="228600" marR="0" rtl="0" algn="l">
              <a:lnSpc>
                <a:spcPct val="116666"/>
              </a:lnSpc>
              <a:spcBef>
                <a:spcPts val="585"/>
              </a:spcBef>
              <a:spcAft>
                <a:spcPts val="0"/>
              </a:spcAft>
              <a:buClr>
                <a:srgbClr val="040F0F"/>
              </a:buClr>
              <a:buSzPts val="1620"/>
              <a:buFont typeface="Lexend"/>
              <a:buChar char="•"/>
            </a:pPr>
            <a:r>
              <a:rPr b="1" i="0" lang="en-US" sz="1620" u="none" cap="none" strike="noStrike">
                <a:solidFill>
                  <a:srgbClr val="040F0F"/>
                </a:solidFill>
                <a:latin typeface="Lexend"/>
                <a:ea typeface="Lexend"/>
                <a:cs typeface="Lexend"/>
                <a:sym typeface="Lexend"/>
              </a:rPr>
              <a:t>Impessoalidade:</a:t>
            </a:r>
            <a:r>
              <a:rPr b="0" i="0" lang="en-US" sz="1620" u="none" cap="none" strike="noStrike">
                <a:solidFill>
                  <a:srgbClr val="040F0F"/>
                </a:solidFill>
                <a:latin typeface="Lexend"/>
                <a:ea typeface="Lexend"/>
                <a:cs typeface="Lexend"/>
                <a:sym typeface="Lexend"/>
              </a:rPr>
              <a:t> Prefere-se </a:t>
            </a:r>
            <a:r>
              <a:rPr b="0" i="1" lang="en-US" sz="1620" u="none" cap="none" strike="noStrike">
                <a:solidFill>
                  <a:srgbClr val="040F0F"/>
                </a:solidFill>
                <a:latin typeface="Lexend"/>
                <a:ea typeface="Lexend"/>
                <a:cs typeface="Lexend"/>
                <a:sym typeface="Lexend"/>
              </a:rPr>
              <a:t>"observa-se os resultados"</a:t>
            </a:r>
            <a:r>
              <a:rPr b="0" i="0" lang="en-US" sz="1620" u="none" cap="none" strike="noStrike">
                <a:solidFill>
                  <a:srgbClr val="040F0F"/>
                </a:solidFill>
                <a:latin typeface="Lexend"/>
                <a:ea typeface="Lexend"/>
                <a:cs typeface="Lexend"/>
                <a:sym typeface="Lexend"/>
              </a:rPr>
              <a:t> em vez de </a:t>
            </a:r>
            <a:r>
              <a:rPr b="0" i="1" lang="en-US" sz="1620" u="none" cap="none" strike="noStrike">
                <a:solidFill>
                  <a:srgbClr val="040F0F"/>
                </a:solidFill>
                <a:latin typeface="Lexend"/>
                <a:ea typeface="Lexend"/>
                <a:cs typeface="Lexend"/>
                <a:sym typeface="Lexend"/>
              </a:rPr>
              <a:t>"eu acho que funcionou"</a:t>
            </a:r>
            <a:r>
              <a:rPr b="0" i="0" lang="en-US" sz="1620" u="none" cap="none" strike="noStrike">
                <a:solidFill>
                  <a:srgbClr val="040F0F"/>
                </a:solidFill>
                <a:latin typeface="Lexend"/>
                <a:ea typeface="Lexend"/>
                <a:cs typeface="Lexend"/>
                <a:sym typeface="Lexend"/>
              </a:rPr>
              <a:t>.</a:t>
            </a:r>
            <a:endParaRPr b="0" i="0" sz="1620" u="none" cap="none" strike="noStrike">
              <a:solidFill>
                <a:schemeClr val="dk1"/>
              </a:solidFill>
              <a:latin typeface="Calibri"/>
              <a:ea typeface="Calibri"/>
              <a:cs typeface="Calibri"/>
              <a:sym typeface="Calibri"/>
            </a:endParaRPr>
          </a:p>
          <a:p>
            <a:pPr indent="-228600" lvl="0" marL="228600" marR="0" rtl="0" algn="l">
              <a:lnSpc>
                <a:spcPct val="116666"/>
              </a:lnSpc>
              <a:spcBef>
                <a:spcPts val="450"/>
              </a:spcBef>
              <a:spcAft>
                <a:spcPts val="0"/>
              </a:spcAft>
              <a:buClr>
                <a:srgbClr val="040F0F"/>
              </a:buClr>
              <a:buSzPts val="1620"/>
              <a:buFont typeface="Lexend"/>
              <a:buChar char="•"/>
            </a:pPr>
            <a:r>
              <a:rPr b="1" i="0" lang="en-US" sz="1620" u="none" cap="none" strike="noStrike">
                <a:solidFill>
                  <a:srgbClr val="040F0F"/>
                </a:solidFill>
                <a:latin typeface="Lexend"/>
                <a:ea typeface="Lexend"/>
                <a:cs typeface="Lexend"/>
                <a:sym typeface="Lexend"/>
              </a:rPr>
              <a:t>Citação de fontes:</a:t>
            </a:r>
            <a:r>
              <a:rPr b="0" i="0" lang="en-US" sz="1620" u="none" cap="none" strike="noStrike">
                <a:solidFill>
                  <a:srgbClr val="040F0F"/>
                </a:solidFill>
                <a:latin typeface="Lexend"/>
                <a:ea typeface="Lexend"/>
                <a:cs typeface="Lexend"/>
                <a:sym typeface="Lexend"/>
              </a:rPr>
              <a:t> Nenhuma afirmação se sustenta sem respaldo ou fundamentação sólida.</a:t>
            </a:r>
            <a:endParaRPr b="0" i="0" sz="1620" u="none" cap="none" strike="noStrike">
              <a:solidFill>
                <a:schemeClr val="dk1"/>
              </a:solidFill>
              <a:latin typeface="Calibri"/>
              <a:ea typeface="Calibri"/>
              <a:cs typeface="Calibri"/>
              <a:sym typeface="Calibri"/>
            </a:endParaRPr>
          </a:p>
        </p:txBody>
      </p:sp>
      <p:pic>
        <p:nvPicPr>
          <p:cNvPr descr="/home/forge/chalkie-production-workers-2/releases/78214720/backend/storage/app/render-specs/a150a017-74b3-45d2-90a1-ee5e1050d2e7/img_49b69b6a3ccc77622c3109455ccea055.png" id="206" name="Google Shape;206;p19"/>
          <p:cNvPicPr preferRelativeResize="0"/>
          <p:nvPr/>
        </p:nvPicPr>
        <p:blipFill rotWithShape="1">
          <a:blip r:embed="rId4">
            <a:alphaModFix/>
          </a:blip>
          <a:srcRect b="0" l="0" r="0" t="0"/>
          <a:stretch/>
        </p:blipFill>
        <p:spPr>
          <a:xfrm>
            <a:off x="5486400" y="0"/>
            <a:ext cx="3657600" cy="5143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1" name="Shape 211"/>
        <p:cNvGrpSpPr/>
        <p:nvPr/>
      </p:nvGrpSpPr>
      <p:grpSpPr>
        <a:xfrm>
          <a:off x="0" y="0"/>
          <a:ext cx="0" cy="0"/>
          <a:chOff x="0" y="0"/>
          <a:chExt cx="0" cy="0"/>
        </a:xfrm>
      </p:grpSpPr>
      <p:sp>
        <p:nvSpPr>
          <p:cNvPr id="212" name="Google Shape;212;p20"/>
          <p:cNvSpPr/>
          <p:nvPr/>
        </p:nvSpPr>
        <p:spPr>
          <a:xfrm>
            <a:off x="274320" y="182880"/>
            <a:ext cx="8595360" cy="651510"/>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2880"/>
              <a:buFont typeface="Lexend"/>
              <a:buNone/>
            </a:pPr>
            <a:r>
              <a:rPr b="1" i="0" lang="en-US" sz="2880" u="none" cap="none" strike="noStrike">
                <a:solidFill>
                  <a:srgbClr val="040F0F"/>
                </a:solidFill>
                <a:latin typeface="Lexend"/>
                <a:ea typeface="Lexend"/>
                <a:cs typeface="Lexend"/>
                <a:sym typeface="Lexend"/>
              </a:rPr>
              <a:t>Adequação na Fala vs. na Escrita</a:t>
            </a:r>
            <a:endParaRPr b="0" i="0" sz="2880" u="none" cap="none" strike="noStrike">
              <a:solidFill>
                <a:schemeClr val="dk1"/>
              </a:solidFill>
              <a:latin typeface="Calibri"/>
              <a:ea typeface="Calibri"/>
              <a:cs typeface="Calibri"/>
              <a:sym typeface="Calibri"/>
            </a:endParaRPr>
          </a:p>
        </p:txBody>
      </p:sp>
      <p:sp>
        <p:nvSpPr>
          <p:cNvPr id="213" name="Google Shape;213;p20"/>
          <p:cNvSpPr/>
          <p:nvPr/>
        </p:nvSpPr>
        <p:spPr>
          <a:xfrm>
            <a:off x="274320" y="925830"/>
            <a:ext cx="4503420" cy="2366010"/>
          </a:xfrm>
          <a:prstGeom prst="rect">
            <a:avLst/>
          </a:prstGeom>
          <a:noFill/>
          <a:ln>
            <a:noFill/>
          </a:ln>
        </p:spPr>
        <p:txBody>
          <a:bodyPr anchorCtr="0" anchor="t" bIns="45700" lIns="45700" spcFirstLastPara="1" rIns="45700" wrap="square" tIns="45700">
            <a:noAutofit/>
          </a:bodyPr>
          <a:lstStyle/>
          <a:p>
            <a:pPr indent="0" lvl="0" marL="0" marR="0" rtl="0" algn="l">
              <a:lnSpc>
                <a:spcPct val="116666"/>
              </a:lnSpc>
              <a:spcBef>
                <a:spcPts val="0"/>
              </a:spcBef>
              <a:spcAft>
                <a:spcPts val="0"/>
              </a:spcAft>
              <a:buClr>
                <a:srgbClr val="040F0F"/>
              </a:buClr>
              <a:buSzPts val="1530"/>
              <a:buFont typeface="Lexend"/>
              <a:buNone/>
            </a:pPr>
            <a:r>
              <a:rPr b="0" i="0" lang="en-US" sz="1530" u="none" cap="none" strike="noStrike">
                <a:solidFill>
                  <a:srgbClr val="040F0F"/>
                </a:solidFill>
                <a:latin typeface="Lexend"/>
                <a:ea typeface="Lexend"/>
                <a:cs typeface="Lexend"/>
                <a:sym typeface="Lexend"/>
              </a:rPr>
              <a:t>A fala conta com recursos imediatos: tom de voz, expressão facial e possibilidade de correção instantânea.</a:t>
            </a:r>
            <a:endParaRPr b="0" i="0" sz="1530" u="none" cap="none" strike="noStrike">
              <a:solidFill>
                <a:schemeClr val="dk1"/>
              </a:solidFill>
              <a:latin typeface="Calibri"/>
              <a:ea typeface="Calibri"/>
              <a:cs typeface="Calibri"/>
              <a:sym typeface="Calibri"/>
            </a:endParaRPr>
          </a:p>
          <a:p>
            <a:pPr indent="0" lvl="0" marL="0" marR="0" rtl="0" algn="l">
              <a:lnSpc>
                <a:spcPct val="116666"/>
              </a:lnSpc>
              <a:spcBef>
                <a:spcPts val="720"/>
              </a:spcBef>
              <a:spcAft>
                <a:spcPts val="0"/>
              </a:spcAft>
              <a:buClr>
                <a:srgbClr val="040F0F"/>
              </a:buClr>
              <a:buSzPts val="1530"/>
              <a:buFont typeface="Lexend"/>
              <a:buNone/>
            </a:pPr>
            <a:r>
              <a:rPr b="0" i="0" lang="en-US" sz="1530" u="none" cap="none" strike="noStrike">
                <a:solidFill>
                  <a:srgbClr val="040F0F"/>
                </a:solidFill>
                <a:latin typeface="Lexend"/>
                <a:ea typeface="Lexend"/>
                <a:cs typeface="Lexend"/>
                <a:sym typeface="Lexend"/>
              </a:rPr>
              <a:t>Já a escrita é duradoura e desprovida de entonação ao vivo. Uma frase mal pontuada ou ambígua não pode ser retificada no mesmo instante em que é lida.</a:t>
            </a:r>
            <a:endParaRPr b="0" i="0" sz="1530" u="none" cap="none" strike="noStrike">
              <a:solidFill>
                <a:schemeClr val="dk1"/>
              </a:solidFill>
              <a:latin typeface="Calibri"/>
              <a:ea typeface="Calibri"/>
              <a:cs typeface="Calibri"/>
              <a:sym typeface="Calibri"/>
            </a:endParaRPr>
          </a:p>
        </p:txBody>
      </p:sp>
      <p:sp>
        <p:nvSpPr>
          <p:cNvPr id="214" name="Google Shape;214;p20"/>
          <p:cNvSpPr/>
          <p:nvPr/>
        </p:nvSpPr>
        <p:spPr>
          <a:xfrm>
            <a:off x="274320" y="3291840"/>
            <a:ext cx="4503420" cy="1577340"/>
          </a:xfrm>
          <a:prstGeom prst="roundRect">
            <a:avLst>
              <a:gd fmla="val 5797" name="adj"/>
            </a:avLst>
          </a:prstGeom>
          <a:solidFill>
            <a:srgbClr val="E6F1FB"/>
          </a:solidFill>
          <a:ln cap="flat" cmpd="sng" w="11425">
            <a:solidFill>
              <a:srgbClr val="0B2F50">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0"/>
          <p:cNvSpPr/>
          <p:nvPr/>
        </p:nvSpPr>
        <p:spPr>
          <a:xfrm>
            <a:off x="400050" y="3417570"/>
            <a:ext cx="320040" cy="468630"/>
          </a:xfrm>
          <a:prstGeom prst="rect">
            <a:avLst/>
          </a:prstGeom>
          <a:noFill/>
          <a:ln>
            <a:noFill/>
          </a:ln>
        </p:spPr>
        <p:txBody>
          <a:bodyPr anchorCtr="0" anchor="t" bIns="45700" lIns="45700" spcFirstLastPara="1" rIns="45700" wrap="square" tIns="45700">
            <a:noAutofit/>
          </a:bodyPr>
          <a:lstStyle/>
          <a:p>
            <a:pPr indent="0" lvl="0" marL="0" marR="0" rtl="0" algn="l">
              <a:lnSpc>
                <a:spcPct val="83333"/>
              </a:lnSpc>
              <a:spcBef>
                <a:spcPts val="0"/>
              </a:spcBef>
              <a:spcAft>
                <a:spcPts val="0"/>
              </a:spcAft>
              <a:buClr>
                <a:srgbClr val="0B2F50"/>
              </a:buClr>
              <a:buSzPts val="2070"/>
              <a:buFont typeface="Lexend"/>
              <a:buNone/>
            </a:pPr>
            <a:r>
              <a:rPr b="0" i="0" lang="en-US" sz="2070" u="none" cap="none" strike="noStrike">
                <a:solidFill>
                  <a:srgbClr val="0B2F50"/>
                </a:solidFill>
                <a:latin typeface="Lexend"/>
                <a:ea typeface="Lexend"/>
                <a:cs typeface="Lexend"/>
                <a:sym typeface="Lexend"/>
              </a:rPr>
              <a:t>🧠</a:t>
            </a:r>
            <a:endParaRPr b="0" i="0" sz="2070" u="none" cap="none" strike="noStrike">
              <a:solidFill>
                <a:schemeClr val="dk1"/>
              </a:solidFill>
              <a:latin typeface="Calibri"/>
              <a:ea typeface="Calibri"/>
              <a:cs typeface="Calibri"/>
              <a:sym typeface="Calibri"/>
            </a:endParaRPr>
          </a:p>
        </p:txBody>
      </p:sp>
      <p:sp>
        <p:nvSpPr>
          <p:cNvPr id="216" name="Google Shape;216;p20"/>
          <p:cNvSpPr/>
          <p:nvPr/>
        </p:nvSpPr>
        <p:spPr>
          <a:xfrm>
            <a:off x="765810" y="3417570"/>
            <a:ext cx="3886200" cy="1325880"/>
          </a:xfrm>
          <a:prstGeom prst="rect">
            <a:avLst/>
          </a:prstGeom>
          <a:noFill/>
          <a:ln>
            <a:noFill/>
          </a:ln>
        </p:spPr>
        <p:txBody>
          <a:bodyPr anchorCtr="0" anchor="t" bIns="45700" lIns="45700" spcFirstLastPara="1" rIns="45700" wrap="square" tIns="45700">
            <a:noAutofit/>
          </a:bodyPr>
          <a:lstStyle/>
          <a:p>
            <a:pPr indent="0" lvl="0" marL="0" marR="0" rtl="0" algn="l">
              <a:lnSpc>
                <a:spcPct val="116666"/>
              </a:lnSpc>
              <a:spcBef>
                <a:spcPts val="0"/>
              </a:spcBef>
              <a:spcAft>
                <a:spcPts val="0"/>
              </a:spcAft>
              <a:buClr>
                <a:srgbClr val="0B2F50"/>
              </a:buClr>
              <a:buSzPts val="1440"/>
              <a:buFont typeface="Lexend"/>
              <a:buNone/>
            </a:pPr>
            <a:r>
              <a:rPr b="1" i="0" lang="en-US" sz="1440" u="none" cap="none" strike="noStrike">
                <a:solidFill>
                  <a:srgbClr val="0B2F50"/>
                </a:solidFill>
                <a:latin typeface="Lexend"/>
                <a:ea typeface="Lexend"/>
                <a:cs typeface="Lexend"/>
                <a:sym typeface="Lexend"/>
              </a:rPr>
              <a:t>Lembre-se</a:t>
            </a:r>
            <a:endParaRPr b="0" i="0" sz="1440" u="none" cap="none" strike="noStrike">
              <a:solidFill>
                <a:schemeClr val="dk1"/>
              </a:solidFill>
              <a:latin typeface="Calibri"/>
              <a:ea typeface="Calibri"/>
              <a:cs typeface="Calibri"/>
              <a:sym typeface="Calibri"/>
            </a:endParaRPr>
          </a:p>
          <a:p>
            <a:pPr indent="0" lvl="0" marL="0" marR="0" rtl="0" algn="l">
              <a:lnSpc>
                <a:spcPct val="116666"/>
              </a:lnSpc>
              <a:spcBef>
                <a:spcPts val="630"/>
              </a:spcBef>
              <a:spcAft>
                <a:spcPts val="0"/>
              </a:spcAft>
              <a:buClr>
                <a:srgbClr val="0B2F50"/>
              </a:buClr>
              <a:buSzPts val="1530"/>
              <a:buFont typeface="Lexend"/>
              <a:buNone/>
            </a:pPr>
            <a:r>
              <a:rPr b="0" i="0" lang="en-US" sz="1530" u="none" cap="none" strike="noStrike">
                <a:solidFill>
                  <a:srgbClr val="0B2F50"/>
                </a:solidFill>
                <a:latin typeface="Lexend"/>
                <a:ea typeface="Lexend"/>
                <a:cs typeface="Lexend"/>
                <a:sym typeface="Lexend"/>
              </a:rPr>
              <a:t>O texto escrito exige maior planejamento e clareza do que o diálogo oral.</a:t>
            </a:r>
            <a:endParaRPr b="0" i="0" sz="1440" u="none" cap="none" strike="noStrike">
              <a:solidFill>
                <a:schemeClr val="dk1"/>
              </a:solidFill>
              <a:latin typeface="Calibri"/>
              <a:ea typeface="Calibri"/>
              <a:cs typeface="Calibri"/>
              <a:sym typeface="Calibri"/>
            </a:endParaRPr>
          </a:p>
        </p:txBody>
      </p:sp>
      <p:pic>
        <p:nvPicPr>
          <p:cNvPr descr="/home/forge/chalkie-production-workers-2/releases/78214720/backend/storage/app/render-specs/a150a017-74b3-45d2-90a1-ee5e1050d2e7/img_4a5bc2e51ddda95561c36bcb20fd87e1.png" id="217" name="Google Shape;217;p20"/>
          <p:cNvPicPr preferRelativeResize="0"/>
          <p:nvPr/>
        </p:nvPicPr>
        <p:blipFill rotWithShape="1">
          <a:blip r:embed="rId4">
            <a:alphaModFix/>
          </a:blip>
          <a:srcRect b="0" l="0" r="0" t="0"/>
          <a:stretch/>
        </p:blipFill>
        <p:spPr>
          <a:xfrm>
            <a:off x="4960620" y="925830"/>
            <a:ext cx="3909060" cy="3429000"/>
          </a:xfrm>
          <a:prstGeom prst="roundRect">
            <a:avLst>
              <a:gd fmla="val 4000" name="adj"/>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2" name="Shape 222"/>
        <p:cNvGrpSpPr/>
        <p:nvPr/>
      </p:nvGrpSpPr>
      <p:grpSpPr>
        <a:xfrm>
          <a:off x="0" y="0"/>
          <a:ext cx="0" cy="0"/>
          <a:chOff x="0" y="0"/>
          <a:chExt cx="0" cy="0"/>
        </a:xfrm>
      </p:grpSpPr>
      <p:sp>
        <p:nvSpPr>
          <p:cNvPr id="223" name="Google Shape;223;p21"/>
          <p:cNvSpPr/>
          <p:nvPr/>
        </p:nvSpPr>
        <p:spPr>
          <a:xfrm>
            <a:off x="274320" y="182880"/>
            <a:ext cx="8595360" cy="651510"/>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2880"/>
              <a:buFont typeface="Lexend"/>
              <a:buNone/>
            </a:pPr>
            <a:r>
              <a:rPr b="1" i="0" lang="en-US" sz="2880" u="none" cap="none" strike="noStrike">
                <a:solidFill>
                  <a:srgbClr val="040F0F"/>
                </a:solidFill>
                <a:latin typeface="Lexend"/>
                <a:ea typeface="Lexend"/>
                <a:cs typeface="Lexend"/>
                <a:sym typeface="Lexend"/>
              </a:rPr>
              <a:t>A Armadilha da Hipercorreção</a:t>
            </a:r>
            <a:endParaRPr b="0" i="0" sz="2880" u="none" cap="none" strike="noStrike">
              <a:solidFill>
                <a:schemeClr val="dk1"/>
              </a:solidFill>
              <a:latin typeface="Calibri"/>
              <a:ea typeface="Calibri"/>
              <a:cs typeface="Calibri"/>
              <a:sym typeface="Calibri"/>
            </a:endParaRPr>
          </a:p>
        </p:txBody>
      </p:sp>
      <p:sp>
        <p:nvSpPr>
          <p:cNvPr id="224" name="Google Shape;224;p21"/>
          <p:cNvSpPr/>
          <p:nvPr/>
        </p:nvSpPr>
        <p:spPr>
          <a:xfrm>
            <a:off x="274320" y="925830"/>
            <a:ext cx="4709160" cy="3943350"/>
          </a:xfrm>
          <a:prstGeom prst="rect">
            <a:avLst/>
          </a:prstGeom>
          <a:noFill/>
          <a:ln>
            <a:noFill/>
          </a:ln>
        </p:spPr>
        <p:txBody>
          <a:bodyPr anchorCtr="0" anchor="t" bIns="45700" lIns="45700" spcFirstLastPara="1" rIns="45700" wrap="square" tIns="45700">
            <a:noAutofit/>
          </a:bodyPr>
          <a:lstStyle/>
          <a:p>
            <a:pPr indent="0" lvl="0" marL="0" marR="0" rtl="0" algn="l">
              <a:lnSpc>
                <a:spcPct val="116666"/>
              </a:lnSpc>
              <a:spcBef>
                <a:spcPts val="0"/>
              </a:spcBef>
              <a:spcAft>
                <a:spcPts val="0"/>
              </a:spcAft>
              <a:buClr>
                <a:srgbClr val="040F0F"/>
              </a:buClr>
              <a:buSzPts val="1440"/>
              <a:buFont typeface="Lexend"/>
              <a:buNone/>
            </a:pPr>
            <a:r>
              <a:rPr b="0" i="0" lang="en-US" sz="1440" u="none" cap="none" strike="noStrike">
                <a:solidFill>
                  <a:srgbClr val="040F0F"/>
                </a:solidFill>
                <a:latin typeface="Lexend"/>
                <a:ea typeface="Lexend"/>
                <a:cs typeface="Lexend"/>
                <a:sym typeface="Lexend"/>
              </a:rPr>
              <a:t>A hipercorreção ocorre quando o comunicador tenta soar excessivamente sofisticado ou culto e comete deslizes gramaticais ou artificiais.</a:t>
            </a:r>
            <a:endParaRPr b="0" i="0" sz="1440" u="none" cap="none" strike="noStrike">
              <a:solidFill>
                <a:schemeClr val="dk1"/>
              </a:solidFill>
              <a:latin typeface="Calibri"/>
              <a:ea typeface="Calibri"/>
              <a:cs typeface="Calibri"/>
              <a:sym typeface="Calibri"/>
            </a:endParaRPr>
          </a:p>
          <a:p>
            <a:pPr indent="-228600" lvl="0" marL="228600" marR="0" rtl="0" algn="l">
              <a:lnSpc>
                <a:spcPct val="116666"/>
              </a:lnSpc>
              <a:spcBef>
                <a:spcPts val="495"/>
              </a:spcBef>
              <a:spcAft>
                <a:spcPts val="0"/>
              </a:spcAft>
              <a:buClr>
                <a:srgbClr val="040F0F"/>
              </a:buClr>
              <a:buSzPts val="1440"/>
              <a:buFont typeface="Lexend"/>
              <a:buChar char="•"/>
            </a:pPr>
            <a:r>
              <a:rPr b="1" i="0" lang="en-US" sz="1440" u="none" cap="none" strike="noStrike">
                <a:solidFill>
                  <a:srgbClr val="040F0F"/>
                </a:solidFill>
                <a:latin typeface="Lexend"/>
                <a:ea typeface="Lexend"/>
                <a:cs typeface="Lexend"/>
                <a:sym typeface="Lexend"/>
              </a:rPr>
              <a:t>Uso equivocado de pronomes:</a:t>
            </a:r>
            <a:r>
              <a:rPr b="0" i="0" lang="en-US" sz="1440" u="none" cap="none" strike="noStrike">
                <a:solidFill>
                  <a:srgbClr val="040F0F"/>
                </a:solidFill>
                <a:latin typeface="Lexend"/>
                <a:ea typeface="Lexend"/>
                <a:cs typeface="Lexend"/>
                <a:sym typeface="Lexend"/>
              </a:rPr>
              <a:t> </a:t>
            </a:r>
            <a:r>
              <a:rPr b="0" i="1" lang="en-US" sz="1440" u="none" cap="none" strike="noStrike">
                <a:solidFill>
                  <a:srgbClr val="040F0F"/>
                </a:solidFill>
                <a:latin typeface="Lexend"/>
                <a:ea typeface="Lexend"/>
                <a:cs typeface="Lexend"/>
                <a:sym typeface="Lexend"/>
              </a:rPr>
              <a:t>"Entre eu e você"</a:t>
            </a:r>
            <a:r>
              <a:rPr b="0" i="0" lang="en-US" sz="1440" u="none" cap="none" strike="noStrike">
                <a:solidFill>
                  <a:srgbClr val="040F0F"/>
                </a:solidFill>
                <a:latin typeface="Lexend"/>
                <a:ea typeface="Lexend"/>
                <a:cs typeface="Lexend"/>
                <a:sym typeface="Lexend"/>
              </a:rPr>
              <a:t> em vez do correto </a:t>
            </a:r>
            <a:r>
              <a:rPr b="0" i="1" lang="en-US" sz="1440" u="none" cap="none" strike="noStrike">
                <a:solidFill>
                  <a:srgbClr val="040F0F"/>
                </a:solidFill>
                <a:latin typeface="Lexend"/>
                <a:ea typeface="Lexend"/>
                <a:cs typeface="Lexend"/>
                <a:sym typeface="Lexend"/>
              </a:rPr>
              <a:t>"Entre mim e você"</a:t>
            </a:r>
            <a:r>
              <a:rPr b="0" i="0" lang="en-US" sz="1440" u="none" cap="none" strike="noStrike">
                <a:solidFill>
                  <a:srgbClr val="040F0F"/>
                </a:solidFill>
                <a:latin typeface="Lexend"/>
                <a:ea typeface="Lexend"/>
                <a:cs typeface="Lexend"/>
                <a:sym typeface="Lexend"/>
              </a:rPr>
              <a:t>.</a:t>
            </a:r>
            <a:endParaRPr b="0" i="0" sz="1440" u="none" cap="none" strike="noStrike">
              <a:solidFill>
                <a:schemeClr val="dk1"/>
              </a:solidFill>
              <a:latin typeface="Calibri"/>
              <a:ea typeface="Calibri"/>
              <a:cs typeface="Calibri"/>
              <a:sym typeface="Calibri"/>
            </a:endParaRPr>
          </a:p>
          <a:p>
            <a:pPr indent="-228600" lvl="0" marL="228600" marR="0" rtl="0" algn="l">
              <a:lnSpc>
                <a:spcPct val="116666"/>
              </a:lnSpc>
              <a:spcBef>
                <a:spcPts val="450"/>
              </a:spcBef>
              <a:spcAft>
                <a:spcPts val="0"/>
              </a:spcAft>
              <a:buClr>
                <a:srgbClr val="040F0F"/>
              </a:buClr>
              <a:buSzPts val="1440"/>
              <a:buFont typeface="Lexend"/>
              <a:buChar char="•"/>
            </a:pPr>
            <a:r>
              <a:rPr b="1" i="0" lang="en-US" sz="1440" u="none" cap="none" strike="noStrike">
                <a:solidFill>
                  <a:srgbClr val="040F0F"/>
                </a:solidFill>
                <a:latin typeface="Lexend"/>
                <a:ea typeface="Lexend"/>
                <a:cs typeface="Lexend"/>
                <a:sym typeface="Lexend"/>
              </a:rPr>
              <a:t>Vocabulário empolado:</a:t>
            </a:r>
            <a:r>
              <a:rPr b="0" i="0" lang="en-US" sz="1440" u="none" cap="none" strike="noStrike">
                <a:solidFill>
                  <a:srgbClr val="040F0F"/>
                </a:solidFill>
                <a:latin typeface="Lexend"/>
                <a:ea typeface="Lexend"/>
                <a:cs typeface="Lexend"/>
                <a:sym typeface="Lexend"/>
              </a:rPr>
              <a:t> Usar arcaísmos que dificultam a leitura rápida no ambiente de trabalho.</a:t>
            </a:r>
            <a:endParaRPr b="0" i="0" sz="1440" u="none" cap="none" strike="noStrike">
              <a:solidFill>
                <a:schemeClr val="dk1"/>
              </a:solidFill>
              <a:latin typeface="Calibri"/>
              <a:ea typeface="Calibri"/>
              <a:cs typeface="Calibri"/>
              <a:sym typeface="Calibri"/>
            </a:endParaRPr>
          </a:p>
          <a:p>
            <a:pPr indent="-228600" lvl="0" marL="228600" marR="0" rtl="0" algn="l">
              <a:lnSpc>
                <a:spcPct val="116666"/>
              </a:lnSpc>
              <a:spcBef>
                <a:spcPts val="450"/>
              </a:spcBef>
              <a:spcAft>
                <a:spcPts val="0"/>
              </a:spcAft>
              <a:buClr>
                <a:srgbClr val="040F0F"/>
              </a:buClr>
              <a:buSzPts val="1440"/>
              <a:buFont typeface="Lexend"/>
              <a:buChar char="•"/>
            </a:pPr>
            <a:r>
              <a:rPr b="1" i="0" lang="en-US" sz="1440" u="none" cap="none" strike="noStrike">
                <a:solidFill>
                  <a:srgbClr val="040F0F"/>
                </a:solidFill>
                <a:latin typeface="Lexend"/>
                <a:ea typeface="Lexend"/>
                <a:cs typeface="Lexend"/>
                <a:sym typeface="Lexend"/>
              </a:rPr>
              <a:t>Efeito real:</a:t>
            </a:r>
            <a:r>
              <a:rPr b="0" i="0" lang="en-US" sz="1440" u="none" cap="none" strike="noStrike">
                <a:solidFill>
                  <a:srgbClr val="040F0F"/>
                </a:solidFill>
                <a:latin typeface="Lexend"/>
                <a:ea typeface="Lexend"/>
                <a:cs typeface="Lexend"/>
                <a:sym typeface="Lexend"/>
              </a:rPr>
              <a:t> Transmite pedantismo e afasta os colegas em vez de demonstrar competência.</a:t>
            </a:r>
            <a:endParaRPr b="0" i="0" sz="1440" u="none" cap="none" strike="noStrike">
              <a:solidFill>
                <a:schemeClr val="dk1"/>
              </a:solidFill>
              <a:latin typeface="Calibri"/>
              <a:ea typeface="Calibri"/>
              <a:cs typeface="Calibri"/>
              <a:sym typeface="Calibri"/>
            </a:endParaRPr>
          </a:p>
        </p:txBody>
      </p:sp>
      <p:pic>
        <p:nvPicPr>
          <p:cNvPr descr="/home/forge/chalkie-production-workers-2/releases/78214720/backend/storage/app/render-specs/a150a017-74b3-45d2-90a1-ee5e1050d2e7/img_1caa9bf21c67b76aa773eb39f42a307f.png" id="225" name="Google Shape;225;p21"/>
          <p:cNvPicPr preferRelativeResize="0"/>
          <p:nvPr/>
        </p:nvPicPr>
        <p:blipFill rotWithShape="1">
          <a:blip r:embed="rId4">
            <a:alphaModFix/>
          </a:blip>
          <a:srcRect b="0" l="0" r="0" t="0"/>
          <a:stretch/>
        </p:blipFill>
        <p:spPr>
          <a:xfrm>
            <a:off x="5166360" y="925830"/>
            <a:ext cx="3703320" cy="3246120"/>
          </a:xfrm>
          <a:prstGeom prst="roundRect">
            <a:avLst>
              <a:gd fmla="val 4225" name="adj"/>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0" name="Shape 230"/>
        <p:cNvGrpSpPr/>
        <p:nvPr/>
      </p:nvGrpSpPr>
      <p:grpSpPr>
        <a:xfrm>
          <a:off x="0" y="0"/>
          <a:ext cx="0" cy="0"/>
          <a:chOff x="0" y="0"/>
          <a:chExt cx="0" cy="0"/>
        </a:xfrm>
      </p:grpSpPr>
      <p:sp>
        <p:nvSpPr>
          <p:cNvPr id="231" name="Google Shape;231;p22"/>
          <p:cNvSpPr/>
          <p:nvPr/>
        </p:nvSpPr>
        <p:spPr>
          <a:xfrm>
            <a:off x="274320" y="182880"/>
            <a:ext cx="1805940" cy="262890"/>
          </a:xfrm>
          <a:prstGeom prst="roundRect">
            <a:avLst>
              <a:gd fmla="val 17391" name="adj"/>
            </a:avLst>
          </a:prstGeom>
          <a:solidFill>
            <a:srgbClr val="040F0F"/>
          </a:solidFill>
          <a:ln>
            <a:noFill/>
          </a:ln>
        </p:spPr>
        <p:txBody>
          <a:bodyPr anchorCtr="0" anchor="t" bIns="45700" lIns="102850" spcFirstLastPara="1" rIns="102850" wrap="square" tIns="45700">
            <a:noAutofit/>
          </a:bodyPr>
          <a:lstStyle/>
          <a:p>
            <a:pPr indent="0" lvl="0" marL="0" marR="0" rtl="0" algn="ctr">
              <a:lnSpc>
                <a:spcPct val="100000"/>
              </a:lnSpc>
              <a:spcBef>
                <a:spcPts val="0"/>
              </a:spcBef>
              <a:spcAft>
                <a:spcPts val="0"/>
              </a:spcAft>
              <a:buClr>
                <a:srgbClr val="FFFFFF"/>
              </a:buClr>
              <a:buSzPts val="1080"/>
              <a:buFont typeface="Lexend"/>
              <a:buNone/>
            </a:pPr>
            <a:r>
              <a:rPr b="1" i="0" lang="en-US" sz="1080" u="none" cap="none" strike="noStrike">
                <a:solidFill>
                  <a:srgbClr val="FFFFFF"/>
                </a:solidFill>
                <a:latin typeface="Lexend"/>
                <a:ea typeface="Lexend"/>
                <a:cs typeface="Lexend"/>
                <a:sym typeface="Lexend"/>
              </a:rPr>
              <a:t>ATENÇÃO CRÍTICA</a:t>
            </a:r>
            <a:endParaRPr b="0" i="0" sz="1080" u="none" cap="none" strike="noStrike">
              <a:solidFill>
                <a:schemeClr val="dk1"/>
              </a:solidFill>
              <a:latin typeface="Calibri"/>
              <a:ea typeface="Calibri"/>
              <a:cs typeface="Calibri"/>
              <a:sym typeface="Calibri"/>
            </a:endParaRPr>
          </a:p>
        </p:txBody>
      </p:sp>
      <p:sp>
        <p:nvSpPr>
          <p:cNvPr id="232" name="Google Shape;232;p22"/>
          <p:cNvSpPr/>
          <p:nvPr/>
        </p:nvSpPr>
        <p:spPr>
          <a:xfrm>
            <a:off x="274320" y="582930"/>
            <a:ext cx="4709160" cy="4046220"/>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1979"/>
              <a:buFont typeface="Lexend"/>
              <a:buNone/>
            </a:pPr>
            <a:r>
              <a:rPr b="1" i="0" lang="en-US" sz="1980" u="none" cap="none" strike="noStrike">
                <a:solidFill>
                  <a:srgbClr val="040F0F"/>
                </a:solidFill>
                <a:latin typeface="Lexend"/>
                <a:ea typeface="Lexend"/>
                <a:cs typeface="Lexend"/>
                <a:sym typeface="Lexend"/>
              </a:rPr>
              <a:t>O Perigo do Excesso de Informalidade</a:t>
            </a:r>
            <a:endParaRPr b="0" i="0" sz="1980" u="none" cap="none" strike="noStrike">
              <a:solidFill>
                <a:schemeClr val="dk1"/>
              </a:solidFill>
              <a:latin typeface="Calibri"/>
              <a:ea typeface="Calibri"/>
              <a:cs typeface="Calibri"/>
              <a:sym typeface="Calibri"/>
            </a:endParaRPr>
          </a:p>
          <a:p>
            <a:pPr indent="0" lvl="0" marL="0" marR="0" rtl="0" algn="l">
              <a:lnSpc>
                <a:spcPct val="116666"/>
              </a:lnSpc>
              <a:spcBef>
                <a:spcPts val="630"/>
              </a:spcBef>
              <a:spcAft>
                <a:spcPts val="0"/>
              </a:spcAft>
              <a:buClr>
                <a:srgbClr val="040F0F"/>
              </a:buClr>
              <a:buSzPts val="1440"/>
              <a:buFont typeface="Lexend"/>
              <a:buNone/>
            </a:pPr>
            <a:r>
              <a:rPr b="0" i="0" lang="en-US" sz="1440" u="none" cap="none" strike="noStrike">
                <a:solidFill>
                  <a:srgbClr val="040F0F"/>
                </a:solidFill>
                <a:latin typeface="Lexend"/>
                <a:ea typeface="Lexend"/>
                <a:cs typeface="Lexend"/>
                <a:sym typeface="Lexend"/>
              </a:rPr>
              <a:t>No polo oposto, tratar chefes, clientes ou professores com intimidade indevida gera graves prejuízos de percepção:</a:t>
            </a:r>
            <a:endParaRPr b="0" i="0" sz="1980" u="none" cap="none" strike="noStrike">
              <a:solidFill>
                <a:schemeClr val="dk1"/>
              </a:solidFill>
              <a:latin typeface="Calibri"/>
              <a:ea typeface="Calibri"/>
              <a:cs typeface="Calibri"/>
              <a:sym typeface="Calibri"/>
            </a:endParaRPr>
          </a:p>
          <a:p>
            <a:pPr indent="-228600" lvl="0" marL="228600" marR="0" rtl="0" algn="l">
              <a:lnSpc>
                <a:spcPct val="116666"/>
              </a:lnSpc>
              <a:spcBef>
                <a:spcPts val="495"/>
              </a:spcBef>
              <a:spcAft>
                <a:spcPts val="0"/>
              </a:spcAft>
              <a:buClr>
                <a:srgbClr val="040F0F"/>
              </a:buClr>
              <a:buSzPts val="1440"/>
              <a:buFont typeface="Lexend"/>
              <a:buChar char="•"/>
            </a:pPr>
            <a:r>
              <a:rPr b="1" i="0" lang="en-US" sz="1440" u="none" cap="none" strike="noStrike">
                <a:solidFill>
                  <a:srgbClr val="040F0F"/>
                </a:solidFill>
                <a:latin typeface="Lexend"/>
                <a:ea typeface="Lexend"/>
                <a:cs typeface="Lexend"/>
                <a:sym typeface="Lexend"/>
              </a:rPr>
              <a:t>Perda de autoridade:</a:t>
            </a:r>
            <a:r>
              <a:rPr b="0" i="0" lang="en-US" sz="1440" u="none" cap="none" strike="noStrike">
                <a:solidFill>
                  <a:srgbClr val="040F0F"/>
                </a:solidFill>
                <a:latin typeface="Lexend"/>
                <a:ea typeface="Lexend"/>
                <a:cs typeface="Lexend"/>
                <a:sym typeface="Lexend"/>
              </a:rPr>
              <a:t> Suas ideias parecem desprovidas de estudo ou compromisso sério.</a:t>
            </a:r>
            <a:endParaRPr b="0" i="0" sz="1980" u="none" cap="none" strike="noStrike">
              <a:solidFill>
                <a:schemeClr val="dk1"/>
              </a:solidFill>
              <a:latin typeface="Calibri"/>
              <a:ea typeface="Calibri"/>
              <a:cs typeface="Calibri"/>
              <a:sym typeface="Calibri"/>
            </a:endParaRPr>
          </a:p>
          <a:p>
            <a:pPr indent="-228600" lvl="0" marL="228600" marR="0" rtl="0" algn="l">
              <a:lnSpc>
                <a:spcPct val="116666"/>
              </a:lnSpc>
              <a:spcBef>
                <a:spcPts val="450"/>
              </a:spcBef>
              <a:spcAft>
                <a:spcPts val="0"/>
              </a:spcAft>
              <a:buClr>
                <a:srgbClr val="040F0F"/>
              </a:buClr>
              <a:buSzPts val="1440"/>
              <a:buFont typeface="Lexend"/>
              <a:buChar char="•"/>
            </a:pPr>
            <a:r>
              <a:rPr b="1" i="0" lang="en-US" sz="1440" u="none" cap="none" strike="noStrike">
                <a:solidFill>
                  <a:srgbClr val="040F0F"/>
                </a:solidFill>
                <a:latin typeface="Lexend"/>
                <a:ea typeface="Lexend"/>
                <a:cs typeface="Lexend"/>
                <a:sym typeface="Lexend"/>
              </a:rPr>
              <a:t>Falta de limites:</a:t>
            </a:r>
            <a:r>
              <a:rPr b="0" i="0" lang="en-US" sz="1440" u="none" cap="none" strike="noStrike">
                <a:solidFill>
                  <a:srgbClr val="040F0F"/>
                </a:solidFill>
                <a:latin typeface="Lexend"/>
                <a:ea typeface="Lexend"/>
                <a:cs typeface="Lexend"/>
                <a:sym typeface="Lexend"/>
              </a:rPr>
              <a:t> Apelidos carinhosos ou emojis excessivos em memorandos geram constrangimento.</a:t>
            </a:r>
            <a:endParaRPr b="0" i="0" sz="1980" u="none" cap="none" strike="noStrike">
              <a:solidFill>
                <a:schemeClr val="dk1"/>
              </a:solidFill>
              <a:latin typeface="Calibri"/>
              <a:ea typeface="Calibri"/>
              <a:cs typeface="Calibri"/>
              <a:sym typeface="Calibri"/>
            </a:endParaRPr>
          </a:p>
          <a:p>
            <a:pPr indent="-228600" lvl="0" marL="228600" marR="0" rtl="0" algn="l">
              <a:lnSpc>
                <a:spcPct val="116666"/>
              </a:lnSpc>
              <a:spcBef>
                <a:spcPts val="450"/>
              </a:spcBef>
              <a:spcAft>
                <a:spcPts val="0"/>
              </a:spcAft>
              <a:buClr>
                <a:srgbClr val="040F0F"/>
              </a:buClr>
              <a:buSzPts val="1440"/>
              <a:buFont typeface="Lexend"/>
              <a:buChar char="•"/>
            </a:pPr>
            <a:r>
              <a:rPr b="1" i="0" lang="en-US" sz="1440" u="none" cap="none" strike="noStrike">
                <a:solidFill>
                  <a:srgbClr val="040F0F"/>
                </a:solidFill>
                <a:latin typeface="Lexend"/>
                <a:ea typeface="Lexend"/>
                <a:cs typeface="Lexend"/>
                <a:sym typeface="Lexend"/>
              </a:rPr>
              <a:t>Prejuízo em avaliações:</a:t>
            </a:r>
            <a:r>
              <a:rPr b="0" i="0" lang="en-US" sz="1440" u="none" cap="none" strike="noStrike">
                <a:solidFill>
                  <a:srgbClr val="040F0F"/>
                </a:solidFill>
                <a:latin typeface="Lexend"/>
                <a:ea typeface="Lexend"/>
                <a:cs typeface="Lexend"/>
                <a:sym typeface="Lexend"/>
              </a:rPr>
              <a:t> O excesso de informalidade é visto como imaturidade profissional.</a:t>
            </a:r>
            <a:endParaRPr b="0" i="0" sz="1980" u="none" cap="none" strike="noStrike">
              <a:solidFill>
                <a:schemeClr val="dk1"/>
              </a:solidFill>
              <a:latin typeface="Calibri"/>
              <a:ea typeface="Calibri"/>
              <a:cs typeface="Calibri"/>
              <a:sym typeface="Calibri"/>
            </a:endParaRPr>
          </a:p>
        </p:txBody>
      </p:sp>
      <p:pic>
        <p:nvPicPr>
          <p:cNvPr descr="/home/forge/chalkie-production-workers-2/releases/78214720/backend/storage/app/render-specs/a150a017-74b3-45d2-90a1-ee5e1050d2e7/img_a4553158d7caf678965b7892edbae8f7.png" id="233" name="Google Shape;233;p22"/>
          <p:cNvPicPr preferRelativeResize="0"/>
          <p:nvPr/>
        </p:nvPicPr>
        <p:blipFill rotWithShape="1">
          <a:blip r:embed="rId4">
            <a:alphaModFix/>
          </a:blip>
          <a:srcRect b="0" l="0" r="0" t="0"/>
          <a:stretch/>
        </p:blipFill>
        <p:spPr>
          <a:xfrm>
            <a:off x="5166360" y="182880"/>
            <a:ext cx="3703320" cy="3246120"/>
          </a:xfrm>
          <a:prstGeom prst="roundRect">
            <a:avLst>
              <a:gd fmla="val 4225" name="adj"/>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8" name="Shape 238"/>
        <p:cNvGrpSpPr/>
        <p:nvPr/>
      </p:nvGrpSpPr>
      <p:grpSpPr>
        <a:xfrm>
          <a:off x="0" y="0"/>
          <a:ext cx="0" cy="0"/>
          <a:chOff x="0" y="0"/>
          <a:chExt cx="0" cy="0"/>
        </a:xfrm>
      </p:grpSpPr>
      <p:sp>
        <p:nvSpPr>
          <p:cNvPr id="239" name="Google Shape;239;p23"/>
          <p:cNvSpPr/>
          <p:nvPr/>
        </p:nvSpPr>
        <p:spPr>
          <a:xfrm>
            <a:off x="285750" y="171450"/>
            <a:ext cx="8572500" cy="644652"/>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2880"/>
              <a:buFont typeface="Lexend"/>
              <a:buNone/>
            </a:pPr>
            <a:r>
              <a:rPr b="1" i="0" lang="en-US" sz="2880" u="none" cap="none" strike="noStrike">
                <a:solidFill>
                  <a:srgbClr val="040F0F"/>
                </a:solidFill>
                <a:latin typeface="Lexend"/>
                <a:ea typeface="Lexend"/>
                <a:cs typeface="Lexend"/>
                <a:sym typeface="Lexend"/>
              </a:rPr>
              <a:t>Reflexão: Erros de Registro</a:t>
            </a:r>
            <a:endParaRPr b="0" i="0" sz="2880" u="none" cap="none" strike="noStrike">
              <a:solidFill>
                <a:schemeClr val="dk1"/>
              </a:solidFill>
              <a:latin typeface="Calibri"/>
              <a:ea typeface="Calibri"/>
              <a:cs typeface="Calibri"/>
              <a:sym typeface="Calibri"/>
            </a:endParaRPr>
          </a:p>
        </p:txBody>
      </p:sp>
      <p:sp>
        <p:nvSpPr>
          <p:cNvPr id="240" name="Google Shape;240;p23"/>
          <p:cNvSpPr/>
          <p:nvPr/>
        </p:nvSpPr>
        <p:spPr>
          <a:xfrm>
            <a:off x="822960" y="1143000"/>
            <a:ext cx="7372350" cy="1143000"/>
          </a:xfrm>
          <a:prstGeom prst="roundRect">
            <a:avLst>
              <a:gd fmla="val 10000" name="adj"/>
            </a:avLst>
          </a:prstGeom>
          <a:solidFill>
            <a:srgbClr val="F4F9FC"/>
          </a:solidFill>
          <a:ln cap="flat" cmpd="sng" w="45700">
            <a:solidFill>
              <a:srgbClr val="000000"/>
            </a:solidFill>
            <a:prstDash val="solid"/>
            <a:round/>
            <a:headEnd len="sm" w="sm" type="none"/>
            <a:tailEnd len="sm" w="sm" type="none"/>
          </a:ln>
          <a:effectLst>
            <a:outerShdw rotWithShape="0" algn="bl" dir="2700000" dist="129286">
              <a:srgbClr val="000000"/>
            </a:outerShdw>
          </a:effectLst>
        </p:spPr>
        <p:txBody>
          <a:bodyPr anchorCtr="0" anchor="ctr" bIns="102850" lIns="102850" spcFirstLastPara="1" rIns="102850" wrap="square" tIns="102850">
            <a:noAutofit/>
          </a:bodyPr>
          <a:lstStyle/>
          <a:p>
            <a:pPr indent="0" lvl="0" marL="0" marR="0" rtl="0" algn="ctr">
              <a:lnSpc>
                <a:spcPct val="100000"/>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Usar palavras rebuscadas e arcaicas sempre garante que uma mensagem corporativa seja bem compreendida e respeitada.</a:t>
            </a:r>
            <a:endParaRPr b="0" i="0" sz="1620" u="none" cap="none" strike="noStrike">
              <a:solidFill>
                <a:schemeClr val="dk1"/>
              </a:solidFill>
              <a:latin typeface="Calibri"/>
              <a:ea typeface="Calibri"/>
              <a:cs typeface="Calibri"/>
              <a:sym typeface="Calibri"/>
            </a:endParaRPr>
          </a:p>
        </p:txBody>
      </p:sp>
      <p:sp>
        <p:nvSpPr>
          <p:cNvPr id="241" name="Google Shape;241;p23"/>
          <p:cNvSpPr/>
          <p:nvPr/>
        </p:nvSpPr>
        <p:spPr>
          <a:xfrm>
            <a:off x="2571750" y="2628900"/>
            <a:ext cx="1714500" cy="800100"/>
          </a:xfrm>
          <a:prstGeom prst="roundRect">
            <a:avLst>
              <a:gd fmla="val 17143" name="adj"/>
            </a:avLst>
          </a:prstGeom>
          <a:solidFill>
            <a:srgbClr val="FFFFFF"/>
          </a:solidFill>
          <a:ln cap="flat" cmpd="sng" w="45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40F0F"/>
              </a:buClr>
              <a:buSzPts val="2340"/>
              <a:buFont typeface="Lexend"/>
              <a:buNone/>
            </a:pPr>
            <a:r>
              <a:rPr b="0" i="0" lang="en-US" sz="2340" u="none" cap="none" strike="noStrike">
                <a:solidFill>
                  <a:srgbClr val="040F0F"/>
                </a:solidFill>
                <a:latin typeface="Lexend"/>
                <a:ea typeface="Lexend"/>
                <a:cs typeface="Lexend"/>
                <a:sym typeface="Lexend"/>
              </a:rPr>
              <a:t>👍 </a:t>
            </a:r>
            <a:r>
              <a:rPr b="1" i="0" lang="en-US" sz="2340" u="none" cap="none" strike="noStrike">
                <a:solidFill>
                  <a:srgbClr val="040F0F"/>
                </a:solidFill>
                <a:latin typeface="Lexend"/>
                <a:ea typeface="Lexend"/>
                <a:cs typeface="Lexend"/>
                <a:sym typeface="Lexend"/>
              </a:rPr>
              <a:t>VERDADEIRO</a:t>
            </a:r>
            <a:endParaRPr b="0" i="0" sz="2340" u="none" cap="none" strike="noStrike">
              <a:solidFill>
                <a:schemeClr val="dk1"/>
              </a:solidFill>
              <a:latin typeface="Calibri"/>
              <a:ea typeface="Calibri"/>
              <a:cs typeface="Calibri"/>
              <a:sym typeface="Calibri"/>
            </a:endParaRPr>
          </a:p>
        </p:txBody>
      </p:sp>
      <p:sp>
        <p:nvSpPr>
          <p:cNvPr id="242" name="Google Shape;242;p23"/>
          <p:cNvSpPr/>
          <p:nvPr/>
        </p:nvSpPr>
        <p:spPr>
          <a:xfrm>
            <a:off x="4857750" y="2628900"/>
            <a:ext cx="1714500" cy="800100"/>
          </a:xfrm>
          <a:prstGeom prst="roundRect">
            <a:avLst>
              <a:gd fmla="val 17143" name="adj"/>
            </a:avLst>
          </a:prstGeom>
          <a:solidFill>
            <a:srgbClr val="FFFFFF"/>
          </a:solidFill>
          <a:ln cap="flat" cmpd="sng" w="45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40F0F"/>
              </a:buClr>
              <a:buSzPts val="2340"/>
              <a:buFont typeface="Lexend"/>
              <a:buNone/>
            </a:pPr>
            <a:r>
              <a:rPr b="0" i="0" lang="en-US" sz="2340" u="none" cap="none" strike="noStrike">
                <a:solidFill>
                  <a:srgbClr val="040F0F"/>
                </a:solidFill>
                <a:latin typeface="Lexend"/>
                <a:ea typeface="Lexend"/>
                <a:cs typeface="Lexend"/>
                <a:sym typeface="Lexend"/>
              </a:rPr>
              <a:t>👎 </a:t>
            </a:r>
            <a:r>
              <a:rPr b="1" i="0" lang="en-US" sz="2340" u="none" cap="none" strike="noStrike">
                <a:solidFill>
                  <a:srgbClr val="040F0F"/>
                </a:solidFill>
                <a:latin typeface="Lexend"/>
                <a:ea typeface="Lexend"/>
                <a:cs typeface="Lexend"/>
                <a:sym typeface="Lexend"/>
              </a:rPr>
              <a:t>FALSO</a:t>
            </a:r>
            <a:endParaRPr b="0" i="0" sz="2340" u="none" cap="none" strike="noStrike">
              <a:solidFill>
                <a:schemeClr val="dk1"/>
              </a:solidFill>
              <a:latin typeface="Calibri"/>
              <a:ea typeface="Calibri"/>
              <a:cs typeface="Calibri"/>
              <a:sym typeface="Calibri"/>
            </a:endParaRPr>
          </a:p>
        </p:txBody>
      </p:sp>
      <p:sp>
        <p:nvSpPr>
          <p:cNvPr id="243" name="Google Shape;243;p23"/>
          <p:cNvSpPr/>
          <p:nvPr/>
        </p:nvSpPr>
        <p:spPr>
          <a:xfrm>
            <a:off x="2571750" y="3714750"/>
            <a:ext cx="5715000" cy="457200"/>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 </a:t>
            </a:r>
            <a:r>
              <a:rPr b="0" i="1" lang="en-US" sz="1620" u="none" cap="none" strike="noStrike">
                <a:solidFill>
                  <a:srgbClr val="040F0F"/>
                </a:solidFill>
                <a:latin typeface="Lexend"/>
                <a:ea typeface="Lexend"/>
                <a:cs typeface="Lexend"/>
                <a:sym typeface="Lexend"/>
              </a:rPr>
              <a:t>Prepare-se para explicar o seu raciocínio.</a:t>
            </a:r>
            <a:endParaRPr b="0" i="0" sz="162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8" name="Shape 248"/>
        <p:cNvGrpSpPr/>
        <p:nvPr/>
      </p:nvGrpSpPr>
      <p:grpSpPr>
        <a:xfrm>
          <a:off x="0" y="0"/>
          <a:ext cx="0" cy="0"/>
          <a:chOff x="0" y="0"/>
          <a:chExt cx="0" cy="0"/>
        </a:xfrm>
      </p:grpSpPr>
      <p:sp>
        <p:nvSpPr>
          <p:cNvPr id="249" name="Google Shape;249;p24"/>
          <p:cNvSpPr/>
          <p:nvPr/>
        </p:nvSpPr>
        <p:spPr>
          <a:xfrm>
            <a:off x="285750" y="171450"/>
            <a:ext cx="8572500" cy="644652"/>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2880"/>
              <a:buFont typeface="Lexend"/>
              <a:buNone/>
            </a:pPr>
            <a:r>
              <a:rPr b="1" i="0" lang="en-US" sz="2880" u="none" cap="none" strike="noStrike">
                <a:solidFill>
                  <a:srgbClr val="040F0F"/>
                </a:solidFill>
                <a:latin typeface="Lexend"/>
                <a:ea typeface="Lexend"/>
                <a:cs typeface="Lexend"/>
                <a:sym typeface="Lexend"/>
              </a:rPr>
              <a:t>Reflexão: Erros de Registro</a:t>
            </a:r>
            <a:endParaRPr b="0" i="0" sz="2880" u="none" cap="none" strike="noStrike">
              <a:solidFill>
                <a:schemeClr val="dk1"/>
              </a:solidFill>
              <a:latin typeface="Calibri"/>
              <a:ea typeface="Calibri"/>
              <a:cs typeface="Calibri"/>
              <a:sym typeface="Calibri"/>
            </a:endParaRPr>
          </a:p>
        </p:txBody>
      </p:sp>
      <p:sp>
        <p:nvSpPr>
          <p:cNvPr id="250" name="Google Shape;250;p24"/>
          <p:cNvSpPr/>
          <p:nvPr/>
        </p:nvSpPr>
        <p:spPr>
          <a:xfrm>
            <a:off x="822960" y="1143000"/>
            <a:ext cx="7372350" cy="1143000"/>
          </a:xfrm>
          <a:prstGeom prst="roundRect">
            <a:avLst>
              <a:gd fmla="val 10000" name="adj"/>
            </a:avLst>
          </a:prstGeom>
          <a:solidFill>
            <a:srgbClr val="F4F9FC"/>
          </a:solidFill>
          <a:ln cap="flat" cmpd="sng" w="45700">
            <a:solidFill>
              <a:srgbClr val="000000"/>
            </a:solidFill>
            <a:prstDash val="solid"/>
            <a:round/>
            <a:headEnd len="sm" w="sm" type="none"/>
            <a:tailEnd len="sm" w="sm" type="none"/>
          </a:ln>
          <a:effectLst>
            <a:outerShdw rotWithShape="0" algn="bl" dir="2700000" dist="129286">
              <a:srgbClr val="000000"/>
            </a:outerShdw>
          </a:effectLst>
        </p:spPr>
        <p:txBody>
          <a:bodyPr anchorCtr="0" anchor="ctr" bIns="102850" lIns="102850" spcFirstLastPara="1" rIns="102850" wrap="square" tIns="102850">
            <a:noAutofit/>
          </a:bodyPr>
          <a:lstStyle/>
          <a:p>
            <a:pPr indent="0" lvl="0" marL="0" marR="0" rtl="0" algn="ctr">
              <a:lnSpc>
                <a:spcPct val="100000"/>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Usar palavras rebuscadas e arcaicas sempre garante que uma mensagem corporativa seja bem compreendida e respeitada.</a:t>
            </a:r>
            <a:endParaRPr b="0" i="0" sz="1620" u="none" cap="none" strike="noStrike">
              <a:solidFill>
                <a:schemeClr val="dk1"/>
              </a:solidFill>
              <a:latin typeface="Calibri"/>
              <a:ea typeface="Calibri"/>
              <a:cs typeface="Calibri"/>
              <a:sym typeface="Calibri"/>
            </a:endParaRPr>
          </a:p>
        </p:txBody>
      </p:sp>
      <p:sp>
        <p:nvSpPr>
          <p:cNvPr id="251" name="Google Shape;251;p24"/>
          <p:cNvSpPr/>
          <p:nvPr/>
        </p:nvSpPr>
        <p:spPr>
          <a:xfrm>
            <a:off x="2571750" y="2628900"/>
            <a:ext cx="1714500" cy="800100"/>
          </a:xfrm>
          <a:prstGeom prst="roundRect">
            <a:avLst>
              <a:gd fmla="val 17143" name="adj"/>
            </a:avLst>
          </a:prstGeom>
          <a:solidFill>
            <a:srgbClr val="FFFFFF"/>
          </a:solidFill>
          <a:ln cap="flat" cmpd="sng" w="45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40F0F"/>
              </a:buClr>
              <a:buSzPts val="2340"/>
              <a:buFont typeface="Lexend"/>
              <a:buNone/>
            </a:pPr>
            <a:r>
              <a:rPr b="0" i="0" lang="en-US" sz="2340" u="none" cap="none" strike="noStrike">
                <a:solidFill>
                  <a:srgbClr val="040F0F"/>
                </a:solidFill>
                <a:latin typeface="Lexend"/>
                <a:ea typeface="Lexend"/>
                <a:cs typeface="Lexend"/>
                <a:sym typeface="Lexend"/>
              </a:rPr>
              <a:t>👍 </a:t>
            </a:r>
            <a:r>
              <a:rPr b="1" i="0" lang="en-US" sz="2340" u="none" cap="none" strike="noStrike">
                <a:solidFill>
                  <a:srgbClr val="040F0F"/>
                </a:solidFill>
                <a:latin typeface="Lexend"/>
                <a:ea typeface="Lexend"/>
                <a:cs typeface="Lexend"/>
                <a:sym typeface="Lexend"/>
              </a:rPr>
              <a:t>VERDADEIRO</a:t>
            </a:r>
            <a:endParaRPr b="0" i="0" sz="2340" u="none" cap="none" strike="noStrike">
              <a:solidFill>
                <a:schemeClr val="dk1"/>
              </a:solidFill>
              <a:latin typeface="Calibri"/>
              <a:ea typeface="Calibri"/>
              <a:cs typeface="Calibri"/>
              <a:sym typeface="Calibri"/>
            </a:endParaRPr>
          </a:p>
        </p:txBody>
      </p:sp>
      <p:sp>
        <p:nvSpPr>
          <p:cNvPr id="252" name="Google Shape;252;p24"/>
          <p:cNvSpPr/>
          <p:nvPr/>
        </p:nvSpPr>
        <p:spPr>
          <a:xfrm>
            <a:off x="4857750" y="2628900"/>
            <a:ext cx="1714500" cy="800100"/>
          </a:xfrm>
          <a:prstGeom prst="roundRect">
            <a:avLst>
              <a:gd fmla="val 17143" name="adj"/>
            </a:avLst>
          </a:prstGeom>
          <a:solidFill>
            <a:srgbClr val="FFFFFF"/>
          </a:solidFill>
          <a:ln cap="flat" cmpd="sng" w="45700">
            <a:solidFill>
              <a:srgbClr val="2C6E4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40F0F"/>
              </a:buClr>
              <a:buSzPts val="2340"/>
              <a:buFont typeface="Lexend"/>
              <a:buNone/>
            </a:pPr>
            <a:r>
              <a:rPr b="0" i="0" lang="en-US" sz="2340" u="none" cap="none" strike="noStrike">
                <a:solidFill>
                  <a:srgbClr val="040F0F"/>
                </a:solidFill>
                <a:latin typeface="Lexend"/>
                <a:ea typeface="Lexend"/>
                <a:cs typeface="Lexend"/>
                <a:sym typeface="Lexend"/>
              </a:rPr>
              <a:t>👎 </a:t>
            </a:r>
            <a:r>
              <a:rPr b="1" i="0" lang="en-US" sz="2340" u="none" cap="none" strike="noStrike">
                <a:solidFill>
                  <a:srgbClr val="040F0F"/>
                </a:solidFill>
                <a:latin typeface="Lexend"/>
                <a:ea typeface="Lexend"/>
                <a:cs typeface="Lexend"/>
                <a:sym typeface="Lexend"/>
              </a:rPr>
              <a:t>FALSO</a:t>
            </a:r>
            <a:endParaRPr b="0" i="0" sz="2340" u="none" cap="none" strike="noStrike">
              <a:solidFill>
                <a:schemeClr val="dk1"/>
              </a:solidFill>
              <a:latin typeface="Calibri"/>
              <a:ea typeface="Calibri"/>
              <a:cs typeface="Calibri"/>
              <a:sym typeface="Calibri"/>
            </a:endParaRPr>
          </a:p>
        </p:txBody>
      </p:sp>
      <p:sp>
        <p:nvSpPr>
          <p:cNvPr id="253" name="Google Shape;253;p24"/>
          <p:cNvSpPr/>
          <p:nvPr/>
        </p:nvSpPr>
        <p:spPr>
          <a:xfrm>
            <a:off x="8366760" y="342900"/>
            <a:ext cx="548640" cy="548640"/>
          </a:xfrm>
          <a:prstGeom prst="rect">
            <a:avLst/>
          </a:prstGeom>
          <a:noFill/>
          <a:ln>
            <a:noFill/>
          </a:ln>
        </p:spPr>
        <p:txBody>
          <a:bodyPr anchorCtr="0" anchor="ctr" bIns="45700" lIns="45700" spcFirstLastPara="1" rIns="45700" wrap="square" tIns="45700">
            <a:noAutofit/>
          </a:bodyPr>
          <a:lstStyle/>
          <a:p>
            <a:pPr indent="0" lvl="0" marL="0" marR="0" rtl="0" algn="r">
              <a:lnSpc>
                <a:spcPct val="100000"/>
              </a:lnSpc>
              <a:spcBef>
                <a:spcPts val="0"/>
              </a:spcBef>
              <a:spcAft>
                <a:spcPts val="0"/>
              </a:spcAft>
              <a:buClr>
                <a:srgbClr val="040F0F"/>
              </a:buClr>
              <a:buSzPts val="3600"/>
              <a:buFont typeface="Lexend"/>
              <a:buNone/>
            </a:pPr>
            <a:r>
              <a:rPr b="0" i="0" lang="en-US" sz="3600" u="none" cap="none" strike="noStrike">
                <a:solidFill>
                  <a:srgbClr val="040F0F"/>
                </a:solidFill>
                <a:latin typeface="Lexend"/>
                <a:ea typeface="Lexend"/>
                <a:cs typeface="Lexend"/>
                <a:sym typeface="Lexend"/>
              </a:rPr>
              <a:t>✅</a:t>
            </a:r>
            <a:endParaRPr b="0" i="0" sz="3600" u="none" cap="none" strike="noStrike">
              <a:solidFill>
                <a:schemeClr val="dk1"/>
              </a:solidFill>
              <a:latin typeface="Calibri"/>
              <a:ea typeface="Calibri"/>
              <a:cs typeface="Calibri"/>
              <a:sym typeface="Calibri"/>
            </a:endParaRPr>
          </a:p>
        </p:txBody>
      </p:sp>
      <p:sp>
        <p:nvSpPr>
          <p:cNvPr id="254" name="Google Shape;254;p24"/>
          <p:cNvSpPr/>
          <p:nvPr/>
        </p:nvSpPr>
        <p:spPr>
          <a:xfrm>
            <a:off x="457200" y="3657600"/>
            <a:ext cx="8229600" cy="1028700"/>
          </a:xfrm>
          <a:prstGeom prst="roundRect">
            <a:avLst>
              <a:gd fmla="val 8889" name="adj"/>
            </a:avLst>
          </a:prstGeom>
          <a:solidFill>
            <a:srgbClr val="FAEFDA"/>
          </a:solidFill>
          <a:ln cap="flat" cmpd="sng" w="11425">
            <a:solidFill>
              <a:srgbClr val="573B06">
                <a:alpha val="20000"/>
              </a:srgbClr>
            </a:solidFill>
            <a:prstDash val="solid"/>
            <a:round/>
            <a:headEnd len="sm" w="sm" type="none"/>
            <a:tailEnd len="sm" w="sm" type="none"/>
          </a:ln>
        </p:spPr>
        <p:txBody>
          <a:bodyPr anchorCtr="0" anchor="t" bIns="125725" lIns="125725" spcFirstLastPara="1" rIns="125725" wrap="square" tIns="125725">
            <a:noAutofit/>
          </a:bodyPr>
          <a:lstStyle/>
          <a:p>
            <a:pPr indent="0" lvl="0" marL="0" marR="0" rtl="0" algn="l">
              <a:lnSpc>
                <a:spcPct val="100000"/>
              </a:lnSpc>
              <a:spcBef>
                <a:spcPts val="0"/>
              </a:spcBef>
              <a:spcAft>
                <a:spcPts val="0"/>
              </a:spcAft>
              <a:buClr>
                <a:srgbClr val="573B06"/>
              </a:buClr>
              <a:buSzPts val="1440"/>
              <a:buFont typeface="Lexend"/>
              <a:buNone/>
            </a:pPr>
            <a:r>
              <a:rPr b="1" i="0" lang="en-US" sz="1440" u="none" cap="none" strike="noStrike">
                <a:solidFill>
                  <a:srgbClr val="573B06"/>
                </a:solidFill>
                <a:latin typeface="Lexend"/>
                <a:ea typeface="Lexend"/>
                <a:cs typeface="Lexend"/>
                <a:sym typeface="Lexend"/>
              </a:rPr>
              <a:t>🔑 Por que é isso?</a:t>
            </a:r>
            <a:endParaRPr b="0" i="0" sz="1440" u="none" cap="none" strike="noStrike">
              <a:solidFill>
                <a:schemeClr val="dk1"/>
              </a:solidFill>
              <a:latin typeface="Calibri"/>
              <a:ea typeface="Calibri"/>
              <a:cs typeface="Calibri"/>
              <a:sym typeface="Calibri"/>
            </a:endParaRPr>
          </a:p>
          <a:p>
            <a:pPr indent="0" lvl="0" marL="0" marR="0" rtl="0" algn="l">
              <a:lnSpc>
                <a:spcPct val="100000"/>
              </a:lnSpc>
              <a:spcBef>
                <a:spcPts val="630"/>
              </a:spcBef>
              <a:spcAft>
                <a:spcPts val="0"/>
              </a:spcAft>
              <a:buClr>
                <a:srgbClr val="573B06"/>
              </a:buClr>
              <a:buSzPts val="1620"/>
              <a:buFont typeface="Lexend"/>
              <a:buNone/>
            </a:pPr>
            <a:r>
              <a:rPr b="0" i="0" lang="en-US" sz="1620" u="none" cap="none" strike="noStrike">
                <a:solidFill>
                  <a:srgbClr val="573B06"/>
                </a:solidFill>
                <a:latin typeface="Lexend"/>
                <a:ea typeface="Lexend"/>
                <a:cs typeface="Lexend"/>
                <a:sym typeface="Lexend"/>
              </a:rPr>
              <a:t>A formalidade eficaz exige clareza e precisão; termos excessivamente empolados causam ruído comunicativo e pedantismo.</a:t>
            </a:r>
            <a:endParaRPr b="0" i="0" sz="1440" u="none" cap="none" strike="noStrike">
              <a:solidFill>
                <a:schemeClr val="dk1"/>
              </a:solidFill>
              <a:latin typeface="Calibri"/>
              <a:ea typeface="Calibri"/>
              <a:cs typeface="Calibri"/>
              <a:sym typeface="Calibri"/>
            </a:endParaRPr>
          </a:p>
        </p:txBody>
      </p:sp>
      <p:sp>
        <p:nvSpPr>
          <p:cNvPr id="255" name="Google Shape;255;p24"/>
          <p:cNvSpPr/>
          <p:nvPr/>
        </p:nvSpPr>
        <p:spPr>
          <a:xfrm>
            <a:off x="6435090" y="2491740"/>
            <a:ext cx="274320" cy="274320"/>
          </a:xfrm>
          <a:prstGeom prst="roundRect">
            <a:avLst>
              <a:gd fmla="val 25000" name="adj"/>
            </a:avLst>
          </a:prstGeom>
          <a:solidFill>
            <a:srgbClr val="2C6E49"/>
          </a:solidFill>
          <a:ln>
            <a:noFill/>
          </a:ln>
        </p:spPr>
        <p:txBody>
          <a:bodyPr anchorCtr="0" anchor="ctr" bIns="45700" lIns="45700" spcFirstLastPara="1" rIns="45700" wrap="square" tIns="45700">
            <a:noAutofit/>
          </a:bodyPr>
          <a:lstStyle/>
          <a:p>
            <a:pPr indent="0" lvl="0" marL="0" marR="0" rtl="0" algn="ctr">
              <a:lnSpc>
                <a:spcPct val="116666"/>
              </a:lnSpc>
              <a:spcBef>
                <a:spcPts val="0"/>
              </a:spcBef>
              <a:spcAft>
                <a:spcPts val="0"/>
              </a:spcAft>
              <a:buClr>
                <a:srgbClr val="FFFFFF"/>
              </a:buClr>
              <a:buSzPts val="1170"/>
              <a:buFont typeface="Lexend"/>
              <a:buNone/>
            </a:pPr>
            <a:r>
              <a:rPr b="1" i="0" lang="en-US" sz="1170" u="none" cap="none" strike="noStrike">
                <a:solidFill>
                  <a:srgbClr val="FFFFFF"/>
                </a:solidFill>
                <a:latin typeface="Lexend"/>
                <a:ea typeface="Lexend"/>
                <a:cs typeface="Lexend"/>
                <a:sym typeface="Lexend"/>
              </a:rPr>
              <a:t>✓</a:t>
            </a:r>
            <a:endParaRPr b="0" i="0" sz="117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0" name="Shape 260"/>
        <p:cNvGrpSpPr/>
        <p:nvPr/>
      </p:nvGrpSpPr>
      <p:grpSpPr>
        <a:xfrm>
          <a:off x="0" y="0"/>
          <a:ext cx="0" cy="0"/>
          <a:chOff x="0" y="0"/>
          <a:chExt cx="0" cy="0"/>
        </a:xfrm>
      </p:grpSpPr>
      <p:sp>
        <p:nvSpPr>
          <p:cNvPr id="261" name="Google Shape;261;p25"/>
          <p:cNvSpPr/>
          <p:nvPr/>
        </p:nvSpPr>
        <p:spPr>
          <a:xfrm>
            <a:off x="274320" y="182880"/>
            <a:ext cx="8595360" cy="651510"/>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2880"/>
              <a:buFont typeface="Lexend"/>
              <a:buNone/>
            </a:pPr>
            <a:r>
              <a:rPr b="1" i="0" lang="en-US" sz="2880" u="none" cap="none" strike="noStrike">
                <a:solidFill>
                  <a:srgbClr val="040F0F"/>
                </a:solidFill>
                <a:latin typeface="Lexend"/>
                <a:ea typeface="Lexend"/>
                <a:cs typeface="Lexend"/>
                <a:sym typeface="Lexend"/>
              </a:rPr>
              <a:t>A Linha do Tempo da Comunicação</a:t>
            </a:r>
            <a:endParaRPr b="0" i="0" sz="2880" u="none" cap="none" strike="noStrike">
              <a:solidFill>
                <a:schemeClr val="dk1"/>
              </a:solidFill>
              <a:latin typeface="Calibri"/>
              <a:ea typeface="Calibri"/>
              <a:cs typeface="Calibri"/>
              <a:sym typeface="Calibri"/>
            </a:endParaRPr>
          </a:p>
        </p:txBody>
      </p:sp>
      <p:sp>
        <p:nvSpPr>
          <p:cNvPr id="262" name="Google Shape;262;p25"/>
          <p:cNvSpPr/>
          <p:nvPr/>
        </p:nvSpPr>
        <p:spPr>
          <a:xfrm>
            <a:off x="457200" y="2834640"/>
            <a:ext cx="8229600" cy="22860"/>
          </a:xfrm>
          <a:prstGeom prst="rect">
            <a:avLst/>
          </a:prstGeom>
          <a:solidFill>
            <a:srgbClr val="040F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5"/>
          <p:cNvSpPr/>
          <p:nvPr/>
        </p:nvSpPr>
        <p:spPr>
          <a:xfrm>
            <a:off x="1325880" y="2686050"/>
            <a:ext cx="320040" cy="320040"/>
          </a:xfrm>
          <a:prstGeom prst="ellipse">
            <a:avLst/>
          </a:prstGeom>
          <a:solidFill>
            <a:srgbClr val="FFFFFF"/>
          </a:solidFill>
          <a:ln cap="flat" cmpd="sng" w="22850">
            <a:solidFill>
              <a:srgbClr val="040F0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5"/>
          <p:cNvSpPr/>
          <p:nvPr/>
        </p:nvSpPr>
        <p:spPr>
          <a:xfrm>
            <a:off x="3383280" y="2686050"/>
            <a:ext cx="320040" cy="320040"/>
          </a:xfrm>
          <a:prstGeom prst="ellipse">
            <a:avLst/>
          </a:prstGeom>
          <a:solidFill>
            <a:srgbClr val="FFFFFF"/>
          </a:solidFill>
          <a:ln cap="flat" cmpd="sng" w="22850">
            <a:solidFill>
              <a:srgbClr val="040F0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5"/>
          <p:cNvSpPr/>
          <p:nvPr/>
        </p:nvSpPr>
        <p:spPr>
          <a:xfrm>
            <a:off x="5440680" y="2686050"/>
            <a:ext cx="320040" cy="320040"/>
          </a:xfrm>
          <a:prstGeom prst="ellipse">
            <a:avLst/>
          </a:prstGeom>
          <a:solidFill>
            <a:srgbClr val="FFFFFF"/>
          </a:solidFill>
          <a:ln cap="flat" cmpd="sng" w="22850">
            <a:solidFill>
              <a:srgbClr val="040F0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5"/>
          <p:cNvSpPr/>
          <p:nvPr/>
        </p:nvSpPr>
        <p:spPr>
          <a:xfrm>
            <a:off x="7498080" y="2686050"/>
            <a:ext cx="320040" cy="320040"/>
          </a:xfrm>
          <a:prstGeom prst="ellipse">
            <a:avLst/>
          </a:prstGeom>
          <a:solidFill>
            <a:srgbClr val="FFFFFF"/>
          </a:solidFill>
          <a:ln cap="flat" cmpd="sng" w="22850">
            <a:solidFill>
              <a:srgbClr val="040F0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5"/>
          <p:cNvSpPr/>
          <p:nvPr/>
        </p:nvSpPr>
        <p:spPr>
          <a:xfrm>
            <a:off x="514350" y="3086100"/>
            <a:ext cx="1943100" cy="1714500"/>
          </a:xfrm>
          <a:prstGeom prst="rect">
            <a:avLst/>
          </a:prstGeom>
          <a:noFill/>
          <a:ln>
            <a:noFill/>
          </a:ln>
        </p:spPr>
        <p:txBody>
          <a:bodyPr anchorCtr="0" anchor="t" bIns="45700" lIns="45700" spcFirstLastPara="1" rIns="45700" wrap="square" tIns="45700">
            <a:noAutofit/>
          </a:bodyPr>
          <a:lstStyle/>
          <a:p>
            <a:pPr indent="0" lvl="0" marL="0" marR="0" rtl="0" algn="ctr">
              <a:lnSpc>
                <a:spcPct val="116666"/>
              </a:lnSpc>
              <a:spcBef>
                <a:spcPts val="0"/>
              </a:spcBef>
              <a:spcAft>
                <a:spcPts val="0"/>
              </a:spcAft>
              <a:buClr>
                <a:srgbClr val="040F0F"/>
              </a:buClr>
              <a:buSzPts val="1620"/>
              <a:buFont typeface="Lexend"/>
              <a:buNone/>
            </a:pPr>
            <a:r>
              <a:rPr b="1" i="0" lang="en-US" sz="1620" u="none" cap="none" strike="noStrike">
                <a:solidFill>
                  <a:srgbClr val="040F0F"/>
                </a:solidFill>
                <a:latin typeface="Lexend"/>
                <a:ea typeface="Lexend"/>
                <a:cs typeface="Lexend"/>
                <a:sym typeface="Lexend"/>
              </a:rPr>
              <a:t>Século XX</a:t>
            </a:r>
            <a:endParaRPr b="0" i="0" sz="1620" u="none" cap="none" strike="noStrike">
              <a:solidFill>
                <a:schemeClr val="dk1"/>
              </a:solidFill>
              <a:latin typeface="Calibri"/>
              <a:ea typeface="Calibri"/>
              <a:cs typeface="Calibri"/>
              <a:sym typeface="Calibri"/>
            </a:endParaRPr>
          </a:p>
          <a:p>
            <a:pPr indent="0" lvl="0" marL="0" marR="0" rtl="0" algn="ctr">
              <a:lnSpc>
                <a:spcPct val="116666"/>
              </a:lnSpc>
              <a:spcBef>
                <a:spcPts val="72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Cartas e memorandos com formalidade extrema.</a:t>
            </a:r>
            <a:endParaRPr b="0" i="0" sz="1620" u="none" cap="none" strike="noStrike">
              <a:solidFill>
                <a:schemeClr val="dk1"/>
              </a:solidFill>
              <a:latin typeface="Calibri"/>
              <a:ea typeface="Calibri"/>
              <a:cs typeface="Calibri"/>
              <a:sym typeface="Calibri"/>
            </a:endParaRPr>
          </a:p>
        </p:txBody>
      </p:sp>
      <p:sp>
        <p:nvSpPr>
          <p:cNvPr id="268" name="Google Shape;268;p25"/>
          <p:cNvSpPr/>
          <p:nvPr/>
        </p:nvSpPr>
        <p:spPr>
          <a:xfrm>
            <a:off x="2571750" y="937260"/>
            <a:ext cx="1943100" cy="1714500"/>
          </a:xfrm>
          <a:prstGeom prst="rect">
            <a:avLst/>
          </a:prstGeom>
          <a:noFill/>
          <a:ln>
            <a:noFill/>
          </a:ln>
        </p:spPr>
        <p:txBody>
          <a:bodyPr anchorCtr="0" anchor="t" bIns="45700" lIns="45700" spcFirstLastPara="1" rIns="45700" wrap="square" tIns="45700">
            <a:noAutofit/>
          </a:bodyPr>
          <a:lstStyle/>
          <a:p>
            <a:pPr indent="0" lvl="0" marL="0" marR="0" rtl="0" algn="ctr">
              <a:lnSpc>
                <a:spcPct val="116666"/>
              </a:lnSpc>
              <a:spcBef>
                <a:spcPts val="0"/>
              </a:spcBef>
              <a:spcAft>
                <a:spcPts val="0"/>
              </a:spcAft>
              <a:buClr>
                <a:srgbClr val="040F0F"/>
              </a:buClr>
              <a:buSzPts val="1620"/>
              <a:buFont typeface="Lexend"/>
              <a:buNone/>
            </a:pPr>
            <a:r>
              <a:rPr b="1" i="0" lang="en-US" sz="1620" u="none" cap="none" strike="noStrike">
                <a:solidFill>
                  <a:srgbClr val="040F0F"/>
                </a:solidFill>
                <a:latin typeface="Lexend"/>
                <a:ea typeface="Lexend"/>
                <a:cs typeface="Lexend"/>
                <a:sym typeface="Lexend"/>
              </a:rPr>
              <a:t>Anos 2000</a:t>
            </a:r>
            <a:endParaRPr b="0" i="0" sz="1620" u="none" cap="none" strike="noStrike">
              <a:solidFill>
                <a:schemeClr val="dk1"/>
              </a:solidFill>
              <a:latin typeface="Calibri"/>
              <a:ea typeface="Calibri"/>
              <a:cs typeface="Calibri"/>
              <a:sym typeface="Calibri"/>
            </a:endParaRPr>
          </a:p>
          <a:p>
            <a:pPr indent="0" lvl="0" marL="0" marR="0" rtl="0" algn="ctr">
              <a:lnSpc>
                <a:spcPct val="116666"/>
              </a:lnSpc>
              <a:spcBef>
                <a:spcPts val="72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E-mails e a primeira agilização corporativa.</a:t>
            </a:r>
            <a:endParaRPr b="0" i="0" sz="1620" u="none" cap="none" strike="noStrike">
              <a:solidFill>
                <a:schemeClr val="dk1"/>
              </a:solidFill>
              <a:latin typeface="Calibri"/>
              <a:ea typeface="Calibri"/>
              <a:cs typeface="Calibri"/>
              <a:sym typeface="Calibri"/>
            </a:endParaRPr>
          </a:p>
        </p:txBody>
      </p:sp>
      <p:sp>
        <p:nvSpPr>
          <p:cNvPr id="269" name="Google Shape;269;p25"/>
          <p:cNvSpPr/>
          <p:nvPr/>
        </p:nvSpPr>
        <p:spPr>
          <a:xfrm>
            <a:off x="4629150" y="3086100"/>
            <a:ext cx="1943100" cy="1714500"/>
          </a:xfrm>
          <a:prstGeom prst="rect">
            <a:avLst/>
          </a:prstGeom>
          <a:noFill/>
          <a:ln>
            <a:noFill/>
          </a:ln>
        </p:spPr>
        <p:txBody>
          <a:bodyPr anchorCtr="0" anchor="t" bIns="45700" lIns="45700" spcFirstLastPara="1" rIns="45700" wrap="square" tIns="45700">
            <a:noAutofit/>
          </a:bodyPr>
          <a:lstStyle/>
          <a:p>
            <a:pPr indent="0" lvl="0" marL="0" marR="0" rtl="0" algn="ctr">
              <a:lnSpc>
                <a:spcPct val="116666"/>
              </a:lnSpc>
              <a:spcBef>
                <a:spcPts val="0"/>
              </a:spcBef>
              <a:spcAft>
                <a:spcPts val="0"/>
              </a:spcAft>
              <a:buClr>
                <a:srgbClr val="040F0F"/>
              </a:buClr>
              <a:buSzPts val="1620"/>
              <a:buFont typeface="Lexend"/>
              <a:buNone/>
            </a:pPr>
            <a:r>
              <a:rPr b="1" i="0" lang="en-US" sz="1620" u="none" cap="none" strike="noStrike">
                <a:solidFill>
                  <a:srgbClr val="040F0F"/>
                </a:solidFill>
                <a:latin typeface="Lexend"/>
                <a:ea typeface="Lexend"/>
                <a:cs typeface="Lexend"/>
                <a:sym typeface="Lexend"/>
              </a:rPr>
              <a:t>Anos 2015</a:t>
            </a:r>
            <a:endParaRPr b="0" i="0" sz="1620" u="none" cap="none" strike="noStrike">
              <a:solidFill>
                <a:schemeClr val="dk1"/>
              </a:solidFill>
              <a:latin typeface="Calibri"/>
              <a:ea typeface="Calibri"/>
              <a:cs typeface="Calibri"/>
              <a:sym typeface="Calibri"/>
            </a:endParaRPr>
          </a:p>
          <a:p>
            <a:pPr indent="0" lvl="0" marL="0" marR="0" rtl="0" algn="ctr">
              <a:lnSpc>
                <a:spcPct val="116666"/>
              </a:lnSpc>
              <a:spcBef>
                <a:spcPts val="72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Chats corporativos borram os limites de tom.</a:t>
            </a:r>
            <a:endParaRPr b="0" i="0" sz="1620" u="none" cap="none" strike="noStrike">
              <a:solidFill>
                <a:schemeClr val="dk1"/>
              </a:solidFill>
              <a:latin typeface="Calibri"/>
              <a:ea typeface="Calibri"/>
              <a:cs typeface="Calibri"/>
              <a:sym typeface="Calibri"/>
            </a:endParaRPr>
          </a:p>
        </p:txBody>
      </p:sp>
      <p:sp>
        <p:nvSpPr>
          <p:cNvPr id="270" name="Google Shape;270;p25"/>
          <p:cNvSpPr/>
          <p:nvPr/>
        </p:nvSpPr>
        <p:spPr>
          <a:xfrm>
            <a:off x="6686550" y="937260"/>
            <a:ext cx="1943100" cy="1714500"/>
          </a:xfrm>
          <a:prstGeom prst="rect">
            <a:avLst/>
          </a:prstGeom>
          <a:noFill/>
          <a:ln>
            <a:noFill/>
          </a:ln>
        </p:spPr>
        <p:txBody>
          <a:bodyPr anchorCtr="0" anchor="t" bIns="45700" lIns="45700" spcFirstLastPara="1" rIns="45700" wrap="square" tIns="45700">
            <a:noAutofit/>
          </a:bodyPr>
          <a:lstStyle/>
          <a:p>
            <a:pPr indent="0" lvl="0" marL="0" marR="0" rtl="0" algn="ctr">
              <a:lnSpc>
                <a:spcPct val="116666"/>
              </a:lnSpc>
              <a:spcBef>
                <a:spcPts val="0"/>
              </a:spcBef>
              <a:spcAft>
                <a:spcPts val="0"/>
              </a:spcAft>
              <a:buClr>
                <a:srgbClr val="040F0F"/>
              </a:buClr>
              <a:buSzPts val="1620"/>
              <a:buFont typeface="Lexend"/>
              <a:buNone/>
            </a:pPr>
            <a:r>
              <a:rPr b="1" i="0" lang="en-US" sz="1620" u="none" cap="none" strike="noStrike">
                <a:solidFill>
                  <a:srgbClr val="040F0F"/>
                </a:solidFill>
                <a:latin typeface="Lexend"/>
                <a:ea typeface="Lexend"/>
                <a:cs typeface="Lexend"/>
                <a:sym typeface="Lexend"/>
              </a:rPr>
              <a:t>Atualidade</a:t>
            </a:r>
            <a:endParaRPr b="0" i="0" sz="1620" u="none" cap="none" strike="noStrike">
              <a:solidFill>
                <a:schemeClr val="dk1"/>
              </a:solidFill>
              <a:latin typeface="Calibri"/>
              <a:ea typeface="Calibri"/>
              <a:cs typeface="Calibri"/>
              <a:sym typeface="Calibri"/>
            </a:endParaRPr>
          </a:p>
          <a:p>
            <a:pPr indent="0" lvl="0" marL="0" marR="0" rtl="0" algn="ctr">
              <a:lnSpc>
                <a:spcPct val="116666"/>
              </a:lnSpc>
              <a:spcBef>
                <a:spcPts val="72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Discernimento digital e agilidade com clareza.</a:t>
            </a:r>
            <a:endParaRPr b="0" i="0" sz="162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5" name="Shape 275"/>
        <p:cNvGrpSpPr/>
        <p:nvPr/>
      </p:nvGrpSpPr>
      <p:grpSpPr>
        <a:xfrm>
          <a:off x="0" y="0"/>
          <a:ext cx="0" cy="0"/>
          <a:chOff x="0" y="0"/>
          <a:chExt cx="0" cy="0"/>
        </a:xfrm>
      </p:grpSpPr>
      <p:sp>
        <p:nvSpPr>
          <p:cNvPr id="276" name="Google Shape;276;p26"/>
          <p:cNvSpPr/>
          <p:nvPr/>
        </p:nvSpPr>
        <p:spPr>
          <a:xfrm>
            <a:off x="274320" y="182880"/>
            <a:ext cx="8595360" cy="651510"/>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2880"/>
              <a:buFont typeface="Lexend"/>
              <a:buNone/>
            </a:pPr>
            <a:r>
              <a:rPr b="1" i="0" lang="en-US" sz="2880" u="none" cap="none" strike="noStrike">
                <a:solidFill>
                  <a:srgbClr val="040F0F"/>
                </a:solidFill>
                <a:latin typeface="Lexend"/>
                <a:ea typeface="Lexend"/>
                <a:cs typeface="Lexend"/>
                <a:sym typeface="Lexend"/>
              </a:rPr>
              <a:t>Discernimento Comunicativo Digital</a:t>
            </a:r>
            <a:endParaRPr b="0" i="0" sz="2880" u="none" cap="none" strike="noStrike">
              <a:solidFill>
                <a:schemeClr val="dk1"/>
              </a:solidFill>
              <a:latin typeface="Calibri"/>
              <a:ea typeface="Calibri"/>
              <a:cs typeface="Calibri"/>
              <a:sym typeface="Calibri"/>
            </a:endParaRPr>
          </a:p>
        </p:txBody>
      </p:sp>
      <p:sp>
        <p:nvSpPr>
          <p:cNvPr id="277" name="Google Shape;277;p26"/>
          <p:cNvSpPr/>
          <p:nvPr/>
        </p:nvSpPr>
        <p:spPr>
          <a:xfrm>
            <a:off x="274320" y="925830"/>
            <a:ext cx="4503420" cy="3943350"/>
          </a:xfrm>
          <a:prstGeom prst="rect">
            <a:avLst/>
          </a:prstGeom>
          <a:noFill/>
          <a:ln>
            <a:noFill/>
          </a:ln>
        </p:spPr>
        <p:txBody>
          <a:bodyPr anchorCtr="0" anchor="t" bIns="45700" lIns="45700" spcFirstLastPara="1" rIns="45700" wrap="square" tIns="45700">
            <a:noAutofit/>
          </a:bodyPr>
          <a:lstStyle/>
          <a:p>
            <a:pPr indent="0" lvl="0" marL="0" marR="0" rtl="0" algn="l">
              <a:lnSpc>
                <a:spcPct val="116666"/>
              </a:lnSpc>
              <a:spcBef>
                <a:spcPts val="0"/>
              </a:spcBef>
              <a:spcAft>
                <a:spcPts val="0"/>
              </a:spcAft>
              <a:buClr>
                <a:srgbClr val="040F0F"/>
              </a:buClr>
              <a:buSzPts val="1530"/>
              <a:buFont typeface="Lexend"/>
              <a:buNone/>
            </a:pPr>
            <a:r>
              <a:rPr b="0" i="0" lang="en-US" sz="1530" u="none" cap="none" strike="noStrike">
                <a:solidFill>
                  <a:srgbClr val="040F0F"/>
                </a:solidFill>
                <a:latin typeface="Lexend"/>
                <a:ea typeface="Lexend"/>
                <a:cs typeface="Lexend"/>
                <a:sym typeface="Lexend"/>
              </a:rPr>
              <a:t>Aplicativos como Slack, Teams e WhatsApp Workplace trouxeram a velocidade do chat para o coração das empresas.</a:t>
            </a:r>
            <a:endParaRPr b="0" i="0" sz="1530" u="none" cap="none" strike="noStrike">
              <a:solidFill>
                <a:schemeClr val="dk1"/>
              </a:solidFill>
              <a:latin typeface="Calibri"/>
              <a:ea typeface="Calibri"/>
              <a:cs typeface="Calibri"/>
              <a:sym typeface="Calibri"/>
            </a:endParaRPr>
          </a:p>
          <a:p>
            <a:pPr indent="0" lvl="0" marL="0" marR="0" rtl="0" algn="l">
              <a:lnSpc>
                <a:spcPct val="116666"/>
              </a:lnSpc>
              <a:spcBef>
                <a:spcPts val="720"/>
              </a:spcBef>
              <a:spcAft>
                <a:spcPts val="0"/>
              </a:spcAft>
              <a:buClr>
                <a:srgbClr val="040F0F"/>
              </a:buClr>
              <a:buSzPts val="1530"/>
              <a:buFont typeface="Lexend"/>
              <a:buNone/>
            </a:pPr>
            <a:r>
              <a:rPr b="0" i="0" lang="en-US" sz="1530" u="none" cap="none" strike="noStrike">
                <a:solidFill>
                  <a:srgbClr val="040F0F"/>
                </a:solidFill>
                <a:latin typeface="Lexend"/>
                <a:ea typeface="Lexend"/>
                <a:cs typeface="Lexend"/>
                <a:sym typeface="Lexend"/>
              </a:rPr>
              <a:t>Essa aproximação exige </a:t>
            </a:r>
            <a:r>
              <a:rPr b="1" i="0" lang="en-US" sz="1530" u="none" cap="none" strike="noStrike">
                <a:solidFill>
                  <a:srgbClr val="040F0F"/>
                </a:solidFill>
                <a:latin typeface="Lexend"/>
                <a:ea typeface="Lexend"/>
                <a:cs typeface="Lexend"/>
                <a:sym typeface="Lexend"/>
              </a:rPr>
              <a:t>discernimento em dobro</a:t>
            </a:r>
            <a:r>
              <a:rPr b="0" i="0" lang="en-US" sz="1530" u="none" cap="none" strike="noStrike">
                <a:solidFill>
                  <a:srgbClr val="040F0F"/>
                </a:solidFill>
                <a:latin typeface="Lexend"/>
                <a:ea typeface="Lexend"/>
                <a:cs typeface="Lexend"/>
                <a:sym typeface="Lexend"/>
              </a:rPr>
              <a:t>: agilidade não significa desrespeito gramatical ou informalidade desenfreada.</a:t>
            </a:r>
            <a:endParaRPr b="0" i="0" sz="1530" u="none" cap="none" strike="noStrike">
              <a:solidFill>
                <a:schemeClr val="dk1"/>
              </a:solidFill>
              <a:latin typeface="Calibri"/>
              <a:ea typeface="Calibri"/>
              <a:cs typeface="Calibri"/>
              <a:sym typeface="Calibri"/>
            </a:endParaRPr>
          </a:p>
          <a:p>
            <a:pPr indent="-228600" lvl="0" marL="228600" marR="0" rtl="0" algn="l">
              <a:lnSpc>
                <a:spcPct val="116666"/>
              </a:lnSpc>
              <a:spcBef>
                <a:spcPts val="585"/>
              </a:spcBef>
              <a:spcAft>
                <a:spcPts val="0"/>
              </a:spcAft>
              <a:buClr>
                <a:srgbClr val="040F0F"/>
              </a:buClr>
              <a:buSzPts val="1530"/>
              <a:buFont typeface="Lexend"/>
              <a:buChar char="•"/>
            </a:pPr>
            <a:r>
              <a:rPr b="0" i="0" lang="en-US" sz="1530" u="none" cap="none" strike="noStrike">
                <a:solidFill>
                  <a:srgbClr val="040F0F"/>
                </a:solidFill>
                <a:latin typeface="Lexend"/>
                <a:ea typeface="Lexend"/>
                <a:cs typeface="Lexend"/>
                <a:sym typeface="Lexend"/>
              </a:rPr>
              <a:t>Mensagens de trabalho ficam registradas institucionalmente.</a:t>
            </a:r>
            <a:endParaRPr b="0" i="0" sz="1530" u="none" cap="none" strike="noStrike">
              <a:solidFill>
                <a:schemeClr val="dk1"/>
              </a:solidFill>
              <a:latin typeface="Calibri"/>
              <a:ea typeface="Calibri"/>
              <a:cs typeface="Calibri"/>
              <a:sym typeface="Calibri"/>
            </a:endParaRPr>
          </a:p>
          <a:p>
            <a:pPr indent="-228600" lvl="0" marL="228600" marR="0" rtl="0" algn="l">
              <a:lnSpc>
                <a:spcPct val="116666"/>
              </a:lnSpc>
              <a:spcBef>
                <a:spcPts val="450"/>
              </a:spcBef>
              <a:spcAft>
                <a:spcPts val="0"/>
              </a:spcAft>
              <a:buClr>
                <a:srgbClr val="040F0F"/>
              </a:buClr>
              <a:buSzPts val="1530"/>
              <a:buFont typeface="Lexend"/>
              <a:buChar char="•"/>
            </a:pPr>
            <a:r>
              <a:rPr b="0" i="0" lang="en-US" sz="1530" u="none" cap="none" strike="noStrike">
                <a:solidFill>
                  <a:srgbClr val="040F0F"/>
                </a:solidFill>
                <a:latin typeface="Lexend"/>
                <a:ea typeface="Lexend"/>
                <a:cs typeface="Lexend"/>
                <a:sym typeface="Lexend"/>
              </a:rPr>
              <a:t>A clareza nas instruções evita retrabalhos caros e mal-entendidos.</a:t>
            </a:r>
            <a:endParaRPr b="0" i="0" sz="1530" u="none" cap="none" strike="noStrike">
              <a:solidFill>
                <a:schemeClr val="dk1"/>
              </a:solidFill>
              <a:latin typeface="Calibri"/>
              <a:ea typeface="Calibri"/>
              <a:cs typeface="Calibri"/>
              <a:sym typeface="Calibri"/>
            </a:endParaRPr>
          </a:p>
        </p:txBody>
      </p:sp>
      <p:pic>
        <p:nvPicPr>
          <p:cNvPr descr="/home/forge/chalkie-production-workers-2/releases/78214720/backend/storage/app/render-specs/a150a017-74b3-45d2-90a1-ee5e1050d2e7/img_cd87be301f3d32946b793b5ccb67a7a5.png" id="278" name="Google Shape;278;p26"/>
          <p:cNvPicPr preferRelativeResize="0"/>
          <p:nvPr/>
        </p:nvPicPr>
        <p:blipFill rotWithShape="1">
          <a:blip r:embed="rId4">
            <a:alphaModFix/>
          </a:blip>
          <a:srcRect b="0" l="0" r="0" t="0"/>
          <a:stretch/>
        </p:blipFill>
        <p:spPr>
          <a:xfrm>
            <a:off x="4960620" y="925830"/>
            <a:ext cx="3909060" cy="3429000"/>
          </a:xfrm>
          <a:prstGeom prst="roundRect">
            <a:avLst>
              <a:gd fmla="val 4000" name="adj"/>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3" name="Shape 283"/>
        <p:cNvGrpSpPr/>
        <p:nvPr/>
      </p:nvGrpSpPr>
      <p:grpSpPr>
        <a:xfrm>
          <a:off x="0" y="0"/>
          <a:ext cx="0" cy="0"/>
          <a:chOff x="0" y="0"/>
          <a:chExt cx="0" cy="0"/>
        </a:xfrm>
      </p:grpSpPr>
      <p:sp>
        <p:nvSpPr>
          <p:cNvPr id="284" name="Google Shape;284;p27"/>
          <p:cNvSpPr/>
          <p:nvPr/>
        </p:nvSpPr>
        <p:spPr>
          <a:xfrm>
            <a:off x="274320" y="182880"/>
            <a:ext cx="8595360" cy="651510"/>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2880"/>
              <a:buFont typeface="Lexend"/>
              <a:buNone/>
            </a:pPr>
            <a:r>
              <a:rPr b="1" i="0" lang="en-US" sz="2880" u="none" cap="none" strike="noStrike">
                <a:solidFill>
                  <a:srgbClr val="040F0F"/>
                </a:solidFill>
                <a:latin typeface="Lexend"/>
                <a:ea typeface="Lexend"/>
                <a:cs typeface="Lexend"/>
                <a:sym typeface="Lexend"/>
              </a:rPr>
              <a:t>Passo a Passo da Transição de Tom</a:t>
            </a:r>
            <a:endParaRPr b="0" i="0" sz="2880" u="none" cap="none" strike="noStrike">
              <a:solidFill>
                <a:schemeClr val="dk1"/>
              </a:solidFill>
              <a:latin typeface="Calibri"/>
              <a:ea typeface="Calibri"/>
              <a:cs typeface="Calibri"/>
              <a:sym typeface="Calibri"/>
            </a:endParaRPr>
          </a:p>
        </p:txBody>
      </p:sp>
      <p:sp>
        <p:nvSpPr>
          <p:cNvPr id="285" name="Google Shape;285;p27"/>
          <p:cNvSpPr/>
          <p:nvPr/>
        </p:nvSpPr>
        <p:spPr>
          <a:xfrm>
            <a:off x="182880" y="3108960"/>
            <a:ext cx="2926080" cy="400050"/>
          </a:xfrm>
          <a:prstGeom prst="chevron">
            <a:avLst>
              <a:gd fmla="val 50000" name="adj"/>
            </a:avLst>
          </a:prstGeom>
          <a:solidFill>
            <a:srgbClr val="F0F1F1"/>
          </a:solidFill>
          <a:ln cap="flat" cmpd="sng" w="22850">
            <a:solidFill>
              <a:srgbClr val="040F0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7"/>
          <p:cNvSpPr/>
          <p:nvPr/>
        </p:nvSpPr>
        <p:spPr>
          <a:xfrm>
            <a:off x="3108960" y="3108960"/>
            <a:ext cx="2926080" cy="400050"/>
          </a:xfrm>
          <a:prstGeom prst="chevron">
            <a:avLst>
              <a:gd fmla="val 50000" name="adj"/>
            </a:avLst>
          </a:prstGeom>
          <a:solidFill>
            <a:srgbClr val="F0F1F1"/>
          </a:solidFill>
          <a:ln cap="flat" cmpd="sng" w="22850">
            <a:solidFill>
              <a:srgbClr val="040F0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7"/>
          <p:cNvSpPr/>
          <p:nvPr/>
        </p:nvSpPr>
        <p:spPr>
          <a:xfrm>
            <a:off x="6035040" y="3108960"/>
            <a:ext cx="2926080" cy="400050"/>
          </a:xfrm>
          <a:prstGeom prst="chevron">
            <a:avLst>
              <a:gd fmla="val 50000" name="adj"/>
            </a:avLst>
          </a:prstGeom>
          <a:solidFill>
            <a:srgbClr val="F0F1F1"/>
          </a:solidFill>
          <a:ln cap="flat" cmpd="sng" w="22850">
            <a:solidFill>
              <a:srgbClr val="040F0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forge/chalkie-production-workers-2/releases/78214720/backend/storage/app/render-specs/a150a017-74b3-45d2-90a1-ee5e1050d2e7/img_8cdd27cbae31ab5f7d74151042039c75.png" id="288" name="Google Shape;288;p27"/>
          <p:cNvPicPr preferRelativeResize="0"/>
          <p:nvPr/>
        </p:nvPicPr>
        <p:blipFill rotWithShape="1">
          <a:blip r:embed="rId4">
            <a:alphaModFix/>
          </a:blip>
          <a:srcRect b="0" l="0" r="0" t="0"/>
          <a:stretch/>
        </p:blipFill>
        <p:spPr>
          <a:xfrm>
            <a:off x="274320" y="937260"/>
            <a:ext cx="2743200" cy="2057400"/>
          </a:xfrm>
          <a:prstGeom prst="roundRect">
            <a:avLst>
              <a:gd fmla="val 6667" name="adj"/>
            </a:avLst>
          </a:prstGeom>
          <a:noFill/>
          <a:ln>
            <a:noFill/>
          </a:ln>
        </p:spPr>
      </p:pic>
      <p:sp>
        <p:nvSpPr>
          <p:cNvPr id="289" name="Google Shape;289;p27"/>
          <p:cNvSpPr/>
          <p:nvPr/>
        </p:nvSpPr>
        <p:spPr>
          <a:xfrm>
            <a:off x="274320" y="3634740"/>
            <a:ext cx="2743200" cy="1223010"/>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1440"/>
              <a:buFont typeface="Lexend"/>
              <a:buNone/>
            </a:pPr>
            <a:r>
              <a:rPr b="1" i="0" lang="en-US" sz="1440" u="none" cap="none" strike="noStrike">
                <a:solidFill>
                  <a:srgbClr val="040F0F"/>
                </a:solidFill>
                <a:latin typeface="Lexend"/>
                <a:ea typeface="Lexend"/>
                <a:cs typeface="Lexend"/>
                <a:sym typeface="Lexend"/>
              </a:rPr>
              <a:t>1. Diagnosticar</a:t>
            </a:r>
            <a:endParaRPr b="0" i="0" sz="1440" u="none" cap="none" strike="noStrike">
              <a:solidFill>
                <a:schemeClr val="dk1"/>
              </a:solidFill>
              <a:latin typeface="Calibri"/>
              <a:ea typeface="Calibri"/>
              <a:cs typeface="Calibri"/>
              <a:sym typeface="Calibri"/>
            </a:endParaRPr>
          </a:p>
          <a:p>
            <a:pPr indent="0" lvl="0" marL="0" marR="0" rtl="0" algn="l">
              <a:lnSpc>
                <a:spcPct val="116666"/>
              </a:lnSpc>
              <a:spcBef>
                <a:spcPts val="540"/>
              </a:spcBef>
              <a:spcAft>
                <a:spcPts val="0"/>
              </a:spcAft>
              <a:buClr>
                <a:srgbClr val="040F0F"/>
              </a:buClr>
              <a:buSzPts val="1440"/>
              <a:buFont typeface="Lexend"/>
              <a:buNone/>
            </a:pPr>
            <a:r>
              <a:rPr b="0" i="0" lang="en-US" sz="1440" u="none" cap="none" strike="noStrike">
                <a:solidFill>
                  <a:srgbClr val="040F0F"/>
                </a:solidFill>
                <a:latin typeface="Lexend"/>
                <a:ea typeface="Lexend"/>
                <a:cs typeface="Lexend"/>
                <a:sym typeface="Lexend"/>
              </a:rPr>
              <a:t>Identifique quem é o receptor e qual resultado você busca alcançar.</a:t>
            </a:r>
            <a:endParaRPr b="0" i="0" sz="1440" u="none" cap="none" strike="noStrike">
              <a:solidFill>
                <a:schemeClr val="dk1"/>
              </a:solidFill>
              <a:latin typeface="Calibri"/>
              <a:ea typeface="Calibri"/>
              <a:cs typeface="Calibri"/>
              <a:sym typeface="Calibri"/>
            </a:endParaRPr>
          </a:p>
        </p:txBody>
      </p:sp>
      <p:pic>
        <p:nvPicPr>
          <p:cNvPr descr="/home/forge/chalkie-production-workers-2/releases/78214720/backend/storage/app/render-specs/a150a017-74b3-45d2-90a1-ee5e1050d2e7/img_07743237c8514924cafe1daf956b63cd.png" id="290" name="Google Shape;290;p27"/>
          <p:cNvPicPr preferRelativeResize="0"/>
          <p:nvPr/>
        </p:nvPicPr>
        <p:blipFill rotWithShape="1">
          <a:blip r:embed="rId5">
            <a:alphaModFix/>
          </a:blip>
          <a:srcRect b="0" l="0" r="0" t="0"/>
          <a:stretch/>
        </p:blipFill>
        <p:spPr>
          <a:xfrm>
            <a:off x="3200400" y="937260"/>
            <a:ext cx="2743200" cy="2057400"/>
          </a:xfrm>
          <a:prstGeom prst="roundRect">
            <a:avLst>
              <a:gd fmla="val 6667" name="adj"/>
            </a:avLst>
          </a:prstGeom>
          <a:noFill/>
          <a:ln>
            <a:noFill/>
          </a:ln>
        </p:spPr>
      </p:pic>
      <p:sp>
        <p:nvSpPr>
          <p:cNvPr id="291" name="Google Shape;291;p27"/>
          <p:cNvSpPr/>
          <p:nvPr/>
        </p:nvSpPr>
        <p:spPr>
          <a:xfrm>
            <a:off x="3200400" y="3634740"/>
            <a:ext cx="2743200" cy="1223010"/>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1440"/>
              <a:buFont typeface="Lexend"/>
              <a:buNone/>
            </a:pPr>
            <a:r>
              <a:rPr b="1" i="0" lang="en-US" sz="1440" u="none" cap="none" strike="noStrike">
                <a:solidFill>
                  <a:srgbClr val="040F0F"/>
                </a:solidFill>
                <a:latin typeface="Lexend"/>
                <a:ea typeface="Lexend"/>
                <a:cs typeface="Lexend"/>
                <a:sym typeface="Lexend"/>
              </a:rPr>
              <a:t>2. Substituir</a:t>
            </a:r>
            <a:endParaRPr b="0" i="0" sz="1440" u="none" cap="none" strike="noStrike">
              <a:solidFill>
                <a:schemeClr val="dk1"/>
              </a:solidFill>
              <a:latin typeface="Calibri"/>
              <a:ea typeface="Calibri"/>
              <a:cs typeface="Calibri"/>
              <a:sym typeface="Calibri"/>
            </a:endParaRPr>
          </a:p>
          <a:p>
            <a:pPr indent="0" lvl="0" marL="0" marR="0" rtl="0" algn="l">
              <a:lnSpc>
                <a:spcPct val="116666"/>
              </a:lnSpc>
              <a:spcBef>
                <a:spcPts val="540"/>
              </a:spcBef>
              <a:spcAft>
                <a:spcPts val="0"/>
              </a:spcAft>
              <a:buClr>
                <a:srgbClr val="040F0F"/>
              </a:buClr>
              <a:buSzPts val="1440"/>
              <a:buFont typeface="Lexend"/>
              <a:buNone/>
            </a:pPr>
            <a:r>
              <a:rPr b="0" i="0" lang="en-US" sz="1440" u="none" cap="none" strike="noStrike">
                <a:solidFill>
                  <a:srgbClr val="040F0F"/>
                </a:solidFill>
                <a:latin typeface="Lexend"/>
                <a:ea typeface="Lexend"/>
                <a:cs typeface="Lexend"/>
                <a:sym typeface="Lexend"/>
              </a:rPr>
              <a:t>Troque gírias, contrações e vícios por termos claros da norma culta.</a:t>
            </a:r>
            <a:endParaRPr b="0" i="0" sz="1440" u="none" cap="none" strike="noStrike">
              <a:solidFill>
                <a:schemeClr val="dk1"/>
              </a:solidFill>
              <a:latin typeface="Calibri"/>
              <a:ea typeface="Calibri"/>
              <a:cs typeface="Calibri"/>
              <a:sym typeface="Calibri"/>
            </a:endParaRPr>
          </a:p>
        </p:txBody>
      </p:sp>
      <p:pic>
        <p:nvPicPr>
          <p:cNvPr descr="/home/forge/chalkie-production-workers-2/releases/78214720/backend/storage/app/render-specs/a150a017-74b3-45d2-90a1-ee5e1050d2e7/img_89abc21e8cc8cd361f0c28bccbb0500a.png" id="292" name="Google Shape;292;p27"/>
          <p:cNvPicPr preferRelativeResize="0"/>
          <p:nvPr/>
        </p:nvPicPr>
        <p:blipFill rotWithShape="1">
          <a:blip r:embed="rId6">
            <a:alphaModFix/>
          </a:blip>
          <a:srcRect b="0" l="0" r="0" t="0"/>
          <a:stretch/>
        </p:blipFill>
        <p:spPr>
          <a:xfrm>
            <a:off x="6126480" y="937260"/>
            <a:ext cx="2743200" cy="2057400"/>
          </a:xfrm>
          <a:prstGeom prst="roundRect">
            <a:avLst>
              <a:gd fmla="val 6667" name="adj"/>
            </a:avLst>
          </a:prstGeom>
          <a:noFill/>
          <a:ln>
            <a:noFill/>
          </a:ln>
        </p:spPr>
      </p:pic>
      <p:sp>
        <p:nvSpPr>
          <p:cNvPr id="293" name="Google Shape;293;p27"/>
          <p:cNvSpPr/>
          <p:nvPr/>
        </p:nvSpPr>
        <p:spPr>
          <a:xfrm>
            <a:off x="6126480" y="3634740"/>
            <a:ext cx="2743200" cy="1223010"/>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1440"/>
              <a:buFont typeface="Lexend"/>
              <a:buNone/>
            </a:pPr>
            <a:r>
              <a:rPr b="1" i="0" lang="en-US" sz="1440" u="none" cap="none" strike="noStrike">
                <a:solidFill>
                  <a:srgbClr val="040F0F"/>
                </a:solidFill>
                <a:latin typeface="Lexend"/>
                <a:ea typeface="Lexend"/>
                <a:cs typeface="Lexend"/>
                <a:sym typeface="Lexend"/>
              </a:rPr>
              <a:t>3. Polir</a:t>
            </a:r>
            <a:endParaRPr b="0" i="0" sz="1440" u="none" cap="none" strike="noStrike">
              <a:solidFill>
                <a:schemeClr val="dk1"/>
              </a:solidFill>
              <a:latin typeface="Calibri"/>
              <a:ea typeface="Calibri"/>
              <a:cs typeface="Calibri"/>
              <a:sym typeface="Calibri"/>
            </a:endParaRPr>
          </a:p>
          <a:p>
            <a:pPr indent="0" lvl="0" marL="0" marR="0" rtl="0" algn="l">
              <a:lnSpc>
                <a:spcPct val="116666"/>
              </a:lnSpc>
              <a:spcBef>
                <a:spcPts val="540"/>
              </a:spcBef>
              <a:spcAft>
                <a:spcPts val="0"/>
              </a:spcAft>
              <a:buClr>
                <a:srgbClr val="040F0F"/>
              </a:buClr>
              <a:buSzPts val="1440"/>
              <a:buFont typeface="Lexend"/>
              <a:buNone/>
            </a:pPr>
            <a:r>
              <a:rPr b="0" i="0" lang="en-US" sz="1440" u="none" cap="none" strike="noStrike">
                <a:solidFill>
                  <a:srgbClr val="040F0F"/>
                </a:solidFill>
                <a:latin typeface="Lexend"/>
                <a:ea typeface="Lexend"/>
                <a:cs typeface="Lexend"/>
                <a:sym typeface="Lexend"/>
              </a:rPr>
              <a:t>Revise a pontuação e certifique-se de manter o tom educado e objetivo.</a:t>
            </a:r>
            <a:endParaRPr b="0" i="0" sz="144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8" name="Shape 298"/>
        <p:cNvGrpSpPr/>
        <p:nvPr/>
      </p:nvGrpSpPr>
      <p:grpSpPr>
        <a:xfrm>
          <a:off x="0" y="0"/>
          <a:ext cx="0" cy="0"/>
          <a:chOff x="0" y="0"/>
          <a:chExt cx="0" cy="0"/>
        </a:xfrm>
      </p:grpSpPr>
      <p:sp>
        <p:nvSpPr>
          <p:cNvPr id="299" name="Google Shape;299;p28"/>
          <p:cNvSpPr/>
          <p:nvPr/>
        </p:nvSpPr>
        <p:spPr>
          <a:xfrm>
            <a:off x="274320" y="182880"/>
            <a:ext cx="8595360" cy="651510"/>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2880"/>
              <a:buFont typeface="Lexend"/>
              <a:buNone/>
            </a:pPr>
            <a:r>
              <a:rPr b="1" i="0" lang="en-US" sz="2880" u="none" cap="none" strike="noStrike">
                <a:solidFill>
                  <a:srgbClr val="040F0F"/>
                </a:solidFill>
                <a:latin typeface="Lexend"/>
                <a:ea typeface="Lexend"/>
                <a:cs typeface="Lexend"/>
                <a:sym typeface="Lexend"/>
              </a:rPr>
              <a:t>Caso 1: Conversa de Rede Social</a:t>
            </a:r>
            <a:endParaRPr b="0" i="0" sz="2880" u="none" cap="none" strike="noStrike">
              <a:solidFill>
                <a:schemeClr val="dk1"/>
              </a:solidFill>
              <a:latin typeface="Calibri"/>
              <a:ea typeface="Calibri"/>
              <a:cs typeface="Calibri"/>
              <a:sym typeface="Calibri"/>
            </a:endParaRPr>
          </a:p>
        </p:txBody>
      </p:sp>
      <p:sp>
        <p:nvSpPr>
          <p:cNvPr id="300" name="Google Shape;300;p28"/>
          <p:cNvSpPr/>
          <p:nvPr/>
        </p:nvSpPr>
        <p:spPr>
          <a:xfrm>
            <a:off x="274320" y="1017270"/>
            <a:ext cx="4114800" cy="3851910"/>
          </a:xfrm>
          <a:prstGeom prst="rect">
            <a:avLst/>
          </a:prstGeom>
          <a:noFill/>
          <a:ln>
            <a:noFill/>
          </a:ln>
        </p:spPr>
        <p:txBody>
          <a:bodyPr anchorCtr="0" anchor="t" bIns="45700" lIns="45700" spcFirstLastPara="1" rIns="45700" wrap="square" tIns="45700">
            <a:noAutofit/>
          </a:bodyPr>
          <a:lstStyle/>
          <a:p>
            <a:pPr indent="0" lvl="0" marL="0" marR="0" rtl="0" algn="l">
              <a:lnSpc>
                <a:spcPct val="116666"/>
              </a:lnSpc>
              <a:spcBef>
                <a:spcPts val="0"/>
              </a:spcBef>
              <a:spcAft>
                <a:spcPts val="0"/>
              </a:spcAft>
              <a:buClr>
                <a:srgbClr val="040F0F"/>
              </a:buClr>
              <a:buSzPts val="2160"/>
              <a:buFont typeface="Lexend"/>
              <a:buNone/>
            </a:pPr>
            <a:r>
              <a:rPr b="1" i="0" lang="en-US" sz="2160" u="none" cap="none" strike="noStrike">
                <a:solidFill>
                  <a:srgbClr val="040F0F"/>
                </a:solidFill>
                <a:latin typeface="Lexend"/>
                <a:ea typeface="Lexend"/>
                <a:cs typeface="Lexend"/>
                <a:sym typeface="Lexend"/>
              </a:rPr>
              <a:t>Contexto: Grupo de Amigos</a:t>
            </a:r>
            <a:endParaRPr b="0" i="0" sz="2160" u="none" cap="none" strike="noStrike">
              <a:solidFill>
                <a:schemeClr val="dk1"/>
              </a:solidFill>
              <a:latin typeface="Calibri"/>
              <a:ea typeface="Calibri"/>
              <a:cs typeface="Calibri"/>
              <a:sym typeface="Calibri"/>
            </a:endParaRPr>
          </a:p>
          <a:p>
            <a:pPr indent="0" lvl="0" marL="0" marR="0" rtl="0" algn="l">
              <a:lnSpc>
                <a:spcPct val="116666"/>
              </a:lnSpc>
              <a:spcBef>
                <a:spcPts val="810"/>
              </a:spcBef>
              <a:spcAft>
                <a:spcPts val="0"/>
              </a:spcAft>
              <a:buClr>
                <a:srgbClr val="040F0F"/>
              </a:buClr>
              <a:buSzPts val="1620"/>
              <a:buFont typeface="Lexend"/>
              <a:buNone/>
            </a:pPr>
            <a:r>
              <a:rPr b="0" i="1" lang="en-US" sz="1620" u="none" cap="none" strike="noStrike">
                <a:solidFill>
                  <a:srgbClr val="040F0F"/>
                </a:solidFill>
                <a:latin typeface="Lexend"/>
                <a:ea typeface="Lexend"/>
                <a:cs typeface="Lexend"/>
                <a:sym typeface="Lexend"/>
              </a:rPr>
              <a:t>"E aí galera, bora fechar aquele trampo hj? Quem não colar vai ficar sem nota hein kkkk manda o link aí!"</a:t>
            </a:r>
            <a:endParaRPr b="0" i="0" sz="2160" u="none" cap="none" strike="noStrike">
              <a:solidFill>
                <a:schemeClr val="dk1"/>
              </a:solidFill>
              <a:latin typeface="Calibri"/>
              <a:ea typeface="Calibri"/>
              <a:cs typeface="Calibri"/>
              <a:sym typeface="Calibri"/>
            </a:endParaRPr>
          </a:p>
          <a:p>
            <a:pPr indent="-228600" lvl="0" marL="228600" marR="0" rtl="0" algn="l">
              <a:lnSpc>
                <a:spcPct val="116666"/>
              </a:lnSpc>
              <a:spcBef>
                <a:spcPts val="585"/>
              </a:spcBef>
              <a:spcAft>
                <a:spcPts val="0"/>
              </a:spcAft>
              <a:buClr>
                <a:srgbClr val="040F0F"/>
              </a:buClr>
              <a:buSzPts val="1620"/>
              <a:buFont typeface="Lexend"/>
              <a:buChar char="•"/>
            </a:pPr>
            <a:r>
              <a:rPr b="1" i="0" lang="en-US" sz="1620" u="none" cap="none" strike="noStrike">
                <a:solidFill>
                  <a:srgbClr val="040F0F"/>
                </a:solidFill>
                <a:latin typeface="Lexend"/>
                <a:ea typeface="Lexend"/>
                <a:cs typeface="Lexend"/>
                <a:sym typeface="Lexend"/>
              </a:rPr>
              <a:t>Elementos:</a:t>
            </a:r>
            <a:r>
              <a:rPr b="0" i="0" lang="en-US" sz="1620" u="none" cap="none" strike="noStrike">
                <a:solidFill>
                  <a:srgbClr val="040F0F"/>
                </a:solidFill>
                <a:latin typeface="Lexend"/>
                <a:ea typeface="Lexend"/>
                <a:cs typeface="Lexend"/>
                <a:sym typeface="Lexend"/>
              </a:rPr>
              <a:t> Gírias (</a:t>
            </a:r>
            <a:r>
              <a:rPr b="0" i="1" lang="en-US" sz="1620" u="none" cap="none" strike="noStrike">
                <a:solidFill>
                  <a:srgbClr val="040F0F"/>
                </a:solidFill>
                <a:latin typeface="Lexend"/>
                <a:ea typeface="Lexend"/>
                <a:cs typeface="Lexend"/>
                <a:sym typeface="Lexend"/>
              </a:rPr>
              <a:t>"trampo"</a:t>
            </a:r>
            <a:r>
              <a:rPr b="0" i="0" lang="en-US" sz="1620" u="none" cap="none" strike="noStrike">
                <a:solidFill>
                  <a:srgbClr val="040F0F"/>
                </a:solidFill>
                <a:latin typeface="Lexend"/>
                <a:ea typeface="Lexend"/>
                <a:cs typeface="Lexend"/>
                <a:sym typeface="Lexend"/>
              </a:rPr>
              <a:t>, </a:t>
            </a:r>
            <a:r>
              <a:rPr b="0" i="1" lang="en-US" sz="1620" u="none" cap="none" strike="noStrike">
                <a:solidFill>
                  <a:srgbClr val="040F0F"/>
                </a:solidFill>
                <a:latin typeface="Lexend"/>
                <a:ea typeface="Lexend"/>
                <a:cs typeface="Lexend"/>
                <a:sym typeface="Lexend"/>
              </a:rPr>
              <a:t>"colar"</a:t>
            </a:r>
            <a:r>
              <a:rPr b="0" i="0" lang="en-US" sz="1620" u="none" cap="none" strike="noStrike">
                <a:solidFill>
                  <a:srgbClr val="040F0F"/>
                </a:solidFill>
                <a:latin typeface="Lexend"/>
                <a:ea typeface="Lexend"/>
                <a:cs typeface="Lexend"/>
                <a:sym typeface="Lexend"/>
              </a:rPr>
              <a:t>), onomatopeias de riso (</a:t>
            </a:r>
            <a:r>
              <a:rPr b="0" i="1" lang="en-US" sz="1620" u="none" cap="none" strike="noStrike">
                <a:solidFill>
                  <a:srgbClr val="040F0F"/>
                </a:solidFill>
                <a:latin typeface="Lexend"/>
                <a:ea typeface="Lexend"/>
                <a:cs typeface="Lexend"/>
                <a:sym typeface="Lexend"/>
              </a:rPr>
              <a:t>"kkkk"</a:t>
            </a:r>
            <a:r>
              <a:rPr b="0" i="0" lang="en-US" sz="1620" u="none" cap="none" strike="noStrike">
                <a:solidFill>
                  <a:srgbClr val="040F0F"/>
                </a:solidFill>
                <a:latin typeface="Lexend"/>
                <a:ea typeface="Lexend"/>
                <a:cs typeface="Lexend"/>
                <a:sym typeface="Lexend"/>
              </a:rPr>
              <a:t>) e abreviações (</a:t>
            </a:r>
            <a:r>
              <a:rPr b="0" i="1" lang="en-US" sz="1620" u="none" cap="none" strike="noStrike">
                <a:solidFill>
                  <a:srgbClr val="040F0F"/>
                </a:solidFill>
                <a:latin typeface="Lexend"/>
                <a:ea typeface="Lexend"/>
                <a:cs typeface="Lexend"/>
                <a:sym typeface="Lexend"/>
              </a:rPr>
              <a:t>"hj"</a:t>
            </a:r>
            <a:r>
              <a:rPr b="0" i="0" lang="en-US" sz="1620" u="none" cap="none" strike="noStrike">
                <a:solidFill>
                  <a:srgbClr val="040F0F"/>
                </a:solidFill>
                <a:latin typeface="Lexend"/>
                <a:ea typeface="Lexend"/>
                <a:cs typeface="Lexend"/>
                <a:sym typeface="Lexend"/>
              </a:rPr>
              <a:t>).</a:t>
            </a:r>
            <a:endParaRPr b="0" i="0" sz="2160" u="none" cap="none" strike="noStrike">
              <a:solidFill>
                <a:schemeClr val="dk1"/>
              </a:solidFill>
              <a:latin typeface="Calibri"/>
              <a:ea typeface="Calibri"/>
              <a:cs typeface="Calibri"/>
              <a:sym typeface="Calibri"/>
            </a:endParaRPr>
          </a:p>
          <a:p>
            <a:pPr indent="-228600" lvl="0" marL="228600" marR="0" rtl="0" algn="l">
              <a:lnSpc>
                <a:spcPct val="116666"/>
              </a:lnSpc>
              <a:spcBef>
                <a:spcPts val="450"/>
              </a:spcBef>
              <a:spcAft>
                <a:spcPts val="0"/>
              </a:spcAft>
              <a:buClr>
                <a:srgbClr val="040F0F"/>
              </a:buClr>
              <a:buSzPts val="1620"/>
              <a:buFont typeface="Lexend"/>
              <a:buChar char="•"/>
            </a:pPr>
            <a:r>
              <a:rPr b="1" i="0" lang="en-US" sz="1620" u="none" cap="none" strike="noStrike">
                <a:solidFill>
                  <a:srgbClr val="040F0F"/>
                </a:solidFill>
                <a:latin typeface="Lexend"/>
                <a:ea typeface="Lexend"/>
                <a:cs typeface="Lexend"/>
                <a:sym typeface="Lexend"/>
              </a:rPr>
              <a:t>Avaliação de adequação:</a:t>
            </a:r>
            <a:r>
              <a:rPr b="0" i="0" lang="en-US" sz="1620" u="none" cap="none" strike="noStrike">
                <a:solidFill>
                  <a:srgbClr val="040F0F"/>
                </a:solidFill>
                <a:latin typeface="Lexend"/>
                <a:ea typeface="Lexend"/>
                <a:cs typeface="Lexend"/>
                <a:sym typeface="Lexend"/>
              </a:rPr>
              <a:t> Perfeita para um grupo informal entre colegas de turma.</a:t>
            </a:r>
            <a:endParaRPr b="0" i="0" sz="2160" u="none" cap="none" strike="noStrike">
              <a:solidFill>
                <a:schemeClr val="dk1"/>
              </a:solidFill>
              <a:latin typeface="Calibri"/>
              <a:ea typeface="Calibri"/>
              <a:cs typeface="Calibri"/>
              <a:sym typeface="Calibri"/>
            </a:endParaRPr>
          </a:p>
        </p:txBody>
      </p:sp>
      <p:pic>
        <p:nvPicPr>
          <p:cNvPr descr="/home/forge/chalkie-production-workers-2/releases/78214720/backend/storage/app/render-specs/a150a017-74b3-45d2-90a1-ee5e1050d2e7/img_4d0264ad2e44b4962a0247d4546eee39.png" id="301" name="Google Shape;301;p28"/>
          <p:cNvPicPr preferRelativeResize="0"/>
          <p:nvPr/>
        </p:nvPicPr>
        <p:blipFill rotWithShape="1">
          <a:blip r:embed="rId4">
            <a:alphaModFix/>
          </a:blip>
          <a:srcRect b="0" l="0" r="0" t="0"/>
          <a:stretch/>
        </p:blipFill>
        <p:spPr>
          <a:xfrm>
            <a:off x="4754880" y="1017270"/>
            <a:ext cx="4114800" cy="3611880"/>
          </a:xfrm>
          <a:prstGeom prst="roundRect">
            <a:avLst>
              <a:gd fmla="val 3797" name="adj"/>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6" name="Shape 306"/>
        <p:cNvGrpSpPr/>
        <p:nvPr/>
      </p:nvGrpSpPr>
      <p:grpSpPr>
        <a:xfrm>
          <a:off x="0" y="0"/>
          <a:ext cx="0" cy="0"/>
          <a:chOff x="0" y="0"/>
          <a:chExt cx="0" cy="0"/>
        </a:xfrm>
      </p:grpSpPr>
      <p:sp>
        <p:nvSpPr>
          <p:cNvPr id="307" name="Google Shape;307;p29"/>
          <p:cNvSpPr/>
          <p:nvPr/>
        </p:nvSpPr>
        <p:spPr>
          <a:xfrm>
            <a:off x="274320" y="182880"/>
            <a:ext cx="8595360" cy="651510"/>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2880"/>
              <a:buFont typeface="Lexend"/>
              <a:buNone/>
            </a:pPr>
            <a:r>
              <a:rPr b="1" i="0" lang="en-US" sz="2880" u="none" cap="none" strike="noStrike">
                <a:solidFill>
                  <a:srgbClr val="040F0F"/>
                </a:solidFill>
                <a:latin typeface="Lexend"/>
                <a:ea typeface="Lexend"/>
                <a:cs typeface="Lexend"/>
                <a:sym typeface="Lexend"/>
              </a:rPr>
              <a:t>Caso 2: Reunião Profissional</a:t>
            </a:r>
            <a:endParaRPr b="0" i="0" sz="2880" u="none" cap="none" strike="noStrike">
              <a:solidFill>
                <a:schemeClr val="dk1"/>
              </a:solidFill>
              <a:latin typeface="Calibri"/>
              <a:ea typeface="Calibri"/>
              <a:cs typeface="Calibri"/>
              <a:sym typeface="Calibri"/>
            </a:endParaRPr>
          </a:p>
        </p:txBody>
      </p:sp>
      <p:sp>
        <p:nvSpPr>
          <p:cNvPr id="308" name="Google Shape;308;p29"/>
          <p:cNvSpPr/>
          <p:nvPr/>
        </p:nvSpPr>
        <p:spPr>
          <a:xfrm>
            <a:off x="274320" y="925830"/>
            <a:ext cx="4503420" cy="3943350"/>
          </a:xfrm>
          <a:prstGeom prst="rect">
            <a:avLst/>
          </a:prstGeom>
          <a:noFill/>
          <a:ln>
            <a:noFill/>
          </a:ln>
        </p:spPr>
        <p:txBody>
          <a:bodyPr anchorCtr="0" anchor="t" bIns="45700" lIns="45700" spcFirstLastPara="1" rIns="45700" wrap="square" tIns="45700">
            <a:noAutofit/>
          </a:bodyPr>
          <a:lstStyle/>
          <a:p>
            <a:pPr indent="0" lvl="0" marL="0" marR="0" rtl="0" algn="l">
              <a:lnSpc>
                <a:spcPct val="116666"/>
              </a:lnSpc>
              <a:spcBef>
                <a:spcPts val="0"/>
              </a:spcBef>
              <a:spcAft>
                <a:spcPts val="0"/>
              </a:spcAft>
              <a:buClr>
                <a:srgbClr val="040F0F"/>
              </a:buClr>
              <a:buSzPts val="2070"/>
              <a:buFont typeface="Lexend"/>
              <a:buNone/>
            </a:pPr>
            <a:r>
              <a:rPr b="1" i="0" lang="en-US" sz="2070" u="none" cap="none" strike="noStrike">
                <a:solidFill>
                  <a:srgbClr val="040F0F"/>
                </a:solidFill>
                <a:latin typeface="Lexend"/>
                <a:ea typeface="Lexend"/>
                <a:cs typeface="Lexend"/>
                <a:sym typeface="Lexend"/>
              </a:rPr>
              <a:t>Contexto: Alinhamento de Equipe</a:t>
            </a:r>
            <a:endParaRPr b="0" i="0" sz="2070" u="none" cap="none" strike="noStrike">
              <a:solidFill>
                <a:schemeClr val="dk1"/>
              </a:solidFill>
              <a:latin typeface="Calibri"/>
              <a:ea typeface="Calibri"/>
              <a:cs typeface="Calibri"/>
              <a:sym typeface="Calibri"/>
            </a:endParaRPr>
          </a:p>
          <a:p>
            <a:pPr indent="0" lvl="0" marL="0" marR="0" rtl="0" algn="l">
              <a:lnSpc>
                <a:spcPct val="116666"/>
              </a:lnSpc>
              <a:spcBef>
                <a:spcPts val="810"/>
              </a:spcBef>
              <a:spcAft>
                <a:spcPts val="0"/>
              </a:spcAft>
              <a:buClr>
                <a:srgbClr val="040F0F"/>
              </a:buClr>
              <a:buSzPts val="1530"/>
              <a:buFont typeface="Lexend"/>
              <a:buNone/>
            </a:pPr>
            <a:r>
              <a:rPr b="0" i="1" lang="en-US" sz="1530" u="none" cap="none" strike="noStrike">
                <a:solidFill>
                  <a:srgbClr val="040F0F"/>
                </a:solidFill>
                <a:latin typeface="Lexend"/>
                <a:ea typeface="Lexend"/>
                <a:cs typeface="Lexend"/>
                <a:sym typeface="Lexend"/>
              </a:rPr>
              <a:t>"Bom dia a todos. Sugiro alinharmos as pendências do projeto nesta tarde para garantirmos a entrega pontual do relatório."</a:t>
            </a:r>
            <a:endParaRPr b="0" i="0" sz="2070" u="none" cap="none" strike="noStrike">
              <a:solidFill>
                <a:schemeClr val="dk1"/>
              </a:solidFill>
              <a:latin typeface="Calibri"/>
              <a:ea typeface="Calibri"/>
              <a:cs typeface="Calibri"/>
              <a:sym typeface="Calibri"/>
            </a:endParaRPr>
          </a:p>
          <a:p>
            <a:pPr indent="-228600" lvl="0" marL="228600" marR="0" rtl="0" algn="l">
              <a:lnSpc>
                <a:spcPct val="116666"/>
              </a:lnSpc>
              <a:spcBef>
                <a:spcPts val="585"/>
              </a:spcBef>
              <a:spcAft>
                <a:spcPts val="0"/>
              </a:spcAft>
              <a:buClr>
                <a:srgbClr val="040F0F"/>
              </a:buClr>
              <a:buSzPts val="1530"/>
              <a:buFont typeface="Lexend"/>
              <a:buChar char="•"/>
            </a:pPr>
            <a:r>
              <a:rPr b="1" i="0" lang="en-US" sz="1530" u="none" cap="none" strike="noStrike">
                <a:solidFill>
                  <a:srgbClr val="040F0F"/>
                </a:solidFill>
                <a:latin typeface="Lexend"/>
                <a:ea typeface="Lexend"/>
                <a:cs typeface="Lexend"/>
                <a:sym typeface="Lexend"/>
              </a:rPr>
              <a:t>Elementos:</a:t>
            </a:r>
            <a:r>
              <a:rPr b="0" i="0" lang="en-US" sz="1530" u="none" cap="none" strike="noStrike">
                <a:solidFill>
                  <a:srgbClr val="040F0F"/>
                </a:solidFill>
                <a:latin typeface="Lexend"/>
                <a:ea typeface="Lexend"/>
                <a:cs typeface="Lexend"/>
                <a:sym typeface="Lexend"/>
              </a:rPr>
              <a:t> Saudação formal, verbo no modo indicativo/subjuntivo correto, foco em entregas e prazos.</a:t>
            </a:r>
            <a:endParaRPr b="0" i="0" sz="2070" u="none" cap="none" strike="noStrike">
              <a:solidFill>
                <a:schemeClr val="dk1"/>
              </a:solidFill>
              <a:latin typeface="Calibri"/>
              <a:ea typeface="Calibri"/>
              <a:cs typeface="Calibri"/>
              <a:sym typeface="Calibri"/>
            </a:endParaRPr>
          </a:p>
          <a:p>
            <a:pPr indent="-228600" lvl="0" marL="228600" marR="0" rtl="0" algn="l">
              <a:lnSpc>
                <a:spcPct val="116666"/>
              </a:lnSpc>
              <a:spcBef>
                <a:spcPts val="450"/>
              </a:spcBef>
              <a:spcAft>
                <a:spcPts val="0"/>
              </a:spcAft>
              <a:buClr>
                <a:srgbClr val="040F0F"/>
              </a:buClr>
              <a:buSzPts val="1530"/>
              <a:buFont typeface="Lexend"/>
              <a:buChar char="•"/>
            </a:pPr>
            <a:r>
              <a:rPr b="1" i="0" lang="en-US" sz="1530" u="none" cap="none" strike="noStrike">
                <a:solidFill>
                  <a:srgbClr val="040F0F"/>
                </a:solidFill>
                <a:latin typeface="Lexend"/>
                <a:ea typeface="Lexend"/>
                <a:cs typeface="Lexend"/>
                <a:sym typeface="Lexend"/>
              </a:rPr>
              <a:t>Avaliação de adequação:</a:t>
            </a:r>
            <a:r>
              <a:rPr b="0" i="0" lang="en-US" sz="1530" u="none" cap="none" strike="noStrike">
                <a:solidFill>
                  <a:srgbClr val="040F0F"/>
                </a:solidFill>
                <a:latin typeface="Lexend"/>
                <a:ea typeface="Lexend"/>
                <a:cs typeface="Lexend"/>
                <a:sym typeface="Lexend"/>
              </a:rPr>
              <a:t> Excelente clareza, profissionalismo e consideração pelos colegas.</a:t>
            </a:r>
            <a:endParaRPr b="0" i="0" sz="2070" u="none" cap="none" strike="noStrike">
              <a:solidFill>
                <a:schemeClr val="dk1"/>
              </a:solidFill>
              <a:latin typeface="Calibri"/>
              <a:ea typeface="Calibri"/>
              <a:cs typeface="Calibri"/>
              <a:sym typeface="Calibri"/>
            </a:endParaRPr>
          </a:p>
        </p:txBody>
      </p:sp>
      <p:pic>
        <p:nvPicPr>
          <p:cNvPr descr="/home/forge/chalkie-production-workers-2/releases/78214720/backend/storage/app/render-specs/a150a017-74b3-45d2-90a1-ee5e1050d2e7/img_bff637c61bc9f29766908db18a5e0067.png" id="309" name="Google Shape;309;p29"/>
          <p:cNvPicPr preferRelativeResize="0"/>
          <p:nvPr/>
        </p:nvPicPr>
        <p:blipFill rotWithShape="1">
          <a:blip r:embed="rId4">
            <a:alphaModFix/>
          </a:blip>
          <a:srcRect b="0" l="0" r="0" t="0"/>
          <a:stretch/>
        </p:blipFill>
        <p:spPr>
          <a:xfrm>
            <a:off x="4960620" y="925830"/>
            <a:ext cx="3909060" cy="3429000"/>
          </a:xfrm>
          <a:prstGeom prst="roundRect">
            <a:avLst>
              <a:gd fmla="val 4000" name="adj"/>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4" name="Shape 314"/>
        <p:cNvGrpSpPr/>
        <p:nvPr/>
      </p:nvGrpSpPr>
      <p:grpSpPr>
        <a:xfrm>
          <a:off x="0" y="0"/>
          <a:ext cx="0" cy="0"/>
          <a:chOff x="0" y="0"/>
          <a:chExt cx="0" cy="0"/>
        </a:xfrm>
      </p:grpSpPr>
      <p:sp>
        <p:nvSpPr>
          <p:cNvPr id="315" name="Google Shape;315;p30"/>
          <p:cNvSpPr/>
          <p:nvPr/>
        </p:nvSpPr>
        <p:spPr>
          <a:xfrm>
            <a:off x="274320" y="182880"/>
            <a:ext cx="8595360" cy="651510"/>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2880"/>
              <a:buFont typeface="Lexend"/>
              <a:buNone/>
            </a:pPr>
            <a:r>
              <a:rPr b="1" i="0" lang="en-US" sz="2880" u="none" cap="none" strike="noStrike">
                <a:solidFill>
                  <a:srgbClr val="040F0F"/>
                </a:solidFill>
                <a:latin typeface="Lexend"/>
                <a:ea typeface="Lexend"/>
                <a:cs typeface="Lexend"/>
                <a:sym typeface="Lexend"/>
              </a:rPr>
              <a:t>Comparando as Duas Mensagens</a:t>
            </a:r>
            <a:endParaRPr b="0" i="0" sz="2880" u="none" cap="none" strike="noStrike">
              <a:solidFill>
                <a:schemeClr val="dk1"/>
              </a:solidFill>
              <a:latin typeface="Calibri"/>
              <a:ea typeface="Calibri"/>
              <a:cs typeface="Calibri"/>
              <a:sym typeface="Calibri"/>
            </a:endParaRPr>
          </a:p>
        </p:txBody>
      </p:sp>
      <p:pic>
        <p:nvPicPr>
          <p:cNvPr descr="/home/forge/chalkie-production-workers-2/releases/78214720/backend/storage/app/render-specs/a150a017-74b3-45d2-90a1-ee5e1050d2e7/img_5f2fcc6bbbecf689665998b2c1b868f3.png" id="316" name="Google Shape;316;p30"/>
          <p:cNvPicPr preferRelativeResize="0"/>
          <p:nvPr/>
        </p:nvPicPr>
        <p:blipFill rotWithShape="1">
          <a:blip r:embed="rId4">
            <a:alphaModFix/>
          </a:blip>
          <a:srcRect b="0" l="0" r="0" t="0"/>
          <a:stretch/>
        </p:blipFill>
        <p:spPr>
          <a:xfrm>
            <a:off x="274320" y="1017270"/>
            <a:ext cx="4206240" cy="2057400"/>
          </a:xfrm>
          <a:prstGeom prst="roundRect">
            <a:avLst>
              <a:gd fmla="val 6667" name="adj"/>
            </a:avLst>
          </a:prstGeom>
          <a:noFill/>
          <a:ln>
            <a:noFill/>
          </a:ln>
        </p:spPr>
      </p:pic>
      <p:sp>
        <p:nvSpPr>
          <p:cNvPr id="317" name="Google Shape;317;p30"/>
          <p:cNvSpPr/>
          <p:nvPr/>
        </p:nvSpPr>
        <p:spPr>
          <a:xfrm>
            <a:off x="274320" y="3188970"/>
            <a:ext cx="4206240" cy="1554480"/>
          </a:xfrm>
          <a:prstGeom prst="rect">
            <a:avLst/>
          </a:prstGeom>
          <a:noFill/>
          <a:ln>
            <a:noFill/>
          </a:ln>
        </p:spPr>
        <p:txBody>
          <a:bodyPr anchorCtr="0" anchor="t" bIns="45700" lIns="45700" spcFirstLastPara="1" rIns="45700" wrap="square" tIns="45700">
            <a:noAutofit/>
          </a:bodyPr>
          <a:lstStyle/>
          <a:p>
            <a:pPr indent="0" lvl="0" marL="0" marR="0" rtl="0" algn="l">
              <a:lnSpc>
                <a:spcPct val="116666"/>
              </a:lnSpc>
              <a:spcBef>
                <a:spcPts val="0"/>
              </a:spcBef>
              <a:spcAft>
                <a:spcPts val="0"/>
              </a:spcAft>
              <a:buClr>
                <a:srgbClr val="040F0F"/>
              </a:buClr>
              <a:buSzPts val="2160"/>
              <a:buFont typeface="Lexend"/>
              <a:buNone/>
            </a:pPr>
            <a:r>
              <a:rPr b="1" i="0" lang="en-US" sz="2160" u="none" cap="none" strike="noStrike">
                <a:solidFill>
                  <a:srgbClr val="040F0F"/>
                </a:solidFill>
                <a:latin typeface="Lexend"/>
                <a:ea typeface="Lexend"/>
                <a:cs typeface="Lexend"/>
                <a:sym typeface="Lexend"/>
              </a:rPr>
              <a:t>Mensagem no Chat</a:t>
            </a:r>
            <a:endParaRPr b="0" i="0" sz="2160" u="none" cap="none" strike="noStrike">
              <a:solidFill>
                <a:schemeClr val="dk1"/>
              </a:solidFill>
              <a:latin typeface="Calibri"/>
              <a:ea typeface="Calibri"/>
              <a:cs typeface="Calibri"/>
              <a:sym typeface="Calibri"/>
            </a:endParaRPr>
          </a:p>
          <a:p>
            <a:pPr indent="0" lvl="0" marL="0" marR="0" rtl="0" algn="l">
              <a:lnSpc>
                <a:spcPct val="116666"/>
              </a:lnSpc>
              <a:spcBef>
                <a:spcPts val="81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Prioriza o dinamismo e a conexão imediata. Desconsidera pontuação rígida sem gerar ruído entre pares.</a:t>
            </a:r>
            <a:endParaRPr b="0" i="0" sz="2160" u="none" cap="none" strike="noStrike">
              <a:solidFill>
                <a:schemeClr val="dk1"/>
              </a:solidFill>
              <a:latin typeface="Calibri"/>
              <a:ea typeface="Calibri"/>
              <a:cs typeface="Calibri"/>
              <a:sym typeface="Calibri"/>
            </a:endParaRPr>
          </a:p>
        </p:txBody>
      </p:sp>
      <p:pic>
        <p:nvPicPr>
          <p:cNvPr descr="/home/forge/chalkie-production-workers-2/releases/78214720/backend/storage/app/render-specs/a150a017-74b3-45d2-90a1-ee5e1050d2e7/img_8b25331cda9a329ae9911949909520e4.png" id="318" name="Google Shape;318;p30"/>
          <p:cNvPicPr preferRelativeResize="0"/>
          <p:nvPr/>
        </p:nvPicPr>
        <p:blipFill rotWithShape="1">
          <a:blip r:embed="rId5">
            <a:alphaModFix/>
          </a:blip>
          <a:srcRect b="0" l="0" r="0" t="0"/>
          <a:stretch/>
        </p:blipFill>
        <p:spPr>
          <a:xfrm>
            <a:off x="4663440" y="1017270"/>
            <a:ext cx="4206240" cy="2057400"/>
          </a:xfrm>
          <a:prstGeom prst="roundRect">
            <a:avLst>
              <a:gd fmla="val 6667" name="adj"/>
            </a:avLst>
          </a:prstGeom>
          <a:noFill/>
          <a:ln>
            <a:noFill/>
          </a:ln>
        </p:spPr>
      </p:pic>
      <p:sp>
        <p:nvSpPr>
          <p:cNvPr id="319" name="Google Shape;319;p30"/>
          <p:cNvSpPr/>
          <p:nvPr/>
        </p:nvSpPr>
        <p:spPr>
          <a:xfrm>
            <a:off x="4663440" y="3188970"/>
            <a:ext cx="4206240" cy="1554480"/>
          </a:xfrm>
          <a:prstGeom prst="rect">
            <a:avLst/>
          </a:prstGeom>
          <a:noFill/>
          <a:ln>
            <a:noFill/>
          </a:ln>
        </p:spPr>
        <p:txBody>
          <a:bodyPr anchorCtr="0" anchor="t" bIns="45700" lIns="45700" spcFirstLastPara="1" rIns="45700" wrap="square" tIns="45700">
            <a:noAutofit/>
          </a:bodyPr>
          <a:lstStyle/>
          <a:p>
            <a:pPr indent="0" lvl="0" marL="0" marR="0" rtl="0" algn="l">
              <a:lnSpc>
                <a:spcPct val="116666"/>
              </a:lnSpc>
              <a:spcBef>
                <a:spcPts val="0"/>
              </a:spcBef>
              <a:spcAft>
                <a:spcPts val="0"/>
              </a:spcAft>
              <a:buClr>
                <a:srgbClr val="040F0F"/>
              </a:buClr>
              <a:buSzPts val="2160"/>
              <a:buFont typeface="Lexend"/>
              <a:buNone/>
            </a:pPr>
            <a:r>
              <a:rPr b="1" i="0" lang="en-US" sz="2160" u="none" cap="none" strike="noStrike">
                <a:solidFill>
                  <a:srgbClr val="040F0F"/>
                </a:solidFill>
                <a:latin typeface="Lexend"/>
                <a:ea typeface="Lexend"/>
                <a:cs typeface="Lexend"/>
                <a:sym typeface="Lexend"/>
              </a:rPr>
              <a:t>Mensagem na Reunião</a:t>
            </a:r>
            <a:endParaRPr b="0" i="0" sz="2160" u="none" cap="none" strike="noStrike">
              <a:solidFill>
                <a:schemeClr val="dk1"/>
              </a:solidFill>
              <a:latin typeface="Calibri"/>
              <a:ea typeface="Calibri"/>
              <a:cs typeface="Calibri"/>
              <a:sym typeface="Calibri"/>
            </a:endParaRPr>
          </a:p>
          <a:p>
            <a:pPr indent="0" lvl="0" marL="0" marR="0" rtl="0" algn="l">
              <a:lnSpc>
                <a:spcPct val="116666"/>
              </a:lnSpc>
              <a:spcBef>
                <a:spcPts val="81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Prioriza a precisão corporativa, previne ambiguidades e consolida compromissos institucionais.</a:t>
            </a:r>
            <a:endParaRPr b="0" i="0" sz="216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4" name="Shape 324"/>
        <p:cNvGrpSpPr/>
        <p:nvPr/>
      </p:nvGrpSpPr>
      <p:grpSpPr>
        <a:xfrm>
          <a:off x="0" y="0"/>
          <a:ext cx="0" cy="0"/>
          <a:chOff x="0" y="0"/>
          <a:chExt cx="0" cy="0"/>
        </a:xfrm>
      </p:grpSpPr>
      <p:sp>
        <p:nvSpPr>
          <p:cNvPr id="325" name="Google Shape;325;p31"/>
          <p:cNvSpPr/>
          <p:nvPr/>
        </p:nvSpPr>
        <p:spPr>
          <a:xfrm>
            <a:off x="285750" y="171450"/>
            <a:ext cx="8572500" cy="644652"/>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2880"/>
              <a:buFont typeface="Lexend"/>
              <a:buNone/>
            </a:pPr>
            <a:r>
              <a:rPr b="1" i="0" lang="en-US" sz="2880" u="none" cap="none" strike="noStrike">
                <a:solidFill>
                  <a:srgbClr val="040F0F"/>
                </a:solidFill>
                <a:latin typeface="Lexend"/>
                <a:ea typeface="Lexend"/>
                <a:cs typeface="Lexend"/>
                <a:sym typeface="Lexend"/>
              </a:rPr>
              <a:t>Avaliação de Mensagens de Trabalho</a:t>
            </a:r>
            <a:endParaRPr b="0" i="0" sz="2880" u="none" cap="none" strike="noStrike">
              <a:solidFill>
                <a:schemeClr val="dk1"/>
              </a:solidFill>
              <a:latin typeface="Calibri"/>
              <a:ea typeface="Calibri"/>
              <a:cs typeface="Calibri"/>
              <a:sym typeface="Calibri"/>
            </a:endParaRPr>
          </a:p>
        </p:txBody>
      </p:sp>
      <p:sp>
        <p:nvSpPr>
          <p:cNvPr id="326" name="Google Shape;326;p31"/>
          <p:cNvSpPr/>
          <p:nvPr/>
        </p:nvSpPr>
        <p:spPr>
          <a:xfrm>
            <a:off x="285750" y="685800"/>
            <a:ext cx="8572500" cy="676656"/>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Quais das afirmações a seguir representam práticas adequadas em um e-mail corporativo ou acadêmico? Mais de uma resposta está correta.</a:t>
            </a:r>
            <a:endParaRPr b="0" i="0" sz="1620" u="none" cap="none" strike="noStrike">
              <a:solidFill>
                <a:schemeClr val="dk1"/>
              </a:solidFill>
              <a:latin typeface="Calibri"/>
              <a:ea typeface="Calibri"/>
              <a:cs typeface="Calibri"/>
              <a:sym typeface="Calibri"/>
            </a:endParaRPr>
          </a:p>
        </p:txBody>
      </p:sp>
      <p:sp>
        <p:nvSpPr>
          <p:cNvPr id="327" name="Google Shape;327;p31"/>
          <p:cNvSpPr/>
          <p:nvPr/>
        </p:nvSpPr>
        <p:spPr>
          <a:xfrm>
            <a:off x="285750" y="1657350"/>
            <a:ext cx="525780" cy="685800"/>
          </a:xfrm>
          <a:prstGeom prst="rect">
            <a:avLst/>
          </a:prstGeom>
          <a:no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40F0F"/>
              </a:buClr>
              <a:buSzPts val="2520"/>
              <a:buFont typeface="Lexend"/>
              <a:buNone/>
            </a:pPr>
            <a:r>
              <a:rPr b="1" i="0" lang="en-US" sz="2520" u="none" cap="none" strike="noStrike">
                <a:solidFill>
                  <a:srgbClr val="040F0F"/>
                </a:solidFill>
                <a:latin typeface="Lexend"/>
                <a:ea typeface="Lexend"/>
                <a:cs typeface="Lexend"/>
                <a:sym typeface="Lexend"/>
              </a:rPr>
              <a:t>1.</a:t>
            </a:r>
            <a:endParaRPr b="0" i="0" sz="2520" u="none" cap="none" strike="noStrike">
              <a:solidFill>
                <a:schemeClr val="dk1"/>
              </a:solidFill>
              <a:latin typeface="Calibri"/>
              <a:ea typeface="Calibri"/>
              <a:cs typeface="Calibri"/>
              <a:sym typeface="Calibri"/>
            </a:endParaRPr>
          </a:p>
        </p:txBody>
      </p:sp>
      <p:sp>
        <p:nvSpPr>
          <p:cNvPr id="328" name="Google Shape;328;p31"/>
          <p:cNvSpPr/>
          <p:nvPr/>
        </p:nvSpPr>
        <p:spPr>
          <a:xfrm>
            <a:off x="857250" y="1657350"/>
            <a:ext cx="8001000" cy="685800"/>
          </a:xfrm>
          <a:prstGeom prst="roundRect">
            <a:avLst>
              <a:gd fmla="val 16667" name="adj"/>
            </a:avLst>
          </a:prstGeom>
          <a:solidFill>
            <a:srgbClr val="F4F9FC"/>
          </a:solidFill>
          <a:ln cap="flat" cmpd="sng" w="45700">
            <a:solidFill>
              <a:srgbClr val="000000"/>
            </a:solidFill>
            <a:prstDash val="solid"/>
            <a:round/>
            <a:headEnd len="sm" w="sm" type="none"/>
            <a:tailEnd len="sm" w="sm" type="none"/>
          </a:ln>
        </p:spPr>
        <p:txBody>
          <a:bodyPr anchorCtr="0" anchor="ctr" bIns="102850" lIns="102850" spcFirstLastPara="1" rIns="102850" wrap="square" tIns="102850">
            <a:noAutofit/>
          </a:bodyPr>
          <a:lstStyle/>
          <a:p>
            <a:pPr indent="0" lvl="0" marL="0" marR="0" rtl="0" algn="l">
              <a:lnSpc>
                <a:spcPct val="100000"/>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Utilizar saudações claras como 'Prezado professor' ou 'Bom dia, equipe'.</a:t>
            </a:r>
            <a:endParaRPr b="0" i="0" sz="1620" u="none" cap="none" strike="noStrike">
              <a:solidFill>
                <a:schemeClr val="dk1"/>
              </a:solidFill>
              <a:latin typeface="Calibri"/>
              <a:ea typeface="Calibri"/>
              <a:cs typeface="Calibri"/>
              <a:sym typeface="Calibri"/>
            </a:endParaRPr>
          </a:p>
        </p:txBody>
      </p:sp>
      <p:sp>
        <p:nvSpPr>
          <p:cNvPr id="329" name="Google Shape;329;p31"/>
          <p:cNvSpPr/>
          <p:nvPr/>
        </p:nvSpPr>
        <p:spPr>
          <a:xfrm>
            <a:off x="285750" y="2514600"/>
            <a:ext cx="525780" cy="685800"/>
          </a:xfrm>
          <a:prstGeom prst="rect">
            <a:avLst/>
          </a:prstGeom>
          <a:no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40F0F"/>
              </a:buClr>
              <a:buSzPts val="2520"/>
              <a:buFont typeface="Lexend"/>
              <a:buNone/>
            </a:pPr>
            <a:r>
              <a:rPr b="1" i="0" lang="en-US" sz="2520" u="none" cap="none" strike="noStrike">
                <a:solidFill>
                  <a:srgbClr val="040F0F"/>
                </a:solidFill>
                <a:latin typeface="Lexend"/>
                <a:ea typeface="Lexend"/>
                <a:cs typeface="Lexend"/>
                <a:sym typeface="Lexend"/>
              </a:rPr>
              <a:t>2.</a:t>
            </a:r>
            <a:endParaRPr b="0" i="0" sz="2520" u="none" cap="none" strike="noStrike">
              <a:solidFill>
                <a:schemeClr val="dk1"/>
              </a:solidFill>
              <a:latin typeface="Calibri"/>
              <a:ea typeface="Calibri"/>
              <a:cs typeface="Calibri"/>
              <a:sym typeface="Calibri"/>
            </a:endParaRPr>
          </a:p>
        </p:txBody>
      </p:sp>
      <p:sp>
        <p:nvSpPr>
          <p:cNvPr id="330" name="Google Shape;330;p31"/>
          <p:cNvSpPr/>
          <p:nvPr/>
        </p:nvSpPr>
        <p:spPr>
          <a:xfrm>
            <a:off x="857250" y="2514600"/>
            <a:ext cx="8001000" cy="685800"/>
          </a:xfrm>
          <a:prstGeom prst="roundRect">
            <a:avLst>
              <a:gd fmla="val 16667" name="adj"/>
            </a:avLst>
          </a:prstGeom>
          <a:solidFill>
            <a:srgbClr val="F4F9FC"/>
          </a:solidFill>
          <a:ln cap="flat" cmpd="sng" w="45700">
            <a:solidFill>
              <a:srgbClr val="000000"/>
            </a:solidFill>
            <a:prstDash val="solid"/>
            <a:round/>
            <a:headEnd len="sm" w="sm" type="none"/>
            <a:tailEnd len="sm" w="sm" type="none"/>
          </a:ln>
        </p:spPr>
        <p:txBody>
          <a:bodyPr anchorCtr="0" anchor="ctr" bIns="102850" lIns="102850" spcFirstLastPara="1" rIns="102850" wrap="square" tIns="102850">
            <a:noAutofit/>
          </a:bodyPr>
          <a:lstStyle/>
          <a:p>
            <a:pPr indent="0" lvl="0" marL="0" marR="0" rtl="0" algn="l">
              <a:lnSpc>
                <a:spcPct val="100000"/>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Exigir respostas imediatas utilizando letras maiúsculas e múltiplos pontos de exclamação.</a:t>
            </a:r>
            <a:endParaRPr b="0" i="0" sz="1620" u="none" cap="none" strike="noStrike">
              <a:solidFill>
                <a:schemeClr val="dk1"/>
              </a:solidFill>
              <a:latin typeface="Calibri"/>
              <a:ea typeface="Calibri"/>
              <a:cs typeface="Calibri"/>
              <a:sym typeface="Calibri"/>
            </a:endParaRPr>
          </a:p>
        </p:txBody>
      </p:sp>
      <p:sp>
        <p:nvSpPr>
          <p:cNvPr id="331" name="Google Shape;331;p31"/>
          <p:cNvSpPr/>
          <p:nvPr/>
        </p:nvSpPr>
        <p:spPr>
          <a:xfrm>
            <a:off x="285750" y="3371850"/>
            <a:ext cx="525780" cy="685800"/>
          </a:xfrm>
          <a:prstGeom prst="rect">
            <a:avLst/>
          </a:prstGeom>
          <a:no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40F0F"/>
              </a:buClr>
              <a:buSzPts val="2520"/>
              <a:buFont typeface="Lexend"/>
              <a:buNone/>
            </a:pPr>
            <a:r>
              <a:rPr b="1" i="0" lang="en-US" sz="2520" u="none" cap="none" strike="noStrike">
                <a:solidFill>
                  <a:srgbClr val="040F0F"/>
                </a:solidFill>
                <a:latin typeface="Lexend"/>
                <a:ea typeface="Lexend"/>
                <a:cs typeface="Lexend"/>
                <a:sym typeface="Lexend"/>
              </a:rPr>
              <a:t>3.</a:t>
            </a:r>
            <a:endParaRPr b="0" i="0" sz="2520" u="none" cap="none" strike="noStrike">
              <a:solidFill>
                <a:schemeClr val="dk1"/>
              </a:solidFill>
              <a:latin typeface="Calibri"/>
              <a:ea typeface="Calibri"/>
              <a:cs typeface="Calibri"/>
              <a:sym typeface="Calibri"/>
            </a:endParaRPr>
          </a:p>
        </p:txBody>
      </p:sp>
      <p:sp>
        <p:nvSpPr>
          <p:cNvPr id="332" name="Google Shape;332;p31"/>
          <p:cNvSpPr/>
          <p:nvPr/>
        </p:nvSpPr>
        <p:spPr>
          <a:xfrm>
            <a:off x="857250" y="3371850"/>
            <a:ext cx="8001000" cy="685800"/>
          </a:xfrm>
          <a:prstGeom prst="roundRect">
            <a:avLst>
              <a:gd fmla="val 16667" name="adj"/>
            </a:avLst>
          </a:prstGeom>
          <a:solidFill>
            <a:srgbClr val="F4F9FC"/>
          </a:solidFill>
          <a:ln cap="flat" cmpd="sng" w="45700">
            <a:solidFill>
              <a:srgbClr val="000000"/>
            </a:solidFill>
            <a:prstDash val="solid"/>
            <a:round/>
            <a:headEnd len="sm" w="sm" type="none"/>
            <a:tailEnd len="sm" w="sm" type="none"/>
          </a:ln>
        </p:spPr>
        <p:txBody>
          <a:bodyPr anchorCtr="0" anchor="ctr" bIns="102850" lIns="102850" spcFirstLastPara="1" rIns="102850" wrap="square" tIns="102850">
            <a:noAutofit/>
          </a:bodyPr>
          <a:lstStyle/>
          <a:p>
            <a:pPr indent="0" lvl="0" marL="0" marR="0" rtl="0" algn="l">
              <a:lnSpc>
                <a:spcPct val="100000"/>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Revisar a mensagem antes do envio para eliminar erros ortográficos e ambiguidades.</a:t>
            </a:r>
            <a:endParaRPr b="0" i="0" sz="1620" u="none" cap="none" strike="noStrike">
              <a:solidFill>
                <a:schemeClr val="dk1"/>
              </a:solidFill>
              <a:latin typeface="Calibri"/>
              <a:ea typeface="Calibri"/>
              <a:cs typeface="Calibri"/>
              <a:sym typeface="Calibri"/>
            </a:endParaRPr>
          </a:p>
        </p:txBody>
      </p:sp>
      <p:sp>
        <p:nvSpPr>
          <p:cNvPr id="333" name="Google Shape;333;p31"/>
          <p:cNvSpPr/>
          <p:nvPr/>
        </p:nvSpPr>
        <p:spPr>
          <a:xfrm>
            <a:off x="285750" y="4229100"/>
            <a:ext cx="525780" cy="685800"/>
          </a:xfrm>
          <a:prstGeom prst="rect">
            <a:avLst/>
          </a:prstGeom>
          <a:no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40F0F"/>
              </a:buClr>
              <a:buSzPts val="2520"/>
              <a:buFont typeface="Lexend"/>
              <a:buNone/>
            </a:pPr>
            <a:r>
              <a:rPr b="1" i="0" lang="en-US" sz="2520" u="none" cap="none" strike="noStrike">
                <a:solidFill>
                  <a:srgbClr val="040F0F"/>
                </a:solidFill>
                <a:latin typeface="Lexend"/>
                <a:ea typeface="Lexend"/>
                <a:cs typeface="Lexend"/>
                <a:sym typeface="Lexend"/>
              </a:rPr>
              <a:t>4.</a:t>
            </a:r>
            <a:endParaRPr b="0" i="0" sz="2520" u="none" cap="none" strike="noStrike">
              <a:solidFill>
                <a:schemeClr val="dk1"/>
              </a:solidFill>
              <a:latin typeface="Calibri"/>
              <a:ea typeface="Calibri"/>
              <a:cs typeface="Calibri"/>
              <a:sym typeface="Calibri"/>
            </a:endParaRPr>
          </a:p>
        </p:txBody>
      </p:sp>
      <p:sp>
        <p:nvSpPr>
          <p:cNvPr id="334" name="Google Shape;334;p31"/>
          <p:cNvSpPr/>
          <p:nvPr/>
        </p:nvSpPr>
        <p:spPr>
          <a:xfrm>
            <a:off x="857250" y="4229100"/>
            <a:ext cx="8001000" cy="685800"/>
          </a:xfrm>
          <a:prstGeom prst="roundRect">
            <a:avLst>
              <a:gd fmla="val 16667" name="adj"/>
            </a:avLst>
          </a:prstGeom>
          <a:solidFill>
            <a:srgbClr val="F4F9FC"/>
          </a:solidFill>
          <a:ln cap="flat" cmpd="sng" w="45700">
            <a:solidFill>
              <a:srgbClr val="000000"/>
            </a:solidFill>
            <a:prstDash val="solid"/>
            <a:round/>
            <a:headEnd len="sm" w="sm" type="none"/>
            <a:tailEnd len="sm" w="sm" type="none"/>
          </a:ln>
        </p:spPr>
        <p:txBody>
          <a:bodyPr anchorCtr="0" anchor="ctr" bIns="102850" lIns="102850" spcFirstLastPara="1" rIns="102850" wrap="square" tIns="102850">
            <a:noAutofit/>
          </a:bodyPr>
          <a:lstStyle/>
          <a:p>
            <a:pPr indent="0" lvl="0" marL="0" marR="0" rtl="0" algn="l">
              <a:lnSpc>
                <a:spcPct val="100000"/>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Usar abreviações comuns de chat como 'vc' e 'tbm' para economizar tempo de leitura.</a:t>
            </a:r>
            <a:endParaRPr b="0" i="0" sz="162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39" name="Shape 339"/>
        <p:cNvGrpSpPr/>
        <p:nvPr/>
      </p:nvGrpSpPr>
      <p:grpSpPr>
        <a:xfrm>
          <a:off x="0" y="0"/>
          <a:ext cx="0" cy="0"/>
          <a:chOff x="0" y="0"/>
          <a:chExt cx="0" cy="0"/>
        </a:xfrm>
      </p:grpSpPr>
      <p:sp>
        <p:nvSpPr>
          <p:cNvPr id="340" name="Google Shape;340;p32"/>
          <p:cNvSpPr/>
          <p:nvPr/>
        </p:nvSpPr>
        <p:spPr>
          <a:xfrm>
            <a:off x="285750" y="171450"/>
            <a:ext cx="8572500" cy="644652"/>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2880"/>
              <a:buFont typeface="Lexend"/>
              <a:buNone/>
            </a:pPr>
            <a:r>
              <a:rPr b="1" i="0" lang="en-US" sz="2880" u="none" cap="none" strike="noStrike">
                <a:solidFill>
                  <a:srgbClr val="040F0F"/>
                </a:solidFill>
                <a:latin typeface="Lexend"/>
                <a:ea typeface="Lexend"/>
                <a:cs typeface="Lexend"/>
                <a:sym typeface="Lexend"/>
              </a:rPr>
              <a:t>Avaliação de Mensagens de Trabalho</a:t>
            </a:r>
            <a:endParaRPr b="0" i="0" sz="2880" u="none" cap="none" strike="noStrike">
              <a:solidFill>
                <a:schemeClr val="dk1"/>
              </a:solidFill>
              <a:latin typeface="Calibri"/>
              <a:ea typeface="Calibri"/>
              <a:cs typeface="Calibri"/>
              <a:sym typeface="Calibri"/>
            </a:endParaRPr>
          </a:p>
        </p:txBody>
      </p:sp>
      <p:sp>
        <p:nvSpPr>
          <p:cNvPr id="341" name="Google Shape;341;p32"/>
          <p:cNvSpPr/>
          <p:nvPr/>
        </p:nvSpPr>
        <p:spPr>
          <a:xfrm>
            <a:off x="285750" y="685800"/>
            <a:ext cx="8572500" cy="676656"/>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Quais das afirmações a seguir representam práticas adequadas em um e-mail corporativo ou acadêmico? Mais de uma resposta está correta.</a:t>
            </a:r>
            <a:endParaRPr b="0" i="0" sz="1620" u="none" cap="none" strike="noStrike">
              <a:solidFill>
                <a:schemeClr val="dk1"/>
              </a:solidFill>
              <a:latin typeface="Calibri"/>
              <a:ea typeface="Calibri"/>
              <a:cs typeface="Calibri"/>
              <a:sym typeface="Calibri"/>
            </a:endParaRPr>
          </a:p>
        </p:txBody>
      </p:sp>
      <p:sp>
        <p:nvSpPr>
          <p:cNvPr id="342" name="Google Shape;342;p32"/>
          <p:cNvSpPr/>
          <p:nvPr/>
        </p:nvSpPr>
        <p:spPr>
          <a:xfrm>
            <a:off x="285750" y="1657350"/>
            <a:ext cx="525780" cy="685800"/>
          </a:xfrm>
          <a:prstGeom prst="rect">
            <a:avLst/>
          </a:prstGeom>
          <a:no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40F0F"/>
              </a:buClr>
              <a:buSzPts val="2520"/>
              <a:buFont typeface="Lexend"/>
              <a:buNone/>
            </a:pPr>
            <a:r>
              <a:rPr b="1" i="0" lang="en-US" sz="2520" u="none" cap="none" strike="noStrike">
                <a:solidFill>
                  <a:srgbClr val="040F0F"/>
                </a:solidFill>
                <a:latin typeface="Lexend"/>
                <a:ea typeface="Lexend"/>
                <a:cs typeface="Lexend"/>
                <a:sym typeface="Lexend"/>
              </a:rPr>
              <a:t>1.</a:t>
            </a:r>
            <a:endParaRPr b="0" i="0" sz="2520" u="none" cap="none" strike="noStrike">
              <a:solidFill>
                <a:schemeClr val="dk1"/>
              </a:solidFill>
              <a:latin typeface="Calibri"/>
              <a:ea typeface="Calibri"/>
              <a:cs typeface="Calibri"/>
              <a:sym typeface="Calibri"/>
            </a:endParaRPr>
          </a:p>
        </p:txBody>
      </p:sp>
      <p:sp>
        <p:nvSpPr>
          <p:cNvPr id="343" name="Google Shape;343;p32"/>
          <p:cNvSpPr/>
          <p:nvPr/>
        </p:nvSpPr>
        <p:spPr>
          <a:xfrm>
            <a:off x="857250" y="1657350"/>
            <a:ext cx="8001000" cy="685800"/>
          </a:xfrm>
          <a:prstGeom prst="roundRect">
            <a:avLst>
              <a:gd fmla="val 16667" name="adj"/>
            </a:avLst>
          </a:prstGeom>
          <a:solidFill>
            <a:srgbClr val="F4F9FC"/>
          </a:solidFill>
          <a:ln cap="flat" cmpd="sng" w="45700">
            <a:solidFill>
              <a:srgbClr val="2C6E49"/>
            </a:solidFill>
            <a:prstDash val="solid"/>
            <a:round/>
            <a:headEnd len="sm" w="sm" type="none"/>
            <a:tailEnd len="sm" w="sm" type="none"/>
          </a:ln>
        </p:spPr>
        <p:txBody>
          <a:bodyPr anchorCtr="0" anchor="ctr" bIns="102850" lIns="102850" spcFirstLastPara="1" rIns="102850" wrap="square" tIns="102850">
            <a:noAutofit/>
          </a:bodyPr>
          <a:lstStyle/>
          <a:p>
            <a:pPr indent="0" lvl="0" marL="0" marR="0" rtl="0" algn="l">
              <a:lnSpc>
                <a:spcPct val="100000"/>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Utilizar saudações claras como 'Prezado professor' ou 'Bom dia, equipe'.</a:t>
            </a:r>
            <a:endParaRPr b="0" i="0" sz="1620" u="none" cap="none" strike="noStrike">
              <a:solidFill>
                <a:schemeClr val="dk1"/>
              </a:solidFill>
              <a:latin typeface="Calibri"/>
              <a:ea typeface="Calibri"/>
              <a:cs typeface="Calibri"/>
              <a:sym typeface="Calibri"/>
            </a:endParaRPr>
          </a:p>
        </p:txBody>
      </p:sp>
      <p:sp>
        <p:nvSpPr>
          <p:cNvPr id="344" name="Google Shape;344;p32"/>
          <p:cNvSpPr/>
          <p:nvPr/>
        </p:nvSpPr>
        <p:spPr>
          <a:xfrm>
            <a:off x="285750" y="2514600"/>
            <a:ext cx="525780" cy="685800"/>
          </a:xfrm>
          <a:prstGeom prst="rect">
            <a:avLst/>
          </a:prstGeom>
          <a:no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40F0F"/>
              </a:buClr>
              <a:buSzPts val="2520"/>
              <a:buFont typeface="Lexend"/>
              <a:buNone/>
            </a:pPr>
            <a:r>
              <a:rPr b="1" i="0" lang="en-US" sz="2520" u="none" cap="none" strike="noStrike">
                <a:solidFill>
                  <a:srgbClr val="040F0F"/>
                </a:solidFill>
                <a:latin typeface="Lexend"/>
                <a:ea typeface="Lexend"/>
                <a:cs typeface="Lexend"/>
                <a:sym typeface="Lexend"/>
              </a:rPr>
              <a:t>2.</a:t>
            </a:r>
            <a:endParaRPr b="0" i="0" sz="2520" u="none" cap="none" strike="noStrike">
              <a:solidFill>
                <a:schemeClr val="dk1"/>
              </a:solidFill>
              <a:latin typeface="Calibri"/>
              <a:ea typeface="Calibri"/>
              <a:cs typeface="Calibri"/>
              <a:sym typeface="Calibri"/>
            </a:endParaRPr>
          </a:p>
        </p:txBody>
      </p:sp>
      <p:sp>
        <p:nvSpPr>
          <p:cNvPr id="345" name="Google Shape;345;p32"/>
          <p:cNvSpPr/>
          <p:nvPr/>
        </p:nvSpPr>
        <p:spPr>
          <a:xfrm>
            <a:off x="857250" y="2514600"/>
            <a:ext cx="8001000" cy="685800"/>
          </a:xfrm>
          <a:prstGeom prst="roundRect">
            <a:avLst>
              <a:gd fmla="val 16667" name="adj"/>
            </a:avLst>
          </a:prstGeom>
          <a:solidFill>
            <a:srgbClr val="F4F9FC"/>
          </a:solidFill>
          <a:ln cap="flat" cmpd="sng" w="45700">
            <a:solidFill>
              <a:srgbClr val="000000"/>
            </a:solidFill>
            <a:prstDash val="solid"/>
            <a:round/>
            <a:headEnd len="sm" w="sm" type="none"/>
            <a:tailEnd len="sm" w="sm" type="none"/>
          </a:ln>
        </p:spPr>
        <p:txBody>
          <a:bodyPr anchorCtr="0" anchor="ctr" bIns="102850" lIns="102850" spcFirstLastPara="1" rIns="102850" wrap="square" tIns="102850">
            <a:noAutofit/>
          </a:bodyPr>
          <a:lstStyle/>
          <a:p>
            <a:pPr indent="0" lvl="0" marL="0" marR="0" rtl="0" algn="l">
              <a:lnSpc>
                <a:spcPct val="100000"/>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Exigir respostas imediatas utilizando letras maiúsculas e múltiplos pontos de exclamação.</a:t>
            </a:r>
            <a:endParaRPr b="0" i="0" sz="1620" u="none" cap="none" strike="noStrike">
              <a:solidFill>
                <a:schemeClr val="dk1"/>
              </a:solidFill>
              <a:latin typeface="Calibri"/>
              <a:ea typeface="Calibri"/>
              <a:cs typeface="Calibri"/>
              <a:sym typeface="Calibri"/>
            </a:endParaRPr>
          </a:p>
        </p:txBody>
      </p:sp>
      <p:sp>
        <p:nvSpPr>
          <p:cNvPr id="346" name="Google Shape;346;p32"/>
          <p:cNvSpPr/>
          <p:nvPr/>
        </p:nvSpPr>
        <p:spPr>
          <a:xfrm>
            <a:off x="285750" y="3371850"/>
            <a:ext cx="525780" cy="685800"/>
          </a:xfrm>
          <a:prstGeom prst="rect">
            <a:avLst/>
          </a:prstGeom>
          <a:no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40F0F"/>
              </a:buClr>
              <a:buSzPts val="2520"/>
              <a:buFont typeface="Lexend"/>
              <a:buNone/>
            </a:pPr>
            <a:r>
              <a:rPr b="1" i="0" lang="en-US" sz="2520" u="none" cap="none" strike="noStrike">
                <a:solidFill>
                  <a:srgbClr val="040F0F"/>
                </a:solidFill>
                <a:latin typeface="Lexend"/>
                <a:ea typeface="Lexend"/>
                <a:cs typeface="Lexend"/>
                <a:sym typeface="Lexend"/>
              </a:rPr>
              <a:t>3.</a:t>
            </a:r>
            <a:endParaRPr b="0" i="0" sz="2520" u="none" cap="none" strike="noStrike">
              <a:solidFill>
                <a:schemeClr val="dk1"/>
              </a:solidFill>
              <a:latin typeface="Calibri"/>
              <a:ea typeface="Calibri"/>
              <a:cs typeface="Calibri"/>
              <a:sym typeface="Calibri"/>
            </a:endParaRPr>
          </a:p>
        </p:txBody>
      </p:sp>
      <p:sp>
        <p:nvSpPr>
          <p:cNvPr id="347" name="Google Shape;347;p32"/>
          <p:cNvSpPr/>
          <p:nvPr/>
        </p:nvSpPr>
        <p:spPr>
          <a:xfrm>
            <a:off x="857250" y="3371850"/>
            <a:ext cx="8001000" cy="685800"/>
          </a:xfrm>
          <a:prstGeom prst="roundRect">
            <a:avLst>
              <a:gd fmla="val 16667" name="adj"/>
            </a:avLst>
          </a:prstGeom>
          <a:solidFill>
            <a:srgbClr val="F4F9FC"/>
          </a:solidFill>
          <a:ln cap="flat" cmpd="sng" w="45700">
            <a:solidFill>
              <a:srgbClr val="2C6E49"/>
            </a:solidFill>
            <a:prstDash val="solid"/>
            <a:round/>
            <a:headEnd len="sm" w="sm" type="none"/>
            <a:tailEnd len="sm" w="sm" type="none"/>
          </a:ln>
        </p:spPr>
        <p:txBody>
          <a:bodyPr anchorCtr="0" anchor="ctr" bIns="102850" lIns="102850" spcFirstLastPara="1" rIns="102850" wrap="square" tIns="102850">
            <a:noAutofit/>
          </a:bodyPr>
          <a:lstStyle/>
          <a:p>
            <a:pPr indent="0" lvl="0" marL="0" marR="0" rtl="0" algn="l">
              <a:lnSpc>
                <a:spcPct val="100000"/>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Revisar a mensagem antes do envio para eliminar erros ortográficos e ambiguidades.</a:t>
            </a:r>
            <a:endParaRPr b="0" i="0" sz="1620" u="none" cap="none" strike="noStrike">
              <a:solidFill>
                <a:schemeClr val="dk1"/>
              </a:solidFill>
              <a:latin typeface="Calibri"/>
              <a:ea typeface="Calibri"/>
              <a:cs typeface="Calibri"/>
              <a:sym typeface="Calibri"/>
            </a:endParaRPr>
          </a:p>
        </p:txBody>
      </p:sp>
      <p:sp>
        <p:nvSpPr>
          <p:cNvPr id="348" name="Google Shape;348;p32"/>
          <p:cNvSpPr/>
          <p:nvPr/>
        </p:nvSpPr>
        <p:spPr>
          <a:xfrm>
            <a:off x="285750" y="4229100"/>
            <a:ext cx="525780" cy="685800"/>
          </a:xfrm>
          <a:prstGeom prst="rect">
            <a:avLst/>
          </a:prstGeom>
          <a:no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40F0F"/>
              </a:buClr>
              <a:buSzPts val="2520"/>
              <a:buFont typeface="Lexend"/>
              <a:buNone/>
            </a:pPr>
            <a:r>
              <a:rPr b="1" i="0" lang="en-US" sz="2520" u="none" cap="none" strike="noStrike">
                <a:solidFill>
                  <a:srgbClr val="040F0F"/>
                </a:solidFill>
                <a:latin typeface="Lexend"/>
                <a:ea typeface="Lexend"/>
                <a:cs typeface="Lexend"/>
                <a:sym typeface="Lexend"/>
              </a:rPr>
              <a:t>4.</a:t>
            </a:r>
            <a:endParaRPr b="0" i="0" sz="2520" u="none" cap="none" strike="noStrike">
              <a:solidFill>
                <a:schemeClr val="dk1"/>
              </a:solidFill>
              <a:latin typeface="Calibri"/>
              <a:ea typeface="Calibri"/>
              <a:cs typeface="Calibri"/>
              <a:sym typeface="Calibri"/>
            </a:endParaRPr>
          </a:p>
        </p:txBody>
      </p:sp>
      <p:sp>
        <p:nvSpPr>
          <p:cNvPr id="349" name="Google Shape;349;p32"/>
          <p:cNvSpPr/>
          <p:nvPr/>
        </p:nvSpPr>
        <p:spPr>
          <a:xfrm>
            <a:off x="857250" y="4229100"/>
            <a:ext cx="8001000" cy="685800"/>
          </a:xfrm>
          <a:prstGeom prst="roundRect">
            <a:avLst>
              <a:gd fmla="val 16667" name="adj"/>
            </a:avLst>
          </a:prstGeom>
          <a:solidFill>
            <a:srgbClr val="F4F9FC"/>
          </a:solidFill>
          <a:ln cap="flat" cmpd="sng" w="45700">
            <a:solidFill>
              <a:srgbClr val="000000"/>
            </a:solidFill>
            <a:prstDash val="solid"/>
            <a:round/>
            <a:headEnd len="sm" w="sm" type="none"/>
            <a:tailEnd len="sm" w="sm" type="none"/>
          </a:ln>
        </p:spPr>
        <p:txBody>
          <a:bodyPr anchorCtr="0" anchor="ctr" bIns="102850" lIns="102850" spcFirstLastPara="1" rIns="102850" wrap="square" tIns="102850">
            <a:noAutofit/>
          </a:bodyPr>
          <a:lstStyle/>
          <a:p>
            <a:pPr indent="0" lvl="0" marL="0" marR="0" rtl="0" algn="l">
              <a:lnSpc>
                <a:spcPct val="100000"/>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Usar abreviações comuns de chat como 'vc' e 'tbm' para economizar tempo de leitura.</a:t>
            </a:r>
            <a:endParaRPr b="0" i="0" sz="1620" u="none" cap="none" strike="noStrike">
              <a:solidFill>
                <a:schemeClr val="dk1"/>
              </a:solidFill>
              <a:latin typeface="Calibri"/>
              <a:ea typeface="Calibri"/>
              <a:cs typeface="Calibri"/>
              <a:sym typeface="Calibri"/>
            </a:endParaRPr>
          </a:p>
        </p:txBody>
      </p:sp>
      <p:sp>
        <p:nvSpPr>
          <p:cNvPr id="350" name="Google Shape;350;p32"/>
          <p:cNvSpPr/>
          <p:nvPr/>
        </p:nvSpPr>
        <p:spPr>
          <a:xfrm>
            <a:off x="8366760" y="342900"/>
            <a:ext cx="548640" cy="548640"/>
          </a:xfrm>
          <a:prstGeom prst="rect">
            <a:avLst/>
          </a:prstGeom>
          <a:noFill/>
          <a:ln>
            <a:noFill/>
          </a:ln>
        </p:spPr>
        <p:txBody>
          <a:bodyPr anchorCtr="0" anchor="ctr" bIns="45700" lIns="45700" spcFirstLastPara="1" rIns="45700" wrap="square" tIns="45700">
            <a:noAutofit/>
          </a:bodyPr>
          <a:lstStyle/>
          <a:p>
            <a:pPr indent="0" lvl="0" marL="0" marR="0" rtl="0" algn="r">
              <a:lnSpc>
                <a:spcPct val="100000"/>
              </a:lnSpc>
              <a:spcBef>
                <a:spcPts val="0"/>
              </a:spcBef>
              <a:spcAft>
                <a:spcPts val="0"/>
              </a:spcAft>
              <a:buClr>
                <a:srgbClr val="040F0F"/>
              </a:buClr>
              <a:buSzPts val="3600"/>
              <a:buFont typeface="Lexend"/>
              <a:buNone/>
            </a:pPr>
            <a:r>
              <a:rPr b="0" i="0" lang="en-US" sz="3600" u="none" cap="none" strike="noStrike">
                <a:solidFill>
                  <a:srgbClr val="040F0F"/>
                </a:solidFill>
                <a:latin typeface="Lexend"/>
                <a:ea typeface="Lexend"/>
                <a:cs typeface="Lexend"/>
                <a:sym typeface="Lexend"/>
              </a:rPr>
              <a:t>✅</a:t>
            </a:r>
            <a:endParaRPr b="0" i="0" sz="3600" u="none" cap="none" strike="noStrike">
              <a:solidFill>
                <a:schemeClr val="dk1"/>
              </a:solidFill>
              <a:latin typeface="Calibri"/>
              <a:ea typeface="Calibri"/>
              <a:cs typeface="Calibri"/>
              <a:sym typeface="Calibri"/>
            </a:endParaRPr>
          </a:p>
        </p:txBody>
      </p:sp>
      <p:sp>
        <p:nvSpPr>
          <p:cNvPr id="351" name="Google Shape;351;p32"/>
          <p:cNvSpPr/>
          <p:nvPr/>
        </p:nvSpPr>
        <p:spPr>
          <a:xfrm>
            <a:off x="8721090" y="1520190"/>
            <a:ext cx="274320" cy="274320"/>
          </a:xfrm>
          <a:prstGeom prst="roundRect">
            <a:avLst>
              <a:gd fmla="val 25000" name="adj"/>
            </a:avLst>
          </a:prstGeom>
          <a:solidFill>
            <a:srgbClr val="2C6E49"/>
          </a:solidFill>
          <a:ln>
            <a:noFill/>
          </a:ln>
        </p:spPr>
        <p:txBody>
          <a:bodyPr anchorCtr="0" anchor="ctr" bIns="45700" lIns="45700" spcFirstLastPara="1" rIns="45700" wrap="square" tIns="45700">
            <a:noAutofit/>
          </a:bodyPr>
          <a:lstStyle/>
          <a:p>
            <a:pPr indent="0" lvl="0" marL="0" marR="0" rtl="0" algn="ctr">
              <a:lnSpc>
                <a:spcPct val="116666"/>
              </a:lnSpc>
              <a:spcBef>
                <a:spcPts val="0"/>
              </a:spcBef>
              <a:spcAft>
                <a:spcPts val="0"/>
              </a:spcAft>
              <a:buClr>
                <a:srgbClr val="FFFFFF"/>
              </a:buClr>
              <a:buSzPts val="1170"/>
              <a:buFont typeface="Lexend"/>
              <a:buNone/>
            </a:pPr>
            <a:r>
              <a:rPr b="1" i="0" lang="en-US" sz="1170" u="none" cap="none" strike="noStrike">
                <a:solidFill>
                  <a:srgbClr val="FFFFFF"/>
                </a:solidFill>
                <a:latin typeface="Lexend"/>
                <a:ea typeface="Lexend"/>
                <a:cs typeface="Lexend"/>
                <a:sym typeface="Lexend"/>
              </a:rPr>
              <a:t>✓</a:t>
            </a:r>
            <a:endParaRPr b="0" i="0" sz="1170" u="none" cap="none" strike="noStrike">
              <a:solidFill>
                <a:schemeClr val="dk1"/>
              </a:solidFill>
              <a:latin typeface="Calibri"/>
              <a:ea typeface="Calibri"/>
              <a:cs typeface="Calibri"/>
              <a:sym typeface="Calibri"/>
            </a:endParaRPr>
          </a:p>
        </p:txBody>
      </p:sp>
      <p:sp>
        <p:nvSpPr>
          <p:cNvPr id="352" name="Google Shape;352;p32"/>
          <p:cNvSpPr/>
          <p:nvPr/>
        </p:nvSpPr>
        <p:spPr>
          <a:xfrm>
            <a:off x="8721090" y="3234690"/>
            <a:ext cx="274320" cy="274320"/>
          </a:xfrm>
          <a:prstGeom prst="roundRect">
            <a:avLst>
              <a:gd fmla="val 25000" name="adj"/>
            </a:avLst>
          </a:prstGeom>
          <a:solidFill>
            <a:srgbClr val="2C6E49"/>
          </a:solidFill>
          <a:ln>
            <a:noFill/>
          </a:ln>
        </p:spPr>
        <p:txBody>
          <a:bodyPr anchorCtr="0" anchor="ctr" bIns="45700" lIns="45700" spcFirstLastPara="1" rIns="45700" wrap="square" tIns="45700">
            <a:noAutofit/>
          </a:bodyPr>
          <a:lstStyle/>
          <a:p>
            <a:pPr indent="0" lvl="0" marL="0" marR="0" rtl="0" algn="ctr">
              <a:lnSpc>
                <a:spcPct val="116666"/>
              </a:lnSpc>
              <a:spcBef>
                <a:spcPts val="0"/>
              </a:spcBef>
              <a:spcAft>
                <a:spcPts val="0"/>
              </a:spcAft>
              <a:buClr>
                <a:srgbClr val="FFFFFF"/>
              </a:buClr>
              <a:buSzPts val="1170"/>
              <a:buFont typeface="Lexend"/>
              <a:buNone/>
            </a:pPr>
            <a:r>
              <a:rPr b="1" i="0" lang="en-US" sz="1170" u="none" cap="none" strike="noStrike">
                <a:solidFill>
                  <a:srgbClr val="FFFFFF"/>
                </a:solidFill>
                <a:latin typeface="Lexend"/>
                <a:ea typeface="Lexend"/>
                <a:cs typeface="Lexend"/>
                <a:sym typeface="Lexend"/>
              </a:rPr>
              <a:t>✓</a:t>
            </a:r>
            <a:endParaRPr b="0" i="0" sz="117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57" name="Shape 357"/>
        <p:cNvGrpSpPr/>
        <p:nvPr/>
      </p:nvGrpSpPr>
      <p:grpSpPr>
        <a:xfrm>
          <a:off x="0" y="0"/>
          <a:ext cx="0" cy="0"/>
          <a:chOff x="0" y="0"/>
          <a:chExt cx="0" cy="0"/>
        </a:xfrm>
      </p:grpSpPr>
      <p:sp>
        <p:nvSpPr>
          <p:cNvPr id="358" name="Google Shape;358;p33"/>
          <p:cNvSpPr/>
          <p:nvPr/>
        </p:nvSpPr>
        <p:spPr>
          <a:xfrm>
            <a:off x="274320" y="182880"/>
            <a:ext cx="1817370" cy="262890"/>
          </a:xfrm>
          <a:prstGeom prst="roundRect">
            <a:avLst>
              <a:gd fmla="val 17391" name="adj"/>
            </a:avLst>
          </a:prstGeom>
          <a:solidFill>
            <a:srgbClr val="040F0F"/>
          </a:solidFill>
          <a:ln>
            <a:noFill/>
          </a:ln>
        </p:spPr>
        <p:txBody>
          <a:bodyPr anchorCtr="0" anchor="t" bIns="45700" lIns="114300" spcFirstLastPara="1" rIns="114300" wrap="square" tIns="45700">
            <a:noAutofit/>
          </a:bodyPr>
          <a:lstStyle/>
          <a:p>
            <a:pPr indent="0" lvl="0" marL="0" marR="0" rtl="0" algn="ctr">
              <a:lnSpc>
                <a:spcPct val="100000"/>
              </a:lnSpc>
              <a:spcBef>
                <a:spcPts val="0"/>
              </a:spcBef>
              <a:spcAft>
                <a:spcPts val="0"/>
              </a:spcAft>
              <a:buClr>
                <a:srgbClr val="FFFFFF"/>
              </a:buClr>
              <a:buSzPts val="1080"/>
              <a:buFont typeface="Lexend"/>
              <a:buNone/>
            </a:pPr>
            <a:r>
              <a:rPr b="1" i="0" lang="en-US" sz="1080" u="none" cap="none" strike="noStrike">
                <a:solidFill>
                  <a:srgbClr val="FFFFFF"/>
                </a:solidFill>
                <a:latin typeface="Lexend"/>
                <a:ea typeface="Lexend"/>
                <a:cs typeface="Lexend"/>
                <a:sym typeface="Lexend"/>
              </a:rPr>
              <a:t>OFICINA PRÁTICA</a:t>
            </a:r>
            <a:endParaRPr b="0" i="0" sz="1080" u="none" cap="none" strike="noStrike">
              <a:solidFill>
                <a:schemeClr val="dk1"/>
              </a:solidFill>
              <a:latin typeface="Calibri"/>
              <a:ea typeface="Calibri"/>
              <a:cs typeface="Calibri"/>
              <a:sym typeface="Calibri"/>
            </a:endParaRPr>
          </a:p>
        </p:txBody>
      </p:sp>
      <p:sp>
        <p:nvSpPr>
          <p:cNvPr id="359" name="Google Shape;359;p33"/>
          <p:cNvSpPr/>
          <p:nvPr/>
        </p:nvSpPr>
        <p:spPr>
          <a:xfrm>
            <a:off x="274320" y="582930"/>
            <a:ext cx="4114800" cy="1703070"/>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2160"/>
              <a:buFont typeface="Lexend"/>
              <a:buNone/>
            </a:pPr>
            <a:r>
              <a:rPr b="1" i="0" lang="en-US" sz="2160" u="none" cap="none" strike="noStrike">
                <a:solidFill>
                  <a:srgbClr val="040F0F"/>
                </a:solidFill>
                <a:latin typeface="Lexend"/>
                <a:ea typeface="Lexend"/>
                <a:cs typeface="Lexend"/>
                <a:sym typeface="Lexend"/>
              </a:rPr>
              <a:t>Reescrita: Mensagem Original</a:t>
            </a:r>
            <a:endParaRPr b="0" i="0" sz="2160" u="none" cap="none" strike="noStrike">
              <a:solidFill>
                <a:schemeClr val="dk1"/>
              </a:solidFill>
              <a:latin typeface="Calibri"/>
              <a:ea typeface="Calibri"/>
              <a:cs typeface="Calibri"/>
              <a:sym typeface="Calibri"/>
            </a:endParaRPr>
          </a:p>
          <a:p>
            <a:pPr indent="0" lvl="0" marL="0" marR="0" rtl="0" algn="l">
              <a:lnSpc>
                <a:spcPct val="116666"/>
              </a:lnSpc>
              <a:spcBef>
                <a:spcPts val="81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Analise o bilhete que um jovem estagiário redigiu para a diretoria:</a:t>
            </a:r>
            <a:endParaRPr b="0" i="0" sz="2160" u="none" cap="none" strike="noStrike">
              <a:solidFill>
                <a:schemeClr val="dk1"/>
              </a:solidFill>
              <a:latin typeface="Calibri"/>
              <a:ea typeface="Calibri"/>
              <a:cs typeface="Calibri"/>
              <a:sym typeface="Calibri"/>
            </a:endParaRPr>
          </a:p>
        </p:txBody>
      </p:sp>
      <p:sp>
        <p:nvSpPr>
          <p:cNvPr id="360" name="Google Shape;360;p33"/>
          <p:cNvSpPr/>
          <p:nvPr/>
        </p:nvSpPr>
        <p:spPr>
          <a:xfrm>
            <a:off x="274320" y="2286000"/>
            <a:ext cx="45720" cy="1371600"/>
          </a:xfrm>
          <a:prstGeom prst="rect">
            <a:avLst/>
          </a:prstGeom>
          <a:solidFill>
            <a:srgbClr val="040F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3"/>
          <p:cNvSpPr/>
          <p:nvPr/>
        </p:nvSpPr>
        <p:spPr>
          <a:xfrm>
            <a:off x="548640" y="2286000"/>
            <a:ext cx="3840480" cy="1371600"/>
          </a:xfrm>
          <a:prstGeom prst="rect">
            <a:avLst/>
          </a:prstGeom>
          <a:noFill/>
          <a:ln>
            <a:noFill/>
          </a:ln>
        </p:spPr>
        <p:txBody>
          <a:bodyPr anchorCtr="0" anchor="t" bIns="45700" lIns="0" spcFirstLastPara="1" rIns="0" wrap="square" tIns="45700">
            <a:noAutofit/>
          </a:bodyPr>
          <a:lstStyle/>
          <a:p>
            <a:pPr indent="0" lvl="0" marL="0" marR="0" rtl="0" algn="l">
              <a:lnSpc>
                <a:spcPct val="116666"/>
              </a:lnSpc>
              <a:spcBef>
                <a:spcPts val="0"/>
              </a:spcBef>
              <a:spcAft>
                <a:spcPts val="0"/>
              </a:spcAft>
              <a:buClr>
                <a:srgbClr val="040F0F"/>
              </a:buClr>
              <a:buSzPts val="1620"/>
              <a:buFont typeface="Lexend"/>
              <a:buNone/>
            </a:pPr>
            <a:r>
              <a:rPr b="0" i="1" lang="en-US" sz="1620" u="none" cap="none" strike="noStrike">
                <a:solidFill>
                  <a:srgbClr val="040F0F"/>
                </a:solidFill>
                <a:latin typeface="Lexend"/>
                <a:ea typeface="Lexend"/>
                <a:cs typeface="Lexend"/>
                <a:sym typeface="Lexend"/>
              </a:rPr>
              <a:t>"E aí doutor, não deu pra terminar a planilha pq meu PC travou tudo. Amanhã vejo se consigo, fmz?"</a:t>
            </a:r>
            <a:endParaRPr b="0" i="0" sz="1620" u="none" cap="none" strike="noStrike">
              <a:solidFill>
                <a:schemeClr val="dk1"/>
              </a:solidFill>
              <a:latin typeface="Calibri"/>
              <a:ea typeface="Calibri"/>
              <a:cs typeface="Calibri"/>
              <a:sym typeface="Calibri"/>
            </a:endParaRPr>
          </a:p>
          <a:p>
            <a:pPr indent="0" lvl="0" marL="0" marR="0" rtl="0" algn="l">
              <a:lnSpc>
                <a:spcPct val="116666"/>
              </a:lnSpc>
              <a:spcBef>
                <a:spcPts val="630"/>
              </a:spcBef>
              <a:spcAft>
                <a:spcPts val="0"/>
              </a:spcAft>
              <a:buClr>
                <a:srgbClr val="545C5C"/>
              </a:buClr>
              <a:buSzPts val="1440"/>
              <a:buFont typeface="Lexend"/>
              <a:buNone/>
            </a:pPr>
            <a:r>
              <a:rPr b="0" i="0" lang="en-US" sz="1440" u="none" cap="none" strike="noStrike">
                <a:solidFill>
                  <a:srgbClr val="545C5C"/>
                </a:solidFill>
                <a:latin typeface="Lexend"/>
                <a:ea typeface="Lexend"/>
                <a:cs typeface="Lexend"/>
                <a:sym typeface="Lexend"/>
              </a:rPr>
              <a:t>Mensagem recebida pelo gestor de setor</a:t>
            </a:r>
            <a:endParaRPr b="0" i="0" sz="1620" u="none" cap="none" strike="noStrike">
              <a:solidFill>
                <a:schemeClr val="dk1"/>
              </a:solidFill>
              <a:latin typeface="Calibri"/>
              <a:ea typeface="Calibri"/>
              <a:cs typeface="Calibri"/>
              <a:sym typeface="Calibri"/>
            </a:endParaRPr>
          </a:p>
        </p:txBody>
      </p:sp>
      <p:sp>
        <p:nvSpPr>
          <p:cNvPr id="362" name="Google Shape;362;p33"/>
          <p:cNvSpPr/>
          <p:nvPr/>
        </p:nvSpPr>
        <p:spPr>
          <a:xfrm>
            <a:off x="274320" y="3794760"/>
            <a:ext cx="4114800" cy="1051560"/>
          </a:xfrm>
          <a:prstGeom prst="rect">
            <a:avLst/>
          </a:prstGeom>
          <a:noFill/>
          <a:ln>
            <a:noFill/>
          </a:ln>
        </p:spPr>
        <p:txBody>
          <a:bodyPr anchorCtr="0" anchor="t" bIns="45700" lIns="45700" spcFirstLastPara="1" rIns="45700" wrap="square" tIns="45700">
            <a:noAutofit/>
          </a:bodyPr>
          <a:lstStyle/>
          <a:p>
            <a:pPr indent="0" lvl="0" marL="0" marR="0" rtl="0" algn="l">
              <a:lnSpc>
                <a:spcPct val="116666"/>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Quais pontos ferem o decoro profissional e geram insegurança sobre o trabalho?</a:t>
            </a:r>
            <a:endParaRPr b="0" i="0" sz="1620" u="none" cap="none" strike="noStrike">
              <a:solidFill>
                <a:schemeClr val="dk1"/>
              </a:solidFill>
              <a:latin typeface="Calibri"/>
              <a:ea typeface="Calibri"/>
              <a:cs typeface="Calibri"/>
              <a:sym typeface="Calibri"/>
            </a:endParaRPr>
          </a:p>
        </p:txBody>
      </p:sp>
      <p:pic>
        <p:nvPicPr>
          <p:cNvPr descr="/home/forge/chalkie-production-workers-2/releases/78214720/backend/storage/app/render-specs/a150a017-74b3-45d2-90a1-ee5e1050d2e7/img_5ee5477f4ceef61dc9fb7000d781f749.png" id="363" name="Google Shape;363;p33"/>
          <p:cNvPicPr preferRelativeResize="0"/>
          <p:nvPr/>
        </p:nvPicPr>
        <p:blipFill rotWithShape="1">
          <a:blip r:embed="rId4">
            <a:alphaModFix/>
          </a:blip>
          <a:srcRect b="0" l="0" r="0" t="0"/>
          <a:stretch/>
        </p:blipFill>
        <p:spPr>
          <a:xfrm>
            <a:off x="4754880" y="182880"/>
            <a:ext cx="4114800" cy="3611880"/>
          </a:xfrm>
          <a:prstGeom prst="roundRect">
            <a:avLst>
              <a:gd fmla="val 3797" name="adj"/>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68" name="Shape 368"/>
        <p:cNvGrpSpPr/>
        <p:nvPr/>
      </p:nvGrpSpPr>
      <p:grpSpPr>
        <a:xfrm>
          <a:off x="0" y="0"/>
          <a:ext cx="0" cy="0"/>
          <a:chOff x="0" y="0"/>
          <a:chExt cx="0" cy="0"/>
        </a:xfrm>
      </p:grpSpPr>
      <p:sp>
        <p:nvSpPr>
          <p:cNvPr id="369" name="Google Shape;369;p34"/>
          <p:cNvSpPr/>
          <p:nvPr/>
        </p:nvSpPr>
        <p:spPr>
          <a:xfrm>
            <a:off x="274320" y="182880"/>
            <a:ext cx="8595360" cy="651510"/>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2880"/>
              <a:buFont typeface="Lexend"/>
              <a:buNone/>
            </a:pPr>
            <a:r>
              <a:rPr b="1" i="0" lang="en-US" sz="2880" u="none" cap="none" strike="noStrike">
                <a:solidFill>
                  <a:srgbClr val="040F0F"/>
                </a:solidFill>
                <a:latin typeface="Lexend"/>
                <a:ea typeface="Lexend"/>
                <a:cs typeface="Lexend"/>
                <a:sym typeface="Lexend"/>
              </a:rPr>
              <a:t>Reescrita: Versão Adequada</a:t>
            </a:r>
            <a:endParaRPr b="0" i="0" sz="2880" u="none" cap="none" strike="noStrike">
              <a:solidFill>
                <a:schemeClr val="dk1"/>
              </a:solidFill>
              <a:latin typeface="Calibri"/>
              <a:ea typeface="Calibri"/>
              <a:cs typeface="Calibri"/>
              <a:sym typeface="Calibri"/>
            </a:endParaRPr>
          </a:p>
        </p:txBody>
      </p:sp>
      <p:sp>
        <p:nvSpPr>
          <p:cNvPr id="370" name="Google Shape;370;p34"/>
          <p:cNvSpPr/>
          <p:nvPr/>
        </p:nvSpPr>
        <p:spPr>
          <a:xfrm>
            <a:off x="274320" y="925830"/>
            <a:ext cx="4709160" cy="1268730"/>
          </a:xfrm>
          <a:prstGeom prst="rect">
            <a:avLst/>
          </a:prstGeom>
          <a:noFill/>
          <a:ln>
            <a:noFill/>
          </a:ln>
        </p:spPr>
        <p:txBody>
          <a:bodyPr anchorCtr="0" anchor="t" bIns="45700" lIns="45700" spcFirstLastPara="1" rIns="45700" wrap="square" tIns="45700">
            <a:noAutofit/>
          </a:bodyPr>
          <a:lstStyle/>
          <a:p>
            <a:pPr indent="0" lvl="0" marL="0" marR="0" rtl="0" algn="l">
              <a:lnSpc>
                <a:spcPct val="116666"/>
              </a:lnSpc>
              <a:spcBef>
                <a:spcPts val="0"/>
              </a:spcBef>
              <a:spcAft>
                <a:spcPts val="0"/>
              </a:spcAft>
              <a:buClr>
                <a:srgbClr val="040F0F"/>
              </a:buClr>
              <a:buSzPts val="1979"/>
              <a:buFont typeface="Lexend"/>
              <a:buNone/>
            </a:pPr>
            <a:r>
              <a:rPr b="1" i="0" lang="en-US" sz="1980" u="none" cap="none" strike="noStrike">
                <a:solidFill>
                  <a:srgbClr val="040F0F"/>
                </a:solidFill>
                <a:latin typeface="Lexend"/>
                <a:ea typeface="Lexend"/>
                <a:cs typeface="Lexend"/>
                <a:sym typeface="Lexend"/>
              </a:rPr>
              <a:t>Transformação Profissional</a:t>
            </a:r>
            <a:endParaRPr b="0" i="0" sz="1980" u="none" cap="none" strike="noStrike">
              <a:solidFill>
                <a:schemeClr val="dk1"/>
              </a:solidFill>
              <a:latin typeface="Calibri"/>
              <a:ea typeface="Calibri"/>
              <a:cs typeface="Calibri"/>
              <a:sym typeface="Calibri"/>
            </a:endParaRPr>
          </a:p>
          <a:p>
            <a:pPr indent="0" lvl="0" marL="0" marR="0" rtl="0" algn="l">
              <a:lnSpc>
                <a:spcPct val="116666"/>
              </a:lnSpc>
              <a:spcBef>
                <a:spcPts val="630"/>
              </a:spcBef>
              <a:spcAft>
                <a:spcPts val="0"/>
              </a:spcAft>
              <a:buClr>
                <a:srgbClr val="040F0F"/>
              </a:buClr>
              <a:buSzPts val="1440"/>
              <a:buFont typeface="Lexend"/>
              <a:buNone/>
            </a:pPr>
            <a:r>
              <a:rPr b="0" i="0" lang="en-US" sz="1440" u="none" cap="none" strike="noStrike">
                <a:solidFill>
                  <a:srgbClr val="040F0F"/>
                </a:solidFill>
                <a:latin typeface="Lexend"/>
                <a:ea typeface="Lexend"/>
                <a:cs typeface="Lexend"/>
                <a:sym typeface="Lexend"/>
              </a:rPr>
              <a:t>Veja como a mesma situação é relatada com maturidade:</a:t>
            </a:r>
            <a:endParaRPr b="0" i="0" sz="1980" u="none" cap="none" strike="noStrike">
              <a:solidFill>
                <a:schemeClr val="dk1"/>
              </a:solidFill>
              <a:latin typeface="Calibri"/>
              <a:ea typeface="Calibri"/>
              <a:cs typeface="Calibri"/>
              <a:sym typeface="Calibri"/>
            </a:endParaRPr>
          </a:p>
        </p:txBody>
      </p:sp>
      <p:sp>
        <p:nvSpPr>
          <p:cNvPr id="371" name="Google Shape;371;p34"/>
          <p:cNvSpPr/>
          <p:nvPr/>
        </p:nvSpPr>
        <p:spPr>
          <a:xfrm>
            <a:off x="274320" y="2194560"/>
            <a:ext cx="45720" cy="1771650"/>
          </a:xfrm>
          <a:prstGeom prst="rect">
            <a:avLst/>
          </a:prstGeom>
          <a:solidFill>
            <a:srgbClr val="040F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34"/>
          <p:cNvSpPr/>
          <p:nvPr/>
        </p:nvSpPr>
        <p:spPr>
          <a:xfrm>
            <a:off x="525780" y="2194560"/>
            <a:ext cx="4457700" cy="1771650"/>
          </a:xfrm>
          <a:prstGeom prst="rect">
            <a:avLst/>
          </a:prstGeom>
          <a:noFill/>
          <a:ln>
            <a:noFill/>
          </a:ln>
        </p:spPr>
        <p:txBody>
          <a:bodyPr anchorCtr="0" anchor="t" bIns="45700" lIns="0" spcFirstLastPara="1" rIns="0" wrap="square" tIns="45700">
            <a:noAutofit/>
          </a:bodyPr>
          <a:lstStyle/>
          <a:p>
            <a:pPr indent="0" lvl="0" marL="0" marR="0" rtl="0" algn="l">
              <a:lnSpc>
                <a:spcPct val="116666"/>
              </a:lnSpc>
              <a:spcBef>
                <a:spcPts val="0"/>
              </a:spcBef>
              <a:spcAft>
                <a:spcPts val="0"/>
              </a:spcAft>
              <a:buClr>
                <a:srgbClr val="040F0F"/>
              </a:buClr>
              <a:buSzPts val="1440"/>
              <a:buFont typeface="Lexend"/>
              <a:buNone/>
            </a:pPr>
            <a:r>
              <a:rPr b="0" i="1" lang="en-US" sz="1440" u="none" cap="none" strike="noStrike">
                <a:solidFill>
                  <a:srgbClr val="040F0F"/>
                </a:solidFill>
                <a:latin typeface="Lexend"/>
                <a:ea typeface="Lexend"/>
                <a:cs typeface="Lexend"/>
                <a:sym typeface="Lexend"/>
              </a:rPr>
              <a:t>"Prezado Carlos, tive uma falha técnica no equipamento durante a tarde. O suporte já restabeleceu o sistema e enviarei o relatório finalizado amanhã até às 10h. Agradeço a compreensão."</a:t>
            </a:r>
            <a:endParaRPr b="0" i="0" sz="1440" u="none" cap="none" strike="noStrike">
              <a:solidFill>
                <a:schemeClr val="dk1"/>
              </a:solidFill>
              <a:latin typeface="Calibri"/>
              <a:ea typeface="Calibri"/>
              <a:cs typeface="Calibri"/>
              <a:sym typeface="Calibri"/>
            </a:endParaRPr>
          </a:p>
          <a:p>
            <a:pPr indent="0" lvl="0" marL="0" marR="0" rtl="0" algn="l">
              <a:lnSpc>
                <a:spcPct val="116666"/>
              </a:lnSpc>
              <a:spcBef>
                <a:spcPts val="540"/>
              </a:spcBef>
              <a:spcAft>
                <a:spcPts val="0"/>
              </a:spcAft>
              <a:buClr>
                <a:srgbClr val="545C5C"/>
              </a:buClr>
              <a:buSzPts val="1440"/>
              <a:buFont typeface="Lexend"/>
              <a:buNone/>
            </a:pPr>
            <a:r>
              <a:rPr b="0" i="0" lang="en-US" sz="1440" u="none" cap="none" strike="noStrike">
                <a:solidFill>
                  <a:srgbClr val="545C5C"/>
                </a:solidFill>
                <a:latin typeface="Lexend"/>
                <a:ea typeface="Lexend"/>
                <a:cs typeface="Lexend"/>
                <a:sym typeface="Lexend"/>
              </a:rPr>
              <a:t>Versão formal revisada</a:t>
            </a:r>
            <a:endParaRPr b="0" i="0" sz="1440" u="none" cap="none" strike="noStrike">
              <a:solidFill>
                <a:schemeClr val="dk1"/>
              </a:solidFill>
              <a:latin typeface="Calibri"/>
              <a:ea typeface="Calibri"/>
              <a:cs typeface="Calibri"/>
              <a:sym typeface="Calibri"/>
            </a:endParaRPr>
          </a:p>
        </p:txBody>
      </p:sp>
      <p:sp>
        <p:nvSpPr>
          <p:cNvPr id="373" name="Google Shape;373;p34"/>
          <p:cNvSpPr/>
          <p:nvPr/>
        </p:nvSpPr>
        <p:spPr>
          <a:xfrm>
            <a:off x="274320" y="4103370"/>
            <a:ext cx="4709160" cy="674370"/>
          </a:xfrm>
          <a:prstGeom prst="rect">
            <a:avLst/>
          </a:prstGeom>
          <a:noFill/>
          <a:ln>
            <a:noFill/>
          </a:ln>
        </p:spPr>
        <p:txBody>
          <a:bodyPr anchorCtr="0" anchor="t" bIns="45700" lIns="45700" spcFirstLastPara="1" rIns="45700" wrap="square" tIns="45700">
            <a:noAutofit/>
          </a:bodyPr>
          <a:lstStyle/>
          <a:p>
            <a:pPr indent="0" lvl="0" marL="0" marR="0" rtl="0" algn="l">
              <a:lnSpc>
                <a:spcPct val="116666"/>
              </a:lnSpc>
              <a:spcBef>
                <a:spcPts val="0"/>
              </a:spcBef>
              <a:spcAft>
                <a:spcPts val="0"/>
              </a:spcAft>
              <a:buClr>
                <a:srgbClr val="040F0F"/>
              </a:buClr>
              <a:buSzPts val="1440"/>
              <a:buFont typeface="Lexend"/>
              <a:buNone/>
            </a:pPr>
            <a:r>
              <a:rPr b="0" i="0" lang="en-US" sz="1440" u="none" cap="none" strike="noStrike">
                <a:solidFill>
                  <a:srgbClr val="040F0F"/>
                </a:solidFill>
                <a:latin typeface="Lexend"/>
                <a:ea typeface="Lexend"/>
                <a:cs typeface="Lexend"/>
                <a:sym typeface="Lexend"/>
              </a:rPr>
              <a:t>O problema foi explicado com </a:t>
            </a:r>
            <a:r>
              <a:rPr b="1" i="0" lang="en-US" sz="1440" u="none" cap="none" strike="noStrike">
                <a:solidFill>
                  <a:srgbClr val="040F0F"/>
                </a:solidFill>
                <a:latin typeface="Lexend"/>
                <a:ea typeface="Lexend"/>
                <a:cs typeface="Lexend"/>
                <a:sym typeface="Lexend"/>
              </a:rPr>
              <a:t>responsabilidade e previsão de resolução</a:t>
            </a:r>
            <a:r>
              <a:rPr b="0" i="0" lang="en-US" sz="1440" u="none" cap="none" strike="noStrike">
                <a:solidFill>
                  <a:srgbClr val="040F0F"/>
                </a:solidFill>
                <a:latin typeface="Lexend"/>
                <a:ea typeface="Lexend"/>
                <a:cs typeface="Lexend"/>
                <a:sym typeface="Lexend"/>
              </a:rPr>
              <a:t>.</a:t>
            </a:r>
            <a:endParaRPr b="0" i="0" sz="1440" u="none" cap="none" strike="noStrike">
              <a:solidFill>
                <a:schemeClr val="dk1"/>
              </a:solidFill>
              <a:latin typeface="Calibri"/>
              <a:ea typeface="Calibri"/>
              <a:cs typeface="Calibri"/>
              <a:sym typeface="Calibri"/>
            </a:endParaRPr>
          </a:p>
        </p:txBody>
      </p:sp>
      <p:pic>
        <p:nvPicPr>
          <p:cNvPr descr="/home/forge/chalkie-production-workers-2/releases/78214720/backend/storage/app/render-specs/a150a017-74b3-45d2-90a1-ee5e1050d2e7/img_8198bb5344112edf9c1c99015d61593e.png" id="374" name="Google Shape;374;p34"/>
          <p:cNvPicPr preferRelativeResize="0"/>
          <p:nvPr/>
        </p:nvPicPr>
        <p:blipFill rotWithShape="1">
          <a:blip r:embed="rId4">
            <a:alphaModFix/>
          </a:blip>
          <a:srcRect b="0" l="0" r="0" t="0"/>
          <a:stretch/>
        </p:blipFill>
        <p:spPr>
          <a:xfrm>
            <a:off x="5166360" y="925830"/>
            <a:ext cx="3703320" cy="3246120"/>
          </a:xfrm>
          <a:prstGeom prst="roundRect">
            <a:avLst>
              <a:gd fmla="val 4225" name="adj"/>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79" name="Shape 379"/>
        <p:cNvGrpSpPr/>
        <p:nvPr/>
      </p:nvGrpSpPr>
      <p:grpSpPr>
        <a:xfrm>
          <a:off x="0" y="0"/>
          <a:ext cx="0" cy="0"/>
          <a:chOff x="0" y="0"/>
          <a:chExt cx="0" cy="0"/>
        </a:xfrm>
      </p:grpSpPr>
      <p:pic>
        <p:nvPicPr>
          <p:cNvPr descr="/home/forge/chalkie-production-workers-2/releases/78214720/backend/storage/app/render-specs/a150a017-74b3-45d2-90a1-ee5e1050d2e7/img_e55ecfe6702459449ae20917630e639d.png" id="380" name="Google Shape;380;p35"/>
          <p:cNvPicPr preferRelativeResize="0"/>
          <p:nvPr/>
        </p:nvPicPr>
        <p:blipFill rotWithShape="1">
          <a:blip r:embed="rId4">
            <a:alphaModFix/>
          </a:blip>
          <a:srcRect b="0" l="0" r="0" t="0"/>
          <a:stretch/>
        </p:blipFill>
        <p:spPr>
          <a:xfrm>
            <a:off x="285750" y="914400"/>
            <a:ext cx="8572500" cy="2343150"/>
          </a:xfrm>
          <a:prstGeom prst="rect">
            <a:avLst/>
          </a:prstGeom>
          <a:noFill/>
          <a:ln>
            <a:noFill/>
          </a:ln>
        </p:spPr>
      </p:pic>
      <p:sp>
        <p:nvSpPr>
          <p:cNvPr id="381" name="Google Shape;381;p35"/>
          <p:cNvSpPr/>
          <p:nvPr/>
        </p:nvSpPr>
        <p:spPr>
          <a:xfrm>
            <a:off x="285750" y="171450"/>
            <a:ext cx="8572500" cy="644652"/>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2880"/>
              <a:buFont typeface="Lexend"/>
              <a:buNone/>
            </a:pPr>
            <a:r>
              <a:rPr b="1" i="0" lang="en-US" sz="2880" u="none" cap="none" strike="noStrike">
                <a:solidFill>
                  <a:srgbClr val="040F0F"/>
                </a:solidFill>
                <a:latin typeface="Lexend"/>
                <a:ea typeface="Lexend"/>
                <a:cs typeface="Lexend"/>
                <a:sym typeface="Lexend"/>
              </a:rPr>
              <a:t>Complete a Mensagem Profissional</a:t>
            </a:r>
            <a:endParaRPr b="0" i="0" sz="2880" u="none" cap="none" strike="noStrike">
              <a:solidFill>
                <a:schemeClr val="dk1"/>
              </a:solidFill>
              <a:latin typeface="Calibri"/>
              <a:ea typeface="Calibri"/>
              <a:cs typeface="Calibri"/>
              <a:sym typeface="Calibri"/>
            </a:endParaRPr>
          </a:p>
        </p:txBody>
      </p:sp>
      <p:sp>
        <p:nvSpPr>
          <p:cNvPr id="382" name="Google Shape;382;p35"/>
          <p:cNvSpPr/>
          <p:nvPr/>
        </p:nvSpPr>
        <p:spPr>
          <a:xfrm>
            <a:off x="754380" y="1211580"/>
            <a:ext cx="7429500" cy="1485900"/>
          </a:xfrm>
          <a:prstGeom prst="rect">
            <a:avLst/>
          </a:prstGeom>
          <a:no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____ coordenadora, informo que enviei os arquivos do projeto em ____ para sua avaliação. ____ atenciosamente.</a:t>
            </a:r>
            <a:endParaRPr b="0" i="0" sz="1620" u="none" cap="none" strike="noStrike">
              <a:solidFill>
                <a:schemeClr val="dk1"/>
              </a:solidFill>
              <a:latin typeface="Calibri"/>
              <a:ea typeface="Calibri"/>
              <a:cs typeface="Calibri"/>
              <a:sym typeface="Calibri"/>
            </a:endParaRPr>
          </a:p>
        </p:txBody>
      </p:sp>
      <p:sp>
        <p:nvSpPr>
          <p:cNvPr id="383" name="Google Shape;383;p35"/>
          <p:cNvSpPr/>
          <p:nvPr/>
        </p:nvSpPr>
        <p:spPr>
          <a:xfrm>
            <a:off x="285750" y="3314700"/>
            <a:ext cx="8572500" cy="342900"/>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1620"/>
              <a:buFont typeface="Lexend"/>
              <a:buNone/>
            </a:pPr>
            <a:r>
              <a:rPr b="1" i="0" lang="en-US" sz="1620" u="none" cap="none" strike="noStrike">
                <a:solidFill>
                  <a:srgbClr val="040F0F"/>
                </a:solidFill>
                <a:latin typeface="Lexend"/>
                <a:ea typeface="Lexend"/>
                <a:cs typeface="Lexend"/>
                <a:sym typeface="Lexend"/>
              </a:rPr>
              <a:t>Banco de palavras 🏦</a:t>
            </a:r>
            <a:endParaRPr b="0" i="0" sz="1620" u="none" cap="none" strike="noStrike">
              <a:solidFill>
                <a:schemeClr val="dk1"/>
              </a:solidFill>
              <a:latin typeface="Calibri"/>
              <a:ea typeface="Calibri"/>
              <a:cs typeface="Calibri"/>
              <a:sym typeface="Calibri"/>
            </a:endParaRPr>
          </a:p>
        </p:txBody>
      </p:sp>
      <p:sp>
        <p:nvSpPr>
          <p:cNvPr id="384" name="Google Shape;384;p35"/>
          <p:cNvSpPr/>
          <p:nvPr/>
        </p:nvSpPr>
        <p:spPr>
          <a:xfrm>
            <a:off x="285750" y="3771900"/>
            <a:ext cx="1028700" cy="411480"/>
          </a:xfrm>
          <a:prstGeom prst="roundRect">
            <a:avLst>
              <a:gd fmla="val 50000" name="adj"/>
            </a:avLst>
          </a:prstGeom>
          <a:solidFill>
            <a:srgbClr val="FFFFFF"/>
          </a:solidFill>
          <a:ln cap="flat" cmpd="sng" w="22850">
            <a:solidFill>
              <a:srgbClr val="00000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40F0F"/>
              </a:buClr>
              <a:buSzPts val="1620"/>
              <a:buFont typeface="Lexend"/>
              <a:buNone/>
            </a:pPr>
            <a:r>
              <a:rPr b="1" i="0" lang="en-US" sz="1620" u="none" cap="none" strike="noStrike">
                <a:solidFill>
                  <a:srgbClr val="040F0F"/>
                </a:solidFill>
                <a:latin typeface="Lexend"/>
                <a:ea typeface="Lexend"/>
                <a:cs typeface="Lexend"/>
                <a:sym typeface="Lexend"/>
              </a:rPr>
              <a:t>Tmj</a:t>
            </a:r>
            <a:endParaRPr b="0" i="0" sz="1620" u="none" cap="none" strike="noStrike">
              <a:solidFill>
                <a:schemeClr val="dk1"/>
              </a:solidFill>
              <a:latin typeface="Calibri"/>
              <a:ea typeface="Calibri"/>
              <a:cs typeface="Calibri"/>
              <a:sym typeface="Calibri"/>
            </a:endParaRPr>
          </a:p>
        </p:txBody>
      </p:sp>
      <p:sp>
        <p:nvSpPr>
          <p:cNvPr id="385" name="Google Shape;385;p35"/>
          <p:cNvSpPr/>
          <p:nvPr/>
        </p:nvSpPr>
        <p:spPr>
          <a:xfrm>
            <a:off x="1451610" y="3771900"/>
            <a:ext cx="1303020" cy="411480"/>
          </a:xfrm>
          <a:prstGeom prst="roundRect">
            <a:avLst>
              <a:gd fmla="val 50000" name="adj"/>
            </a:avLst>
          </a:prstGeom>
          <a:solidFill>
            <a:srgbClr val="FFFFFF"/>
          </a:solidFill>
          <a:ln cap="flat" cmpd="sng" w="22850">
            <a:solidFill>
              <a:srgbClr val="00000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40F0F"/>
              </a:buClr>
              <a:buSzPts val="1620"/>
              <a:buFont typeface="Lexend"/>
              <a:buNone/>
            </a:pPr>
            <a:r>
              <a:rPr b="1" i="0" lang="en-US" sz="1620" u="none" cap="none" strike="noStrike">
                <a:solidFill>
                  <a:srgbClr val="040F0F"/>
                </a:solidFill>
                <a:latin typeface="Lexend"/>
                <a:ea typeface="Lexend"/>
                <a:cs typeface="Lexend"/>
                <a:sym typeface="Lexend"/>
              </a:rPr>
              <a:t>Prezada</a:t>
            </a:r>
            <a:endParaRPr b="0" i="0" sz="1620" u="none" cap="none" strike="noStrike">
              <a:solidFill>
                <a:schemeClr val="dk1"/>
              </a:solidFill>
              <a:latin typeface="Calibri"/>
              <a:ea typeface="Calibri"/>
              <a:cs typeface="Calibri"/>
              <a:sym typeface="Calibri"/>
            </a:endParaRPr>
          </a:p>
        </p:txBody>
      </p:sp>
      <p:sp>
        <p:nvSpPr>
          <p:cNvPr id="386" name="Google Shape;386;p35"/>
          <p:cNvSpPr/>
          <p:nvPr/>
        </p:nvSpPr>
        <p:spPr>
          <a:xfrm>
            <a:off x="2891790" y="3771900"/>
            <a:ext cx="1028700" cy="411480"/>
          </a:xfrm>
          <a:prstGeom prst="roundRect">
            <a:avLst>
              <a:gd fmla="val 50000" name="adj"/>
            </a:avLst>
          </a:prstGeom>
          <a:solidFill>
            <a:srgbClr val="FFFFFF"/>
          </a:solidFill>
          <a:ln cap="flat" cmpd="sng" w="22850">
            <a:solidFill>
              <a:srgbClr val="00000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40F0F"/>
              </a:buClr>
              <a:buSzPts val="1620"/>
              <a:buFont typeface="Lexend"/>
              <a:buNone/>
            </a:pPr>
            <a:r>
              <a:rPr b="1" i="0" lang="en-US" sz="1620" u="none" cap="none" strike="noStrike">
                <a:solidFill>
                  <a:srgbClr val="040F0F"/>
                </a:solidFill>
                <a:latin typeface="Lexend"/>
                <a:ea typeface="Lexend"/>
                <a:cs typeface="Lexend"/>
                <a:sym typeface="Lexend"/>
              </a:rPr>
              <a:t>zap</a:t>
            </a:r>
            <a:endParaRPr b="0" i="0" sz="1620" u="none" cap="none" strike="noStrike">
              <a:solidFill>
                <a:schemeClr val="dk1"/>
              </a:solidFill>
              <a:latin typeface="Calibri"/>
              <a:ea typeface="Calibri"/>
              <a:cs typeface="Calibri"/>
              <a:sym typeface="Calibri"/>
            </a:endParaRPr>
          </a:p>
        </p:txBody>
      </p:sp>
      <p:sp>
        <p:nvSpPr>
          <p:cNvPr id="387" name="Google Shape;387;p35"/>
          <p:cNvSpPr/>
          <p:nvPr/>
        </p:nvSpPr>
        <p:spPr>
          <a:xfrm>
            <a:off x="4057650" y="3771900"/>
            <a:ext cx="1040130" cy="411480"/>
          </a:xfrm>
          <a:prstGeom prst="roundRect">
            <a:avLst>
              <a:gd fmla="val 50000" name="adj"/>
            </a:avLst>
          </a:prstGeom>
          <a:solidFill>
            <a:srgbClr val="FFFFFF"/>
          </a:solidFill>
          <a:ln cap="flat" cmpd="sng" w="22850">
            <a:solidFill>
              <a:srgbClr val="00000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40F0F"/>
              </a:buClr>
              <a:buSzPts val="1620"/>
              <a:buFont typeface="Lexend"/>
              <a:buNone/>
            </a:pPr>
            <a:r>
              <a:rPr b="1" i="0" lang="en-US" sz="1620" u="none" cap="none" strike="noStrike">
                <a:solidFill>
                  <a:srgbClr val="040F0F"/>
                </a:solidFill>
                <a:latin typeface="Lexend"/>
                <a:ea typeface="Lexend"/>
                <a:cs typeface="Lexend"/>
                <a:sym typeface="Lexend"/>
              </a:rPr>
              <a:t>anexo</a:t>
            </a:r>
            <a:endParaRPr b="0" i="0" sz="1620" u="none" cap="none" strike="noStrike">
              <a:solidFill>
                <a:schemeClr val="dk1"/>
              </a:solidFill>
              <a:latin typeface="Calibri"/>
              <a:ea typeface="Calibri"/>
              <a:cs typeface="Calibri"/>
              <a:sym typeface="Calibri"/>
            </a:endParaRPr>
          </a:p>
        </p:txBody>
      </p:sp>
      <p:sp>
        <p:nvSpPr>
          <p:cNvPr id="388" name="Google Shape;388;p35"/>
          <p:cNvSpPr/>
          <p:nvPr/>
        </p:nvSpPr>
        <p:spPr>
          <a:xfrm>
            <a:off x="5234940" y="3771900"/>
            <a:ext cx="1028700" cy="411480"/>
          </a:xfrm>
          <a:prstGeom prst="roundRect">
            <a:avLst>
              <a:gd fmla="val 50000" name="adj"/>
            </a:avLst>
          </a:prstGeom>
          <a:solidFill>
            <a:srgbClr val="FFFFFF"/>
          </a:solidFill>
          <a:ln cap="flat" cmpd="sng" w="22850">
            <a:solidFill>
              <a:srgbClr val="00000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40F0F"/>
              </a:buClr>
              <a:buSzPts val="1620"/>
              <a:buFont typeface="Lexend"/>
              <a:buNone/>
            </a:pPr>
            <a:r>
              <a:rPr b="1" i="0" lang="en-US" sz="1620" u="none" cap="none" strike="noStrike">
                <a:solidFill>
                  <a:srgbClr val="040F0F"/>
                </a:solidFill>
                <a:latin typeface="Lexend"/>
                <a:ea typeface="Lexend"/>
                <a:cs typeface="Lexend"/>
                <a:sym typeface="Lexend"/>
              </a:rPr>
              <a:t>Fico</a:t>
            </a:r>
            <a:endParaRPr b="0" i="0" sz="1620" u="none" cap="none" strike="noStrike">
              <a:solidFill>
                <a:schemeClr val="dk1"/>
              </a:solidFill>
              <a:latin typeface="Calibri"/>
              <a:ea typeface="Calibri"/>
              <a:cs typeface="Calibri"/>
              <a:sym typeface="Calibri"/>
            </a:endParaRPr>
          </a:p>
        </p:txBody>
      </p:sp>
      <p:sp>
        <p:nvSpPr>
          <p:cNvPr id="389" name="Google Shape;389;p35"/>
          <p:cNvSpPr/>
          <p:nvPr/>
        </p:nvSpPr>
        <p:spPr>
          <a:xfrm>
            <a:off x="6400800" y="3771900"/>
            <a:ext cx="1028700" cy="411480"/>
          </a:xfrm>
          <a:prstGeom prst="roundRect">
            <a:avLst>
              <a:gd fmla="val 50000" name="adj"/>
            </a:avLst>
          </a:prstGeom>
          <a:solidFill>
            <a:srgbClr val="FFFFFF"/>
          </a:solidFill>
          <a:ln cap="flat" cmpd="sng" w="22850">
            <a:solidFill>
              <a:srgbClr val="00000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40F0F"/>
              </a:buClr>
              <a:buSzPts val="1620"/>
              <a:buFont typeface="Lexend"/>
              <a:buNone/>
            </a:pPr>
            <a:r>
              <a:rPr b="1" i="0" lang="en-US" sz="1620" u="none" cap="none" strike="noStrike">
                <a:solidFill>
                  <a:srgbClr val="040F0F"/>
                </a:solidFill>
                <a:latin typeface="Lexend"/>
                <a:ea typeface="Lexend"/>
                <a:cs typeface="Lexend"/>
                <a:sym typeface="Lexend"/>
              </a:rPr>
              <a:t>E aí</a:t>
            </a:r>
            <a:endParaRPr b="0" i="0" sz="162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94" name="Shape 394"/>
        <p:cNvGrpSpPr/>
        <p:nvPr/>
      </p:nvGrpSpPr>
      <p:grpSpPr>
        <a:xfrm>
          <a:off x="0" y="0"/>
          <a:ext cx="0" cy="0"/>
          <a:chOff x="0" y="0"/>
          <a:chExt cx="0" cy="0"/>
        </a:xfrm>
      </p:grpSpPr>
      <p:pic>
        <p:nvPicPr>
          <p:cNvPr descr="/home/forge/chalkie-production-workers-2/releases/78214720/backend/storage/app/render-specs/a150a017-74b3-45d2-90a1-ee5e1050d2e7/img_e55ecfe6702459449ae20917630e639d.png" id="395" name="Google Shape;395;p36"/>
          <p:cNvPicPr preferRelativeResize="0"/>
          <p:nvPr/>
        </p:nvPicPr>
        <p:blipFill rotWithShape="1">
          <a:blip r:embed="rId4">
            <a:alphaModFix/>
          </a:blip>
          <a:srcRect b="0" l="0" r="0" t="0"/>
          <a:stretch/>
        </p:blipFill>
        <p:spPr>
          <a:xfrm>
            <a:off x="285750" y="914400"/>
            <a:ext cx="8572500" cy="2343150"/>
          </a:xfrm>
          <a:prstGeom prst="rect">
            <a:avLst/>
          </a:prstGeom>
          <a:noFill/>
          <a:ln>
            <a:noFill/>
          </a:ln>
        </p:spPr>
      </p:pic>
      <p:sp>
        <p:nvSpPr>
          <p:cNvPr id="396" name="Google Shape;396;p36"/>
          <p:cNvSpPr/>
          <p:nvPr/>
        </p:nvSpPr>
        <p:spPr>
          <a:xfrm>
            <a:off x="285750" y="171450"/>
            <a:ext cx="8572500" cy="644652"/>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2880"/>
              <a:buFont typeface="Lexend"/>
              <a:buNone/>
            </a:pPr>
            <a:r>
              <a:rPr b="1" i="0" lang="en-US" sz="2880" u="none" cap="none" strike="noStrike">
                <a:solidFill>
                  <a:srgbClr val="040F0F"/>
                </a:solidFill>
                <a:latin typeface="Lexend"/>
                <a:ea typeface="Lexend"/>
                <a:cs typeface="Lexend"/>
                <a:sym typeface="Lexend"/>
              </a:rPr>
              <a:t>Complete a Mensagem Profissional</a:t>
            </a:r>
            <a:endParaRPr b="0" i="0" sz="2880" u="none" cap="none" strike="noStrike">
              <a:solidFill>
                <a:schemeClr val="dk1"/>
              </a:solidFill>
              <a:latin typeface="Calibri"/>
              <a:ea typeface="Calibri"/>
              <a:cs typeface="Calibri"/>
              <a:sym typeface="Calibri"/>
            </a:endParaRPr>
          </a:p>
        </p:txBody>
      </p:sp>
      <p:sp>
        <p:nvSpPr>
          <p:cNvPr id="397" name="Google Shape;397;p36"/>
          <p:cNvSpPr/>
          <p:nvPr/>
        </p:nvSpPr>
        <p:spPr>
          <a:xfrm>
            <a:off x="754380" y="1211580"/>
            <a:ext cx="7429500" cy="1485900"/>
          </a:xfrm>
          <a:prstGeom prst="rect">
            <a:avLst/>
          </a:prstGeom>
          <a:no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2C6E49"/>
              </a:buClr>
              <a:buSzPts val="1620"/>
              <a:buFont typeface="Lexend"/>
              <a:buNone/>
            </a:pPr>
            <a:r>
              <a:rPr b="1" i="0" lang="en-US" sz="1620" u="none" cap="none" strike="noStrike">
                <a:solidFill>
                  <a:srgbClr val="2C6E49"/>
                </a:solidFill>
                <a:latin typeface="Lexend"/>
                <a:ea typeface="Lexend"/>
                <a:cs typeface="Lexend"/>
                <a:sym typeface="Lexend"/>
              </a:rPr>
              <a:t>Prezada</a:t>
            </a:r>
            <a:r>
              <a:rPr b="0" i="0" lang="en-US" sz="1620" u="none" cap="none" strike="noStrike">
                <a:solidFill>
                  <a:srgbClr val="040F0F"/>
                </a:solidFill>
                <a:latin typeface="Lexend"/>
                <a:ea typeface="Lexend"/>
                <a:cs typeface="Lexend"/>
                <a:sym typeface="Lexend"/>
              </a:rPr>
              <a:t> coordenadora, informo que enviei os arquivos do projeto em </a:t>
            </a:r>
            <a:r>
              <a:rPr b="1" i="0" lang="en-US" sz="1620" u="none" cap="none" strike="noStrike">
                <a:solidFill>
                  <a:srgbClr val="2C6E49"/>
                </a:solidFill>
                <a:latin typeface="Lexend"/>
                <a:ea typeface="Lexend"/>
                <a:cs typeface="Lexend"/>
                <a:sym typeface="Lexend"/>
              </a:rPr>
              <a:t>anexo</a:t>
            </a:r>
            <a:r>
              <a:rPr b="0" i="0" lang="en-US" sz="1620" u="none" cap="none" strike="noStrike">
                <a:solidFill>
                  <a:srgbClr val="040F0F"/>
                </a:solidFill>
                <a:latin typeface="Lexend"/>
                <a:ea typeface="Lexend"/>
                <a:cs typeface="Lexend"/>
                <a:sym typeface="Lexend"/>
              </a:rPr>
              <a:t> para sua avaliação. </a:t>
            </a:r>
            <a:r>
              <a:rPr b="1" i="0" lang="en-US" sz="1620" u="none" cap="none" strike="noStrike">
                <a:solidFill>
                  <a:srgbClr val="2C6E49"/>
                </a:solidFill>
                <a:latin typeface="Lexend"/>
                <a:ea typeface="Lexend"/>
                <a:cs typeface="Lexend"/>
                <a:sym typeface="Lexend"/>
              </a:rPr>
              <a:t>Fico</a:t>
            </a:r>
            <a:r>
              <a:rPr b="0" i="0" lang="en-US" sz="1620" u="none" cap="none" strike="noStrike">
                <a:solidFill>
                  <a:srgbClr val="040F0F"/>
                </a:solidFill>
                <a:latin typeface="Lexend"/>
                <a:ea typeface="Lexend"/>
                <a:cs typeface="Lexend"/>
                <a:sym typeface="Lexend"/>
              </a:rPr>
              <a:t> atenciosamente.</a:t>
            </a:r>
            <a:endParaRPr b="0" i="0" sz="1620" u="none" cap="none" strike="noStrike">
              <a:solidFill>
                <a:schemeClr val="dk1"/>
              </a:solidFill>
              <a:latin typeface="Calibri"/>
              <a:ea typeface="Calibri"/>
              <a:cs typeface="Calibri"/>
              <a:sym typeface="Calibri"/>
            </a:endParaRPr>
          </a:p>
        </p:txBody>
      </p:sp>
      <p:sp>
        <p:nvSpPr>
          <p:cNvPr id="398" name="Google Shape;398;p36"/>
          <p:cNvSpPr/>
          <p:nvPr/>
        </p:nvSpPr>
        <p:spPr>
          <a:xfrm>
            <a:off x="285750" y="3314700"/>
            <a:ext cx="8572500" cy="342900"/>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1620"/>
              <a:buFont typeface="Lexend"/>
              <a:buNone/>
            </a:pPr>
            <a:r>
              <a:rPr b="1" i="0" lang="en-US" sz="1620" u="none" cap="none" strike="noStrike">
                <a:solidFill>
                  <a:srgbClr val="040F0F"/>
                </a:solidFill>
                <a:latin typeface="Lexend"/>
                <a:ea typeface="Lexend"/>
                <a:cs typeface="Lexend"/>
                <a:sym typeface="Lexend"/>
              </a:rPr>
              <a:t>Banco de palavras 🏦</a:t>
            </a:r>
            <a:endParaRPr b="0" i="0" sz="1620" u="none" cap="none" strike="noStrike">
              <a:solidFill>
                <a:schemeClr val="dk1"/>
              </a:solidFill>
              <a:latin typeface="Calibri"/>
              <a:ea typeface="Calibri"/>
              <a:cs typeface="Calibri"/>
              <a:sym typeface="Calibri"/>
            </a:endParaRPr>
          </a:p>
        </p:txBody>
      </p:sp>
      <p:sp>
        <p:nvSpPr>
          <p:cNvPr id="399" name="Google Shape;399;p36"/>
          <p:cNvSpPr/>
          <p:nvPr/>
        </p:nvSpPr>
        <p:spPr>
          <a:xfrm>
            <a:off x="285750" y="3771900"/>
            <a:ext cx="1028700" cy="411480"/>
          </a:xfrm>
          <a:prstGeom prst="roundRect">
            <a:avLst>
              <a:gd fmla="val 50000" name="adj"/>
            </a:avLst>
          </a:prstGeom>
          <a:solidFill>
            <a:srgbClr val="FFFFFF"/>
          </a:solidFill>
          <a:ln cap="flat" cmpd="sng" w="22850">
            <a:solidFill>
              <a:srgbClr val="76767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767676"/>
              </a:buClr>
              <a:buSzPts val="1620"/>
              <a:buFont typeface="Lexend"/>
              <a:buNone/>
            </a:pPr>
            <a:r>
              <a:rPr b="1" i="0" lang="en-US" sz="1620" u="none" cap="none" strike="noStrike">
                <a:solidFill>
                  <a:srgbClr val="767676"/>
                </a:solidFill>
                <a:latin typeface="Lexend"/>
                <a:ea typeface="Lexend"/>
                <a:cs typeface="Lexend"/>
                <a:sym typeface="Lexend"/>
              </a:rPr>
              <a:t>Tmj</a:t>
            </a:r>
            <a:endParaRPr b="0" i="0" sz="1620" u="none" cap="none" strike="noStrike">
              <a:solidFill>
                <a:schemeClr val="dk1"/>
              </a:solidFill>
              <a:latin typeface="Calibri"/>
              <a:ea typeface="Calibri"/>
              <a:cs typeface="Calibri"/>
              <a:sym typeface="Calibri"/>
            </a:endParaRPr>
          </a:p>
        </p:txBody>
      </p:sp>
      <p:sp>
        <p:nvSpPr>
          <p:cNvPr id="400" name="Google Shape;400;p36"/>
          <p:cNvSpPr/>
          <p:nvPr/>
        </p:nvSpPr>
        <p:spPr>
          <a:xfrm>
            <a:off x="1451610" y="3771900"/>
            <a:ext cx="1303020" cy="411480"/>
          </a:xfrm>
          <a:prstGeom prst="roundRect">
            <a:avLst>
              <a:gd fmla="val 50000" name="adj"/>
            </a:avLst>
          </a:prstGeom>
          <a:solidFill>
            <a:srgbClr val="FFFFFF"/>
          </a:solidFill>
          <a:ln cap="flat" cmpd="sng" w="22850">
            <a:solidFill>
              <a:srgbClr val="2C6E4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40F0F"/>
              </a:buClr>
              <a:buSzPts val="1620"/>
              <a:buFont typeface="Lexend"/>
              <a:buNone/>
            </a:pPr>
            <a:r>
              <a:rPr b="1" i="0" lang="en-US" sz="1620" u="none" cap="none" strike="noStrike">
                <a:solidFill>
                  <a:srgbClr val="040F0F"/>
                </a:solidFill>
                <a:latin typeface="Lexend"/>
                <a:ea typeface="Lexend"/>
                <a:cs typeface="Lexend"/>
                <a:sym typeface="Lexend"/>
              </a:rPr>
              <a:t>Prezada</a:t>
            </a:r>
            <a:endParaRPr b="0" i="0" sz="1620" u="none" cap="none" strike="noStrike">
              <a:solidFill>
                <a:schemeClr val="dk1"/>
              </a:solidFill>
              <a:latin typeface="Calibri"/>
              <a:ea typeface="Calibri"/>
              <a:cs typeface="Calibri"/>
              <a:sym typeface="Calibri"/>
            </a:endParaRPr>
          </a:p>
        </p:txBody>
      </p:sp>
      <p:sp>
        <p:nvSpPr>
          <p:cNvPr id="401" name="Google Shape;401;p36"/>
          <p:cNvSpPr/>
          <p:nvPr/>
        </p:nvSpPr>
        <p:spPr>
          <a:xfrm>
            <a:off x="2891790" y="3771900"/>
            <a:ext cx="1028700" cy="411480"/>
          </a:xfrm>
          <a:prstGeom prst="roundRect">
            <a:avLst>
              <a:gd fmla="val 50000" name="adj"/>
            </a:avLst>
          </a:prstGeom>
          <a:solidFill>
            <a:srgbClr val="FFFFFF"/>
          </a:solidFill>
          <a:ln cap="flat" cmpd="sng" w="22850">
            <a:solidFill>
              <a:srgbClr val="76767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767676"/>
              </a:buClr>
              <a:buSzPts val="1620"/>
              <a:buFont typeface="Lexend"/>
              <a:buNone/>
            </a:pPr>
            <a:r>
              <a:rPr b="1" i="0" lang="en-US" sz="1620" u="none" cap="none" strike="noStrike">
                <a:solidFill>
                  <a:srgbClr val="767676"/>
                </a:solidFill>
                <a:latin typeface="Lexend"/>
                <a:ea typeface="Lexend"/>
                <a:cs typeface="Lexend"/>
                <a:sym typeface="Lexend"/>
              </a:rPr>
              <a:t>zap</a:t>
            </a:r>
            <a:endParaRPr b="0" i="0" sz="1620" u="none" cap="none" strike="noStrike">
              <a:solidFill>
                <a:schemeClr val="dk1"/>
              </a:solidFill>
              <a:latin typeface="Calibri"/>
              <a:ea typeface="Calibri"/>
              <a:cs typeface="Calibri"/>
              <a:sym typeface="Calibri"/>
            </a:endParaRPr>
          </a:p>
        </p:txBody>
      </p:sp>
      <p:sp>
        <p:nvSpPr>
          <p:cNvPr id="402" name="Google Shape;402;p36"/>
          <p:cNvSpPr/>
          <p:nvPr/>
        </p:nvSpPr>
        <p:spPr>
          <a:xfrm>
            <a:off x="4057650" y="3771900"/>
            <a:ext cx="1040130" cy="411480"/>
          </a:xfrm>
          <a:prstGeom prst="roundRect">
            <a:avLst>
              <a:gd fmla="val 50000" name="adj"/>
            </a:avLst>
          </a:prstGeom>
          <a:solidFill>
            <a:srgbClr val="FFFFFF"/>
          </a:solidFill>
          <a:ln cap="flat" cmpd="sng" w="22850">
            <a:solidFill>
              <a:srgbClr val="2C6E4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40F0F"/>
              </a:buClr>
              <a:buSzPts val="1620"/>
              <a:buFont typeface="Lexend"/>
              <a:buNone/>
            </a:pPr>
            <a:r>
              <a:rPr b="1" i="0" lang="en-US" sz="1620" u="none" cap="none" strike="noStrike">
                <a:solidFill>
                  <a:srgbClr val="040F0F"/>
                </a:solidFill>
                <a:latin typeface="Lexend"/>
                <a:ea typeface="Lexend"/>
                <a:cs typeface="Lexend"/>
                <a:sym typeface="Lexend"/>
              </a:rPr>
              <a:t>anexo</a:t>
            </a:r>
            <a:endParaRPr b="0" i="0" sz="1620" u="none" cap="none" strike="noStrike">
              <a:solidFill>
                <a:schemeClr val="dk1"/>
              </a:solidFill>
              <a:latin typeface="Calibri"/>
              <a:ea typeface="Calibri"/>
              <a:cs typeface="Calibri"/>
              <a:sym typeface="Calibri"/>
            </a:endParaRPr>
          </a:p>
        </p:txBody>
      </p:sp>
      <p:sp>
        <p:nvSpPr>
          <p:cNvPr id="403" name="Google Shape;403;p36"/>
          <p:cNvSpPr/>
          <p:nvPr/>
        </p:nvSpPr>
        <p:spPr>
          <a:xfrm>
            <a:off x="5234940" y="3771900"/>
            <a:ext cx="1028700" cy="411480"/>
          </a:xfrm>
          <a:prstGeom prst="roundRect">
            <a:avLst>
              <a:gd fmla="val 50000" name="adj"/>
            </a:avLst>
          </a:prstGeom>
          <a:solidFill>
            <a:srgbClr val="FFFFFF"/>
          </a:solidFill>
          <a:ln cap="flat" cmpd="sng" w="22850">
            <a:solidFill>
              <a:srgbClr val="2C6E4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40F0F"/>
              </a:buClr>
              <a:buSzPts val="1620"/>
              <a:buFont typeface="Lexend"/>
              <a:buNone/>
            </a:pPr>
            <a:r>
              <a:rPr b="1" i="0" lang="en-US" sz="1620" u="none" cap="none" strike="noStrike">
                <a:solidFill>
                  <a:srgbClr val="040F0F"/>
                </a:solidFill>
                <a:latin typeface="Lexend"/>
                <a:ea typeface="Lexend"/>
                <a:cs typeface="Lexend"/>
                <a:sym typeface="Lexend"/>
              </a:rPr>
              <a:t>Fico</a:t>
            </a:r>
            <a:endParaRPr b="0" i="0" sz="1620" u="none" cap="none" strike="noStrike">
              <a:solidFill>
                <a:schemeClr val="dk1"/>
              </a:solidFill>
              <a:latin typeface="Calibri"/>
              <a:ea typeface="Calibri"/>
              <a:cs typeface="Calibri"/>
              <a:sym typeface="Calibri"/>
            </a:endParaRPr>
          </a:p>
        </p:txBody>
      </p:sp>
      <p:sp>
        <p:nvSpPr>
          <p:cNvPr id="404" name="Google Shape;404;p36"/>
          <p:cNvSpPr/>
          <p:nvPr/>
        </p:nvSpPr>
        <p:spPr>
          <a:xfrm>
            <a:off x="6400800" y="3771900"/>
            <a:ext cx="1028700" cy="411480"/>
          </a:xfrm>
          <a:prstGeom prst="roundRect">
            <a:avLst>
              <a:gd fmla="val 50000" name="adj"/>
            </a:avLst>
          </a:prstGeom>
          <a:solidFill>
            <a:srgbClr val="FFFFFF"/>
          </a:solidFill>
          <a:ln cap="flat" cmpd="sng" w="22850">
            <a:solidFill>
              <a:srgbClr val="76767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767676"/>
              </a:buClr>
              <a:buSzPts val="1620"/>
              <a:buFont typeface="Lexend"/>
              <a:buNone/>
            </a:pPr>
            <a:r>
              <a:rPr b="1" i="0" lang="en-US" sz="1620" u="none" cap="none" strike="noStrike">
                <a:solidFill>
                  <a:srgbClr val="767676"/>
                </a:solidFill>
                <a:latin typeface="Lexend"/>
                <a:ea typeface="Lexend"/>
                <a:cs typeface="Lexend"/>
                <a:sym typeface="Lexend"/>
              </a:rPr>
              <a:t>E aí</a:t>
            </a:r>
            <a:endParaRPr b="0" i="0" sz="1620" u="none" cap="none" strike="noStrike">
              <a:solidFill>
                <a:schemeClr val="dk1"/>
              </a:solidFill>
              <a:latin typeface="Calibri"/>
              <a:ea typeface="Calibri"/>
              <a:cs typeface="Calibri"/>
              <a:sym typeface="Calibri"/>
            </a:endParaRPr>
          </a:p>
        </p:txBody>
      </p:sp>
      <p:sp>
        <p:nvSpPr>
          <p:cNvPr id="405" name="Google Shape;405;p36"/>
          <p:cNvSpPr/>
          <p:nvPr/>
        </p:nvSpPr>
        <p:spPr>
          <a:xfrm>
            <a:off x="8366760" y="342900"/>
            <a:ext cx="548640" cy="548640"/>
          </a:xfrm>
          <a:prstGeom prst="rect">
            <a:avLst/>
          </a:prstGeom>
          <a:noFill/>
          <a:ln>
            <a:noFill/>
          </a:ln>
        </p:spPr>
        <p:txBody>
          <a:bodyPr anchorCtr="0" anchor="ctr" bIns="45700" lIns="45700" spcFirstLastPara="1" rIns="45700" wrap="square" tIns="45700">
            <a:noAutofit/>
          </a:bodyPr>
          <a:lstStyle/>
          <a:p>
            <a:pPr indent="0" lvl="0" marL="0" marR="0" rtl="0" algn="r">
              <a:lnSpc>
                <a:spcPct val="100000"/>
              </a:lnSpc>
              <a:spcBef>
                <a:spcPts val="0"/>
              </a:spcBef>
              <a:spcAft>
                <a:spcPts val="0"/>
              </a:spcAft>
              <a:buClr>
                <a:srgbClr val="040F0F"/>
              </a:buClr>
              <a:buSzPts val="3600"/>
              <a:buFont typeface="Lexend"/>
              <a:buNone/>
            </a:pPr>
            <a:r>
              <a:rPr b="0" i="0" lang="en-US" sz="3600" u="none" cap="none" strike="noStrike">
                <a:solidFill>
                  <a:srgbClr val="040F0F"/>
                </a:solidFill>
                <a:latin typeface="Lexend"/>
                <a:ea typeface="Lexend"/>
                <a:cs typeface="Lexend"/>
                <a:sym typeface="Lexend"/>
              </a:rPr>
              <a:t>✅</a:t>
            </a:r>
            <a:endParaRPr b="0" i="0" sz="36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10" name="Shape 410"/>
        <p:cNvGrpSpPr/>
        <p:nvPr/>
      </p:nvGrpSpPr>
      <p:grpSpPr>
        <a:xfrm>
          <a:off x="0" y="0"/>
          <a:ext cx="0" cy="0"/>
          <a:chOff x="0" y="0"/>
          <a:chExt cx="0" cy="0"/>
        </a:xfrm>
      </p:grpSpPr>
      <p:sp>
        <p:nvSpPr>
          <p:cNvPr id="411" name="Google Shape;411;p37"/>
          <p:cNvSpPr/>
          <p:nvPr/>
        </p:nvSpPr>
        <p:spPr>
          <a:xfrm>
            <a:off x="274320" y="182880"/>
            <a:ext cx="8595360" cy="651510"/>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2880"/>
              <a:buFont typeface="Lexend"/>
              <a:buNone/>
            </a:pPr>
            <a:r>
              <a:rPr b="1" i="0" lang="en-US" sz="2880" u="none" cap="none" strike="noStrike">
                <a:solidFill>
                  <a:srgbClr val="040F0F"/>
                </a:solidFill>
                <a:latin typeface="Lexend"/>
                <a:ea typeface="Lexend"/>
                <a:cs typeface="Lexend"/>
                <a:sym typeface="Lexend"/>
              </a:rPr>
              <a:t>Checklist de Adequação Linguística</a:t>
            </a:r>
            <a:endParaRPr b="0" i="0" sz="2880" u="none" cap="none" strike="noStrike">
              <a:solidFill>
                <a:schemeClr val="dk1"/>
              </a:solidFill>
              <a:latin typeface="Calibri"/>
              <a:ea typeface="Calibri"/>
              <a:cs typeface="Calibri"/>
              <a:sym typeface="Calibri"/>
            </a:endParaRPr>
          </a:p>
        </p:txBody>
      </p:sp>
      <p:sp>
        <p:nvSpPr>
          <p:cNvPr id="412" name="Google Shape;412;p37"/>
          <p:cNvSpPr/>
          <p:nvPr/>
        </p:nvSpPr>
        <p:spPr>
          <a:xfrm>
            <a:off x="274320" y="1017270"/>
            <a:ext cx="4206240" cy="1851660"/>
          </a:xfrm>
          <a:prstGeom prst="roundRect">
            <a:avLst>
              <a:gd fmla="val 7407" name="adj"/>
            </a:avLst>
          </a:prstGeom>
          <a:solidFill>
            <a:srgbClr val="FFFFFF">
              <a:alpha val="40000"/>
            </a:srgbClr>
          </a:solidFill>
          <a:ln cap="flat" cmpd="sng" w="11425">
            <a:solidFill>
              <a:srgbClr val="B9BC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forge/chalkie-production-workers-2/releases/78214720/backend/storage/app/render-specs/a150a017-74b3-45d2-90a1-ee5e1050d2e7/img_2fd4ae33b03384dcc2dfc977f837f8d1.png" id="413" name="Google Shape;413;p37"/>
          <p:cNvPicPr preferRelativeResize="0"/>
          <p:nvPr/>
        </p:nvPicPr>
        <p:blipFill rotWithShape="1">
          <a:blip r:embed="rId4">
            <a:alphaModFix/>
          </a:blip>
          <a:srcRect b="0" l="0" r="0" t="0"/>
          <a:stretch/>
        </p:blipFill>
        <p:spPr>
          <a:xfrm>
            <a:off x="422910" y="1165860"/>
            <a:ext cx="548640" cy="548640"/>
          </a:xfrm>
          <a:prstGeom prst="rect">
            <a:avLst/>
          </a:prstGeom>
          <a:noFill/>
          <a:ln>
            <a:noFill/>
          </a:ln>
        </p:spPr>
      </p:pic>
      <p:sp>
        <p:nvSpPr>
          <p:cNvPr id="414" name="Google Shape;414;p37"/>
          <p:cNvSpPr/>
          <p:nvPr/>
        </p:nvSpPr>
        <p:spPr>
          <a:xfrm>
            <a:off x="1062990" y="1165860"/>
            <a:ext cx="3268980" cy="1554480"/>
          </a:xfrm>
          <a:prstGeom prst="rect">
            <a:avLst/>
          </a:prstGeom>
          <a:noFill/>
          <a:ln>
            <a:noFill/>
          </a:ln>
        </p:spPr>
        <p:txBody>
          <a:bodyPr anchorCtr="0" anchor="t" bIns="45700" lIns="45700" spcFirstLastPara="1" rIns="45700" wrap="square" tIns="45700">
            <a:noAutofit/>
          </a:bodyPr>
          <a:lstStyle/>
          <a:p>
            <a:pPr indent="0" lvl="0" marL="0" marR="0" rtl="0" algn="l">
              <a:lnSpc>
                <a:spcPct val="116666"/>
              </a:lnSpc>
              <a:spcBef>
                <a:spcPts val="0"/>
              </a:spcBef>
              <a:spcAft>
                <a:spcPts val="0"/>
              </a:spcAft>
              <a:buClr>
                <a:srgbClr val="040F0F"/>
              </a:buClr>
              <a:buSzPts val="2160"/>
              <a:buFont typeface="Lexend"/>
              <a:buNone/>
            </a:pPr>
            <a:r>
              <a:rPr b="1" i="0" lang="en-US" sz="2160" u="none" cap="none" strike="noStrike">
                <a:solidFill>
                  <a:srgbClr val="040F0F"/>
                </a:solidFill>
                <a:latin typeface="Lexend"/>
                <a:ea typeface="Lexend"/>
                <a:cs typeface="Lexend"/>
                <a:sym typeface="Lexend"/>
              </a:rPr>
              <a:t>1. O Destinatário</a:t>
            </a:r>
            <a:endParaRPr b="0" i="0" sz="2160" u="none" cap="none" strike="noStrike">
              <a:solidFill>
                <a:schemeClr val="dk1"/>
              </a:solidFill>
              <a:latin typeface="Calibri"/>
              <a:ea typeface="Calibri"/>
              <a:cs typeface="Calibri"/>
              <a:sym typeface="Calibri"/>
            </a:endParaRPr>
          </a:p>
          <a:p>
            <a:pPr indent="0" lvl="0" marL="0" marR="0" rtl="0" algn="l">
              <a:lnSpc>
                <a:spcPct val="116666"/>
              </a:lnSpc>
              <a:spcBef>
                <a:spcPts val="81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Qual é o nível de autoridade, idade ou intimidade do interlocutor?</a:t>
            </a:r>
            <a:endParaRPr b="0" i="0" sz="2160" u="none" cap="none" strike="noStrike">
              <a:solidFill>
                <a:schemeClr val="dk1"/>
              </a:solidFill>
              <a:latin typeface="Calibri"/>
              <a:ea typeface="Calibri"/>
              <a:cs typeface="Calibri"/>
              <a:sym typeface="Calibri"/>
            </a:endParaRPr>
          </a:p>
        </p:txBody>
      </p:sp>
      <p:sp>
        <p:nvSpPr>
          <p:cNvPr id="415" name="Google Shape;415;p37"/>
          <p:cNvSpPr/>
          <p:nvPr/>
        </p:nvSpPr>
        <p:spPr>
          <a:xfrm>
            <a:off x="4663440" y="1017270"/>
            <a:ext cx="4206240" cy="1851660"/>
          </a:xfrm>
          <a:prstGeom prst="roundRect">
            <a:avLst>
              <a:gd fmla="val 7407" name="adj"/>
            </a:avLst>
          </a:prstGeom>
          <a:solidFill>
            <a:srgbClr val="FFFFFF">
              <a:alpha val="40000"/>
            </a:srgbClr>
          </a:solidFill>
          <a:ln cap="flat" cmpd="sng" w="11425">
            <a:solidFill>
              <a:srgbClr val="B9BC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forge/chalkie-production-workers-2/releases/78214720/backend/storage/app/render-specs/a150a017-74b3-45d2-90a1-ee5e1050d2e7/img_9af8f00af243f620bdb0b45cc2869a9f.png" id="416" name="Google Shape;416;p37"/>
          <p:cNvPicPr preferRelativeResize="0"/>
          <p:nvPr/>
        </p:nvPicPr>
        <p:blipFill rotWithShape="1">
          <a:blip r:embed="rId5">
            <a:alphaModFix/>
          </a:blip>
          <a:srcRect b="0" l="0" r="0" t="0"/>
          <a:stretch/>
        </p:blipFill>
        <p:spPr>
          <a:xfrm>
            <a:off x="4812030" y="1165860"/>
            <a:ext cx="548640" cy="548640"/>
          </a:xfrm>
          <a:prstGeom prst="rect">
            <a:avLst/>
          </a:prstGeom>
          <a:noFill/>
          <a:ln>
            <a:noFill/>
          </a:ln>
        </p:spPr>
      </p:pic>
      <p:sp>
        <p:nvSpPr>
          <p:cNvPr id="417" name="Google Shape;417;p37"/>
          <p:cNvSpPr/>
          <p:nvPr/>
        </p:nvSpPr>
        <p:spPr>
          <a:xfrm>
            <a:off x="5452110" y="1165860"/>
            <a:ext cx="3268980" cy="1554480"/>
          </a:xfrm>
          <a:prstGeom prst="rect">
            <a:avLst/>
          </a:prstGeom>
          <a:noFill/>
          <a:ln>
            <a:noFill/>
          </a:ln>
        </p:spPr>
        <p:txBody>
          <a:bodyPr anchorCtr="0" anchor="t" bIns="45700" lIns="45700" spcFirstLastPara="1" rIns="45700" wrap="square" tIns="45700">
            <a:noAutofit/>
          </a:bodyPr>
          <a:lstStyle/>
          <a:p>
            <a:pPr indent="0" lvl="0" marL="0" marR="0" rtl="0" algn="l">
              <a:lnSpc>
                <a:spcPct val="116666"/>
              </a:lnSpc>
              <a:spcBef>
                <a:spcPts val="0"/>
              </a:spcBef>
              <a:spcAft>
                <a:spcPts val="0"/>
              </a:spcAft>
              <a:buClr>
                <a:srgbClr val="040F0F"/>
              </a:buClr>
              <a:buSzPts val="2160"/>
              <a:buFont typeface="Lexend"/>
              <a:buNone/>
            </a:pPr>
            <a:r>
              <a:rPr b="1" i="0" lang="en-US" sz="2160" u="none" cap="none" strike="noStrike">
                <a:solidFill>
                  <a:srgbClr val="040F0F"/>
                </a:solidFill>
                <a:latin typeface="Lexend"/>
                <a:ea typeface="Lexend"/>
                <a:cs typeface="Lexend"/>
                <a:sym typeface="Lexend"/>
              </a:rPr>
              <a:t>2. O Canal</a:t>
            </a:r>
            <a:endParaRPr b="0" i="0" sz="2160" u="none" cap="none" strike="noStrike">
              <a:solidFill>
                <a:schemeClr val="dk1"/>
              </a:solidFill>
              <a:latin typeface="Calibri"/>
              <a:ea typeface="Calibri"/>
              <a:cs typeface="Calibri"/>
              <a:sym typeface="Calibri"/>
            </a:endParaRPr>
          </a:p>
          <a:p>
            <a:pPr indent="0" lvl="0" marL="0" marR="0" rtl="0" algn="l">
              <a:lnSpc>
                <a:spcPct val="116666"/>
              </a:lnSpc>
              <a:spcBef>
                <a:spcPts val="81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Trata-se de um e-mail oficial, canal corporativo ou rede social?</a:t>
            </a:r>
            <a:endParaRPr b="0" i="0" sz="2160" u="none" cap="none" strike="noStrike">
              <a:solidFill>
                <a:schemeClr val="dk1"/>
              </a:solidFill>
              <a:latin typeface="Calibri"/>
              <a:ea typeface="Calibri"/>
              <a:cs typeface="Calibri"/>
              <a:sym typeface="Calibri"/>
            </a:endParaRPr>
          </a:p>
        </p:txBody>
      </p:sp>
      <p:sp>
        <p:nvSpPr>
          <p:cNvPr id="418" name="Google Shape;418;p37"/>
          <p:cNvSpPr/>
          <p:nvPr/>
        </p:nvSpPr>
        <p:spPr>
          <a:xfrm>
            <a:off x="274320" y="3051810"/>
            <a:ext cx="4206240" cy="1851660"/>
          </a:xfrm>
          <a:prstGeom prst="roundRect">
            <a:avLst>
              <a:gd fmla="val 7407" name="adj"/>
            </a:avLst>
          </a:prstGeom>
          <a:solidFill>
            <a:srgbClr val="FFFFFF">
              <a:alpha val="40000"/>
            </a:srgbClr>
          </a:solidFill>
          <a:ln cap="flat" cmpd="sng" w="11425">
            <a:solidFill>
              <a:srgbClr val="B9BC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forge/chalkie-production-workers-2/releases/78214720/backend/storage/app/render-specs/a150a017-74b3-45d2-90a1-ee5e1050d2e7/img_775b1d8a48339b494ac27b82ebb3d8eb.png" id="419" name="Google Shape;419;p37"/>
          <p:cNvPicPr preferRelativeResize="0"/>
          <p:nvPr/>
        </p:nvPicPr>
        <p:blipFill rotWithShape="1">
          <a:blip r:embed="rId6">
            <a:alphaModFix/>
          </a:blip>
          <a:srcRect b="0" l="0" r="0" t="0"/>
          <a:stretch/>
        </p:blipFill>
        <p:spPr>
          <a:xfrm>
            <a:off x="422910" y="3200400"/>
            <a:ext cx="548640" cy="548640"/>
          </a:xfrm>
          <a:prstGeom prst="rect">
            <a:avLst/>
          </a:prstGeom>
          <a:noFill/>
          <a:ln>
            <a:noFill/>
          </a:ln>
        </p:spPr>
      </p:pic>
      <p:sp>
        <p:nvSpPr>
          <p:cNvPr id="420" name="Google Shape;420;p37"/>
          <p:cNvSpPr/>
          <p:nvPr/>
        </p:nvSpPr>
        <p:spPr>
          <a:xfrm>
            <a:off x="1062990" y="3200400"/>
            <a:ext cx="3268980" cy="1554480"/>
          </a:xfrm>
          <a:prstGeom prst="rect">
            <a:avLst/>
          </a:prstGeom>
          <a:noFill/>
          <a:ln>
            <a:noFill/>
          </a:ln>
        </p:spPr>
        <p:txBody>
          <a:bodyPr anchorCtr="0" anchor="t" bIns="45700" lIns="45700" spcFirstLastPara="1" rIns="45700" wrap="square" tIns="45700">
            <a:noAutofit/>
          </a:bodyPr>
          <a:lstStyle/>
          <a:p>
            <a:pPr indent="0" lvl="0" marL="0" marR="0" rtl="0" algn="l">
              <a:lnSpc>
                <a:spcPct val="116666"/>
              </a:lnSpc>
              <a:spcBef>
                <a:spcPts val="0"/>
              </a:spcBef>
              <a:spcAft>
                <a:spcPts val="0"/>
              </a:spcAft>
              <a:buClr>
                <a:srgbClr val="040F0F"/>
              </a:buClr>
              <a:buSzPts val="2160"/>
              <a:buFont typeface="Lexend"/>
              <a:buNone/>
            </a:pPr>
            <a:r>
              <a:rPr b="1" i="0" lang="en-US" sz="2160" u="none" cap="none" strike="noStrike">
                <a:solidFill>
                  <a:srgbClr val="040F0F"/>
                </a:solidFill>
                <a:latin typeface="Lexend"/>
                <a:ea typeface="Lexend"/>
                <a:cs typeface="Lexend"/>
                <a:sym typeface="Lexend"/>
              </a:rPr>
              <a:t>3. A Clareza</a:t>
            </a:r>
            <a:endParaRPr b="0" i="0" sz="2160" u="none" cap="none" strike="noStrike">
              <a:solidFill>
                <a:schemeClr val="dk1"/>
              </a:solidFill>
              <a:latin typeface="Calibri"/>
              <a:ea typeface="Calibri"/>
              <a:cs typeface="Calibri"/>
              <a:sym typeface="Calibri"/>
            </a:endParaRPr>
          </a:p>
          <a:p>
            <a:pPr indent="0" lvl="0" marL="0" marR="0" rtl="0" algn="l">
              <a:lnSpc>
                <a:spcPct val="116666"/>
              </a:lnSpc>
              <a:spcBef>
                <a:spcPts val="81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O texto pode gerar dupla interpretação ou soar ríspido sem necessidade?</a:t>
            </a:r>
            <a:endParaRPr b="0" i="0" sz="2160" u="none" cap="none" strike="noStrike">
              <a:solidFill>
                <a:schemeClr val="dk1"/>
              </a:solidFill>
              <a:latin typeface="Calibri"/>
              <a:ea typeface="Calibri"/>
              <a:cs typeface="Calibri"/>
              <a:sym typeface="Calibri"/>
            </a:endParaRPr>
          </a:p>
        </p:txBody>
      </p:sp>
      <p:sp>
        <p:nvSpPr>
          <p:cNvPr id="421" name="Google Shape;421;p37"/>
          <p:cNvSpPr/>
          <p:nvPr/>
        </p:nvSpPr>
        <p:spPr>
          <a:xfrm>
            <a:off x="4663440" y="3051810"/>
            <a:ext cx="4206240" cy="1851660"/>
          </a:xfrm>
          <a:prstGeom prst="roundRect">
            <a:avLst>
              <a:gd fmla="val 7407" name="adj"/>
            </a:avLst>
          </a:prstGeom>
          <a:solidFill>
            <a:srgbClr val="FFFFFF">
              <a:alpha val="40000"/>
            </a:srgbClr>
          </a:solidFill>
          <a:ln cap="flat" cmpd="sng" w="11425">
            <a:solidFill>
              <a:srgbClr val="B9BC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forge/chalkie-production-workers-2/releases/78214720/backend/storage/app/render-specs/a150a017-74b3-45d2-90a1-ee5e1050d2e7/img_e620cb94076a56a60565fbd674acf34f.png" id="422" name="Google Shape;422;p37"/>
          <p:cNvPicPr preferRelativeResize="0"/>
          <p:nvPr/>
        </p:nvPicPr>
        <p:blipFill rotWithShape="1">
          <a:blip r:embed="rId7">
            <a:alphaModFix/>
          </a:blip>
          <a:srcRect b="0" l="0" r="0" t="0"/>
          <a:stretch/>
        </p:blipFill>
        <p:spPr>
          <a:xfrm>
            <a:off x="4812030" y="3200400"/>
            <a:ext cx="548640" cy="548640"/>
          </a:xfrm>
          <a:prstGeom prst="rect">
            <a:avLst/>
          </a:prstGeom>
          <a:noFill/>
          <a:ln>
            <a:noFill/>
          </a:ln>
        </p:spPr>
      </p:pic>
      <p:sp>
        <p:nvSpPr>
          <p:cNvPr id="423" name="Google Shape;423;p37"/>
          <p:cNvSpPr/>
          <p:nvPr/>
        </p:nvSpPr>
        <p:spPr>
          <a:xfrm>
            <a:off x="5452110" y="3200400"/>
            <a:ext cx="3268980" cy="1554480"/>
          </a:xfrm>
          <a:prstGeom prst="rect">
            <a:avLst/>
          </a:prstGeom>
          <a:noFill/>
          <a:ln>
            <a:noFill/>
          </a:ln>
        </p:spPr>
        <p:txBody>
          <a:bodyPr anchorCtr="0" anchor="t" bIns="45700" lIns="45700" spcFirstLastPara="1" rIns="45700" wrap="square" tIns="45700">
            <a:noAutofit/>
          </a:bodyPr>
          <a:lstStyle/>
          <a:p>
            <a:pPr indent="0" lvl="0" marL="0" marR="0" rtl="0" algn="l">
              <a:lnSpc>
                <a:spcPct val="116666"/>
              </a:lnSpc>
              <a:spcBef>
                <a:spcPts val="0"/>
              </a:spcBef>
              <a:spcAft>
                <a:spcPts val="0"/>
              </a:spcAft>
              <a:buClr>
                <a:srgbClr val="040F0F"/>
              </a:buClr>
              <a:buSzPts val="2160"/>
              <a:buFont typeface="Lexend"/>
              <a:buNone/>
            </a:pPr>
            <a:r>
              <a:rPr b="1" i="0" lang="en-US" sz="2160" u="none" cap="none" strike="noStrike">
                <a:solidFill>
                  <a:srgbClr val="040F0F"/>
                </a:solidFill>
                <a:latin typeface="Lexend"/>
                <a:ea typeface="Lexend"/>
                <a:cs typeface="Lexend"/>
                <a:sym typeface="Lexend"/>
              </a:rPr>
              <a:t>4. O Registro Final</a:t>
            </a:r>
            <a:endParaRPr b="0" i="0" sz="2160" u="none" cap="none" strike="noStrike">
              <a:solidFill>
                <a:schemeClr val="dk1"/>
              </a:solidFill>
              <a:latin typeface="Calibri"/>
              <a:ea typeface="Calibri"/>
              <a:cs typeface="Calibri"/>
              <a:sym typeface="Calibri"/>
            </a:endParaRPr>
          </a:p>
          <a:p>
            <a:pPr indent="0" lvl="0" marL="0" marR="0" rtl="0" algn="l">
              <a:lnSpc>
                <a:spcPct val="116666"/>
              </a:lnSpc>
              <a:spcBef>
                <a:spcPts val="81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A linguagem preserva o respeito e atende aos objetivos pretendidos?</a:t>
            </a:r>
            <a:endParaRPr b="0" i="0" sz="216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28" name="Shape 428"/>
        <p:cNvGrpSpPr/>
        <p:nvPr/>
      </p:nvGrpSpPr>
      <p:grpSpPr>
        <a:xfrm>
          <a:off x="0" y="0"/>
          <a:ext cx="0" cy="0"/>
          <a:chOff x="0" y="0"/>
          <a:chExt cx="0" cy="0"/>
        </a:xfrm>
      </p:grpSpPr>
      <p:sp>
        <p:nvSpPr>
          <p:cNvPr id="429" name="Google Shape;429;p38"/>
          <p:cNvSpPr/>
          <p:nvPr/>
        </p:nvSpPr>
        <p:spPr>
          <a:xfrm>
            <a:off x="845820" y="182880"/>
            <a:ext cx="7463790" cy="651510"/>
          </a:xfrm>
          <a:prstGeom prst="rect">
            <a:avLst/>
          </a:prstGeom>
          <a:noFill/>
          <a:ln>
            <a:noFill/>
          </a:ln>
        </p:spPr>
        <p:txBody>
          <a:bodyPr anchorCtr="0" anchor="t" bIns="45700" lIns="45700" spcFirstLastPara="1" rIns="45700" wrap="square" tIns="45700">
            <a:noAutofit/>
          </a:bodyPr>
          <a:lstStyle/>
          <a:p>
            <a:pPr indent="0" lvl="0" marL="0" marR="0" rtl="0" algn="ctr">
              <a:lnSpc>
                <a:spcPct val="100000"/>
              </a:lnSpc>
              <a:spcBef>
                <a:spcPts val="0"/>
              </a:spcBef>
              <a:spcAft>
                <a:spcPts val="0"/>
              </a:spcAft>
              <a:buClr>
                <a:srgbClr val="040F0F"/>
              </a:buClr>
              <a:buSzPts val="2880"/>
              <a:buFont typeface="Lexend"/>
              <a:buNone/>
            </a:pPr>
            <a:r>
              <a:rPr b="1" i="0" lang="en-US" sz="2880" u="none" cap="none" strike="noStrike">
                <a:solidFill>
                  <a:srgbClr val="040F0F"/>
                </a:solidFill>
                <a:latin typeface="Lexend"/>
                <a:ea typeface="Lexend"/>
                <a:cs typeface="Lexend"/>
                <a:sym typeface="Lexend"/>
              </a:rPr>
              <a:t>A Flexibilidade do Bom Comunicador</a:t>
            </a:r>
            <a:endParaRPr b="0" i="0" sz="2880" u="none" cap="none" strike="noStrike">
              <a:solidFill>
                <a:schemeClr val="dk1"/>
              </a:solidFill>
              <a:latin typeface="Calibri"/>
              <a:ea typeface="Calibri"/>
              <a:cs typeface="Calibri"/>
              <a:sym typeface="Calibri"/>
            </a:endParaRPr>
          </a:p>
        </p:txBody>
      </p:sp>
      <p:pic>
        <p:nvPicPr>
          <p:cNvPr descr="/home/forge/chalkie-production-workers-2/releases/78214720/backend/storage/app/render-specs/a150a017-74b3-45d2-90a1-ee5e1050d2e7/img_c9ff25ced46b99c2b38f999bfb43484f.png" id="430" name="Google Shape;430;p38"/>
          <p:cNvPicPr preferRelativeResize="0"/>
          <p:nvPr/>
        </p:nvPicPr>
        <p:blipFill rotWithShape="1">
          <a:blip r:embed="rId4">
            <a:alphaModFix/>
          </a:blip>
          <a:srcRect b="0" l="0" r="0" t="0"/>
          <a:stretch/>
        </p:blipFill>
        <p:spPr>
          <a:xfrm>
            <a:off x="274320" y="925830"/>
            <a:ext cx="8595360" cy="3086100"/>
          </a:xfrm>
          <a:prstGeom prst="roundRect">
            <a:avLst>
              <a:gd fmla="val 4444" name="adj"/>
            </a:avLst>
          </a:prstGeom>
          <a:noFill/>
          <a:ln>
            <a:noFill/>
          </a:ln>
        </p:spPr>
      </p:pic>
      <p:sp>
        <p:nvSpPr>
          <p:cNvPr id="431" name="Google Shape;431;p38"/>
          <p:cNvSpPr/>
          <p:nvPr/>
        </p:nvSpPr>
        <p:spPr>
          <a:xfrm>
            <a:off x="274320" y="4103370"/>
            <a:ext cx="8595360" cy="765810"/>
          </a:xfrm>
          <a:prstGeom prst="rect">
            <a:avLst/>
          </a:prstGeom>
          <a:noFill/>
          <a:ln>
            <a:noFill/>
          </a:ln>
        </p:spPr>
        <p:txBody>
          <a:bodyPr anchorCtr="0" anchor="t" bIns="45700" lIns="45700" spcFirstLastPara="1" rIns="45700" wrap="square" tIns="45700">
            <a:noAutofit/>
          </a:bodyPr>
          <a:lstStyle/>
          <a:p>
            <a:pPr indent="0" lvl="0" marL="0" marR="0" rtl="0" algn="ctr">
              <a:lnSpc>
                <a:spcPct val="116666"/>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Dominar registros diferentes não significa abandonar sua essência, mas ter a chave certa para abrir cada porta no mundo real.</a:t>
            </a:r>
            <a:endParaRPr b="0" i="0" sz="162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36" name="Shape 436"/>
        <p:cNvGrpSpPr/>
        <p:nvPr/>
      </p:nvGrpSpPr>
      <p:grpSpPr>
        <a:xfrm>
          <a:off x="0" y="0"/>
          <a:ext cx="0" cy="0"/>
          <a:chOff x="0" y="0"/>
          <a:chExt cx="0" cy="0"/>
        </a:xfrm>
      </p:grpSpPr>
      <p:sp>
        <p:nvSpPr>
          <p:cNvPr id="437" name="Google Shape;437;p39"/>
          <p:cNvSpPr/>
          <p:nvPr/>
        </p:nvSpPr>
        <p:spPr>
          <a:xfrm>
            <a:off x="274320" y="182880"/>
            <a:ext cx="8595360" cy="651510"/>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2880"/>
              <a:buFont typeface="Lexend"/>
              <a:buNone/>
            </a:pPr>
            <a:r>
              <a:rPr b="1" i="0" lang="en-US" sz="2880" u="none" cap="none" strike="noStrike">
                <a:solidFill>
                  <a:srgbClr val="040F0F"/>
                </a:solidFill>
                <a:latin typeface="Lexend"/>
                <a:ea typeface="Lexend"/>
                <a:cs typeface="Lexend"/>
                <a:sym typeface="Lexend"/>
              </a:rPr>
              <a:t>Síntese dos Conceitos Principais</a:t>
            </a:r>
            <a:endParaRPr b="0" i="0" sz="2880" u="none" cap="none" strike="noStrike">
              <a:solidFill>
                <a:schemeClr val="dk1"/>
              </a:solidFill>
              <a:latin typeface="Calibri"/>
              <a:ea typeface="Calibri"/>
              <a:cs typeface="Calibri"/>
              <a:sym typeface="Calibri"/>
            </a:endParaRPr>
          </a:p>
        </p:txBody>
      </p:sp>
      <p:sp>
        <p:nvSpPr>
          <p:cNvPr id="438" name="Google Shape;438;p39"/>
          <p:cNvSpPr/>
          <p:nvPr/>
        </p:nvSpPr>
        <p:spPr>
          <a:xfrm>
            <a:off x="274320" y="1303020"/>
            <a:ext cx="8595360" cy="971550"/>
          </a:xfrm>
          <a:prstGeom prst="roundRect">
            <a:avLst>
              <a:gd fmla="val 14118" name="adj"/>
            </a:avLst>
          </a:prstGeom>
          <a:solidFill>
            <a:srgbClr val="FFFFFF">
              <a:alpha val="40000"/>
            </a:srgbClr>
          </a:solidFill>
          <a:ln cap="flat" cmpd="sng" w="11425">
            <a:solidFill>
              <a:srgbClr val="040F0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39"/>
          <p:cNvSpPr/>
          <p:nvPr/>
        </p:nvSpPr>
        <p:spPr>
          <a:xfrm>
            <a:off x="468630" y="1565910"/>
            <a:ext cx="457200" cy="457200"/>
          </a:xfrm>
          <a:prstGeom prst="roundRect">
            <a:avLst>
              <a:gd fmla="val 50000" name="adj"/>
            </a:avLst>
          </a:prstGeom>
          <a:solidFill>
            <a:srgbClr val="040F0F"/>
          </a:solidFill>
          <a:ln>
            <a:noFill/>
          </a:ln>
        </p:spPr>
        <p:txBody>
          <a:bodyPr anchorCtr="0" anchor="ctr" bIns="0" lIns="0" spcFirstLastPara="1" rIns="0" wrap="square" tIns="0">
            <a:noAutofit/>
          </a:bodyPr>
          <a:lstStyle/>
          <a:p>
            <a:pPr indent="0" lvl="0" marL="0" marR="0" rtl="0" algn="ctr">
              <a:lnSpc>
                <a:spcPct val="83333"/>
              </a:lnSpc>
              <a:spcBef>
                <a:spcPts val="0"/>
              </a:spcBef>
              <a:spcAft>
                <a:spcPts val="0"/>
              </a:spcAft>
              <a:buClr>
                <a:srgbClr val="FFFFFF"/>
              </a:buClr>
              <a:buSzPts val="1620"/>
              <a:buFont typeface="Lexend"/>
              <a:buNone/>
            </a:pPr>
            <a:r>
              <a:rPr b="1" i="0" lang="en-US" sz="1620" u="none" cap="none" strike="noStrike">
                <a:solidFill>
                  <a:srgbClr val="FFFFFF"/>
                </a:solidFill>
                <a:latin typeface="Lexend"/>
                <a:ea typeface="Lexend"/>
                <a:cs typeface="Lexend"/>
                <a:sym typeface="Lexend"/>
              </a:rPr>
              <a:t>1</a:t>
            </a:r>
            <a:endParaRPr b="0" i="0" sz="1620" u="none" cap="none" strike="noStrike">
              <a:solidFill>
                <a:schemeClr val="dk1"/>
              </a:solidFill>
              <a:latin typeface="Calibri"/>
              <a:ea typeface="Calibri"/>
              <a:cs typeface="Calibri"/>
              <a:sym typeface="Calibri"/>
            </a:endParaRPr>
          </a:p>
        </p:txBody>
      </p:sp>
      <p:sp>
        <p:nvSpPr>
          <p:cNvPr id="440" name="Google Shape;440;p39"/>
          <p:cNvSpPr/>
          <p:nvPr/>
        </p:nvSpPr>
        <p:spPr>
          <a:xfrm>
            <a:off x="1108710" y="1405890"/>
            <a:ext cx="7566660" cy="765810"/>
          </a:xfrm>
          <a:prstGeom prst="rect">
            <a:avLst/>
          </a:prstGeom>
          <a:noFill/>
          <a:ln>
            <a:noFill/>
          </a:ln>
        </p:spPr>
        <p:txBody>
          <a:bodyPr anchorCtr="0" anchor="t" bIns="45700" lIns="45700" spcFirstLastPara="1" rIns="45700" wrap="square" tIns="45700">
            <a:noAutofit/>
          </a:bodyPr>
          <a:lstStyle/>
          <a:p>
            <a:pPr indent="0" lvl="0" marL="0" marR="0" rtl="0" algn="l">
              <a:lnSpc>
                <a:spcPct val="116666"/>
              </a:lnSpc>
              <a:spcBef>
                <a:spcPts val="0"/>
              </a:spcBef>
              <a:spcAft>
                <a:spcPts val="0"/>
              </a:spcAft>
              <a:buClr>
                <a:srgbClr val="040F0F"/>
              </a:buClr>
              <a:buSzPts val="1620"/>
              <a:buFont typeface="Lexend"/>
              <a:buNone/>
            </a:pPr>
            <a:r>
              <a:rPr b="1" i="0" lang="en-US" sz="1620" u="none" cap="none" strike="noStrike">
                <a:solidFill>
                  <a:srgbClr val="040F0F"/>
                </a:solidFill>
                <a:latin typeface="Lexend"/>
                <a:ea typeface="Lexend"/>
                <a:cs typeface="Lexend"/>
                <a:sym typeface="Lexend"/>
              </a:rPr>
              <a:t>Contexto manda:</a:t>
            </a:r>
            <a:r>
              <a:rPr b="0" i="0" lang="en-US" sz="1620" u="none" cap="none" strike="noStrike">
                <a:solidFill>
                  <a:srgbClr val="040F0F"/>
                </a:solidFill>
                <a:latin typeface="Lexend"/>
                <a:ea typeface="Lexend"/>
                <a:cs typeface="Lexend"/>
                <a:sym typeface="Lexend"/>
              </a:rPr>
              <a:t> A adequação linguística depende sempre do ambiente, público e propósito.</a:t>
            </a:r>
            <a:endParaRPr b="0" i="0" sz="1620" u="none" cap="none" strike="noStrike">
              <a:solidFill>
                <a:schemeClr val="dk1"/>
              </a:solidFill>
              <a:latin typeface="Calibri"/>
              <a:ea typeface="Calibri"/>
              <a:cs typeface="Calibri"/>
              <a:sym typeface="Calibri"/>
            </a:endParaRPr>
          </a:p>
        </p:txBody>
      </p:sp>
      <p:sp>
        <p:nvSpPr>
          <p:cNvPr id="441" name="Google Shape;441;p39"/>
          <p:cNvSpPr/>
          <p:nvPr/>
        </p:nvSpPr>
        <p:spPr>
          <a:xfrm>
            <a:off x="274320" y="2457450"/>
            <a:ext cx="8595360" cy="971550"/>
          </a:xfrm>
          <a:prstGeom prst="roundRect">
            <a:avLst>
              <a:gd fmla="val 14118" name="adj"/>
            </a:avLst>
          </a:prstGeom>
          <a:solidFill>
            <a:srgbClr val="FFFFFF">
              <a:alpha val="40000"/>
            </a:srgbClr>
          </a:solidFill>
          <a:ln cap="flat" cmpd="sng" w="11425">
            <a:solidFill>
              <a:srgbClr val="040F0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39"/>
          <p:cNvSpPr/>
          <p:nvPr/>
        </p:nvSpPr>
        <p:spPr>
          <a:xfrm>
            <a:off x="468630" y="2720340"/>
            <a:ext cx="457200" cy="457200"/>
          </a:xfrm>
          <a:prstGeom prst="roundRect">
            <a:avLst>
              <a:gd fmla="val 50000" name="adj"/>
            </a:avLst>
          </a:prstGeom>
          <a:solidFill>
            <a:srgbClr val="040F0F"/>
          </a:solidFill>
          <a:ln>
            <a:noFill/>
          </a:ln>
        </p:spPr>
        <p:txBody>
          <a:bodyPr anchorCtr="0" anchor="ctr" bIns="0" lIns="0" spcFirstLastPara="1" rIns="0" wrap="square" tIns="0">
            <a:noAutofit/>
          </a:bodyPr>
          <a:lstStyle/>
          <a:p>
            <a:pPr indent="0" lvl="0" marL="0" marR="0" rtl="0" algn="ctr">
              <a:lnSpc>
                <a:spcPct val="83333"/>
              </a:lnSpc>
              <a:spcBef>
                <a:spcPts val="0"/>
              </a:spcBef>
              <a:spcAft>
                <a:spcPts val="0"/>
              </a:spcAft>
              <a:buClr>
                <a:srgbClr val="FFFFFF"/>
              </a:buClr>
              <a:buSzPts val="1620"/>
              <a:buFont typeface="Lexend"/>
              <a:buNone/>
            </a:pPr>
            <a:r>
              <a:rPr b="1" i="0" lang="en-US" sz="1620" u="none" cap="none" strike="noStrike">
                <a:solidFill>
                  <a:srgbClr val="FFFFFF"/>
                </a:solidFill>
                <a:latin typeface="Lexend"/>
                <a:ea typeface="Lexend"/>
                <a:cs typeface="Lexend"/>
                <a:sym typeface="Lexend"/>
              </a:rPr>
              <a:t>2</a:t>
            </a:r>
            <a:endParaRPr b="0" i="0" sz="1620" u="none" cap="none" strike="noStrike">
              <a:solidFill>
                <a:schemeClr val="dk1"/>
              </a:solidFill>
              <a:latin typeface="Calibri"/>
              <a:ea typeface="Calibri"/>
              <a:cs typeface="Calibri"/>
              <a:sym typeface="Calibri"/>
            </a:endParaRPr>
          </a:p>
        </p:txBody>
      </p:sp>
      <p:sp>
        <p:nvSpPr>
          <p:cNvPr id="443" name="Google Shape;443;p39"/>
          <p:cNvSpPr/>
          <p:nvPr/>
        </p:nvSpPr>
        <p:spPr>
          <a:xfrm>
            <a:off x="1108710" y="2560320"/>
            <a:ext cx="7566660" cy="765810"/>
          </a:xfrm>
          <a:prstGeom prst="rect">
            <a:avLst/>
          </a:prstGeom>
          <a:noFill/>
          <a:ln>
            <a:noFill/>
          </a:ln>
        </p:spPr>
        <p:txBody>
          <a:bodyPr anchorCtr="0" anchor="t" bIns="45700" lIns="45700" spcFirstLastPara="1" rIns="45700" wrap="square" tIns="45700">
            <a:noAutofit/>
          </a:bodyPr>
          <a:lstStyle/>
          <a:p>
            <a:pPr indent="0" lvl="0" marL="0" marR="0" rtl="0" algn="l">
              <a:lnSpc>
                <a:spcPct val="116666"/>
              </a:lnSpc>
              <a:spcBef>
                <a:spcPts val="0"/>
              </a:spcBef>
              <a:spcAft>
                <a:spcPts val="0"/>
              </a:spcAft>
              <a:buClr>
                <a:srgbClr val="040F0F"/>
              </a:buClr>
              <a:buSzPts val="1620"/>
              <a:buFont typeface="Lexend"/>
              <a:buNone/>
            </a:pPr>
            <a:r>
              <a:rPr b="1" i="0" lang="en-US" sz="1620" u="none" cap="none" strike="noStrike">
                <a:solidFill>
                  <a:srgbClr val="040F0F"/>
                </a:solidFill>
                <a:latin typeface="Lexend"/>
                <a:ea typeface="Lexend"/>
                <a:cs typeface="Lexend"/>
                <a:sym typeface="Lexend"/>
              </a:rPr>
              <a:t>Nem gíria nem pedantismo:</a:t>
            </a:r>
            <a:r>
              <a:rPr b="0" i="0" lang="en-US" sz="1620" u="none" cap="none" strike="noStrike">
                <a:solidFill>
                  <a:srgbClr val="040F0F"/>
                </a:solidFill>
                <a:latin typeface="Lexend"/>
                <a:ea typeface="Lexend"/>
                <a:cs typeface="Lexend"/>
                <a:sym typeface="Lexend"/>
              </a:rPr>
              <a:t> Fuja tanto do desleixo coloquial quanto da hipercorreção artificial.</a:t>
            </a:r>
            <a:endParaRPr b="0" i="0" sz="1620" u="none" cap="none" strike="noStrike">
              <a:solidFill>
                <a:schemeClr val="dk1"/>
              </a:solidFill>
              <a:latin typeface="Calibri"/>
              <a:ea typeface="Calibri"/>
              <a:cs typeface="Calibri"/>
              <a:sym typeface="Calibri"/>
            </a:endParaRPr>
          </a:p>
        </p:txBody>
      </p:sp>
      <p:sp>
        <p:nvSpPr>
          <p:cNvPr id="444" name="Google Shape;444;p39"/>
          <p:cNvSpPr/>
          <p:nvPr/>
        </p:nvSpPr>
        <p:spPr>
          <a:xfrm>
            <a:off x="274320" y="3611880"/>
            <a:ext cx="8595360" cy="971550"/>
          </a:xfrm>
          <a:prstGeom prst="roundRect">
            <a:avLst>
              <a:gd fmla="val 14118" name="adj"/>
            </a:avLst>
          </a:prstGeom>
          <a:solidFill>
            <a:srgbClr val="FFFFFF">
              <a:alpha val="40000"/>
            </a:srgbClr>
          </a:solidFill>
          <a:ln cap="flat" cmpd="sng" w="11425">
            <a:solidFill>
              <a:srgbClr val="040F0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39"/>
          <p:cNvSpPr/>
          <p:nvPr/>
        </p:nvSpPr>
        <p:spPr>
          <a:xfrm>
            <a:off x="468630" y="3874770"/>
            <a:ext cx="457200" cy="457200"/>
          </a:xfrm>
          <a:prstGeom prst="roundRect">
            <a:avLst>
              <a:gd fmla="val 50000" name="adj"/>
            </a:avLst>
          </a:prstGeom>
          <a:solidFill>
            <a:srgbClr val="040F0F"/>
          </a:solidFill>
          <a:ln>
            <a:noFill/>
          </a:ln>
        </p:spPr>
        <p:txBody>
          <a:bodyPr anchorCtr="0" anchor="ctr" bIns="0" lIns="0" spcFirstLastPara="1" rIns="0" wrap="square" tIns="0">
            <a:noAutofit/>
          </a:bodyPr>
          <a:lstStyle/>
          <a:p>
            <a:pPr indent="0" lvl="0" marL="0" marR="0" rtl="0" algn="ctr">
              <a:lnSpc>
                <a:spcPct val="83333"/>
              </a:lnSpc>
              <a:spcBef>
                <a:spcPts val="0"/>
              </a:spcBef>
              <a:spcAft>
                <a:spcPts val="0"/>
              </a:spcAft>
              <a:buClr>
                <a:srgbClr val="FFFFFF"/>
              </a:buClr>
              <a:buSzPts val="1620"/>
              <a:buFont typeface="Lexend"/>
              <a:buNone/>
            </a:pPr>
            <a:r>
              <a:rPr b="1" i="0" lang="en-US" sz="1620" u="none" cap="none" strike="noStrike">
                <a:solidFill>
                  <a:srgbClr val="FFFFFF"/>
                </a:solidFill>
                <a:latin typeface="Lexend"/>
                <a:ea typeface="Lexend"/>
                <a:cs typeface="Lexend"/>
                <a:sym typeface="Lexend"/>
              </a:rPr>
              <a:t>3</a:t>
            </a:r>
            <a:endParaRPr b="0" i="0" sz="1620" u="none" cap="none" strike="noStrike">
              <a:solidFill>
                <a:schemeClr val="dk1"/>
              </a:solidFill>
              <a:latin typeface="Calibri"/>
              <a:ea typeface="Calibri"/>
              <a:cs typeface="Calibri"/>
              <a:sym typeface="Calibri"/>
            </a:endParaRPr>
          </a:p>
        </p:txBody>
      </p:sp>
      <p:sp>
        <p:nvSpPr>
          <p:cNvPr id="446" name="Google Shape;446;p39"/>
          <p:cNvSpPr/>
          <p:nvPr/>
        </p:nvSpPr>
        <p:spPr>
          <a:xfrm>
            <a:off x="1108710" y="3714750"/>
            <a:ext cx="7566660" cy="765810"/>
          </a:xfrm>
          <a:prstGeom prst="rect">
            <a:avLst/>
          </a:prstGeom>
          <a:noFill/>
          <a:ln>
            <a:noFill/>
          </a:ln>
        </p:spPr>
        <p:txBody>
          <a:bodyPr anchorCtr="0" anchor="t" bIns="45700" lIns="45700" spcFirstLastPara="1" rIns="45700" wrap="square" tIns="45700">
            <a:noAutofit/>
          </a:bodyPr>
          <a:lstStyle/>
          <a:p>
            <a:pPr indent="0" lvl="0" marL="0" marR="0" rtl="0" algn="l">
              <a:lnSpc>
                <a:spcPct val="116666"/>
              </a:lnSpc>
              <a:spcBef>
                <a:spcPts val="0"/>
              </a:spcBef>
              <a:spcAft>
                <a:spcPts val="0"/>
              </a:spcAft>
              <a:buClr>
                <a:srgbClr val="040F0F"/>
              </a:buClr>
              <a:buSzPts val="1620"/>
              <a:buFont typeface="Lexend"/>
              <a:buNone/>
            </a:pPr>
            <a:r>
              <a:rPr b="1" i="0" lang="en-US" sz="1620" u="none" cap="none" strike="noStrike">
                <a:solidFill>
                  <a:srgbClr val="040F0F"/>
                </a:solidFill>
                <a:latin typeface="Lexend"/>
                <a:ea typeface="Lexend"/>
                <a:cs typeface="Lexend"/>
                <a:sym typeface="Lexend"/>
              </a:rPr>
              <a:t>Escrita requer zelo:</a:t>
            </a:r>
            <a:r>
              <a:rPr b="0" i="0" lang="en-US" sz="1620" u="none" cap="none" strike="noStrike">
                <a:solidFill>
                  <a:srgbClr val="040F0F"/>
                </a:solidFill>
                <a:latin typeface="Lexend"/>
                <a:ea typeface="Lexend"/>
                <a:cs typeface="Lexend"/>
                <a:sym typeface="Lexend"/>
              </a:rPr>
              <a:t> Textos formais exigem planejamento, pontuação rigorosa e impessoalidade.</a:t>
            </a:r>
            <a:endParaRPr b="0" i="0" sz="162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51" name="Shape 451"/>
        <p:cNvGrpSpPr/>
        <p:nvPr/>
      </p:nvGrpSpPr>
      <p:grpSpPr>
        <a:xfrm>
          <a:off x="0" y="0"/>
          <a:ext cx="0" cy="0"/>
          <a:chOff x="0" y="0"/>
          <a:chExt cx="0" cy="0"/>
        </a:xfrm>
      </p:grpSpPr>
      <p:pic>
        <p:nvPicPr>
          <p:cNvPr descr="/home/forge/chalkie-production-workers-2/releases/78214720/backend/storage/app/render-specs/a150a017-74b3-45d2-90a1-ee5e1050d2e7/img_88f2cf22d50efe57d124336ea25cb3a9.png" id="452" name="Google Shape;452;p40"/>
          <p:cNvPicPr preferRelativeResize="0"/>
          <p:nvPr/>
        </p:nvPicPr>
        <p:blipFill rotWithShape="1">
          <a:blip r:embed="rId4">
            <a:alphaModFix/>
          </a:blip>
          <a:srcRect b="0" l="0" r="0" t="0"/>
          <a:stretch/>
        </p:blipFill>
        <p:spPr>
          <a:xfrm>
            <a:off x="354330" y="651510"/>
            <a:ext cx="8332470" cy="4309110"/>
          </a:xfrm>
          <a:prstGeom prst="rect">
            <a:avLst/>
          </a:prstGeom>
          <a:noFill/>
          <a:ln>
            <a:noFill/>
          </a:ln>
        </p:spPr>
      </p:pic>
      <p:pic>
        <p:nvPicPr>
          <p:cNvPr descr="/home/forge/chalkie-production-workers-2/releases/78214720/backend/storage/app/render-specs/a150a017-74b3-45d2-90a1-ee5e1050d2e7/img_d60d00b514324e01fdbb0f2be198d99f.png" id="453" name="Google Shape;453;p40"/>
          <p:cNvPicPr preferRelativeResize="0"/>
          <p:nvPr/>
        </p:nvPicPr>
        <p:blipFill rotWithShape="1">
          <a:blip r:embed="rId5">
            <a:alphaModFix/>
          </a:blip>
          <a:srcRect b="0" l="0" r="0" t="0"/>
          <a:stretch/>
        </p:blipFill>
        <p:spPr>
          <a:xfrm>
            <a:off x="1303020" y="1657350"/>
            <a:ext cx="2834640" cy="2194560"/>
          </a:xfrm>
          <a:prstGeom prst="rect">
            <a:avLst/>
          </a:prstGeom>
          <a:noFill/>
          <a:ln>
            <a:noFill/>
          </a:ln>
        </p:spPr>
      </p:pic>
      <p:sp>
        <p:nvSpPr>
          <p:cNvPr id="454" name="Google Shape;454;p40"/>
          <p:cNvSpPr/>
          <p:nvPr/>
        </p:nvSpPr>
        <p:spPr>
          <a:xfrm>
            <a:off x="285750" y="171450"/>
            <a:ext cx="8572500" cy="644652"/>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2880"/>
              <a:buFont typeface="Lexend"/>
              <a:buNone/>
            </a:pPr>
            <a:r>
              <a:rPr b="1" i="0" lang="en-US" sz="2880" u="none" cap="none" strike="noStrike">
                <a:solidFill>
                  <a:srgbClr val="040F0F"/>
                </a:solidFill>
                <a:latin typeface="Lexend"/>
                <a:ea typeface="Lexend"/>
                <a:cs typeface="Lexend"/>
                <a:sym typeface="Lexend"/>
              </a:rPr>
              <a:t>Debate: O Tom em Meios Digitais</a:t>
            </a:r>
            <a:endParaRPr b="0" i="0" sz="2880" u="none" cap="none" strike="noStrike">
              <a:solidFill>
                <a:schemeClr val="dk1"/>
              </a:solidFill>
              <a:latin typeface="Calibri"/>
              <a:ea typeface="Calibri"/>
              <a:cs typeface="Calibri"/>
              <a:sym typeface="Calibri"/>
            </a:endParaRPr>
          </a:p>
        </p:txBody>
      </p:sp>
      <p:sp>
        <p:nvSpPr>
          <p:cNvPr id="455" name="Google Shape;455;p40"/>
          <p:cNvSpPr/>
          <p:nvPr/>
        </p:nvSpPr>
        <p:spPr>
          <a:xfrm>
            <a:off x="4297680" y="1828800"/>
            <a:ext cx="3726180" cy="1988820"/>
          </a:xfrm>
          <a:prstGeom prst="rect">
            <a:avLst/>
          </a:prstGeom>
          <a:no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Como você equilibra a agilidade exigida nas redes sociais e aplicativos com o profissionalismo necessário ao conversar com professores ou chefes?</a:t>
            </a:r>
            <a:endParaRPr b="0" i="0" sz="162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60" name="Shape 460"/>
        <p:cNvGrpSpPr/>
        <p:nvPr/>
      </p:nvGrpSpPr>
      <p:grpSpPr>
        <a:xfrm>
          <a:off x="0" y="0"/>
          <a:ext cx="0" cy="0"/>
          <a:chOff x="0" y="0"/>
          <a:chExt cx="0" cy="0"/>
        </a:xfrm>
      </p:grpSpPr>
      <p:pic>
        <p:nvPicPr>
          <p:cNvPr descr="/home/forge/chalkie-production-workers-2/releases/78214720/backend/storage/app/render-specs/a150a017-74b3-45d2-90a1-ee5e1050d2e7/img_88f2cf22d50efe57d124336ea25cb3a9.png" id="461" name="Google Shape;461;p41"/>
          <p:cNvPicPr preferRelativeResize="0"/>
          <p:nvPr/>
        </p:nvPicPr>
        <p:blipFill rotWithShape="1">
          <a:blip r:embed="rId4">
            <a:alphaModFix/>
          </a:blip>
          <a:srcRect b="0" l="0" r="0" t="0"/>
          <a:stretch/>
        </p:blipFill>
        <p:spPr>
          <a:xfrm>
            <a:off x="354330" y="651510"/>
            <a:ext cx="8332470" cy="4309110"/>
          </a:xfrm>
          <a:prstGeom prst="rect">
            <a:avLst/>
          </a:prstGeom>
          <a:noFill/>
          <a:ln>
            <a:noFill/>
          </a:ln>
        </p:spPr>
      </p:pic>
      <p:sp>
        <p:nvSpPr>
          <p:cNvPr id="462" name="Google Shape;462;p41"/>
          <p:cNvSpPr/>
          <p:nvPr/>
        </p:nvSpPr>
        <p:spPr>
          <a:xfrm>
            <a:off x="285750" y="171450"/>
            <a:ext cx="8572500" cy="644652"/>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2880"/>
              <a:buFont typeface="Lexend"/>
              <a:buNone/>
            </a:pPr>
            <a:r>
              <a:rPr b="1" i="0" lang="en-US" sz="2880" u="none" cap="none" strike="noStrike">
                <a:solidFill>
                  <a:srgbClr val="040F0F"/>
                </a:solidFill>
                <a:latin typeface="Lexend"/>
                <a:ea typeface="Lexend"/>
                <a:cs typeface="Lexend"/>
                <a:sym typeface="Lexend"/>
              </a:rPr>
              <a:t>Debate: O Tom em Meios Digitais</a:t>
            </a:r>
            <a:endParaRPr b="0" i="0" sz="2880" u="none" cap="none" strike="noStrike">
              <a:solidFill>
                <a:schemeClr val="dk1"/>
              </a:solidFill>
              <a:latin typeface="Calibri"/>
              <a:ea typeface="Calibri"/>
              <a:cs typeface="Calibri"/>
              <a:sym typeface="Calibri"/>
            </a:endParaRPr>
          </a:p>
        </p:txBody>
      </p:sp>
      <p:sp>
        <p:nvSpPr>
          <p:cNvPr id="463" name="Google Shape;463;p41"/>
          <p:cNvSpPr/>
          <p:nvPr/>
        </p:nvSpPr>
        <p:spPr>
          <a:xfrm>
            <a:off x="982980" y="1657350"/>
            <a:ext cx="7040880" cy="1988820"/>
          </a:xfrm>
          <a:prstGeom prst="rect">
            <a:avLst/>
          </a:prstGeom>
          <a:no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40F0F"/>
              </a:buClr>
              <a:buSzPts val="1620"/>
              <a:buFont typeface="Lexend"/>
              <a:buNone/>
            </a:pPr>
            <a:r>
              <a:rPr b="1" i="0" lang="en-US" sz="1620" u="none" cap="none" strike="noStrike">
                <a:solidFill>
                  <a:srgbClr val="040F0F"/>
                </a:solidFill>
                <a:latin typeface="Lexend"/>
                <a:ea typeface="Lexend"/>
                <a:cs typeface="Lexend"/>
                <a:sym typeface="Lexend"/>
              </a:rPr>
              <a:t>Você poderia ter dito...</a:t>
            </a:r>
            <a:endParaRPr b="0" i="0" sz="1620" u="none" cap="none" strike="noStrike">
              <a:solidFill>
                <a:schemeClr val="dk1"/>
              </a:solidFill>
              <a:latin typeface="Calibri"/>
              <a:ea typeface="Calibri"/>
              <a:cs typeface="Calibri"/>
              <a:sym typeface="Calibri"/>
            </a:endParaRPr>
          </a:p>
          <a:p>
            <a:pPr indent="0" lvl="0" marL="0" marR="0" rtl="0" algn="ctr">
              <a:lnSpc>
                <a:spcPct val="100000"/>
              </a:lnSpc>
              <a:spcBef>
                <a:spcPts val="72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Planejando a resposta antes de enviar.</a:t>
            </a:r>
            <a:endParaRPr b="0" i="0" sz="1620" u="none" cap="none" strike="noStrike">
              <a:solidFill>
                <a:schemeClr val="dk1"/>
              </a:solidFill>
              <a:latin typeface="Calibri"/>
              <a:ea typeface="Calibri"/>
              <a:cs typeface="Calibri"/>
              <a:sym typeface="Calibri"/>
            </a:endParaRPr>
          </a:p>
          <a:p>
            <a:pPr indent="0" lvl="0" marL="0" marR="0" rtl="0" algn="ctr">
              <a:lnSpc>
                <a:spcPct val="100000"/>
              </a:lnSpc>
              <a:spcBef>
                <a:spcPts val="72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Evitando abreviações e gírias desnecessárias.</a:t>
            </a:r>
            <a:endParaRPr b="0" i="0" sz="1620" u="none" cap="none" strike="noStrike">
              <a:solidFill>
                <a:schemeClr val="dk1"/>
              </a:solidFill>
              <a:latin typeface="Calibri"/>
              <a:ea typeface="Calibri"/>
              <a:cs typeface="Calibri"/>
              <a:sym typeface="Calibri"/>
            </a:endParaRPr>
          </a:p>
          <a:p>
            <a:pPr indent="0" lvl="0" marL="0" marR="0" rtl="0" algn="ctr">
              <a:lnSpc>
                <a:spcPct val="100000"/>
              </a:lnSpc>
              <a:spcBef>
                <a:spcPts val="72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Adequando a saudação ao cargo e proximidade.</a:t>
            </a:r>
            <a:endParaRPr b="0" i="0" sz="1620" u="none" cap="none" strike="noStrike">
              <a:solidFill>
                <a:schemeClr val="dk1"/>
              </a:solidFill>
              <a:latin typeface="Calibri"/>
              <a:ea typeface="Calibri"/>
              <a:cs typeface="Calibri"/>
              <a:sym typeface="Calibri"/>
            </a:endParaRPr>
          </a:p>
          <a:p>
            <a:pPr indent="0" lvl="0" marL="0" marR="0" rtl="0" algn="ctr">
              <a:lnSpc>
                <a:spcPct val="100000"/>
              </a:lnSpc>
              <a:spcBef>
                <a:spcPts val="72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Priorizando clareza e respeito gramatical.</a:t>
            </a:r>
            <a:endParaRPr b="0" i="0" sz="1620" u="none" cap="none" strike="noStrike">
              <a:solidFill>
                <a:schemeClr val="dk1"/>
              </a:solidFill>
              <a:latin typeface="Calibri"/>
              <a:ea typeface="Calibri"/>
              <a:cs typeface="Calibri"/>
              <a:sym typeface="Calibri"/>
            </a:endParaRPr>
          </a:p>
        </p:txBody>
      </p:sp>
      <p:sp>
        <p:nvSpPr>
          <p:cNvPr id="464" name="Google Shape;464;p41"/>
          <p:cNvSpPr/>
          <p:nvPr/>
        </p:nvSpPr>
        <p:spPr>
          <a:xfrm>
            <a:off x="8366760" y="342900"/>
            <a:ext cx="548640" cy="548640"/>
          </a:xfrm>
          <a:prstGeom prst="rect">
            <a:avLst/>
          </a:prstGeom>
          <a:noFill/>
          <a:ln>
            <a:noFill/>
          </a:ln>
        </p:spPr>
        <p:txBody>
          <a:bodyPr anchorCtr="0" anchor="ctr" bIns="45700" lIns="45700" spcFirstLastPara="1" rIns="45700" wrap="square" tIns="45700">
            <a:noAutofit/>
          </a:bodyPr>
          <a:lstStyle/>
          <a:p>
            <a:pPr indent="0" lvl="0" marL="0" marR="0" rtl="0" algn="r">
              <a:lnSpc>
                <a:spcPct val="100000"/>
              </a:lnSpc>
              <a:spcBef>
                <a:spcPts val="0"/>
              </a:spcBef>
              <a:spcAft>
                <a:spcPts val="0"/>
              </a:spcAft>
              <a:buClr>
                <a:srgbClr val="040F0F"/>
              </a:buClr>
              <a:buSzPts val="3600"/>
              <a:buFont typeface="Lexend"/>
              <a:buNone/>
            </a:pPr>
            <a:r>
              <a:rPr b="0" i="0" lang="en-US" sz="3600" u="none" cap="none" strike="noStrike">
                <a:solidFill>
                  <a:srgbClr val="040F0F"/>
                </a:solidFill>
                <a:latin typeface="Lexend"/>
                <a:ea typeface="Lexend"/>
                <a:cs typeface="Lexend"/>
                <a:sym typeface="Lexend"/>
              </a:rPr>
              <a:t>✅</a:t>
            </a:r>
            <a:endParaRPr b="0" i="0" sz="360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69" name="Shape 469"/>
        <p:cNvGrpSpPr/>
        <p:nvPr/>
      </p:nvGrpSpPr>
      <p:grpSpPr>
        <a:xfrm>
          <a:off x="0" y="0"/>
          <a:ext cx="0" cy="0"/>
          <a:chOff x="0" y="0"/>
          <a:chExt cx="0" cy="0"/>
        </a:xfrm>
      </p:grpSpPr>
      <p:pic>
        <p:nvPicPr>
          <p:cNvPr descr="/home/forge/chalkie-production-workers-2/releases/78214720/backend/storage/app/render-specs/a150a017-74b3-45d2-90a1-ee5e1050d2e7/img_1198f6ede5e2216c51986e3c51e1178b.png" id="470" name="Google Shape;470;p42"/>
          <p:cNvPicPr preferRelativeResize="0"/>
          <p:nvPr/>
        </p:nvPicPr>
        <p:blipFill rotWithShape="1">
          <a:blip r:embed="rId4">
            <a:alphaModFix/>
          </a:blip>
          <a:srcRect b="0" l="0" r="0" t="0"/>
          <a:stretch/>
        </p:blipFill>
        <p:spPr>
          <a:xfrm>
            <a:off x="4526280" y="765810"/>
            <a:ext cx="4457700" cy="4800600"/>
          </a:xfrm>
          <a:prstGeom prst="rect">
            <a:avLst/>
          </a:prstGeom>
          <a:noFill/>
          <a:ln>
            <a:noFill/>
          </a:ln>
        </p:spPr>
      </p:pic>
      <p:pic>
        <p:nvPicPr>
          <p:cNvPr descr="/home/forge/chalkie-production-workers-2/releases/78214720/backend/storage/app/render-specs/a150a017-74b3-45d2-90a1-ee5e1050d2e7/img_9a01d980cdbe597561b220a5aeb1b091.png" id="471" name="Google Shape;471;p42"/>
          <p:cNvPicPr preferRelativeResize="0"/>
          <p:nvPr/>
        </p:nvPicPr>
        <p:blipFill rotWithShape="1">
          <a:blip r:embed="rId5">
            <a:alphaModFix/>
          </a:blip>
          <a:srcRect b="0" l="0" r="0" t="0"/>
          <a:stretch/>
        </p:blipFill>
        <p:spPr>
          <a:xfrm>
            <a:off x="5063490" y="1897380"/>
            <a:ext cx="3314700" cy="2400300"/>
          </a:xfrm>
          <a:prstGeom prst="rect">
            <a:avLst/>
          </a:prstGeom>
          <a:noFill/>
          <a:ln>
            <a:noFill/>
          </a:ln>
        </p:spPr>
      </p:pic>
      <p:sp>
        <p:nvSpPr>
          <p:cNvPr id="472" name="Google Shape;472;p42"/>
          <p:cNvSpPr/>
          <p:nvPr/>
        </p:nvSpPr>
        <p:spPr>
          <a:xfrm>
            <a:off x="285750" y="171450"/>
            <a:ext cx="8572500" cy="644652"/>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40F0F"/>
              </a:buClr>
              <a:buSzPts val="2880"/>
              <a:buFont typeface="Lexend"/>
              <a:buNone/>
            </a:pPr>
            <a:r>
              <a:rPr b="1" i="0" lang="en-US" sz="2880" u="none" cap="none" strike="noStrike">
                <a:solidFill>
                  <a:srgbClr val="040F0F"/>
                </a:solidFill>
                <a:latin typeface="Lexend"/>
                <a:ea typeface="Lexend"/>
                <a:cs typeface="Lexend"/>
                <a:sym typeface="Lexend"/>
              </a:rPr>
              <a:t>Desafio Final: Reescrevendo o Pedido</a:t>
            </a:r>
            <a:endParaRPr b="0" i="0" sz="2880" u="none" cap="none" strike="noStrike">
              <a:solidFill>
                <a:schemeClr val="dk1"/>
              </a:solidFill>
              <a:latin typeface="Calibri"/>
              <a:ea typeface="Calibri"/>
              <a:cs typeface="Calibri"/>
              <a:sym typeface="Calibri"/>
            </a:endParaRPr>
          </a:p>
        </p:txBody>
      </p:sp>
      <p:sp>
        <p:nvSpPr>
          <p:cNvPr id="473" name="Google Shape;473;p42"/>
          <p:cNvSpPr/>
          <p:nvPr/>
        </p:nvSpPr>
        <p:spPr>
          <a:xfrm>
            <a:off x="285750" y="925830"/>
            <a:ext cx="4263390" cy="3897630"/>
          </a:xfrm>
          <a:prstGeom prst="rect">
            <a:avLst/>
          </a:prstGeom>
          <a:no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Você precisa pedir ao coordenador da escola autorização para entregar um trabalho com um dia de atraso por motivos médicos. Redija uma mensagem formal impecável contendo saudação, justificativa objetiva, pedido claro e despedida cordial.</a:t>
            </a:r>
            <a:endParaRPr b="0" i="0" sz="1620" u="none" cap="none" strike="noStrike">
              <a:solidFill>
                <a:schemeClr val="dk1"/>
              </a:solidFill>
              <a:latin typeface="Calibri"/>
              <a:ea typeface="Calibri"/>
              <a:cs typeface="Calibri"/>
              <a:sym typeface="Calibri"/>
            </a:endParaRPr>
          </a:p>
          <a:p>
            <a:pPr indent="0" lvl="0" marL="0" marR="0" rtl="0" algn="l">
              <a:lnSpc>
                <a:spcPct val="100000"/>
              </a:lnSpc>
              <a:spcBef>
                <a:spcPts val="72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O que você vai precisar: 🎨 🖌️</a:t>
            </a:r>
            <a:endParaRPr b="0" i="0" sz="1620" u="none" cap="none" strike="noStrike">
              <a:solidFill>
                <a:schemeClr val="dk1"/>
              </a:solidFill>
              <a:latin typeface="Calibri"/>
              <a:ea typeface="Calibri"/>
              <a:cs typeface="Calibri"/>
              <a:sym typeface="Calibri"/>
            </a:endParaRPr>
          </a:p>
          <a:p>
            <a:pPr indent="0" lvl="0" marL="0" marR="0" rtl="0" algn="l">
              <a:lnSpc>
                <a:spcPct val="100000"/>
              </a:lnSpc>
              <a:spcBef>
                <a:spcPts val="720"/>
              </a:spcBef>
              <a:spcAft>
                <a:spcPts val="0"/>
              </a:spcAft>
              <a:buClr>
                <a:srgbClr val="040F0F"/>
              </a:buClr>
              <a:buSzPts val="1620"/>
              <a:buFont typeface="Lexend"/>
              <a:buNone/>
            </a:pPr>
            <a:r>
              <a:rPr b="0" i="0" lang="en-US" sz="1620" u="none" cap="none" strike="noStrike">
                <a:solidFill>
                  <a:srgbClr val="040F0F"/>
                </a:solidFill>
                <a:latin typeface="Lexend"/>
                <a:ea typeface="Lexend"/>
                <a:cs typeface="Lexend"/>
                <a:sym typeface="Lexend"/>
              </a:rPr>
              <a:t>Caderno ou documento de texto, Clareza de argumentos, Norma-padrão gramatical</a:t>
            </a:r>
            <a:endParaRPr b="0" i="0" sz="1620" u="none" cap="none" strike="noStrik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78" name="Shape 478"/>
        <p:cNvGrpSpPr/>
        <p:nvPr/>
      </p:nvGrpSpPr>
      <p:grpSpPr>
        <a:xfrm>
          <a:off x="0" y="0"/>
          <a:ext cx="0" cy="0"/>
          <a:chOff x="0" y="0"/>
          <a:chExt cx="0" cy="0"/>
        </a:xfrm>
      </p:grpSpPr>
      <p:pic>
        <p:nvPicPr>
          <p:cNvPr descr="/home/forge/chalkie-production-workers-2/releases/78214720/backend/storage/app/render-specs/a150a017-74b3-45d2-90a1-ee5e1050d2e7/img_2b698b5a08a101e33ee0f5aac410928d.png" id="479" name="Google Shape;479;p43"/>
          <p:cNvPicPr preferRelativeResize="0"/>
          <p:nvPr/>
        </p:nvPicPr>
        <p:blipFill rotWithShape="1">
          <a:blip r:embed="rId4">
            <a:alphaModFix/>
          </a:blip>
          <a:srcRect b="0" l="0" r="0" t="0"/>
          <a:stretch/>
        </p:blipFill>
        <p:spPr>
          <a:xfrm>
            <a:off x="0" y="0"/>
            <a:ext cx="9144000" cy="5143500"/>
          </a:xfrm>
          <a:prstGeom prst="rect">
            <a:avLst/>
          </a:prstGeom>
          <a:noFill/>
          <a:ln>
            <a:noFill/>
          </a:ln>
        </p:spPr>
      </p:pic>
      <p:sp>
        <p:nvSpPr>
          <p:cNvPr id="480" name="Google Shape;480;p43"/>
          <p:cNvSpPr/>
          <p:nvPr/>
        </p:nvSpPr>
        <p:spPr>
          <a:xfrm>
            <a:off x="0" y="0"/>
            <a:ext cx="9144000" cy="5143500"/>
          </a:xfrm>
          <a:prstGeom prst="rect">
            <a:avLst/>
          </a:prstGeom>
          <a:solidFill>
            <a:srgbClr val="000000">
              <a:alpha val="6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43"/>
          <p:cNvSpPr/>
          <p:nvPr/>
        </p:nvSpPr>
        <p:spPr>
          <a:xfrm>
            <a:off x="1028700" y="1748790"/>
            <a:ext cx="7098030" cy="651510"/>
          </a:xfrm>
          <a:prstGeom prst="rect">
            <a:avLst/>
          </a:prstGeom>
          <a:noFill/>
          <a:ln>
            <a:noFill/>
          </a:ln>
        </p:spPr>
        <p:txBody>
          <a:bodyPr anchorCtr="0" anchor="t"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2880"/>
              <a:buFont typeface="Lexend"/>
              <a:buNone/>
            </a:pPr>
            <a:r>
              <a:rPr b="1" i="0" lang="en-US" sz="2880" u="none" cap="none" strike="noStrike">
                <a:solidFill>
                  <a:srgbClr val="FFFFFF"/>
                </a:solidFill>
                <a:latin typeface="Lexend"/>
                <a:ea typeface="Lexend"/>
                <a:cs typeface="Lexend"/>
                <a:sym typeface="Lexend"/>
              </a:rPr>
              <a:t>Próxima Aula: Apresentações Orais</a:t>
            </a:r>
            <a:endParaRPr b="0" i="0" sz="2880" u="none" cap="none" strike="noStrike">
              <a:solidFill>
                <a:schemeClr val="dk1"/>
              </a:solidFill>
              <a:latin typeface="Calibri"/>
              <a:ea typeface="Calibri"/>
              <a:cs typeface="Calibri"/>
              <a:sym typeface="Calibri"/>
            </a:endParaRPr>
          </a:p>
        </p:txBody>
      </p:sp>
      <p:sp>
        <p:nvSpPr>
          <p:cNvPr id="482" name="Google Shape;482;p43"/>
          <p:cNvSpPr/>
          <p:nvPr/>
        </p:nvSpPr>
        <p:spPr>
          <a:xfrm>
            <a:off x="274320" y="2537460"/>
            <a:ext cx="8595360" cy="765810"/>
          </a:xfrm>
          <a:prstGeom prst="rect">
            <a:avLst/>
          </a:prstGeom>
          <a:noFill/>
          <a:ln>
            <a:noFill/>
          </a:ln>
        </p:spPr>
        <p:txBody>
          <a:bodyPr anchorCtr="0" anchor="t" bIns="45700" lIns="45700" spcFirstLastPara="1" rIns="45700" wrap="square" tIns="45700">
            <a:noAutofit/>
          </a:bodyPr>
          <a:lstStyle/>
          <a:p>
            <a:pPr indent="0" lvl="0" marL="0" marR="0" rtl="0" algn="ctr">
              <a:lnSpc>
                <a:spcPct val="116666"/>
              </a:lnSpc>
              <a:spcBef>
                <a:spcPts val="0"/>
              </a:spcBef>
              <a:spcAft>
                <a:spcPts val="0"/>
              </a:spcAft>
              <a:buClr>
                <a:srgbClr val="E1E2E2"/>
              </a:buClr>
              <a:buSzPts val="1620"/>
              <a:buFont typeface="Lexend"/>
              <a:buNone/>
            </a:pPr>
            <a:r>
              <a:rPr b="0" i="0" lang="en-US" sz="1620" u="none" cap="none" strike="noStrike">
                <a:solidFill>
                  <a:srgbClr val="E1E2E2"/>
                </a:solidFill>
                <a:latin typeface="Lexend"/>
                <a:ea typeface="Lexend"/>
                <a:cs typeface="Lexend"/>
                <a:sym typeface="Lexend"/>
              </a:rPr>
              <a:t>Na Aula 5 iniciaremos o Módulo 2 de Comunicação Oral, explorando estrutura de apresentações, postura e gestão do nervosismo.</a:t>
            </a:r>
            <a:endParaRPr b="0" i="0" sz="162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