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43.png"/><Relationship Id="rId7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41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7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64.png"/><Relationship Id="rId5" Type="http://schemas.openxmlformats.org/officeDocument/2006/relationships/image" Target="../media/image50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5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57.png"/><Relationship Id="rId5" Type="http://schemas.openxmlformats.org/officeDocument/2006/relationships/image" Target="../media/image65.png"/><Relationship Id="rId6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55.png"/><Relationship Id="rId5" Type="http://schemas.openxmlformats.org/officeDocument/2006/relationships/image" Target="../media/image62.png"/><Relationship Id="rId6" Type="http://schemas.openxmlformats.org/officeDocument/2006/relationships/image" Target="../media/image6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7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9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63.png"/><Relationship Id="rId5" Type="http://schemas.openxmlformats.org/officeDocument/2006/relationships/image" Target="../media/image68.png"/><Relationship Id="rId6" Type="http://schemas.openxmlformats.org/officeDocument/2006/relationships/image" Target="../media/image71.png"/><Relationship Id="rId7" Type="http://schemas.openxmlformats.org/officeDocument/2006/relationships/image" Target="../media/image7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9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8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74.png"/><Relationship Id="rId5" Type="http://schemas.openxmlformats.org/officeDocument/2006/relationships/image" Target="../media/image8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7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90.png"/><Relationship Id="rId5" Type="http://schemas.openxmlformats.org/officeDocument/2006/relationships/image" Target="../media/image89.png"/><Relationship Id="rId6" Type="http://schemas.openxmlformats.org/officeDocument/2006/relationships/image" Target="../media/image9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8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87.png"/><Relationship Id="rId5" Type="http://schemas.openxmlformats.org/officeDocument/2006/relationships/image" Target="../media/image9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 da Informação e Privacidade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Protegendo dados, canais e reputação no ambiente digital corporativo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1302ece36d557af18141b64d71b69e19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93726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acontece quando você clica?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2205990"/>
            <a:ext cx="4846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receber um e-mail urgente da diretoria da sua escola pedindo a confirmação imediata da sua senha para não cancelar sua matrícula. Um único clique desatento pode abrir as portas de toda a rede institucional para invasores externos.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de7b7df1335e8b1261845a4df79b1ba0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Diferenciar canais de comunicação seguros e aplicar os princípios de confidencialidade, integridade e disponibilidade.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ameaças digitais frequentes como phishing, engenharia social e vulnerabilidades em redes públicas.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normas práticas de proteção de senhas, compartilhamento de arquivos e diretrizes da LGPD.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c79dc95e0323b48760b85b7e5766e726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Proteção de sistemas e dados contra acessos não autorizados.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81fef73f7163beaf26204c57acc82108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4038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Privacidade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Direito do indivíduo de controlar o uso de seus dados pessoais.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90995a708b532cbfda9f7169dd50e9a4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211830"/>
            <a:ext cx="20116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Confidencialidade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Garantia de que a informação só é acessível por pessoas autorizadas.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b0f8f7e84cdef05aa6fce69e96ed3b80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4038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Phishing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Golpe eletrônico que usa mensagens falsas para roubar senhas e dados.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79a0b9f3-17fa-4015-9eae-e577c6560675/img_8ca4b0a30a04567be55dd304efdf0343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de Comunicação: Revisão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exploramos plataformas corporativas. Agora, relembramos a distinção vital entre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síncronos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(tempo real)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assíncronos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(tempo diferido), essencial para planejar a segurança dos dados transmitidos.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Síncrono vs Assíncrono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Critérios de escolha e tempo de resposta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4311606d47a1fc24d2113d856c8ac97e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3291840" y="182880"/>
            <a:ext cx="5577840" cy="1554480"/>
          </a:xfrm>
          <a:prstGeom prst="roundRect">
            <a:avLst>
              <a:gd fmla="val 8824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Síncronos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Exigem conexão simultânea: ligações telefônicas, reuniões em vídeo e salas de chat ao vivo. Ideais para alinhamentos rápidos ou crises emergenciais.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3291840" y="1920240"/>
            <a:ext cx="5577840" cy="1554480"/>
          </a:xfrm>
          <a:prstGeom prst="roundRect">
            <a:avLst>
              <a:gd fmla="val 8824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Assíncronos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 exigem resposta imediata: e-mails formais, fóruns, relatórios e memorandos. Permitem registro documentado e reflexão detalhada.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Escolha do Canal Correto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qual situação o uso de um canal assíncrono formal (como e-mail) é mais adequado que uma chamada síncrona?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avisar que a internet da empresa caiu totalmente neste exato minuto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realizar um brainstorming livre de ideias em tempo real com a equipe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negociar um mal-entendido urgente entre dois colegas em reunião presencial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contrato assinado que precisa de registro e protocolo oficial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Escolha do Canal Correto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qual situação o uso de um canal assíncrono formal (como e-mail) é mais adequado que uma chamada síncrona?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avisar que a internet da empresa caiu totalmente neste exato minuto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realizar um brainstorming livre de ideias em tempo real com a equipe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negociar um mal-entendido urgente entre dois colegas em reunião presencial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contrato assinado que precisa de registro e protocolo oficial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Tríade Fundamental: 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41ede56520d0aadf155bb0bdf0d8a8d8.png"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274320" y="2937510"/>
            <a:ext cx="28117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Confidencialidade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dado é restrito exclusivamente a quem tem autorização legítima de leitura.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511ae4d81c3cc7e40c6099118b126d36.png" id="113" name="Google Shape;11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14" name="Google Shape;114;p11"/>
          <p:cNvSpPr/>
          <p:nvPr/>
        </p:nvSpPr>
        <p:spPr>
          <a:xfrm>
            <a:off x="3166110" y="2937510"/>
            <a:ext cx="28117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Integridade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dado permanece exato, completo e sem alterações indevidas ou maliciosas.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d2fa7701ac395a53e23a081873f96b06.png" id="115" name="Google Shape;11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6069330" y="2937510"/>
            <a:ext cx="28117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Disponibilidade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informação está sempre acessível aos usuários autorizados no momento em que necessitam.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Confidencialidade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274320" y="1245870"/>
            <a:ext cx="450342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realmente precisa saber?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a confidencialidade significa conceder acessos pelo princípio do menor privilégio: cada profissional ou estudante só deve ter acesso aos arquivos estritamente necessários para executar suas funções.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274320" y="3348990"/>
            <a:ext cx="4503420" cy="1303020"/>
          </a:xfrm>
          <a:prstGeom prst="roundRect">
            <a:avLst>
              <a:gd fmla="val 701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400050" y="347472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765810" y="3474720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vazamento de uma lista de notas viola a confidencialidade do aluno.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1becb82ac4b120843839370c711b42ea.png" id="127" name="Google Shape;1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01727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Garantindo a Integridade dos Documentos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274320" y="10172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uma ata de reunião ou relatório financeiro for alterado secretamente por um terceiro, perde-se a confiabilidade institucional. A integridade assegura histórico de versões, assinaturas digitais e proteção contra edições não registradas.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df564df9a684eb0a7500cbc8edd1aed2.png" id="135" name="Google Shape;1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2251710"/>
            <a:ext cx="4800600" cy="2628900"/>
          </a:xfrm>
          <a:prstGeom prst="roundRect">
            <a:avLst>
              <a:gd fmla="val 521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Disponibilidade e Continuidade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743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27105ad323d3700c19be5bb24a071593.png" id="143" name="Google Shape;1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/>
          <p:nvPr/>
        </p:nvSpPr>
        <p:spPr>
          <a:xfrm>
            <a:off x="1005840" y="1062990"/>
            <a:ext cx="33832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Backups Periódicos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Cópias regulares na nuvem evitam a perda definitiva em caso de falha física do computador.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46177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618b0d7bbf2fcb4964679a774574ce32.png" id="146" name="Google Shape;1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/>
          <p:nvPr/>
        </p:nvSpPr>
        <p:spPr>
          <a:xfrm>
            <a:off x="5349240" y="106299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Defesa contra Ataques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Sistemas de proteção previnem que ataques derrubem servidores escolares ou empresariais.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2743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2c7764ce6201cdbba5e95d2901f2ec3f.png" id="149" name="Google Shape;14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/>
          <p:nvPr/>
        </p:nvSpPr>
        <p:spPr>
          <a:xfrm>
            <a:off x="10058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Redundância de Redes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Conexões secundárias garantem acesso a canais corporativos mesmo em manutenções.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46177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75d5abd0f7c883c5a0253ea66612e3c3.png" id="152" name="Google Shape;15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/>
          <p:nvPr/>
        </p:nvSpPr>
        <p:spPr>
          <a:xfrm>
            <a:off x="53492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Plano de Recuperação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Protocolos claros para restaurar dados rapidamente após incidentes imprevistos.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Fundamentais da Tríade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Disponibilidade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Confidencialidade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Vazamento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Exposição indevida de dados privados a pessoas não autorizadas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Garantia de acesso à informação sempre que for legitimamente necessário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Garantia de que a informação não foi adulterada indevidamente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Garantia de que apenas pessoas autorizadas leem a informação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Fundamentais da Tríade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Disponibilidade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Confidencialidade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Vazamento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Exposição indevida de dados privados a pessoas não autorizadas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Garantia de acesso à informação sempre que for legitimamente necessário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Garantia de que a informação não foi adulterada indevidamente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Garantia de que apenas pessoas autorizadas leem a informação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6"/>
          <p:cNvCxnSpPr/>
          <p:nvPr/>
        </p:nvCxnSpPr>
        <p:spPr>
          <a:xfrm>
            <a:off x="2571750" y="16230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6"/>
          <p:cNvCxnSpPr/>
          <p:nvPr/>
        </p:nvCxnSpPr>
        <p:spPr>
          <a:xfrm>
            <a:off x="2571750" y="25374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16"/>
          <p:cNvCxnSpPr/>
          <p:nvPr/>
        </p:nvCxnSpPr>
        <p:spPr>
          <a:xfrm>
            <a:off x="2571750" y="34518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16"/>
          <p:cNvCxnSpPr/>
          <p:nvPr/>
        </p:nvCxnSpPr>
        <p:spPr>
          <a:xfrm flipH="1" rot="10800000">
            <a:off x="2571750" y="1652778"/>
            <a:ext cx="994410" cy="27134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6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Criação de Senhas Fortes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3fe8e17231a7c97016d069f0ebf7ccd6.png" id="199" name="Google Shape;1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0" name="Google Shape;200;p17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27432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Comprimento e Variedade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mais de 12 dígitos mesclando letras, números e símbolos.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85c9efad67d75aa7b3e76eb3b31fbbde.png" id="202" name="Google Shape;2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3" name="Google Shape;203;p17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320040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Evitar Padrões Óbvios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Elimine datas de nascimento, sequências de teclado e nomes de familiares ou animais.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cc3d6273e9d2443a3d5299bd640b5d23.png" id="205" name="Google Shape;20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6" name="Google Shape;206;p17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612648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Método da Frase-Senha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Una 4 palavras não correlatas (ex: Café-Nuvem-Tijolo-Vento!) fáceis de memorizar.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Autenticação em Dois Fatores (2FA)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274320" y="1040130"/>
            <a:ext cx="429768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segunda camada de defesa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Mesmo que um invasor descubra sua senha por vazamento ou espionagem, a autenticação em dois fatores impede o login imediato exigindo uma chave dinâmica em seu celular.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274320" y="3234690"/>
            <a:ext cx="4297680" cy="1623060"/>
          </a:xfrm>
          <a:prstGeom prst="roundRect">
            <a:avLst>
              <a:gd fmla="val 5634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400050" y="336042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65810" y="3360420"/>
            <a:ext cx="36804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Ative 2FA em seu e-mail escolar, redes sociais e contas corporativas.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3737e3eab86e429d0198a936b8644837.png"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Lei Geral de Proteção de Dados (LGPD)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0b6e869aac0051089fd64958988e8372.png" id="225" name="Google Shape;2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27432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Marco Legal Brasileiro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Lei nº 13.709/2018 regula o tratamento e trânsito de dados de cidadãos por empresas e escolas.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26f6407fb35ab8afabdc524937d02db1.png" id="227" name="Google Shape;22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8" name="Google Shape;228;p19"/>
          <p:cNvSpPr/>
          <p:nvPr/>
        </p:nvSpPr>
        <p:spPr>
          <a:xfrm>
            <a:off x="316611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Autonomia do Titular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é dono dos seus dados e tem o direito de saber por que e como estão sendo utilizados.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2970a942fef14cc08340d4afd9fd298b.png" id="229" name="Google Shape;22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30" name="Google Shape;230;p19"/>
          <p:cNvSpPr/>
          <p:nvPr/>
        </p:nvSpPr>
        <p:spPr>
          <a:xfrm>
            <a:off x="606933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Responsabilização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Organizações que vazam informações sofrem multas financeiras severas e sanções públicas.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Dados Comuns vs Sensíveis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74320" y="180594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Classificação de risco segundo a LGPD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aba5fa001ba1fda412fc068d81f44e06.png" id="238" name="Google Shape;2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57175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/>
          <p:nvPr/>
        </p:nvSpPr>
        <p:spPr>
          <a:xfrm>
            <a:off x="3291840" y="182880"/>
            <a:ext cx="5577840" cy="1840230"/>
          </a:xfrm>
          <a:prstGeom prst="roundRect">
            <a:avLst>
              <a:gd fmla="val 745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Dados Pessoais Gerais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Informações que identificam a pessoa: nome completo, RG, CPF, e-mail, telefone e endereço residencial. Exigem autorização expressa para coleta.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3291840" y="2205990"/>
            <a:ext cx="5577840" cy="1840230"/>
          </a:xfrm>
          <a:prstGeom prst="roundRect">
            <a:avLst>
              <a:gd fmla="val 745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Dados Pessoais Sensíveis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Origem racial, convicção religiosa, opinião política, biometria e dados de saúde médica. Seu vazamento pode gerar discriminação direta e punições gravíssimas.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Classificação de Dados pela LGPD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opções a seguir representam dados considerados PESSOAIS SENSÍVEIS pela legislação brasileira?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 biométrico facial para liberação de catraca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Nome da rua onde está localizado o escritório comercial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Histórico médico e prontuário de saúde de um paciente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Número de protocolo público de uma consulta governamental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Classificação de Dados pela LGPD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opções a seguir representam dados considerados PESSOAIS SENSÍVEIS pela legislação brasileira?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 biométrico facial para liberação de catraca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Nome da rua onde está localizado o escritório comercial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Histórico médico e prontuário de saúde de um paciente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Número de protocolo público de uma consulta governamental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Anatomia de um Golpe de Phishing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274320" y="10172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phishing explora gatilhos psicológicos: senso de urgência, medo de punição ou ofertas milagrosas. O objetivo é induzir o destinatário a clicar em links clonados ou baixar arquivos infectados.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aeeb26a2d95d0a84f8c1ba65045aa5be.png" id="281" name="Google Shape;2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2251710"/>
            <a:ext cx="4800600" cy="2628900"/>
          </a:xfrm>
          <a:prstGeom prst="roundRect">
            <a:avLst>
              <a:gd fmla="val 521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Sinais de Alerta no E-mail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517e8e6a455d814f3f4c5df68c3093ba.png" id="289" name="Google Shape;2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/>
          <p:nvPr/>
        </p:nvSpPr>
        <p:spPr>
          <a:xfrm>
            <a:off x="10058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Remetente Suspeito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Domínios alterados discretamente (ex: @banc0-brasil.net em vez do oficial).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a8f89ffb3b6eb60da89e30376e270b89.png" id="292" name="Google Shape;29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/>
          <p:nvPr/>
        </p:nvSpPr>
        <p:spPr>
          <a:xfrm>
            <a:off x="53492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Urgência Excessiva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Mensagens exigindo ação imediata em menos de 2 horas sob ameaça de perda.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d7f883c68335ff53195fba4ebfdc1d8b.png" id="295" name="Google Shape;29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/>
          <p:nvPr/>
        </p:nvSpPr>
        <p:spPr>
          <a:xfrm>
            <a:off x="10058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Links Encobertos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texto do botão diz um site conhecido, mas a URL real direciona para servidor desconhecido.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2febc94e4586de2ab54412dceeaaf1a0.png" id="298" name="Google Shape;29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/>
          <p:nvPr/>
        </p:nvSpPr>
        <p:spPr>
          <a:xfrm>
            <a:off x="53492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Anexos Estranhos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Arquivos com extensão .exe, .scr ou .zip compactados enviados sem solicitação prévia.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Engenharia Social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274320" y="1062990"/>
            <a:ext cx="450342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Manipulação de Pessoas, Não de Máquinas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Engenharia social é a técnica de enganar pessoas para que quebrem regras de segurança por boa vontade, simpatia ou medo da autoridade. O criminoso estuda a vítima em redes sociais antes do contato.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274320" y="3531870"/>
            <a:ext cx="4503420" cy="1303020"/>
          </a:xfrm>
          <a:prstGeom prst="roundRect">
            <a:avLst>
              <a:gd fmla="val 7018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400050" y="365760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765810" y="3657600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Nenhum suporte técnico legítimo pede sua senha por telefone ou WhatsApp.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9e345451519d1719eb298cf0bb502217.png"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01727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Ameaça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um e-mail possui a logomarca perfeita da sua escola e vem assinado com o nome do diretor, você pode confiar imediatamente e enviar os documentos pedidos.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Ameaça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um e-mail possui a logomarca perfeita da sua escola e vem assinado com o nome do diretor, você pode confiar imediatamente e enviar os documentos pedidos.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Criminosos conseguem facilmente copiar logotipos públicos e forjar nomes em remetentes falsos; é indispensável checar o domínio e confirmar por outro canal seguro.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Transmissão Segura de Documentos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df41d60907dc75a17259ee320312ba8e.png" id="339" name="Google Shape;33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0" name="Google Shape;340;p28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8"/>
          <p:cNvSpPr/>
          <p:nvPr/>
        </p:nvSpPr>
        <p:spPr>
          <a:xfrm>
            <a:off x="27432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Proteger com Senha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Criptografe arquivos confidenciais antes do envio em plataformas compartilhadas.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a17dc42b2d61fe00e9eddde791aecd98.png" id="342" name="Google Shape;34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3" name="Google Shape;343;p28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320040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Canal Separado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envie o arquivo e a senha no mesmo e-mail. Use outro meio para a chave.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df41eb431f5295e874083278f9fdf08b.png" id="345" name="Google Shape;34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6" name="Google Shape;346;p28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8"/>
          <p:cNvSpPr/>
          <p:nvPr/>
        </p:nvSpPr>
        <p:spPr>
          <a:xfrm>
            <a:off x="612648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Restrição e Expiração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Defina links restritos para usuários específicos com data limite de expiração automática.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Riscos do Wi-Fi Aberto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e737a03e5921d9794e4de1ea3e0f5719.png" id="354" name="Google Shape;3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5" name="Google Shape;355;p29"/>
          <p:cNvSpPr/>
          <p:nvPr/>
        </p:nvSpPr>
        <p:spPr>
          <a:xfrm>
            <a:off x="27432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Redes Públicas Abertas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Redes de shoppings e praças sem senha transmitem dados abertos que podem ser interceptados.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162f2dadf6688d7afe12533785c8a204.png" id="356" name="Google Shape;35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7" name="Google Shape;357;p29"/>
          <p:cNvSpPr/>
          <p:nvPr/>
        </p:nvSpPr>
        <p:spPr>
          <a:xfrm>
            <a:off x="316611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Ataque Man-in-the-Middle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invasor se posiciona entre o seu aparelho e a internet para espionar senhas e mensagens.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a151b2ec3229ee99ac9d1c572c0b563f.png" id="358" name="Google Shape;35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9" name="Google Shape;359;p29"/>
          <p:cNvSpPr/>
          <p:nvPr/>
        </p:nvSpPr>
        <p:spPr>
          <a:xfrm>
            <a:off x="606933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VPN e Dados Móveis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acessar contas corporativas fora de casa, prefira a rede 4G/5G do celular ou uma VPN segura.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Cuidados com Aparelhos de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274320" y="1177290"/>
            <a:ext cx="47091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Separando o Pessoal do Institucional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Notebooks e celulares corporativos ou escolares devem ser utilizados exclusivamente para fins de estudo e trabalho. O uso indevido para jogos, torrents ou sites não confiáveis compromete toda a rede interna.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274320" y="348615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"/>
          <p:cNvSpPr/>
          <p:nvPr/>
        </p:nvSpPr>
        <p:spPr>
          <a:xfrm>
            <a:off x="388620" y="360045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54380" y="360045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Bloqueie a tela do computador (Windows + L) toda vez que se levantar da mesa.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7137607432710a2fd2a6dde177bef417.png" id="370" name="Google Shape;37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01727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79a0b9f3-17fa-4015-9eae-e577c6560675/img_7e9161c79d42d67e9891e05804bf22cd.png" id="376" name="Google Shape;37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1"/>
          <p:cNvSpPr/>
          <p:nvPr/>
        </p:nvSpPr>
        <p:spPr>
          <a:xfrm>
            <a:off x="1371600" y="1748790"/>
            <a:ext cx="6400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 Preço da Falha de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274320" y="253746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Um incidente de dados destrói a confiança que uma instituição demorou décadas para construir com clientes e estudantes.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Impactos de um Vazamento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3cd3afd38b136f2fe963ba9115a9f31d.png" id="387" name="Google Shape;38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2"/>
          <p:cNvSpPr/>
          <p:nvPr/>
        </p:nvSpPr>
        <p:spPr>
          <a:xfrm>
            <a:off x="10058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Crise Reputacional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Manchetes negativas na imprensa e perda imediata de confiança de clientes e famílias.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3c68f88bfb4c76f09c579c831b1cca61.png" id="390" name="Google Shape;39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2"/>
          <p:cNvSpPr/>
          <p:nvPr/>
        </p:nvSpPr>
        <p:spPr>
          <a:xfrm>
            <a:off x="53492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Processos e Multas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Sanções milionárias da Autoridade Nacional de Proteção de Dados (ANPD) e ações civis.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fd9493b3117e8f4ef793018bf6595777.png" id="393" name="Google Shape;39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2"/>
          <p:cNvSpPr/>
          <p:nvPr/>
        </p:nvSpPr>
        <p:spPr>
          <a:xfrm>
            <a:off x="10058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Paralisação Operacional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Dias de sistemas congelados e servidores offline tentando conter a invasão criminosa.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79a0b9f3-17fa-4015-9eae-e577c6560675/img_3b6866a0a6e524f9a4d52d2a1fb093d3.png" id="396" name="Google Shape;396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2"/>
          <p:cNvSpPr/>
          <p:nvPr/>
        </p:nvSpPr>
        <p:spPr>
          <a:xfrm>
            <a:off x="53492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Custos de Investigação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Gastos elevados com auditorias forenses externas, advogados e reposição tecnológica.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Evolução de um Incidente Real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3"/>
          <p:cNvSpPr/>
          <p:nvPr/>
        </p:nvSpPr>
        <p:spPr>
          <a:xfrm>
            <a:off x="16687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3"/>
          <p:cNvSpPr/>
          <p:nvPr/>
        </p:nvSpPr>
        <p:spPr>
          <a:xfrm>
            <a:off x="44119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71551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685800" y="308610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08h15 - O Clique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Funcionário abre e-mail falso de boleto e roda executável.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3429000" y="93726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11h30 - Disseminação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vírus infecta os servidores centrais da instituição.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6172200" y="308610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16h00 - Sequestro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Telas bloqueadas com pedido de resgate de dados sensíveis.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/>
          <p:cNvSpPr/>
          <p:nvPr/>
        </p:nvSpPr>
        <p:spPr>
          <a:xfrm>
            <a:off x="274320" y="182880"/>
            <a:ext cx="27432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O Golpe do Fornecedor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274320" y="224028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Dissecação de um ataque corporativo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4068c86076e1df6718bcfce6f10b473d.png" id="418" name="Google Shape;41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300609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/>
          <p:nvPr/>
        </p:nvSpPr>
        <p:spPr>
          <a:xfrm>
            <a:off x="3291840" y="182880"/>
            <a:ext cx="5577840" cy="1840230"/>
          </a:xfrm>
          <a:prstGeom prst="roundRect">
            <a:avLst>
              <a:gd fmla="val 745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Cenário da Falha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setor financeiro de uma escola recebeu um e-mail idêntico ao da distribuidora de livros, pedindo pagamento urgente em nova chave PIX devido a uma "auditoria interna".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3291840" y="2205990"/>
            <a:ext cx="5577840" cy="1840230"/>
          </a:xfrm>
          <a:prstGeom prst="roundRect">
            <a:avLst>
              <a:gd fmla="val 745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Onde Esteve o Erro?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assistente realizou o depósito de R$ 45.000 sem telefonar para o contato oficial da distribuidora. A verificação síncrona teria evitado a fraude em dois minutos.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Lição do Caso: Canal Duplo de Checagem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274320" y="10172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uma solicitação financeira ou confidencial chegar por e-mail, valide as informações por um segundo canal independente, utilizando um número de telefone pré-cadastrado no sistema.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5b4c1582b97b2bfd08d5052cc6426fa2.png" id="428" name="Google Shape;42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2251710"/>
            <a:ext cx="4800600" cy="2628900"/>
          </a:xfrm>
          <a:prstGeom prst="roundRect">
            <a:avLst>
              <a:gd fmla="val 521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79a0b9f3-17fa-4015-9eae-e577c6560675/img_88f2cf22d50efe57d124336ea25cb3a9.png" id="434" name="Google Shape;43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79a0b9f3-17fa-4015-9eae-e577c6560675/img_35a3699a9a4a200bb1491f00d74f3495.png" id="435" name="Google Shape;43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Que Você Faria?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você percebesse que clicou em um link falso dentro do computador do laboratório da escola, qual seria sua primeira atitude responsável?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79a0b9f3-17fa-4015-9eae-e577c6560675/img_88f2cf22d50efe57d124336ea25cb3a9.png" id="443" name="Google Shape;44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Que Você Faria?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ctr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Desconectar o computador do cabo de rede ou desligar o Wi-Fi imediatamente para conter infecções.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Comunicar com rapidez e transparência o professor ou suporte técnico de TI.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Trocar as senhas de acesso a partir de outro aparelho seguro.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Guia Rápido de Boas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eb27cc4e41612dcec1e64ccea0330e95.png" id="453" name="Google Shape;45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65735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54" name="Google Shape;454;p38"/>
          <p:cNvSpPr/>
          <p:nvPr/>
        </p:nvSpPr>
        <p:spPr>
          <a:xfrm>
            <a:off x="274320" y="377190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Classificação de Dados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Trate cada documento pelo seu nível de sensibilidade.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cf160a7615c44abb0d077f1cc5c9cb84.png" id="455" name="Google Shape;45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8585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56" name="Google Shape;456;p38"/>
          <p:cNvSpPr/>
          <p:nvPr/>
        </p:nvSpPr>
        <p:spPr>
          <a:xfrm>
            <a:off x="3200400" y="320040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Gestão de Credenciais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Use gerenciadores de senhas e nunca as anote em papéis.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c8ff96661f7f9156a6d65694759e9c02.png" id="457" name="Google Shape;45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65735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6126480" y="377190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Crítica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Desconfie de urgências exageradas e cheques remetentes.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dos Conceitos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9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Tríade CIA (Confidencialidade, Integridade e Disponibilidade) guia toda política de segurança corporativa.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9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LGPD protege cidadãos e exige sigilo rigoroso no tratamento de dados pessoais e sensíveis.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9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elo mais vulnerável da segurança digital é o comportamento humano; atenção e validação são a melhor blindagem.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79a0b9f3-17fa-4015-9eae-e577c6560675/img_74db676abbf9321227487417a15623c8.png" id="479" name="Google Shape;47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Final: Segurança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0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papel da Confidencialidade na Tríade de Segurança?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não devemos usar redes Wi-Fi públicas abertas para transações confidenciais?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0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 principal diferença entre um dado pessoal comum e um dado pessoal sensível na LGPD?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Final: Segurança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1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Assegurar que a informação seja acessada unicamente por indivíduos expressamente autorizados.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1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os dados trafegam sem proteção e invasores podem interceptar senhas por técnicas como o Man-in-the-Middle.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dado sensível envolve aspectos íntimos (saúde, biometria, crença) que podem gerar discriminação se vazados.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79a0b9f3-17fa-4015-9eae-e577c6560675/img_b8e2e30cbb6ba10a8acb00af0ff4be05.png" id="499" name="Google Shape;49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79a0b9f3-17fa-4015-9eae-e577c6560675/img_ee2fc2052150b297b41c986b5770106c.png" id="500" name="Google Shape;50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 Prática de Ameaças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Analise o seguinte caso em duplas: Um colega de trabalho recebeu uma mensagem no Teams de um perfil sem foto dizendo: Sou da equipe de TI, precisamos migrar seu e-mail urgente antes das 18h, envie seu usuário e senha provisória respondendo aqui. Escreva 3 motivos que comprovam que esta mensagem é uma tentativa de ataque de engenharia social.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3"/>
          <p:cNvSpPr/>
          <p:nvPr/>
        </p:nvSpPr>
        <p:spPr>
          <a:xfrm>
            <a:off x="274320" y="130302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274320" y="2137410"/>
            <a:ext cx="484632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próxima aula, avançaremos para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 Digital e Comunicação Não-Verbal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aprendendo como modular o tom, a linguagem e a postura profissional tanto em ambientes remotos quanto presenciais.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79a0b9f3-17fa-4015-9eae-e577c6560675/img_751d73682d927b82e87dd41d25537f24.png" id="510" name="Google Shape;51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