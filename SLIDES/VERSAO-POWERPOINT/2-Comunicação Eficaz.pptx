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47.png"/><Relationship Id="rId5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3.png"/><Relationship Id="rId7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7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6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66.png"/><Relationship Id="rId5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Relationship Id="rId4" Type="http://schemas.openxmlformats.org/officeDocument/2006/relationships/image" Target="../media/image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68.png"/><Relationship Id="rId5" Type="http://schemas.openxmlformats.org/officeDocument/2006/relationships/image" Target="../media/image7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8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85.png"/><Relationship Id="rId5" Type="http://schemas.openxmlformats.org/officeDocument/2006/relationships/image" Target="../media/image83.png"/><Relationship Id="rId6" Type="http://schemas.openxmlformats.org/officeDocument/2006/relationships/image" Target="../media/image8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Relationship Id="rId4" Type="http://schemas.openxmlformats.org/officeDocument/2006/relationships/image" Target="../media/image82.png"/><Relationship Id="rId5" Type="http://schemas.openxmlformats.org/officeDocument/2006/relationships/image" Target="../media/image8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Eficaz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transformar ideias em mensagens claras, precisas e compreensíveis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fb8acb7a935453d2b2600f417a370f80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74295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Custo de um Mal-entendido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2011680"/>
            <a:ext cx="493776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com duplo sentido pode cancelar um evento, atrasar entregas ou romper amizades.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ou escrever muito não garante entendimento.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com eficácia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significa assegurar que a intenção original chegue intacta ao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19ff2542ea6bd51d1704dd19dcd41eb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58877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8516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69164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os pilares fundamentais da comunicação eficaz: clareza, objetividade e respeito.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74320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857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84607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Eliminar ambiguidades e excesso de termos em textos orais e escritos.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7261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checagens ativas para validar a compreensão em situações reais.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afdaf312ff8bcb1241a65ed33697a8aa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690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Ausência de obscuridade; mensagem sem margem a dúvidas.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fb93ce2ec79bcaf5f84343fcf9b77f4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975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Foco direto no propósito sem rodeios desnecessários.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a7ad9f92432c39489c04faf46fe78213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Transmissão do máximo de ideias com o mínimo de termos.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c9d70a329c45083ce38e1a4648b957ec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975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Harmonia lógica e integridade estrutural das ideias.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409658ed5d372cc820489ba76c6c6c87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51460" y="242316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Retomada: O Processo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51460" y="3166110"/>
            <a:ext cx="86410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os componentes fundamentais: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(quem transmite),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receptor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(quem decodifica),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(o meio físico ou digital) 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(o conteúdo formulado).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ruído representa qualquer interferência no canal ou código que distorça essa transmissão. Uma comunicação verdadeiramente eficaz neutraliza o ruído antes que ele gere erros de 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74db676abbf9321227487417a15623c8.png" id="68" name="Google Shape;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Processo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componente codifica e envia a mensagem original?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chamamos qualquer obstáculo que distorce a informação no canal?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fecha o ciclo comprovando que o receptor compreendeu o sinal?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Processo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ou resposta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da Comunicação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4467c27e0a04261528ffff5a4621335e.png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27432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termos exatos que não deixam margem para interpretações opostas ou duvidosas.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aa601000f51c4f330bc05596d6160073.png" id="91" name="Google Shape;9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2" name="Google Shape;92;p10"/>
          <p:cNvSpPr/>
          <p:nvPr/>
        </p:nvSpPr>
        <p:spPr>
          <a:xfrm>
            <a:off x="3166110" y="3040380"/>
            <a:ext cx="28117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pontual do assunto prioritário sem rodeios secundários.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d477c4dfc3555ed1ff22cf434cda35d5.png" id="93" name="Google Shape;9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4" name="Google Shape;94;p10"/>
          <p:cNvSpPr/>
          <p:nvPr/>
        </p:nvSpPr>
        <p:spPr>
          <a:xfrm>
            <a:off x="6069330" y="3040380"/>
            <a:ext cx="28117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Consideração pelo tempo, nível de conhecimento e sensibilidade do receptor.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27432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274320" y="58293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Natureza da Ambiguidade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274320" y="1851660"/>
            <a:ext cx="41148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ambiguidade ocorre quando uma palavra, oração ou frase permite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mais de um sentido legítimo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dentro do mesmo contexto.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literatura, a ambiguidade pode ser um recurso poético expressivo. No entanto, na redação escolar, profissional e técnica, ela representa uma falha crítica que induz ao erro.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7d5bafad70eab5ab8c61983cf315d0b.png"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Ambiguidade Estrutural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a sintaxe desorganizada compromete a leitura.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335f7a4705f7485e5292bc3e526a1a59.png"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2"/>
          <p:cNvSpPr/>
          <p:nvPr/>
        </p:nvSpPr>
        <p:spPr>
          <a:xfrm>
            <a:off x="3291840" y="18288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ambiguidade estrutural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nasce da posição inadequada de pronomes, termos modificadores ou adjuntos na frase.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3291840" y="1371600"/>
            <a:ext cx="5577840" cy="1188720"/>
          </a:xfrm>
          <a:prstGeom prst="roundRect">
            <a:avLst>
              <a:gd fmla="val 7692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ambíguo: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professor viu o aluno passeando com seu cachorro.”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De quem era o cachorro? Do professor ou do aluno?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3291840" y="2651760"/>
            <a:ext cx="5577840" cy="1143000"/>
          </a:xfrm>
          <a:prstGeom prst="roundRect">
            <a:avLst>
              <a:gd fmla="val 8000" name="adj"/>
            </a:avLst>
          </a:prstGeom>
          <a:solidFill>
            <a:srgbClr val="E1E2E2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 corrigida: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professor viu o aluno que passeava com o cão deste.”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“Ao passear com seu próprio cachorro, o professor avistou o aluno.”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Fontes Comuns de Duplo Sentido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0964b5c9226b78f88eab5c85ab8d9b5c.png" id="122" name="Google Shape;1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10058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Pronomes Possessivos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vago de 'seu' ou 'sua' quando há dois substantivos masculinos ou femininos citados.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e4757748e0f42230a1cdb4a31027c217.png" id="125" name="Google Shape;12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 Falha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ausência ou o deslocamento de vírgulas altera por completo a função do vocativo e do aposto.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1be3e4e2797518981115a525f9375772.png" id="128" name="Google Shape;12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1005840" y="3086100"/>
            <a:ext cx="33832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Advérbios Distantes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 como 'rapidamente' ou 'ontem' colocadas entre dois verbos geram dúvida sobre qual ação qualificam.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fda5fb24d53ecb8c8ae4504f975ff31b.png" id="131" name="Google Shape;13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3"/>
          <p:cNvSpPr/>
          <p:nvPr/>
        </p:nvSpPr>
        <p:spPr>
          <a:xfrm>
            <a:off x="5349240" y="3086100"/>
            <a:ext cx="33832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Orações Reduzidas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Orações no gerúndio ou particípio sem sujeito expresso criam dependências dúbias na oração principal.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Ambiguidade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frases abaixo apresenta ambiguidade estrutural que compromete a mensagem?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mãe pediu que a filha buscasse o casaco da menina na sala.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entregou o relatório técnico pontualmente às nove horas.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professora explicou a matéria com calma aos estudantes.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mãe pediu à filha para pegar o casaco dela na sala.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Ambiguidade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frases abaixo apresenta ambiguidade estrutural que compromete a mensagem?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mãe pediu que a filha buscasse o casaco da menina na sala.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entregou o relatório técnico pontualmente às nove horas.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professora explicou a matéria com calma aos estudantes.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mãe pediu à filha para pegar o casaco dela na sala.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Quatro Passos para Revisar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f0d197c2c0bc0c099698624bb6082d4e.png"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589997643fe431a55580889799edefcc.png" id="172" name="Google Shape;1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82ae9dc340284e5ca708b4370298f965.png" id="173" name="Google Shape;1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570857b49783e4598e4f5887c9f47409.png" id="174" name="Google Shape;1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27432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Localizar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Marque pronomes 'ele', 'seu' ou 'dele' na oração.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468880" y="3406140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Mapear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a quais termos esses pronomes se referem.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66344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Reorganizar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Aproxime o pronome do núcleo real do sujeito.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85800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Testar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Leia como leitor leigo para ver se restou dúvida.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>
            <a:off x="274320" y="182880"/>
            <a:ext cx="414909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Perfil do Receptor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eficácia da mensagem depende da capacidade de decodificação de quem a recebe. Adequar a linguagem não é empobrecer o conteúdo, mas garantir o acesso pleno à informação.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dc502165ed3aeece70a8518391c8b92c.png"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251710"/>
            <a:ext cx="8595360" cy="2628900"/>
          </a:xfrm>
          <a:prstGeom prst="roundRect">
            <a:avLst>
              <a:gd fmla="val 521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de Registro e Contexto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bcf62f532811e603b361ac2ccab7688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274320" y="3040380"/>
            <a:ext cx="42519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Empregado em documentos oficiais, relações com clientes e relatórios acadêmicos. Exige norma-padrão rigorosa.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098b346cb331e149968d12d726f7e98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4617720" y="3040380"/>
            <a:ext cx="42519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Informal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Usado entre pares, familiares e colegas de equipe em conversas cotidianas. Aceita coloquialismo sem perder clareza.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fd2b3f5ced0585daf56b55a966500f8a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1268730" y="1874520"/>
            <a:ext cx="66179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Tom de Voz e Escolha Vocabular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08610" y="2708910"/>
            <a:ext cx="85382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“A forma como dizemos algo define se a porta do diálogo se abre ou se fecha.”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Impacto Paralinguístico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74320" y="1451610"/>
            <a:ext cx="4709160" cy="208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comunicação oral, a entonação, o volume e a velocidade das palavras orientam a interpretação das intenções do emissor.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tom excessivamente ríspido gera defensividade imediata, enquanto um tom inseguro diminui a credibilidade de dados técnicos bem fundamentados.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74320" y="366903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388620" y="37833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54380" y="378333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No meio escrito, o tom é inferido pela pontuação e pontuação expressiva.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6dd475970e03030b2ebd248d6064b0db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Ligação lógica e consistente entre as partes de um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do receptor que valida se a ideia foi bem recebida.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Capacidade de transmitir o essencial com economia verbal.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Qualidade do texto compreendido de primeira sem duplo sentido.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Ligação lógica e consistente entre as partes de um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do receptor que valida se a ideia foi bem recebida.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Capacidade de transmitir o essencial com economia verbal.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Qualidade do texto compreendido de primeira sem duplo sentido.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22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2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2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2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2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0ba9813aafc042935d32b04ff8ff9f35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Princípio da Concisão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 conciso não significa ser telegráfico ou grosseiro. Trata-se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eliminar redundâncias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rodeios vazios para valorizar o tempo do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Textos prolixos cansam a mente de quem lê e aumentam o risco de pontos importantes passarem despercebidos.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Cortando o Excesso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Expressões que inflam o texto sem acrescentar sentido.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ec56ceac90e73f1d2b82b8dccd6db17e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/>
          <p:nvPr/>
        </p:nvSpPr>
        <p:spPr>
          <a:xfrm>
            <a:off x="3291840" y="182880"/>
            <a:ext cx="5577840" cy="2434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Substitua rodeios verbais por palavras precisas e diretas: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“No momento presente atual” →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“Atualmente”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“Com a finalidade de realizar a entrega” →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“Para entregar”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“Chegar a uma conclusão final” →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“Concluir”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“Grande maioria dos envolvidos” →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maioria”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Prolixidade versus Concisão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dfa509615fbc61f80412f9261d53015a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274320" y="3040380"/>
            <a:ext cx="42519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Prolixo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“Venho por meio deste simples e-mail comunicar que, em virtude de problemas imprevistos, nossa reunião de hoje não poderá ocorrer.”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34be18c522ac642d3079600c92b2bc97.png" id="285" name="Google Shape;28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6" name="Google Shape;286;p25"/>
          <p:cNvSpPr/>
          <p:nvPr/>
        </p:nvSpPr>
        <p:spPr>
          <a:xfrm>
            <a:off x="4617720" y="3040380"/>
            <a:ext cx="4251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Conciso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reunião de hoje foi adiada devido a um imprevisto. Informarei o novo horário até o meio-dia.”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Coerência: Discurso e 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74320" y="1451610"/>
            <a:ext cx="41148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coerência vai além da gramática. Ela exige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harmonia entre o que se afirma e o que se demonstra na prática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Dizer a um colega que sua opinião é valorizada, mas interrompê-lo a cada três segundos durante a reunião, gera um ruído irremediável de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f8a8c4ff66fc14301b7f8135964dfcbd.png" id="294" name="Google Shape;2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de Casos de Ruído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16687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44119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71551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6858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1999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Sonda orbital da NASA perdida por mistura de unidades métricas e inglesas.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3429000" y="93726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2012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 em memorando hospitalar gera suspensão indevida de leitos pediátricos.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61722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Instruções vagas em chats de projetos atrasam entregas em até 40%.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Prejuízos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743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a5f19b72a8eb69837238b680493b33f5.png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/>
          <p:nvPr/>
        </p:nvSpPr>
        <p:spPr>
          <a:xfrm>
            <a:off x="1005840" y="1062990"/>
            <a:ext cx="33832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Retrabalho Constante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Tarefas executadas incorretamente precisam ser refeitas do zero, consumindo horas extras.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46177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cea458236d37c4b1fa0d589539a7c1e1.png"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/>
          <p:nvPr/>
        </p:nvSpPr>
        <p:spPr>
          <a:xfrm>
            <a:off x="53492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Desgaste da Confiança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Mensagens ambíguas geram frustração mútua e acusações entre setores da equipe.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2743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0c4f7915425dd3e3437c004895c8b0e2.png" id="321" name="Google Shape;32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/>
          <p:nvPr/>
        </p:nvSpPr>
        <p:spPr>
          <a:xfrm>
            <a:off x="10058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Prazos Perdidos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clareza sobre quem é o responsável pela entrega causa paralisia operacional.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46177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5fa900b8-d20f-4202-98c6-3662340cc85f/img_4acc51c14c718f4699ab98de09ebe09a.png" id="324" name="Google Shape;32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/>
          <p:nvPr/>
        </p:nvSpPr>
        <p:spPr>
          <a:xfrm>
            <a:off x="53492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Prejuízo Financeiro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Decisões tomadas com base em relatórios vagos geram compras e investimentos errôneos.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/>
          <p:nvPr/>
        </p:nvSpPr>
        <p:spPr>
          <a:xfrm>
            <a:off x="274320" y="104013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Validando a Compreensão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274320" y="2308860"/>
            <a:ext cx="49377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assuma que a mensagem foi entendida apenas porque ninguém fez perguntas.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Emissores eficazes utilizam perguntas de checagem e solicitam paráfrases amigáveis antes de encerrar o contato.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a775e6b14c132b1279ad47b3f53b7b5.png" id="333" name="Google Shape;3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de Checagem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fechar o ciclo de retorno com segurança.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5be5462f486adcf36d876f4c69a2eb2c.png" id="341" name="Google Shape;3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/>
          <p:nvPr/>
        </p:nvSpPr>
        <p:spPr>
          <a:xfrm>
            <a:off x="3291840" y="18288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a pergunta passiva: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entendeu?”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(a resposta costuma ser 'sim' por timidez ou constrangimento).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3291840" y="1325880"/>
            <a:ext cx="5577840" cy="1143000"/>
          </a:xfrm>
          <a:prstGeom prst="roundRect">
            <a:avLst>
              <a:gd fmla="val 8000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Peça uma paráfrase: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“Para alinharmos o fluxo, você pode resumir os próximos passos que combinamos?”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3291840" y="2560320"/>
            <a:ext cx="5577840" cy="1143000"/>
          </a:xfrm>
          <a:prstGeom prst="roundRect">
            <a:avLst>
              <a:gd fmla="val 8000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Teste uma aplicação: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“Se surgir um erro na etapa dois, qual é o protocolo que você deve seguir primeiro?”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Distorções em Frases Comuns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4c718de6e9538f893cbe13479de6fbf3.png" id="351" name="Google Shape;3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2" name="Google Shape;352;p31"/>
          <p:cNvSpPr/>
          <p:nvPr/>
        </p:nvSpPr>
        <p:spPr>
          <a:xfrm>
            <a:off x="274320" y="2834640"/>
            <a:ext cx="42519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 Original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diretor conversou com o coordenador sobre o projeto que ele considerava confuso.”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Quem considerava confuso? O diretor ou o coordenador?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6aecfa95e554d3c044ff1d11a2a92236.png" id="353" name="Google Shape;35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54" name="Google Shape;354;p31"/>
          <p:cNvSpPr/>
          <p:nvPr/>
        </p:nvSpPr>
        <p:spPr>
          <a:xfrm>
            <a:off x="4617720" y="2834640"/>
            <a:ext cx="425196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Reescrita Precisa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“Considerando o projeto confuso, o diretor procurou o coordenador para alinhamento.”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 autoria da opinião fica nítida de imediato.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Sutileza da Pontuação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274320" y="1451610"/>
            <a:ext cx="4503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única vírgula pode alterar vidas e negócios. Compare as duas versões clássicas: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274320" y="2320290"/>
            <a:ext cx="4503420" cy="822960"/>
          </a:xfrm>
          <a:prstGeom prst="roundRect">
            <a:avLst>
              <a:gd fmla="val 11111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“Não espere.”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(Ordem para avançar)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“Não, espere.”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(Ordem de parada imediata)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274320" y="3143250"/>
            <a:ext cx="45034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pontuação organiza a respiração mental do leitor e estrutura as relações lógicas da sentença.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7b5eadcdf5d6160cce36ac96ec535283.png" id="364" name="Google Shape;3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88f2cf22d50efe57d124336ea25cb3a9.png" id="370" name="Google Shape;3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36078a785a8be458ba0ebafb218ca6bf.png"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E-mail Confuso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que você enviou um aviso: 'Precisamos finalizar os relatórios da reunião com a equipe que estiveram em atraso'. O que pode dar errado com essa mensagem e como você a reescreveria?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88f2cf22d50efe57d124336ea25cb3a9.png" id="379" name="Google Shape;37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E-mail Confuso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não saberá se o atraso é dos relatórios ou da reunião.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reescrita eficaz separa os pontos: 'Concluam hoje os relatórios da última reunião.'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prazos e responsáveis evita o retrabalho.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ddd341c519d12a69da31d9ac555889ec.png" id="388" name="Google Shape;38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Edição e Lapidação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Escrever bem exige cortar o excesso. O primeiro rascunho serve para colocar as ideias no papel; a segunda leitura serve para lapidar o vocabulário e a estrutura.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Elimine palavras que funcionam apenas como enchimento sonoro e torne seu parágrafo mais dinâmico e agradável de ler.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Arte da Reescrita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274320" y="1017270"/>
            <a:ext cx="45720" cy="108585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548640" y="1017270"/>
            <a:ext cx="38404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“Não existe escrita perfeita; existe apenas reescrita cuidadosa.”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Princípio editorial da redação profissional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274320" y="2240280"/>
            <a:ext cx="41148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reler o próprio texto, pergunte-se: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“Se eu tivesse apenas cinco segundos para entender isso, eu saberia exatamente o que fazer?”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971fa2ef52a9b6dfe8d2a322a16741e6.png" id="400" name="Google Shape;4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Passos da Lapidação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5fa900b8-d20f-4202-98c6-3662340cc85f/img_63b38d1c0d8722f64b92a0b5a5aa4d55.png"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71cffd16bace0b823c620b31f48d2455.png" id="408" name="Google Shape;40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12c0d4d3b27c0328bf30a6a4a4fdddf6.png" id="409" name="Google Shape;40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0" name="Google Shape;410;p37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27432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Identificar o Centro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Descubra a ideia central e o verbo de ação principal do trecho.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320040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Cortar Adjetivos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Elimine palavras que não alteram em nada o significado do pedido.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612648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Verificar Fluidez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Leia em voz alta para assegurar ritmo natural e sem tropeços.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da Mensagem Clara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 explícito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leitor sabe o que deve fazer logo no primeiro parágrafo?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 aplicada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Foram retiradas todas as repetições e rodeios desnecessários?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Ausência de ambiguidade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Cada pronome e pontuação aponta sem dúvida para o seu referente?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1198f6ede5e2216c51986e3c51e1178b.png" id="436" name="Google Shape;43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5fa900b8-d20f-4202-98c6-3662340cc85f/img_998aee379b58975bc2db2bccd5c330bd.png" id="437" name="Google Shape;43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 de Reescrita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Entreguem trabalhos de história na mesa do professor até sexta, às 10h.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Caderno, caneta e régua de contagem de palavras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lógicos para estruturar uma mensagem profissional sem ruídos: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Redigir o rascunho com objetividade e intenção clara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uma pergunta de checagem para obter feedback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Analisar o perfil do receptor e o contexto da situação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Revisar e eliminar ambiguidades e palavras desnecessárias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lógicos para estruturar uma mensagem profissional sem ruídos: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Redigir o rascunho com objetividade e intenção clara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uma pergunta de checagem para obter feedback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Analisar o perfil do receptor e o contexto da situação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Revisar e eliminar ambiguidades e palavras desnecessárias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5fa900b8-d20f-4202-98c6-3662340cc85f/img_77736240660efd0050525e51b2705e2a.png" id="472" name="Google Shape;47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2"/>
          <p:cNvSpPr/>
          <p:nvPr/>
        </p:nvSpPr>
        <p:spPr>
          <a:xfrm>
            <a:off x="1531620" y="1725930"/>
            <a:ext cx="60807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é Prática Diária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74320" y="256032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Você dominou os pilares da clareza, concisão e checagem. Na próxima aula, avançaremos para as técnicas orais em apresentações e reuniões.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