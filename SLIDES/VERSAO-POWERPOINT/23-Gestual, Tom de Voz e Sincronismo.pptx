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</p:sldIdLst>
  <p:sldSz cy="5143500" cx="9144000"/>
  <p:notesSz cx="5143500" cy="9144000"/>
  <p:embeddedFontLst>
    <p:embeddedFont>
      <p:font typeface="Lexend"/>
      <p:regular r:id="rId46"/>
      <p:bold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20" Type="http://schemas.openxmlformats.org/officeDocument/2006/relationships/slide" Target="slides/slide1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22" Type="http://schemas.openxmlformats.org/officeDocument/2006/relationships/slide" Target="slides/slide18.xml"/><Relationship Id="rId44" Type="http://schemas.openxmlformats.org/officeDocument/2006/relationships/slide" Target="slides/slide40.xml"/><Relationship Id="rId21" Type="http://schemas.openxmlformats.org/officeDocument/2006/relationships/slide" Target="slides/slide17.xml"/><Relationship Id="rId43" Type="http://schemas.openxmlformats.org/officeDocument/2006/relationships/slide" Target="slides/slide39.xml"/><Relationship Id="rId24" Type="http://schemas.openxmlformats.org/officeDocument/2006/relationships/slide" Target="slides/slide20.xml"/><Relationship Id="rId46" Type="http://schemas.openxmlformats.org/officeDocument/2006/relationships/font" Target="fonts/Lexend-regular.fntdata"/><Relationship Id="rId23" Type="http://schemas.openxmlformats.org/officeDocument/2006/relationships/slide" Target="slides/slide19.xml"/><Relationship Id="rId45" Type="http://schemas.openxmlformats.org/officeDocument/2006/relationships/slide" Target="slides/slide41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47" Type="http://schemas.openxmlformats.org/officeDocument/2006/relationships/font" Target="fonts/Lexend-bold.fntdata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slide" Target="slides/slide35.xml"/><Relationship Id="rId16" Type="http://schemas.openxmlformats.org/officeDocument/2006/relationships/slide" Target="slides/slide12.xml"/><Relationship Id="rId38" Type="http://schemas.openxmlformats.org/officeDocument/2006/relationships/slide" Target="slides/slide34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" name="Google Shape;2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" name="Google Shape;4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" name="Google Shape;283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1" name="Google Shape;291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9" name="Google Shape;299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4" name="Google Shape;314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9" name="Google Shape;329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8" name="Google Shape;338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7" name="Google Shape;347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8" name="Google Shape;358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8" name="Google Shape;368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1" name="Google Shape;381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0" name="Google Shape;390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8" name="Google Shape;398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9" name="Google Shape;409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5" name="Google Shape;425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7" name="Google Shape;437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2" name="Google Shape;452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2" name="Google Shape;462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2" name="Google Shape;472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4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image" Target="../media/image2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Relationship Id="rId4" Type="http://schemas.openxmlformats.org/officeDocument/2006/relationships/image" Target="../media/image11.png"/><Relationship Id="rId5" Type="http://schemas.openxmlformats.org/officeDocument/2006/relationships/image" Target="../media/image9.png"/><Relationship Id="rId6" Type="http://schemas.openxmlformats.org/officeDocument/2006/relationships/image" Target="../media/image12.png"/><Relationship Id="rId7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Relationship Id="rId4" Type="http://schemas.openxmlformats.org/officeDocument/2006/relationships/image" Target="../media/image2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Relationship Id="rId4" Type="http://schemas.openxmlformats.org/officeDocument/2006/relationships/image" Target="../media/image1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Relationship Id="rId4" Type="http://schemas.openxmlformats.org/officeDocument/2006/relationships/image" Target="../media/image16.png"/><Relationship Id="rId5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Relationship Id="rId4" Type="http://schemas.openxmlformats.org/officeDocument/2006/relationships/image" Target="../media/image4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Relationship Id="rId4" Type="http://schemas.openxmlformats.org/officeDocument/2006/relationships/image" Target="../media/image18.png"/><Relationship Id="rId5" Type="http://schemas.openxmlformats.org/officeDocument/2006/relationships/image" Target="../media/image41.png"/><Relationship Id="rId6" Type="http://schemas.openxmlformats.org/officeDocument/2006/relationships/image" Target="../media/image27.png"/><Relationship Id="rId7" Type="http://schemas.openxmlformats.org/officeDocument/2006/relationships/image" Target="../media/image2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Relationship Id="rId4" Type="http://schemas.openxmlformats.org/officeDocument/2006/relationships/image" Target="../media/image4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Relationship Id="rId4" Type="http://schemas.openxmlformats.org/officeDocument/2006/relationships/image" Target="../media/image3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Relationship Id="rId4" Type="http://schemas.openxmlformats.org/officeDocument/2006/relationships/image" Target="../media/image48.png"/><Relationship Id="rId5" Type="http://schemas.openxmlformats.org/officeDocument/2006/relationships/image" Target="../media/image35.png"/><Relationship Id="rId6" Type="http://schemas.openxmlformats.org/officeDocument/2006/relationships/image" Target="../media/image3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jpg"/><Relationship Id="rId4" Type="http://schemas.openxmlformats.org/officeDocument/2006/relationships/image" Target="../media/image4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jpg"/><Relationship Id="rId4" Type="http://schemas.openxmlformats.org/officeDocument/2006/relationships/image" Target="../media/image5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jpg"/><Relationship Id="rId4" Type="http://schemas.openxmlformats.org/officeDocument/2006/relationships/image" Target="../media/image4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jpg"/><Relationship Id="rId4" Type="http://schemas.openxmlformats.org/officeDocument/2006/relationships/image" Target="../media/image6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jpg"/><Relationship Id="rId4" Type="http://schemas.openxmlformats.org/officeDocument/2006/relationships/image" Target="../media/image51.png"/><Relationship Id="rId5" Type="http://schemas.openxmlformats.org/officeDocument/2006/relationships/image" Target="../media/image50.png"/><Relationship Id="rId6" Type="http://schemas.openxmlformats.org/officeDocument/2006/relationships/image" Target="../media/image5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jpg"/><Relationship Id="rId4" Type="http://schemas.openxmlformats.org/officeDocument/2006/relationships/image" Target="../media/image6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jpg"/><Relationship Id="rId4" Type="http://schemas.openxmlformats.org/officeDocument/2006/relationships/image" Target="../media/image7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jpg"/><Relationship Id="rId4" Type="http://schemas.openxmlformats.org/officeDocument/2006/relationships/image" Target="../media/image57.png"/><Relationship Id="rId5" Type="http://schemas.openxmlformats.org/officeDocument/2006/relationships/image" Target="../media/image61.png"/><Relationship Id="rId6" Type="http://schemas.openxmlformats.org/officeDocument/2006/relationships/image" Target="../media/image6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jpg"/><Relationship Id="rId4" Type="http://schemas.openxmlformats.org/officeDocument/2006/relationships/image" Target="../media/image53.png"/><Relationship Id="rId5" Type="http://schemas.openxmlformats.org/officeDocument/2006/relationships/image" Target="../media/image7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jpg"/><Relationship Id="rId4" Type="http://schemas.openxmlformats.org/officeDocument/2006/relationships/image" Target="../media/image5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jpg"/><Relationship Id="rId4" Type="http://schemas.openxmlformats.org/officeDocument/2006/relationships/image" Target="../media/image70.png"/><Relationship Id="rId5" Type="http://schemas.openxmlformats.org/officeDocument/2006/relationships/image" Target="../media/image7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jpg"/><Relationship Id="rId4" Type="http://schemas.openxmlformats.org/officeDocument/2006/relationships/image" Target="../media/image77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jpg"/><Relationship Id="rId4" Type="http://schemas.openxmlformats.org/officeDocument/2006/relationships/image" Target="../media/image75.png"/><Relationship Id="rId5" Type="http://schemas.openxmlformats.org/officeDocument/2006/relationships/image" Target="../media/image8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jpg"/><Relationship Id="rId4" Type="http://schemas.openxmlformats.org/officeDocument/2006/relationships/image" Target="../media/image84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.jpg"/><Relationship Id="rId4" Type="http://schemas.openxmlformats.org/officeDocument/2006/relationships/image" Target="../media/image80.png"/><Relationship Id="rId5" Type="http://schemas.openxmlformats.org/officeDocument/2006/relationships/image" Target="../media/image79.png"/><Relationship Id="rId6" Type="http://schemas.openxmlformats.org/officeDocument/2006/relationships/image" Target="../media/image86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.jpg"/><Relationship Id="rId4" Type="http://schemas.openxmlformats.org/officeDocument/2006/relationships/image" Target="../media/image81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.jp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.jpg"/><Relationship Id="rId4" Type="http://schemas.openxmlformats.org/officeDocument/2006/relationships/image" Target="../media/image8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274320" y="274320"/>
            <a:ext cx="4023360" cy="4594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240"/>
              <a:buFont typeface="Lexend"/>
              <a:buNone/>
            </a:pPr>
            <a:r>
              <a:rPr b="1" i="0" lang="en-US" sz="32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Gestual, Tom de Voz e Sincronismo</a:t>
            </a:r>
            <a:endParaRPr b="0" i="0" sz="32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545C5C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545C5C"/>
                </a:solidFill>
                <a:latin typeface="Lexend"/>
                <a:ea typeface="Lexend"/>
                <a:cs typeface="Lexend"/>
                <a:sym typeface="Lexend"/>
              </a:rPr>
              <a:t>A harmonia perfeita entre corpo, voz e mensagem profissional</a:t>
            </a:r>
            <a:endParaRPr b="0" i="0" sz="32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c8c03eef-f9b2-4eb1-b2ad-46c34008f06d/img_2bacd32a14bdacdcf495bdcc26c325ec.png" id="17" name="Google Shape;1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0" y="274320"/>
            <a:ext cx="4297680" cy="4594860"/>
          </a:xfrm>
          <a:prstGeom prst="roundRect">
            <a:avLst>
              <a:gd fmla="val 3191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274320" y="582930"/>
            <a:ext cx="484632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Quando o corpo contradiz a fala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4"/>
          <p:cNvSpPr/>
          <p:nvPr/>
        </p:nvSpPr>
        <p:spPr>
          <a:xfrm>
            <a:off x="274320" y="1851660"/>
            <a:ext cx="484632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Imagine alguém afirmando com voz trêmula, ombros curvados e olhando para o chão: </a:t>
            </a:r>
            <a:r>
              <a:rPr b="0" i="1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“Estou extremamente confiante e animado para este projeto”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Em quem o seu cérebro acredita de imediato? Nas palavras pronunciadas ou nas pistas silenciosas transmitidas pela postura e pelo tom?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c8c03eef-f9b2-4eb1-b2ad-46c34008f06d/img_14c2d69c37e98977c10828250076f348.png" id="25" name="Google Shape;25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0" y="0"/>
            <a:ext cx="36576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Objetivos de Aprendizagem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5"/>
          <p:cNvSpPr/>
          <p:nvPr/>
        </p:nvSpPr>
        <p:spPr>
          <a:xfrm>
            <a:off x="274320" y="1303020"/>
            <a:ext cx="8595360" cy="971550"/>
          </a:xfrm>
          <a:prstGeom prst="roundRect">
            <a:avLst>
              <a:gd fmla="val 14118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5"/>
          <p:cNvSpPr/>
          <p:nvPr/>
        </p:nvSpPr>
        <p:spPr>
          <a:xfrm>
            <a:off x="468630" y="156591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5"/>
          <p:cNvSpPr/>
          <p:nvPr/>
        </p:nvSpPr>
        <p:spPr>
          <a:xfrm>
            <a:off x="1108710" y="1405890"/>
            <a:ext cx="75666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Identificar e sincronizar gestos manuais intencionais com a entonação da fala em discursos orais.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5"/>
          <p:cNvSpPr/>
          <p:nvPr/>
        </p:nvSpPr>
        <p:spPr>
          <a:xfrm>
            <a:off x="274320" y="2457450"/>
            <a:ext cx="8595360" cy="971550"/>
          </a:xfrm>
          <a:prstGeom prst="roundRect">
            <a:avLst>
              <a:gd fmla="val 14118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5"/>
          <p:cNvSpPr/>
          <p:nvPr/>
        </p:nvSpPr>
        <p:spPr>
          <a:xfrm>
            <a:off x="468630" y="272034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5"/>
          <p:cNvSpPr/>
          <p:nvPr/>
        </p:nvSpPr>
        <p:spPr>
          <a:xfrm>
            <a:off x="1108710" y="2560320"/>
            <a:ext cx="75666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Eliminar ruídos corporais comuns, como tiques repetitivos e barreiras físicas que enfraquecem a credibilidade.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5"/>
          <p:cNvSpPr/>
          <p:nvPr/>
        </p:nvSpPr>
        <p:spPr>
          <a:xfrm>
            <a:off x="274320" y="3611880"/>
            <a:ext cx="8595360" cy="971550"/>
          </a:xfrm>
          <a:prstGeom prst="roundRect">
            <a:avLst>
              <a:gd fmla="val 14118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5"/>
          <p:cNvSpPr/>
          <p:nvPr/>
        </p:nvSpPr>
        <p:spPr>
          <a:xfrm>
            <a:off x="468630" y="387477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1108710" y="3714750"/>
            <a:ext cx="75666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Adequar a expressão facial, postura e contato visual a diferentes mídias, tanto presenciais quanto remotas.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Vocabulário Essencial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c8c03eef-f9b2-4eb1-b2ad-46c34008f06d/img_4f433e3b63039822c95e25b3963db90f.png" id="47" name="Google Shape;4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149733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48" name="Google Shape;48;p6"/>
          <p:cNvSpPr/>
          <p:nvPr/>
        </p:nvSpPr>
        <p:spPr>
          <a:xfrm>
            <a:off x="274320" y="3474720"/>
            <a:ext cx="2011680" cy="1440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Gestual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Conjunto de movimentos de braços e mãos que acompanham o discurso.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c8c03eef-f9b2-4eb1-b2ad-46c34008f06d/img_04cca9a0631057e86baf898a6740513f.png" id="49" name="Google Shape;49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68880" y="92583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50" name="Google Shape;50;p6"/>
          <p:cNvSpPr/>
          <p:nvPr/>
        </p:nvSpPr>
        <p:spPr>
          <a:xfrm>
            <a:off x="2468880" y="3040380"/>
            <a:ext cx="2011680" cy="1440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Sincronismo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Coincidência temporal perfeita entre gesto, palavra e respiração.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c8c03eef-f9b2-4eb1-b2ad-46c34008f06d/img_6f5202b4c9ae11e9ddb384bf90e58022.png" id="51" name="Google Shape;51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63440" y="149733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52" name="Google Shape;52;p6"/>
          <p:cNvSpPr/>
          <p:nvPr/>
        </p:nvSpPr>
        <p:spPr>
          <a:xfrm>
            <a:off x="4663440" y="3474720"/>
            <a:ext cx="2011680" cy="1440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Ênfase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Destaque vocal ou gestual dado a palavras-chave estratégicas.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c8c03eef-f9b2-4eb1-b2ad-46c34008f06d/img_30d6a4543349eae75a462d999373a8ad.png" id="53" name="Google Shape;53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58000" y="92583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54" name="Google Shape;54;p6"/>
          <p:cNvSpPr/>
          <p:nvPr/>
        </p:nvSpPr>
        <p:spPr>
          <a:xfrm>
            <a:off x="6858000" y="3040380"/>
            <a:ext cx="2011680" cy="1440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Presença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Domínio consciente do espaço físico, olhar firme e segurança corporal.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3/releases/78214783/backend/storage/app/render-specs/c8c03eef-f9b2-4eb1-b2ad-46c34008f06d/img_381430b88d443cf6e564b4f9b76881fa.png" id="60" name="Google Shape;6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2171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7"/>
          <p:cNvSpPr/>
          <p:nvPr/>
        </p:nvSpPr>
        <p:spPr>
          <a:xfrm>
            <a:off x="274320" y="244602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Linguagem Corporal e Postura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7"/>
          <p:cNvSpPr/>
          <p:nvPr/>
        </p:nvSpPr>
        <p:spPr>
          <a:xfrm>
            <a:off x="274320" y="3280410"/>
            <a:ext cx="85953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postura é a âncora de qualquer fala: pés alinhados à largura dos ombros distribuem o peso com equilíbrio, abrindo a caixa torácica e facilitando a projeção vocal constante sem esforço excessivo.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"/>
          <p:cNvSpPr/>
          <p:nvPr/>
        </p:nvSpPr>
        <p:spPr>
          <a:xfrm>
            <a:off x="274320" y="182880"/>
            <a:ext cx="450342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Olhar como Ponte de Conexão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8"/>
          <p:cNvSpPr/>
          <p:nvPr/>
        </p:nvSpPr>
        <p:spPr>
          <a:xfrm>
            <a:off x="274320" y="1451610"/>
            <a:ext cx="4503420" cy="33489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contato visual genuíno demonstra atenção, respeito e autoridade. Manter o olhar com o público ancora a mensagem:</a:t>
            </a:r>
            <a:endParaRPr b="0" i="0" sz="15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585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Char char="•"/>
            </a:pPr>
            <a:r>
              <a:rPr b="1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Varredura ampla:</a:t>
            </a: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Distribua o olhar por quadrantes da sala sem fixar em uma só pessoa.</a:t>
            </a:r>
            <a:endParaRPr b="0" i="0" sz="15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Char char="•"/>
            </a:pPr>
            <a:r>
              <a:rPr b="1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Duração equilibrada:</a:t>
            </a: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Sustente de 2 a 3 segundos por ouvinte para gerar conexão natural.</a:t>
            </a:r>
            <a:endParaRPr b="0" i="0" sz="15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Char char="•"/>
            </a:pPr>
            <a:r>
              <a:rPr b="1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Evite fugas:</a:t>
            </a: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Olhar para o teto ou para o chão sinaliza insegurança ou desinteresse.</a:t>
            </a:r>
            <a:endParaRPr b="0" i="0" sz="15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c8c03eef-f9b2-4eb1-b2ad-46c34008f06d/img_80375148a7b1e7d388fb776375b91ce2.png" id="70" name="Google Shape;7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0620" y="182880"/>
            <a:ext cx="3909060" cy="3429000"/>
          </a:xfrm>
          <a:prstGeom prst="roundRect">
            <a:avLst>
              <a:gd fmla="val 4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9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Interpretação de Sinais Corporais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9"/>
          <p:cNvSpPr/>
          <p:nvPr/>
        </p:nvSpPr>
        <p:spPr>
          <a:xfrm>
            <a:off x="285750" y="685800"/>
            <a:ext cx="8572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Qual atitude corporal transmite maior segurança e abertura durante uma fala em público?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9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9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Postura ereta, pés firmes no chão e palmas das mãos visíveis e abertas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9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9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Mãos nos bolsos enquanto balança o peso do corpo de um pé para o outro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9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3.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9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Braços cruzados firmemente e olhar fixado no teto da sala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9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4.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9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Olhar exclusivo para as anotações no papel para não errar palavras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0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Interpretação de Sinais Corporais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0"/>
          <p:cNvSpPr/>
          <p:nvPr/>
        </p:nvSpPr>
        <p:spPr>
          <a:xfrm>
            <a:off x="285750" y="685800"/>
            <a:ext cx="8572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Qual atitude corporal transmite maior segurança e abertura durante uma fala em público?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0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0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Postura ereta, pés firmes no chão e palmas das mãos visíveis e abertas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0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0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Mãos nos bolsos enquanto balança o peso do corpo de um pé para o outro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0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3.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0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Braços cruzados firmemente e olhar fixado no teto da sala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0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4.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0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Olhar exclusivo para as anotações no papel para não errar palavras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0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0"/>
          <p:cNvSpPr/>
          <p:nvPr/>
        </p:nvSpPr>
        <p:spPr>
          <a:xfrm>
            <a:off x="8721090" y="152019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2C6E4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✓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1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Gestos das Mãos que Ilustram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1"/>
          <p:cNvSpPr/>
          <p:nvPr/>
        </p:nvSpPr>
        <p:spPr>
          <a:xfrm>
            <a:off x="274320" y="925830"/>
            <a:ext cx="1965960" cy="262890"/>
          </a:xfrm>
          <a:prstGeom prst="roundRect">
            <a:avLst>
              <a:gd fmla="val 17391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45700" lIns="102850" spcFirstLastPara="1" rIns="1028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EXPRESSÃO MANUAL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c8c03eef-f9b2-4eb1-b2ad-46c34008f06d/img_61e3c24bbf227c62551c44b9cdb6d92c.png" id="110" name="Google Shape;110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1280160"/>
            <a:ext cx="4251960" cy="1851660"/>
          </a:xfrm>
          <a:prstGeom prst="roundRect">
            <a:avLst>
              <a:gd fmla="val 7407" name="adj"/>
            </a:avLst>
          </a:prstGeom>
          <a:noFill/>
          <a:ln>
            <a:noFill/>
          </a:ln>
        </p:spPr>
      </p:pic>
      <p:sp>
        <p:nvSpPr>
          <p:cNvPr id="111" name="Google Shape;111;p11"/>
          <p:cNvSpPr/>
          <p:nvPr/>
        </p:nvSpPr>
        <p:spPr>
          <a:xfrm>
            <a:off x="274320" y="3188970"/>
            <a:ext cx="42519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Gestos Descritivos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Desenham tamanhos, formatos e distâncias espaciais no ar, tornando conceitos abstratos visíveis para os ouvintes.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c8c03eef-f9b2-4eb1-b2ad-46c34008f06d/img_94149ccfcf78a1f54fa07d5985890681.png" id="112" name="Google Shape;112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17720" y="1280160"/>
            <a:ext cx="4251960" cy="1851660"/>
          </a:xfrm>
          <a:prstGeom prst="roundRect">
            <a:avLst>
              <a:gd fmla="val 7407" name="adj"/>
            </a:avLst>
          </a:prstGeom>
          <a:noFill/>
          <a:ln>
            <a:noFill/>
          </a:ln>
        </p:spPr>
      </p:pic>
      <p:sp>
        <p:nvSpPr>
          <p:cNvPr id="113" name="Google Shape;113;p11"/>
          <p:cNvSpPr/>
          <p:nvPr/>
        </p:nvSpPr>
        <p:spPr>
          <a:xfrm>
            <a:off x="4617720" y="3188970"/>
            <a:ext cx="42519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Gestos Enfáticos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Pontuam momentos cruciais do discurso com toques precisos no ar, sincronizados exatamente com as sílabas tônicas.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2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Caixa de Gestos Recomendada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2"/>
          <p:cNvSpPr/>
          <p:nvPr/>
        </p:nvSpPr>
        <p:spPr>
          <a:xfrm>
            <a:off x="274320" y="925830"/>
            <a:ext cx="4297680" cy="3943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Para manter a gesticulação elegante e controlada, oradores profissionais operam na chamada </a:t>
            </a: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caixa de gestos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585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Limite superior: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A altura do peito e queixo. Gestos acima do rosto tapam a expressão e passam desespero.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Limite inferior: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A linha da cintura. Mãos caídas demais perdem visibilidade.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Largura: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A amplitude dos ombros, evitando braços excessivamente abertos.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c8c03eef-f9b2-4eb1-b2ad-46c34008f06d/img_d7411709ee4d6b94b7abf204b8863ed3.png" id="121" name="Google Shape;121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4880" y="925830"/>
            <a:ext cx="4114800" cy="3611880"/>
          </a:xfrm>
          <a:prstGeom prst="roundRect">
            <a:avLst>
              <a:gd fmla="val 379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3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Tiques e Barramentos Corporais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3"/>
          <p:cNvSpPr/>
          <p:nvPr/>
        </p:nvSpPr>
        <p:spPr>
          <a:xfrm>
            <a:off x="274320" y="925830"/>
            <a:ext cx="4251960" cy="2034540"/>
          </a:xfrm>
          <a:prstGeom prst="roundRect">
            <a:avLst>
              <a:gd fmla="val 6742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3/releases/78214783/backend/storage/app/render-specs/c8c03eef-f9b2-4eb1-b2ad-46c34008f06d/img_1af508c2f340727ba260ef13c15d9a4a.png" id="129" name="Google Shape;129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1480" y="106299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3"/>
          <p:cNvSpPr/>
          <p:nvPr/>
        </p:nvSpPr>
        <p:spPr>
          <a:xfrm>
            <a:off x="1005840" y="1062990"/>
            <a:ext cx="3383280" cy="1760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Braços Cruzados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Cria uma barreira física que sugere resistência, distanciamento ou defensividade perante o grupo.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3"/>
          <p:cNvSpPr/>
          <p:nvPr/>
        </p:nvSpPr>
        <p:spPr>
          <a:xfrm>
            <a:off x="4617720" y="925830"/>
            <a:ext cx="4251960" cy="2034540"/>
          </a:xfrm>
          <a:prstGeom prst="roundRect">
            <a:avLst>
              <a:gd fmla="val 6742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3/releases/78214783/backend/storage/app/render-specs/c8c03eef-f9b2-4eb1-b2ad-46c34008f06d/img_a3e6c20c18fc4265b2aae5fb17fe99f9.png" id="132" name="Google Shape;132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54880" y="106299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3"/>
          <p:cNvSpPr/>
          <p:nvPr/>
        </p:nvSpPr>
        <p:spPr>
          <a:xfrm>
            <a:off x="5349240" y="1062990"/>
            <a:ext cx="338328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Manipular Caneta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Clicar canetas ou mexer em anéis denuncia tensão interna e distrai o público do raciocínio.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3"/>
          <p:cNvSpPr/>
          <p:nvPr/>
        </p:nvSpPr>
        <p:spPr>
          <a:xfrm>
            <a:off x="274320" y="3051810"/>
            <a:ext cx="4251960" cy="2034540"/>
          </a:xfrm>
          <a:prstGeom prst="roundRect">
            <a:avLst>
              <a:gd fmla="val 6742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3/releases/78214783/backend/storage/app/render-specs/c8c03eef-f9b2-4eb1-b2ad-46c34008f06d/img_7057e8e90b4f51dbf5e62ab7e143dc23.png" id="135" name="Google Shape;135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11480" y="318897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3"/>
          <p:cNvSpPr/>
          <p:nvPr/>
        </p:nvSpPr>
        <p:spPr>
          <a:xfrm>
            <a:off x="1005840" y="3188970"/>
            <a:ext cx="338328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Mãos nos Bolsos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Ocultar as mãos reduz a credibilidade intuitiva percebida pelos ouvintes na apresentação.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3"/>
          <p:cNvSpPr/>
          <p:nvPr/>
        </p:nvSpPr>
        <p:spPr>
          <a:xfrm>
            <a:off x="4617720" y="3051810"/>
            <a:ext cx="4251960" cy="2034540"/>
          </a:xfrm>
          <a:prstGeom prst="roundRect">
            <a:avLst>
              <a:gd fmla="val 6742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3/releases/78214783/backend/storage/app/render-specs/c8c03eef-f9b2-4eb1-b2ad-46c34008f06d/img_41bf9f0b4c53767ccd94e7eeb6230c41.png" id="138" name="Google Shape;138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54880" y="318897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3"/>
          <p:cNvSpPr/>
          <p:nvPr/>
        </p:nvSpPr>
        <p:spPr>
          <a:xfrm>
            <a:off x="5349240" y="3188970"/>
            <a:ext cx="338328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Balanço Contínuo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Oscilar o peso entre os pés transmite instabilidade e cansa o foco visual da plateia.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4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Como Corrigir Posturas Defensivas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4"/>
          <p:cNvSpPr/>
          <p:nvPr/>
        </p:nvSpPr>
        <p:spPr>
          <a:xfrm>
            <a:off x="274320" y="925830"/>
            <a:ext cx="4709160" cy="2331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Adote uma </a:t>
            </a: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postura neutra de repouso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para descansar os braços entre ideias: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95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Char char="•"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Ponto neutro: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Apoie as pontas dos dedos suavemente à altura do umbigo ou deixe os braços descerem soltos ao lado do corpo.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Char char="•"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Gesto intencional: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Eleve as mãos apenas quando houver um argumento específico a marcar.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4"/>
          <p:cNvSpPr/>
          <p:nvPr/>
        </p:nvSpPr>
        <p:spPr>
          <a:xfrm>
            <a:off x="274320" y="3440430"/>
            <a:ext cx="4709160" cy="1234440"/>
          </a:xfrm>
          <a:prstGeom prst="roundRect">
            <a:avLst>
              <a:gd fmla="val 7407" name="adj"/>
            </a:avLst>
          </a:prstGeom>
          <a:solidFill>
            <a:srgbClr val="E6F1FB"/>
          </a:solidFill>
          <a:ln cap="flat" cmpd="sng" w="11425">
            <a:solidFill>
              <a:srgbClr val="0B2F50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4"/>
          <p:cNvSpPr/>
          <p:nvPr/>
        </p:nvSpPr>
        <p:spPr>
          <a:xfrm>
            <a:off x="388620" y="3554730"/>
            <a:ext cx="320040" cy="434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0B2F50"/>
              </a:buClr>
              <a:buSzPts val="1979"/>
              <a:buFont typeface="Lexend"/>
              <a:buNone/>
            </a:pPr>
            <a:r>
              <a:rPr b="0" i="0" lang="en-US" sz="1980" u="none" cap="none" strike="noStrike">
                <a:solidFill>
                  <a:srgbClr val="0B2F50"/>
                </a:solidFill>
                <a:latin typeface="Lexend"/>
                <a:ea typeface="Lexend"/>
                <a:cs typeface="Lexend"/>
                <a:sym typeface="Lexend"/>
              </a:rPr>
              <a:t>💡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4"/>
          <p:cNvSpPr/>
          <p:nvPr/>
        </p:nvSpPr>
        <p:spPr>
          <a:xfrm>
            <a:off x="754380" y="3554730"/>
            <a:ext cx="41148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B2F50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B2F50"/>
                </a:solidFill>
                <a:latin typeface="Lexend"/>
                <a:ea typeface="Lexend"/>
                <a:cs typeface="Lexend"/>
                <a:sym typeface="Lexend"/>
              </a:rPr>
              <a:t>Dica Prática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0B2F50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B2F50"/>
                </a:solidFill>
                <a:latin typeface="Lexend"/>
                <a:ea typeface="Lexend"/>
                <a:cs typeface="Lexend"/>
                <a:sym typeface="Lexend"/>
              </a:rPr>
              <a:t>Não lute contra as mãos; forneça a elas uma base inicial de calma e repouso.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c8c03eef-f9b2-4eb1-b2ad-46c34008f06d/img_af5adb37d83c2da971b609365685b790.png" id="150" name="Google Shape;15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66360" y="925830"/>
            <a:ext cx="3703320" cy="3246120"/>
          </a:xfrm>
          <a:prstGeom prst="roundRect">
            <a:avLst>
              <a:gd fmla="val 4225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5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Verdadeiro ou Falso: Gestos Manuais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5"/>
          <p:cNvSpPr/>
          <p:nvPr/>
        </p:nvSpPr>
        <p:spPr>
          <a:xfrm>
            <a:off x="822960" y="1143000"/>
            <a:ext cx="7372350" cy="1143000"/>
          </a:xfrm>
          <a:prstGeom prst="roundRect">
            <a:avLst>
              <a:gd fmla="val 10000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129286">
              <a:srgbClr val="000000"/>
            </a:outerShdw>
          </a:effectLst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Gesticular sem parar durante toda a fala torna a apresentação mais clara e atraente para o público.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5"/>
          <p:cNvSpPr/>
          <p:nvPr/>
        </p:nvSpPr>
        <p:spPr>
          <a:xfrm>
            <a:off x="2571750" y="2628900"/>
            <a:ext cx="1714500" cy="80010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340"/>
              <a:buFont typeface="Lexend"/>
              <a:buNone/>
            </a:pPr>
            <a:r>
              <a:rPr b="0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👍 </a:t>
            </a:r>
            <a:r>
              <a:rPr b="1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VERDADEIRO</a:t>
            </a:r>
            <a:endParaRPr b="0" i="0" sz="2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5"/>
          <p:cNvSpPr/>
          <p:nvPr/>
        </p:nvSpPr>
        <p:spPr>
          <a:xfrm>
            <a:off x="4857750" y="2628900"/>
            <a:ext cx="1714500" cy="80010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340"/>
              <a:buFont typeface="Lexend"/>
              <a:buNone/>
            </a:pPr>
            <a:r>
              <a:rPr b="0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👎 </a:t>
            </a:r>
            <a:r>
              <a:rPr b="1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FALSO</a:t>
            </a:r>
            <a:endParaRPr b="0" i="0" sz="2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5"/>
          <p:cNvSpPr/>
          <p:nvPr/>
        </p:nvSpPr>
        <p:spPr>
          <a:xfrm>
            <a:off x="2571750" y="3714750"/>
            <a:ext cx="571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🤔 </a:t>
            </a:r>
            <a:r>
              <a:rPr b="0" i="1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Prepare-se para explicar o seu raciocínio.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6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Verdadeiro ou Falso: Gestos Manuais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6"/>
          <p:cNvSpPr/>
          <p:nvPr/>
        </p:nvSpPr>
        <p:spPr>
          <a:xfrm>
            <a:off x="822960" y="1143000"/>
            <a:ext cx="7372350" cy="1143000"/>
          </a:xfrm>
          <a:prstGeom prst="roundRect">
            <a:avLst>
              <a:gd fmla="val 10000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129286">
              <a:srgbClr val="000000"/>
            </a:outerShdw>
          </a:effectLst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Gesticular sem parar durante toda a fala torna a apresentação mais clara e atraente para o público.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6"/>
          <p:cNvSpPr/>
          <p:nvPr/>
        </p:nvSpPr>
        <p:spPr>
          <a:xfrm>
            <a:off x="2571750" y="2628900"/>
            <a:ext cx="1714500" cy="80010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340"/>
              <a:buFont typeface="Lexend"/>
              <a:buNone/>
            </a:pPr>
            <a:r>
              <a:rPr b="0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👍 </a:t>
            </a:r>
            <a:r>
              <a:rPr b="1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VERDADEIRO</a:t>
            </a:r>
            <a:endParaRPr b="0" i="0" sz="2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6"/>
          <p:cNvSpPr/>
          <p:nvPr/>
        </p:nvSpPr>
        <p:spPr>
          <a:xfrm>
            <a:off x="4857750" y="2628900"/>
            <a:ext cx="1714500" cy="80010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4570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340"/>
              <a:buFont typeface="Lexend"/>
              <a:buNone/>
            </a:pPr>
            <a:r>
              <a:rPr b="0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👎 </a:t>
            </a:r>
            <a:r>
              <a:rPr b="1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FALSO</a:t>
            </a:r>
            <a:endParaRPr b="0" i="0" sz="2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6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6"/>
          <p:cNvSpPr/>
          <p:nvPr/>
        </p:nvSpPr>
        <p:spPr>
          <a:xfrm>
            <a:off x="457200" y="3657600"/>
            <a:ext cx="8229600" cy="1028700"/>
          </a:xfrm>
          <a:prstGeom prst="roundRect">
            <a:avLst>
              <a:gd fmla="val 8889" name="adj"/>
            </a:avLst>
          </a:prstGeom>
          <a:solidFill>
            <a:srgbClr val="FAEFDA"/>
          </a:solidFill>
          <a:ln cap="flat" cmpd="sng" w="11425">
            <a:solidFill>
              <a:srgbClr val="573B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5725" lIns="125725" spcFirstLastPara="1" rIns="125725" wrap="square" tIns="12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3B06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573B06"/>
                </a:solidFill>
                <a:latin typeface="Lexend"/>
                <a:ea typeface="Lexend"/>
                <a:cs typeface="Lexend"/>
                <a:sym typeface="Lexend"/>
              </a:rPr>
              <a:t>🔑 Por que é isso?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573B06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573B06"/>
                </a:solidFill>
                <a:latin typeface="Lexend"/>
                <a:ea typeface="Lexend"/>
                <a:cs typeface="Lexend"/>
                <a:sym typeface="Lexend"/>
              </a:rPr>
              <a:t>Gestos contínuos e descontrolados poluem visualmente o discurso e distraem a atenção do tema principal.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6"/>
          <p:cNvSpPr/>
          <p:nvPr/>
        </p:nvSpPr>
        <p:spPr>
          <a:xfrm>
            <a:off x="6435090" y="249174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2C6E4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✓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3/releases/78214783/backend/storage/app/render-specs/c8c03eef-f9b2-4eb1-b2ad-46c34008f06d/img_28ff62e0723831528e632b0a032afd1b.png" id="178" name="Google Shape;17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2171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7"/>
          <p:cNvSpPr/>
          <p:nvPr/>
        </p:nvSpPr>
        <p:spPr>
          <a:xfrm>
            <a:off x="274320" y="244602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Harmonia entre Corpo e Voz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7"/>
          <p:cNvSpPr/>
          <p:nvPr/>
        </p:nvSpPr>
        <p:spPr>
          <a:xfrm>
            <a:off x="274320" y="3280410"/>
            <a:ext cx="85953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fala impactante não depende apenas do vocabulário escolhido: a modulação da voz e os gestos corporais devem se mover como uma coreografia orquestrada e precisa.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8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Os Pilares da Modulação Vocal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c8c03eef-f9b2-4eb1-b2ad-46c34008f06d/img_d4162957e594ecdbfe12d1833d09767e.png" id="187" name="Google Shape;18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925830"/>
            <a:ext cx="281178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188" name="Google Shape;188;p18"/>
          <p:cNvSpPr/>
          <p:nvPr/>
        </p:nvSpPr>
        <p:spPr>
          <a:xfrm>
            <a:off x="274320" y="3040380"/>
            <a:ext cx="2811780" cy="18402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Volume Adequado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Ajustado ao tamanho da sala, garantindo que o fundo do auditório escute sem esforço.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c8c03eef-f9b2-4eb1-b2ad-46c34008f06d/img_8d38517b4db814721c7014ac0c65f3f2.png" id="189" name="Google Shape;18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66110" y="925830"/>
            <a:ext cx="281178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190" name="Google Shape;190;p18"/>
          <p:cNvSpPr/>
          <p:nvPr/>
        </p:nvSpPr>
        <p:spPr>
          <a:xfrm>
            <a:off x="3166110" y="3040380"/>
            <a:ext cx="2811780" cy="18402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Ritmo e Cadência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Alternar momentos dinâmicos com frases desaceleradas para reter a atenção auditiva.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c8c03eef-f9b2-4eb1-b2ad-46c34008f06d/img_be2b2c4681bb09612a78aaca043e6803.png" id="191" name="Google Shape;191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69330" y="925830"/>
            <a:ext cx="281178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192" name="Google Shape;192;p18"/>
          <p:cNvSpPr/>
          <p:nvPr/>
        </p:nvSpPr>
        <p:spPr>
          <a:xfrm>
            <a:off x="6069330" y="3040380"/>
            <a:ext cx="2811780" cy="18402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Inflexão e Tom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Variações de tom evitam a monotonia que provoca sono e desinteresse no ouvinte.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9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Sincronia entre Tom e Gestual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9"/>
          <p:cNvSpPr/>
          <p:nvPr/>
        </p:nvSpPr>
        <p:spPr>
          <a:xfrm>
            <a:off x="274320" y="1017270"/>
            <a:ext cx="4114800" cy="38519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gesto deve atingir seu ápice exatamente no mesmo instante em que a palavra principal é pronunciada com destaque.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585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Gesto atrasado: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Soe ensaiado, mecânico e sem sinceridade.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Gesto antecipado: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Cria ansiedade e desconcentra a audição.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Gesto simultâneo: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Potencializa a memorização imediata do conceito.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c8c03eef-f9b2-4eb1-b2ad-46c34008f06d/img_2e9b1bf6c311164e337ecb2e5385acc3.png" id="200" name="Google Shape;20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4880" y="1017270"/>
            <a:ext cx="4114800" cy="3611880"/>
          </a:xfrm>
          <a:prstGeom prst="roundRect">
            <a:avLst>
              <a:gd fmla="val 379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0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Poder Estratégico da Pausa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c8c03eef-f9b2-4eb1-b2ad-46c34008f06d/img_ec4ca20c98a07b312cefb04c9794ee16.png" id="207" name="Google Shape;20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1017270"/>
            <a:ext cx="4114800" cy="3611880"/>
          </a:xfrm>
          <a:prstGeom prst="roundRect">
            <a:avLst>
              <a:gd fmla="val 3797" name="adj"/>
            </a:avLst>
          </a:prstGeom>
          <a:noFill/>
          <a:ln>
            <a:noFill/>
          </a:ln>
        </p:spPr>
      </p:pic>
      <p:sp>
        <p:nvSpPr>
          <p:cNvPr id="208" name="Google Shape;208;p20"/>
          <p:cNvSpPr/>
          <p:nvPr/>
        </p:nvSpPr>
        <p:spPr>
          <a:xfrm>
            <a:off x="4754880" y="1017270"/>
            <a:ext cx="41148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silêncio consciente não é sinal de esquecimento; é a ferramenta mais refinada de um orador habilidoso.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0"/>
          <p:cNvSpPr/>
          <p:nvPr/>
        </p:nvSpPr>
        <p:spPr>
          <a:xfrm>
            <a:off x="4754880" y="2251710"/>
            <a:ext cx="4114800" cy="1920240"/>
          </a:xfrm>
          <a:prstGeom prst="roundRect">
            <a:avLst>
              <a:gd fmla="val 4762" name="adj"/>
            </a:avLst>
          </a:prstGeom>
          <a:solidFill>
            <a:srgbClr val="E6F1FB"/>
          </a:solidFill>
          <a:ln cap="flat" cmpd="sng" w="11425">
            <a:solidFill>
              <a:srgbClr val="0B2F50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0"/>
          <p:cNvSpPr/>
          <p:nvPr/>
        </p:nvSpPr>
        <p:spPr>
          <a:xfrm>
            <a:off x="4880610" y="2377440"/>
            <a:ext cx="32004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0B2F50"/>
              </a:buClr>
              <a:buSzPts val="2160"/>
              <a:buFont typeface="Lexend"/>
              <a:buNone/>
            </a:pPr>
            <a:r>
              <a:rPr b="0" i="0" lang="en-US" sz="2160" u="none" cap="none" strike="noStrike">
                <a:solidFill>
                  <a:srgbClr val="0B2F50"/>
                </a:solidFill>
                <a:latin typeface="Lexend"/>
                <a:ea typeface="Lexend"/>
                <a:cs typeface="Lexend"/>
                <a:sym typeface="Lexend"/>
              </a:rPr>
              <a:t>🧠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0"/>
          <p:cNvSpPr/>
          <p:nvPr/>
        </p:nvSpPr>
        <p:spPr>
          <a:xfrm>
            <a:off x="5292090" y="2377440"/>
            <a:ext cx="3451860" cy="16687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B2F50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B2F50"/>
                </a:solidFill>
                <a:latin typeface="Lexend"/>
                <a:ea typeface="Lexend"/>
                <a:cs typeface="Lexend"/>
                <a:sym typeface="Lexend"/>
              </a:rPr>
              <a:t>Fixação do Conteúdo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B2F50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B2F50"/>
                </a:solidFill>
                <a:latin typeface="Lexend"/>
                <a:ea typeface="Lexend"/>
                <a:cs typeface="Lexend"/>
                <a:sym typeface="Lexend"/>
              </a:rPr>
              <a:t>Uma pausa de dois segundos após uma ideia forte permite que o ouvinte processe e memorize a reflexão.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1"/>
          <p:cNvSpPr/>
          <p:nvPr/>
        </p:nvSpPr>
        <p:spPr>
          <a:xfrm>
            <a:off x="274320" y="182880"/>
            <a:ext cx="2743200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Incongruência e a Desconfiança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1"/>
          <p:cNvSpPr/>
          <p:nvPr/>
        </p:nvSpPr>
        <p:spPr>
          <a:xfrm>
            <a:off x="274320" y="2240280"/>
            <a:ext cx="2743200" cy="6743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545C5C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545C5C"/>
                </a:solidFill>
                <a:latin typeface="Lexend"/>
                <a:ea typeface="Lexend"/>
                <a:cs typeface="Lexend"/>
                <a:sym typeface="Lexend"/>
              </a:rPr>
              <a:t>Quando os sinais entram em choque.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c8c03eef-f9b2-4eb1-b2ad-46c34008f06d/img_9f8e2a83abc99e39addf090449d3e83c.png" id="219" name="Google Shape;21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3006090"/>
            <a:ext cx="228600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1"/>
          <p:cNvSpPr/>
          <p:nvPr/>
        </p:nvSpPr>
        <p:spPr>
          <a:xfrm>
            <a:off x="3291840" y="182880"/>
            <a:ext cx="5577840" cy="32346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Quando existe conflito entre o que é falado e a expressão não-verbal, o público sempre opta por acreditar no corpo: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585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Voz alegre com semblante rígido: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Soa forçado, irônico ou falso.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Firmeza verbal com recuo físico: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Denuncia medo e falta de autoridade no tema.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regra da coerência: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A confiança só surge quando expressão facial, gestos e palavras contam rigorosamente a mesma história.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2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Conceitos de Harmonia Comunicativa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2"/>
          <p:cNvSpPr/>
          <p:nvPr/>
        </p:nvSpPr>
        <p:spPr>
          <a:xfrm>
            <a:off x="285750" y="742950"/>
            <a:ext cx="8572500" cy="3796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Relacione as palavras com as definições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2"/>
          <p:cNvSpPr/>
          <p:nvPr/>
        </p:nvSpPr>
        <p:spPr>
          <a:xfrm>
            <a:off x="285750" y="13144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Pausa Dramática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2"/>
          <p:cNvSpPr/>
          <p:nvPr/>
        </p:nvSpPr>
        <p:spPr>
          <a:xfrm>
            <a:off x="285750" y="22288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Inflexão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2"/>
          <p:cNvSpPr/>
          <p:nvPr/>
        </p:nvSpPr>
        <p:spPr>
          <a:xfrm>
            <a:off x="285750" y="31432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Caixa de Gestos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2"/>
          <p:cNvSpPr/>
          <p:nvPr/>
        </p:nvSpPr>
        <p:spPr>
          <a:xfrm>
            <a:off x="285750" y="40576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Congruência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2"/>
          <p:cNvSpPr/>
          <p:nvPr/>
        </p:nvSpPr>
        <p:spPr>
          <a:xfrm>
            <a:off x="3829050" y="13144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Variação tonal e de pitch na voz para evitar monotonia.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2"/>
          <p:cNvSpPr/>
          <p:nvPr/>
        </p:nvSpPr>
        <p:spPr>
          <a:xfrm>
            <a:off x="3829050" y="22288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Espaço delimitado entre o queixo e a linha da cintura.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2"/>
          <p:cNvSpPr/>
          <p:nvPr/>
        </p:nvSpPr>
        <p:spPr>
          <a:xfrm>
            <a:off x="3829050" y="31432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Silêncio proposital inserido para gerar reflexão ou suspense.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2"/>
          <p:cNvSpPr/>
          <p:nvPr/>
        </p:nvSpPr>
        <p:spPr>
          <a:xfrm>
            <a:off x="3829050" y="40576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Alinhamento perfeito entre corpo, tom e mensagem falada.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3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Conceitos de Harmonia Comunicativa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3"/>
          <p:cNvSpPr/>
          <p:nvPr/>
        </p:nvSpPr>
        <p:spPr>
          <a:xfrm>
            <a:off x="285750" y="742950"/>
            <a:ext cx="8572500" cy="3796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Relacione as palavras com as definições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3"/>
          <p:cNvSpPr/>
          <p:nvPr/>
        </p:nvSpPr>
        <p:spPr>
          <a:xfrm>
            <a:off x="285750" y="13144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40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Pausa Dramática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3"/>
          <p:cNvSpPr/>
          <p:nvPr/>
        </p:nvSpPr>
        <p:spPr>
          <a:xfrm>
            <a:off x="285750" y="22288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D903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Inflexão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3"/>
          <p:cNvSpPr/>
          <p:nvPr/>
        </p:nvSpPr>
        <p:spPr>
          <a:xfrm>
            <a:off x="285750" y="31432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D68C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Caixa de Gestos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3"/>
          <p:cNvSpPr/>
          <p:nvPr/>
        </p:nvSpPr>
        <p:spPr>
          <a:xfrm>
            <a:off x="285750" y="40576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4579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Congruência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3"/>
          <p:cNvSpPr/>
          <p:nvPr/>
        </p:nvSpPr>
        <p:spPr>
          <a:xfrm>
            <a:off x="3829050" y="13144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Variação tonal e de pitch na voz para evitar monotonia.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3"/>
          <p:cNvSpPr/>
          <p:nvPr/>
        </p:nvSpPr>
        <p:spPr>
          <a:xfrm>
            <a:off x="3829050" y="22288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Espaço delimitado entre o queixo e a linha da cintura.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3"/>
          <p:cNvSpPr/>
          <p:nvPr/>
        </p:nvSpPr>
        <p:spPr>
          <a:xfrm>
            <a:off x="3829050" y="31432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Silêncio proposital inserido para gerar reflexão ou suspense.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3"/>
          <p:cNvSpPr/>
          <p:nvPr/>
        </p:nvSpPr>
        <p:spPr>
          <a:xfrm>
            <a:off x="3829050" y="40576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Alinhamento perfeito entre corpo, tom e mensagem falada.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3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2" name="Google Shape;252;p23"/>
          <p:cNvCxnSpPr/>
          <p:nvPr/>
        </p:nvCxnSpPr>
        <p:spPr>
          <a:xfrm>
            <a:off x="2571750" y="1623060"/>
            <a:ext cx="994410" cy="1858518"/>
          </a:xfrm>
          <a:prstGeom prst="straightConnector1">
            <a:avLst/>
          </a:prstGeom>
          <a:noFill/>
          <a:ln cap="flat" cmpd="sng" w="28575">
            <a:solidFill>
              <a:srgbClr val="409E9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3" name="Google Shape;253;p23"/>
          <p:cNvCxnSpPr/>
          <p:nvPr/>
        </p:nvCxnSpPr>
        <p:spPr>
          <a:xfrm flipH="1" rot="10800000">
            <a:off x="2571750" y="1652778"/>
            <a:ext cx="994410" cy="884682"/>
          </a:xfrm>
          <a:prstGeom prst="straightConnector1">
            <a:avLst/>
          </a:prstGeom>
          <a:noFill/>
          <a:ln cap="flat" cmpd="sng" w="28575">
            <a:solidFill>
              <a:srgbClr val="D9036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4" name="Google Shape;254;p23"/>
          <p:cNvCxnSpPr/>
          <p:nvPr/>
        </p:nvCxnSpPr>
        <p:spPr>
          <a:xfrm flipH="1" rot="10800000">
            <a:off x="2571750" y="2567178"/>
            <a:ext cx="994410" cy="884682"/>
          </a:xfrm>
          <a:prstGeom prst="straightConnector1">
            <a:avLst/>
          </a:prstGeom>
          <a:noFill/>
          <a:ln cap="flat" cmpd="sng" w="28575">
            <a:solidFill>
              <a:srgbClr val="D68C4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5" name="Google Shape;255;p23"/>
          <p:cNvCxnSpPr/>
          <p:nvPr/>
        </p:nvCxnSpPr>
        <p:spPr>
          <a:xfrm>
            <a:off x="2571750" y="4366260"/>
            <a:ext cx="994410" cy="29718"/>
          </a:xfrm>
          <a:prstGeom prst="straightConnector1">
            <a:avLst/>
          </a:prstGeom>
          <a:noFill/>
          <a:ln cap="flat" cmpd="sng" w="28575">
            <a:solidFill>
              <a:srgbClr val="4579A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6" name="Google Shape;256;p23"/>
          <p:cNvSpPr/>
          <p:nvPr/>
        </p:nvSpPr>
        <p:spPr>
          <a:xfrm>
            <a:off x="3394710" y="3310128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409E9E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3"/>
          <p:cNvSpPr/>
          <p:nvPr/>
        </p:nvSpPr>
        <p:spPr>
          <a:xfrm>
            <a:off x="3394710" y="1481328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D90368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3"/>
          <p:cNvSpPr/>
          <p:nvPr/>
        </p:nvSpPr>
        <p:spPr>
          <a:xfrm>
            <a:off x="3394710" y="2395728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D68C45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3"/>
          <p:cNvSpPr/>
          <p:nvPr/>
        </p:nvSpPr>
        <p:spPr>
          <a:xfrm>
            <a:off x="3394710" y="4224528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4579A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4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Comunicação em Câmera e Vídeo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4"/>
          <p:cNvSpPr/>
          <p:nvPr/>
        </p:nvSpPr>
        <p:spPr>
          <a:xfrm>
            <a:off x="274320" y="925830"/>
            <a:ext cx="1977390" cy="262890"/>
          </a:xfrm>
          <a:prstGeom prst="roundRect">
            <a:avLst>
              <a:gd fmla="val 17391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45700" lIns="114300" spcFirstLastPara="1" rIns="1143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EXPRESSÃO REMOTA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4"/>
          <p:cNvSpPr/>
          <p:nvPr/>
        </p:nvSpPr>
        <p:spPr>
          <a:xfrm>
            <a:off x="274320" y="1280160"/>
            <a:ext cx="4503420" cy="35890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Em reuniões virtuais e videochamadas, as regras de sincronismo não desaparecem — elas apenas se adaptam ao enquadramento digital:</a:t>
            </a:r>
            <a:endParaRPr b="0" i="0" sz="15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585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Char char="•"/>
            </a:pPr>
            <a:r>
              <a:rPr b="1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Enquadramento correto:</a:t>
            </a: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Mantenha a cabeça e o tronco superior visíveis para que os gestos manuais possam aparecer na tela.</a:t>
            </a:r>
            <a:endParaRPr b="0" i="0" sz="15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Char char="•"/>
            </a:pPr>
            <a:r>
              <a:rPr b="1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Olho na lente:</a:t>
            </a: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Olhar para a câmera equivale a olhar nos olhos dos participantes virtuais.</a:t>
            </a:r>
            <a:endParaRPr b="0" i="0" sz="15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c8c03eef-f9b2-4eb1-b2ad-46c34008f06d/img_dd82cd56979d9e8accccd7a26dba1a4b.png" id="268" name="Google Shape;268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0620" y="1280160"/>
            <a:ext cx="3909060" cy="3429000"/>
          </a:xfrm>
          <a:prstGeom prst="roundRect">
            <a:avLst>
              <a:gd fmla="val 4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5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Ajustes Gestuais no Vídeo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c8c03eef-f9b2-4eb1-b2ad-46c34008f06d/img_108e40cea612b84317c07efe596a6b98.png" id="275" name="Google Shape;275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925830"/>
            <a:ext cx="2811780" cy="1954530"/>
          </a:xfrm>
          <a:prstGeom prst="roundRect">
            <a:avLst>
              <a:gd fmla="val 7018" name="adj"/>
            </a:avLst>
          </a:prstGeom>
          <a:noFill/>
          <a:ln>
            <a:noFill/>
          </a:ln>
        </p:spPr>
      </p:pic>
      <p:sp>
        <p:nvSpPr>
          <p:cNvPr id="276" name="Google Shape;276;p25"/>
          <p:cNvSpPr/>
          <p:nvPr/>
        </p:nvSpPr>
        <p:spPr>
          <a:xfrm>
            <a:off x="274320" y="2937510"/>
            <a:ext cx="2811780" cy="1760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Altura Adaptada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Elevar os gestos para a linha do peito para que não fiquem escondidos abaixo do corte da tela.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c8c03eef-f9b2-4eb1-b2ad-46c34008f06d/img_34dc42bc5230a75efd90092ea3035f15.png" id="277" name="Google Shape;277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66110" y="925830"/>
            <a:ext cx="2811780" cy="1954530"/>
          </a:xfrm>
          <a:prstGeom prst="roundRect">
            <a:avLst>
              <a:gd fmla="val 7018" name="adj"/>
            </a:avLst>
          </a:prstGeom>
          <a:noFill/>
          <a:ln>
            <a:noFill/>
          </a:ln>
        </p:spPr>
      </p:pic>
      <p:sp>
        <p:nvSpPr>
          <p:cNvPr id="278" name="Google Shape;278;p25"/>
          <p:cNvSpPr/>
          <p:nvPr/>
        </p:nvSpPr>
        <p:spPr>
          <a:xfrm>
            <a:off x="3166110" y="2937510"/>
            <a:ext cx="2811780" cy="1760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Velocidade Suave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Movimentos muito rápidos viram borrões digitais em conexões fracas de internet.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c8c03eef-f9b2-4eb1-b2ad-46c34008f06d/img_7c2621f9fb963e9cbe8bc65643947fa1.png" id="279" name="Google Shape;279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69330" y="925830"/>
            <a:ext cx="2811780" cy="1954530"/>
          </a:xfrm>
          <a:prstGeom prst="roundRect">
            <a:avLst>
              <a:gd fmla="val 7018" name="adj"/>
            </a:avLst>
          </a:prstGeom>
          <a:noFill/>
          <a:ln>
            <a:noFill/>
          </a:ln>
        </p:spPr>
      </p:pic>
      <p:sp>
        <p:nvSpPr>
          <p:cNvPr id="280" name="Google Shape;280;p25"/>
          <p:cNvSpPr/>
          <p:nvPr/>
        </p:nvSpPr>
        <p:spPr>
          <a:xfrm>
            <a:off x="6069330" y="2937510"/>
            <a:ext cx="2811780" cy="1760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Iluminação Facial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luz frontal revela expressões faciais indispensáveis para a empatia e o entendimento.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6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Vestuário e Contexto Profissional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6"/>
          <p:cNvSpPr/>
          <p:nvPr/>
        </p:nvSpPr>
        <p:spPr>
          <a:xfrm>
            <a:off x="274320" y="925830"/>
            <a:ext cx="4297680" cy="3943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vestuário compõe o quadro da comunicação antes mesmo da primeira palavra ser dita: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585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Coerência com o ambiente: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Respeite a cultura da organização ou do evento (formal, casual ou técnico).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Evite distrações visuais: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Estampas excessivas ou barulhos de joias desviam a atenção do conteúdo.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Conforto postural: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Roupas que apertam restringem a respiração diafragmática e a liberdade gestual.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c8c03eef-f9b2-4eb1-b2ad-46c34008f06d/img_e0bd0546fe6def3e591a2ba950c0e8ca.png" id="288" name="Google Shape;288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4880" y="925830"/>
            <a:ext cx="4114800" cy="3611880"/>
          </a:xfrm>
          <a:prstGeom prst="roundRect">
            <a:avLst>
              <a:gd fmla="val 379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7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Sorriso e a Empatia Facial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c8c03eef-f9b2-4eb1-b2ad-46c34008f06d/img_698948efaaf7d4ac7c0806b6f1e28fdd.png" id="295" name="Google Shape;295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1017270"/>
            <a:ext cx="4114800" cy="3611880"/>
          </a:xfrm>
          <a:prstGeom prst="roundRect">
            <a:avLst>
              <a:gd fmla="val 3797" name="adj"/>
            </a:avLst>
          </a:prstGeom>
          <a:noFill/>
          <a:ln>
            <a:noFill/>
          </a:ln>
        </p:spPr>
      </p:pic>
      <p:sp>
        <p:nvSpPr>
          <p:cNvPr id="296" name="Google Shape;296;p27"/>
          <p:cNvSpPr/>
          <p:nvPr/>
        </p:nvSpPr>
        <p:spPr>
          <a:xfrm>
            <a:off x="4754880" y="1017270"/>
            <a:ext cx="4114800" cy="38519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rosto é a central emocional da mensagem falada: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585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Sorriso acolhedor: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Reduz a tensão inicial no início de conversas ou entrevistas formais.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Ouvir com o rosto: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Assentir com a cabeça e manter o semblante receptivo valida o interlocutor.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Autenticidade: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Sorrisos congelados ou mecânicos despertam desconfiança imediata.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8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Etapas do Ensaio Consciente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c8c03eef-f9b2-4eb1-b2ad-46c34008f06d/img_34cc63230b3255e978d6655e7cf3c2cd.png" id="303" name="Google Shape;303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925830"/>
            <a:ext cx="274320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pic>
        <p:nvPicPr>
          <p:cNvPr descr="/home/forge/chalkie-production-workers-3/releases/78214783/backend/storage/app/render-specs/c8c03eef-f9b2-4eb1-b2ad-46c34008f06d/img_0526bac9ac28d07e52aa7806ae3945b8.png" id="304" name="Google Shape;304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00400" y="925830"/>
            <a:ext cx="274320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pic>
        <p:nvPicPr>
          <p:cNvPr descr="/home/forge/chalkie-production-workers-3/releases/78214783/backend/storage/app/render-specs/c8c03eef-f9b2-4eb1-b2ad-46c34008f06d/img_25ecaa37ac6785e37cb3cdaa09c92962.png" id="305" name="Google Shape;305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26480" y="925830"/>
            <a:ext cx="274320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306" name="Google Shape;306;p28"/>
          <p:cNvSpPr/>
          <p:nvPr/>
        </p:nvSpPr>
        <p:spPr>
          <a:xfrm>
            <a:off x="182880" y="3097530"/>
            <a:ext cx="2926080" cy="400050"/>
          </a:xfrm>
          <a:prstGeom prst="chevron">
            <a:avLst>
              <a:gd fmla="val 50000" name="adj"/>
            </a:avLst>
          </a:prstGeom>
          <a:solidFill>
            <a:srgbClr val="F0F1F1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28"/>
          <p:cNvSpPr/>
          <p:nvPr/>
        </p:nvSpPr>
        <p:spPr>
          <a:xfrm>
            <a:off x="3108960" y="3097530"/>
            <a:ext cx="2926080" cy="400050"/>
          </a:xfrm>
          <a:prstGeom prst="chevron">
            <a:avLst>
              <a:gd fmla="val 50000" name="adj"/>
            </a:avLst>
          </a:prstGeom>
          <a:solidFill>
            <a:srgbClr val="F0F1F1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28"/>
          <p:cNvSpPr/>
          <p:nvPr/>
        </p:nvSpPr>
        <p:spPr>
          <a:xfrm>
            <a:off x="6035040" y="3097530"/>
            <a:ext cx="2926080" cy="400050"/>
          </a:xfrm>
          <a:prstGeom prst="chevron">
            <a:avLst>
              <a:gd fmla="val 50000" name="adj"/>
            </a:avLst>
          </a:prstGeom>
          <a:solidFill>
            <a:srgbClr val="F0F1F1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28"/>
          <p:cNvSpPr/>
          <p:nvPr/>
        </p:nvSpPr>
        <p:spPr>
          <a:xfrm>
            <a:off x="274320" y="3600450"/>
            <a:ext cx="27432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 Gravar em Vídeo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Filme uma fala de 2 minutos com celular posicionado na altura dos olhos.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8"/>
          <p:cNvSpPr/>
          <p:nvPr/>
        </p:nvSpPr>
        <p:spPr>
          <a:xfrm>
            <a:off x="3200400" y="3623310"/>
            <a:ext cx="27432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2. Mudo e Sem Áudio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Assista no mudo e analise postura, tiques e olhar.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8"/>
          <p:cNvSpPr/>
          <p:nvPr/>
        </p:nvSpPr>
        <p:spPr>
          <a:xfrm>
            <a:off x="6126480" y="3600450"/>
            <a:ext cx="27432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3. Calibrar o Tom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Ouça apenas o áudio para notar pausas, ritmo e se a voz soa monótona.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9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Roteiro de Autoavaliação Corporal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9"/>
          <p:cNvSpPr/>
          <p:nvPr/>
        </p:nvSpPr>
        <p:spPr>
          <a:xfrm>
            <a:off x="274320" y="1303020"/>
            <a:ext cx="8595360" cy="971550"/>
          </a:xfrm>
          <a:prstGeom prst="roundRect">
            <a:avLst>
              <a:gd fmla="val 14118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29"/>
          <p:cNvSpPr/>
          <p:nvPr/>
        </p:nvSpPr>
        <p:spPr>
          <a:xfrm>
            <a:off x="468630" y="156591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9"/>
          <p:cNvSpPr/>
          <p:nvPr/>
        </p:nvSpPr>
        <p:spPr>
          <a:xfrm>
            <a:off x="1108710" y="1405890"/>
            <a:ext cx="75666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Posição das mãos: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Minhas mãos estão operando na caixa de gestos ou escondidas nos bolsos?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9"/>
          <p:cNvSpPr/>
          <p:nvPr/>
        </p:nvSpPr>
        <p:spPr>
          <a:xfrm>
            <a:off x="274320" y="2457450"/>
            <a:ext cx="8595360" cy="971550"/>
          </a:xfrm>
          <a:prstGeom prst="roundRect">
            <a:avLst>
              <a:gd fmla="val 14118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29"/>
          <p:cNvSpPr/>
          <p:nvPr/>
        </p:nvSpPr>
        <p:spPr>
          <a:xfrm>
            <a:off x="468630" y="272034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9"/>
          <p:cNvSpPr/>
          <p:nvPr/>
        </p:nvSpPr>
        <p:spPr>
          <a:xfrm>
            <a:off x="1108710" y="2560320"/>
            <a:ext cx="75666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Contato visual: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Estou olhando para as pessoas ou fixando no chão, nas telas e nas lâmpadas?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9"/>
          <p:cNvSpPr/>
          <p:nvPr/>
        </p:nvSpPr>
        <p:spPr>
          <a:xfrm>
            <a:off x="274320" y="3611880"/>
            <a:ext cx="8595360" cy="971550"/>
          </a:xfrm>
          <a:prstGeom prst="roundRect">
            <a:avLst>
              <a:gd fmla="val 14118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29"/>
          <p:cNvSpPr/>
          <p:nvPr/>
        </p:nvSpPr>
        <p:spPr>
          <a:xfrm>
            <a:off x="468630" y="387477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9"/>
          <p:cNvSpPr/>
          <p:nvPr/>
        </p:nvSpPr>
        <p:spPr>
          <a:xfrm>
            <a:off x="1108710" y="3714750"/>
            <a:ext cx="75666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Ritmo e pausas: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Permito silêncios confortáveis ou uso sons de preenchimento como “ééé”?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3/releases/78214783/backend/storage/app/render-specs/c8c03eef-f9b2-4eb1-b2ad-46c34008f06d/img_88f2cf22d50efe57d124336ea25cb3a9.png" id="332" name="Google Shape;33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4330" y="651510"/>
            <a:ext cx="8332470" cy="43091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3/releases/78214783/backend/storage/app/render-specs/c8c03eef-f9b2-4eb1-b2ad-46c34008f06d/img_610c76e1d0110074649ed9edacf81e5d.png" id="333" name="Google Shape;333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03020" y="1657350"/>
            <a:ext cx="2834640" cy="2194560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30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Reflexão sobre Tiques Inconscientes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30"/>
          <p:cNvSpPr/>
          <p:nvPr/>
        </p:nvSpPr>
        <p:spPr>
          <a:xfrm>
            <a:off x="4297680" y="1828800"/>
            <a:ext cx="3726180" cy="19888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Qual é o seu tique físico mais frequente quando fica tímido ou nervoso em público, e que estratégia você usará para substituí-lo?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3/releases/78214783/backend/storage/app/render-specs/c8c03eef-f9b2-4eb1-b2ad-46c34008f06d/img_88f2cf22d50efe57d124336ea25cb3a9.png" id="341" name="Google Shape;341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4330" y="651510"/>
            <a:ext cx="8332470" cy="4309110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31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Reflexão sobre Tiques Inconscientes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31"/>
          <p:cNvSpPr/>
          <p:nvPr/>
        </p:nvSpPr>
        <p:spPr>
          <a:xfrm>
            <a:off x="982980" y="1657350"/>
            <a:ext cx="7040880" cy="19888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Você poderia ter dito...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Mexer no cabelo ou ajustar a roupa a todo momento.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Ficar clicando canetas ou manipulando objetos.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Cruzar os braços ou esconder as mãos nos bolsos.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Balançar o tronco ou transferir o peso entre as pernas sem parar.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31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2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Análise de Palestrantes Renomados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32"/>
          <p:cNvSpPr/>
          <p:nvPr/>
        </p:nvSpPr>
        <p:spPr>
          <a:xfrm>
            <a:off x="274320" y="925830"/>
            <a:ext cx="1725930" cy="262890"/>
          </a:xfrm>
          <a:prstGeom prst="roundRect">
            <a:avLst>
              <a:gd fmla="val 17391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45700" lIns="114300" spcFirstLastPara="1" rIns="1143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ESTUDO DE CASO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c8c03eef-f9b2-4eb1-b2ad-46c34008f06d/img_618aa4e7c03fc93843367d0530d077f1.png" id="352" name="Google Shape;352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1280160"/>
            <a:ext cx="4251960" cy="1954530"/>
          </a:xfrm>
          <a:prstGeom prst="roundRect">
            <a:avLst>
              <a:gd fmla="val 7018" name="adj"/>
            </a:avLst>
          </a:prstGeom>
          <a:noFill/>
          <a:ln>
            <a:noFill/>
          </a:ln>
        </p:spPr>
      </p:pic>
      <p:sp>
        <p:nvSpPr>
          <p:cNvPr id="353" name="Google Shape;353;p32"/>
          <p:cNvSpPr/>
          <p:nvPr/>
        </p:nvSpPr>
        <p:spPr>
          <a:xfrm>
            <a:off x="274320" y="3291840"/>
            <a:ext cx="425196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Economia de Movimento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Grandes oradores não se movimentam o tempo todo; cada passo pelo palco tem propósito.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c8c03eef-f9b2-4eb1-b2ad-46c34008f06d/img_54f0bc5cde8b67af21992393920d6206.png" id="354" name="Google Shape;354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17720" y="1280160"/>
            <a:ext cx="4251960" cy="1954530"/>
          </a:xfrm>
          <a:prstGeom prst="roundRect">
            <a:avLst>
              <a:gd fmla="val 7018" name="adj"/>
            </a:avLst>
          </a:prstGeom>
          <a:noFill/>
          <a:ln>
            <a:noFill/>
          </a:ln>
        </p:spPr>
      </p:pic>
      <p:sp>
        <p:nvSpPr>
          <p:cNvPr id="355" name="Google Shape;355;p32"/>
          <p:cNvSpPr/>
          <p:nvPr/>
        </p:nvSpPr>
        <p:spPr>
          <a:xfrm>
            <a:off x="4617720" y="3291840"/>
            <a:ext cx="425196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Picos Dramáticos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Nos momentos decisivos da narrativa, o gesto manual sustenta e expande a energia da voz.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3"/>
          <p:cNvSpPr/>
          <p:nvPr/>
        </p:nvSpPr>
        <p:spPr>
          <a:xfrm>
            <a:off x="274320" y="182880"/>
            <a:ext cx="411480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Metáfora da Dança Comunicativa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33"/>
          <p:cNvSpPr/>
          <p:nvPr/>
        </p:nvSpPr>
        <p:spPr>
          <a:xfrm>
            <a:off x="274320" y="1451610"/>
            <a:ext cx="41148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comunicação completa opera como um instrumento musical de alta precisão: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33"/>
          <p:cNvSpPr/>
          <p:nvPr/>
        </p:nvSpPr>
        <p:spPr>
          <a:xfrm>
            <a:off x="274320" y="2686050"/>
            <a:ext cx="45720" cy="1645920"/>
          </a:xfrm>
          <a:prstGeom prst="rect">
            <a:avLst/>
          </a:prstGeom>
          <a:solidFill>
            <a:srgbClr val="040F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33"/>
          <p:cNvSpPr/>
          <p:nvPr/>
        </p:nvSpPr>
        <p:spPr>
          <a:xfrm>
            <a:off x="548640" y="2686050"/>
            <a:ext cx="384048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1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“As palavras transmitem o dado; o tom transmite a emoção; e o corpo comprova a verdade de quem fala.”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545C5C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545C5C"/>
                </a:solidFill>
                <a:latin typeface="Lexend"/>
                <a:ea typeface="Lexend"/>
                <a:cs typeface="Lexend"/>
                <a:sym typeface="Lexend"/>
              </a:rPr>
              <a:t>Princípio de Oratória e Alinhamento Não-Verbal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c8c03eef-f9b2-4eb1-b2ad-46c34008f06d/img_2923bbe0dc97d4c5868c578212f25801.png" id="365" name="Google Shape;365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4880" y="182880"/>
            <a:ext cx="4114800" cy="3611880"/>
          </a:xfrm>
          <a:prstGeom prst="roundRect">
            <a:avLst>
              <a:gd fmla="val 379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4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Estrutura da Fala Relâmpago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34"/>
          <p:cNvSpPr/>
          <p:nvPr/>
        </p:nvSpPr>
        <p:spPr>
          <a:xfrm>
            <a:off x="457200" y="2834640"/>
            <a:ext cx="8229600" cy="22860"/>
          </a:xfrm>
          <a:prstGeom prst="rect">
            <a:avLst/>
          </a:prstGeom>
          <a:solidFill>
            <a:srgbClr val="040F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34"/>
          <p:cNvSpPr/>
          <p:nvPr/>
        </p:nvSpPr>
        <p:spPr>
          <a:xfrm>
            <a:off x="1668780" y="2686050"/>
            <a:ext cx="320040" cy="320040"/>
          </a:xfrm>
          <a:prstGeom prst="ellipse">
            <a:avLst/>
          </a:prstGeom>
          <a:solidFill>
            <a:srgbClr val="FFFFFF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34"/>
          <p:cNvSpPr/>
          <p:nvPr/>
        </p:nvSpPr>
        <p:spPr>
          <a:xfrm>
            <a:off x="4411980" y="2686050"/>
            <a:ext cx="320040" cy="320040"/>
          </a:xfrm>
          <a:prstGeom prst="ellipse">
            <a:avLst/>
          </a:prstGeom>
          <a:solidFill>
            <a:srgbClr val="FFFFFF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34"/>
          <p:cNvSpPr/>
          <p:nvPr/>
        </p:nvSpPr>
        <p:spPr>
          <a:xfrm>
            <a:off x="7155180" y="2686050"/>
            <a:ext cx="320040" cy="320040"/>
          </a:xfrm>
          <a:prstGeom prst="ellipse">
            <a:avLst/>
          </a:prstGeom>
          <a:solidFill>
            <a:srgbClr val="FFFFFF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34"/>
          <p:cNvSpPr/>
          <p:nvPr/>
        </p:nvSpPr>
        <p:spPr>
          <a:xfrm>
            <a:off x="685800" y="3086100"/>
            <a:ext cx="228600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0 a 15 s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Gancho inicial com postura firme e contato visual pleno.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34"/>
          <p:cNvSpPr/>
          <p:nvPr/>
        </p:nvSpPr>
        <p:spPr>
          <a:xfrm>
            <a:off x="3429000" y="1223010"/>
            <a:ext cx="228600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15 a 45 s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Argumento central com gesticulação deliberada na caixa.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34"/>
          <p:cNvSpPr/>
          <p:nvPr/>
        </p:nvSpPr>
        <p:spPr>
          <a:xfrm>
            <a:off x="6172200" y="3086100"/>
            <a:ext cx="22860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45 a 60 s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Conclusão memorável sustentada por uma pausa intencional.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3/releases/78214783/backend/storage/app/render-specs/c8c03eef-f9b2-4eb1-b2ad-46c34008f06d/img_b8e2e30cbb6ba10a8acb00af0ff4be05.png" id="384" name="Google Shape;384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3/releases/78214783/backend/storage/app/render-specs/c8c03eef-f9b2-4eb1-b2ad-46c34008f06d/img_101b68f7c9fa1c18e16423ee0d6f8c64.png" id="385" name="Google Shape;385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0120" y="1908810"/>
            <a:ext cx="2697480" cy="2331720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35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Desafio da Apresentação Relâmpago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35"/>
          <p:cNvSpPr/>
          <p:nvPr/>
        </p:nvSpPr>
        <p:spPr>
          <a:xfrm>
            <a:off x="3806190" y="1440180"/>
            <a:ext cx="4194810" cy="31203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Em duplas, cada aluno fará uma fala de 1 minuto defendendo uma ideia simples (ex.: a importância do intervalo escolar). O parceiro atuará como observador atento anotando: 1) os momentos de sincronia perfeita entre mãos e voz, e 2) quaisquer tiques ou posturas defensivas percebidos.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6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Como Dar Feedback Construtivo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36"/>
          <p:cNvSpPr/>
          <p:nvPr/>
        </p:nvSpPr>
        <p:spPr>
          <a:xfrm>
            <a:off x="274320" y="925830"/>
            <a:ext cx="4503420" cy="3943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Avaliar a linguagem corporal de um colega exige sensibilidade, generosidade e objetividade prática:</a:t>
            </a:r>
            <a:endParaRPr b="0" i="0" sz="15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585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Char char="•"/>
            </a:pPr>
            <a:r>
              <a:rPr b="1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Descreva fatos, não julgamentos:</a:t>
            </a: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Diga </a:t>
            </a:r>
            <a:r>
              <a:rPr b="0" i="1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“você clicou a caneta quatro vezes”</a:t>
            </a: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em vez de </a:t>
            </a:r>
            <a:r>
              <a:rPr b="0" i="1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“você parecia muito ansioso”</a:t>
            </a: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b="0" i="0" sz="15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Char char="•"/>
            </a:pPr>
            <a:r>
              <a:rPr b="1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Destaque acertos:</a:t>
            </a: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Reconheça momentos em que o olhar ou as pausas geraram impacto positivo.</a:t>
            </a:r>
            <a:endParaRPr b="0" i="0" sz="15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Char char="•"/>
            </a:pPr>
            <a:r>
              <a:rPr b="1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Aponte uma melhoria prioritária:</a:t>
            </a: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Focar em uma única mudança por vez acelera a evolução.</a:t>
            </a:r>
            <a:endParaRPr b="0" i="0" sz="15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c8c03eef-f9b2-4eb1-b2ad-46c34008f06d/img_85f95ee1bf57216efdb5addc56544f7f.png" id="395" name="Google Shape;395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0620" y="925830"/>
            <a:ext cx="3909060" cy="3429000"/>
          </a:xfrm>
          <a:prstGeom prst="roundRect">
            <a:avLst>
              <a:gd fmla="val 4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7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Ordem da Preparação Corporal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37"/>
          <p:cNvSpPr/>
          <p:nvPr/>
        </p:nvSpPr>
        <p:spPr>
          <a:xfrm>
            <a:off x="285750" y="685800"/>
            <a:ext cx="8572500" cy="4297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Organize os passos para construir uma apresentação alinhada e sincronizada: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37"/>
          <p:cNvSpPr/>
          <p:nvPr/>
        </p:nvSpPr>
        <p:spPr>
          <a:xfrm>
            <a:off x="1714500" y="165735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Assumir a postura base com pés firmes e olhar distribuído sobre o público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37"/>
          <p:cNvSpPr/>
          <p:nvPr/>
        </p:nvSpPr>
        <p:spPr>
          <a:xfrm>
            <a:off x="1714500" y="240030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Iniciar a introdução com volume firme e mãos em posição neutra de repouso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37"/>
          <p:cNvSpPr/>
          <p:nvPr/>
        </p:nvSpPr>
        <p:spPr>
          <a:xfrm>
            <a:off x="1714500" y="314325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Fazer uma pausa intencional de dois segundos antes da frase de impacto final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37"/>
          <p:cNvSpPr/>
          <p:nvPr/>
        </p:nvSpPr>
        <p:spPr>
          <a:xfrm>
            <a:off x="1714500" y="388620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Elevar os gestos dentro da caixa para ilustrar o argumento central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38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Ordem da Preparação Corporal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38"/>
          <p:cNvSpPr/>
          <p:nvPr/>
        </p:nvSpPr>
        <p:spPr>
          <a:xfrm>
            <a:off x="285750" y="685800"/>
            <a:ext cx="8572500" cy="4297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Organize os passos para construir uma apresentação alinhada e sincronizada: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38"/>
          <p:cNvSpPr/>
          <p:nvPr/>
        </p:nvSpPr>
        <p:spPr>
          <a:xfrm>
            <a:off x="1714500" y="165735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Assumir a postura base com pés firmes e olhar distribuído sobre o público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38"/>
          <p:cNvSpPr/>
          <p:nvPr/>
        </p:nvSpPr>
        <p:spPr>
          <a:xfrm>
            <a:off x="1714500" y="240030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Iniciar a introdução com volume firme e mãos em posição neutra de repouso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38"/>
          <p:cNvSpPr/>
          <p:nvPr/>
        </p:nvSpPr>
        <p:spPr>
          <a:xfrm>
            <a:off x="1714500" y="388620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Fazer uma pausa intencional de dois segundos antes da frase de impacto final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38"/>
          <p:cNvSpPr/>
          <p:nvPr/>
        </p:nvSpPr>
        <p:spPr>
          <a:xfrm>
            <a:off x="1714500" y="314325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Elevar os gestos dentro da caixa para ilustrar o argumento central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38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38"/>
          <p:cNvSpPr/>
          <p:nvPr/>
        </p:nvSpPr>
        <p:spPr>
          <a:xfrm>
            <a:off x="7292340" y="152019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38"/>
          <p:cNvSpPr/>
          <p:nvPr/>
        </p:nvSpPr>
        <p:spPr>
          <a:xfrm>
            <a:off x="7292340" y="226314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38"/>
          <p:cNvSpPr/>
          <p:nvPr/>
        </p:nvSpPr>
        <p:spPr>
          <a:xfrm>
            <a:off x="7292340" y="300609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38"/>
          <p:cNvSpPr/>
          <p:nvPr/>
        </p:nvSpPr>
        <p:spPr>
          <a:xfrm>
            <a:off x="7292340" y="374904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39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Síntese dos Conceitos Principais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c8c03eef-f9b2-4eb1-b2ad-46c34008f06d/img_cc72eeebdeda1d88283acaca85876405.png" id="429" name="Google Shape;429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1531620"/>
            <a:ext cx="274320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430" name="Google Shape;430;p39"/>
          <p:cNvSpPr/>
          <p:nvPr/>
        </p:nvSpPr>
        <p:spPr>
          <a:xfrm>
            <a:off x="274320" y="3646170"/>
            <a:ext cx="27432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Postura Firme: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A base corporal estável projeta clareza e autoridade imediata.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c8c03eef-f9b2-4eb1-b2ad-46c34008f06d/img_ea9ee9a0e38a38567d1bb5900ec54cf6.png" id="431" name="Google Shape;431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00400" y="960120"/>
            <a:ext cx="274320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432" name="Google Shape;432;p39"/>
          <p:cNvSpPr/>
          <p:nvPr/>
        </p:nvSpPr>
        <p:spPr>
          <a:xfrm>
            <a:off x="3200400" y="3074670"/>
            <a:ext cx="2743200" cy="9372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Sincronia Mãos-Voz: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Os gestos ilustram no tempo exato da modulação vocal.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c8c03eef-f9b2-4eb1-b2ad-46c34008f06d/img_54485affd62bf67f4aceef595da90e31.png" id="433" name="Google Shape;433;p3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26480" y="1531620"/>
            <a:ext cx="274320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434" name="Google Shape;434;p39"/>
          <p:cNvSpPr/>
          <p:nvPr/>
        </p:nvSpPr>
        <p:spPr>
          <a:xfrm>
            <a:off x="6126480" y="3646170"/>
            <a:ext cx="27432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Presença Adaptada: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Controle consciente do espaço físico ou do enquadramento digital.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40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Checklist Final do Comunicador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40"/>
          <p:cNvSpPr/>
          <p:nvPr/>
        </p:nvSpPr>
        <p:spPr>
          <a:xfrm>
            <a:off x="274320" y="1303020"/>
            <a:ext cx="8595360" cy="971550"/>
          </a:xfrm>
          <a:prstGeom prst="roundRect">
            <a:avLst>
              <a:gd fmla="val 14118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40"/>
          <p:cNvSpPr/>
          <p:nvPr/>
        </p:nvSpPr>
        <p:spPr>
          <a:xfrm>
            <a:off x="468630" y="156591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40"/>
          <p:cNvSpPr/>
          <p:nvPr/>
        </p:nvSpPr>
        <p:spPr>
          <a:xfrm>
            <a:off x="1108710" y="1405890"/>
            <a:ext cx="75666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Mãos Livres: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Elimine objetos desnecessários que alimentem tiques e distrações.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40"/>
          <p:cNvSpPr/>
          <p:nvPr/>
        </p:nvSpPr>
        <p:spPr>
          <a:xfrm>
            <a:off x="274320" y="2457450"/>
            <a:ext cx="8595360" cy="971550"/>
          </a:xfrm>
          <a:prstGeom prst="roundRect">
            <a:avLst>
              <a:gd fmla="val 14118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40"/>
          <p:cNvSpPr/>
          <p:nvPr/>
        </p:nvSpPr>
        <p:spPr>
          <a:xfrm>
            <a:off x="468630" y="272034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40"/>
          <p:cNvSpPr/>
          <p:nvPr/>
        </p:nvSpPr>
        <p:spPr>
          <a:xfrm>
            <a:off x="1108710" y="2560320"/>
            <a:ext cx="75666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Olhar Ativo: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Conecte-se com todo o ambiente ou mire a lente com naturalidade.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40"/>
          <p:cNvSpPr/>
          <p:nvPr/>
        </p:nvSpPr>
        <p:spPr>
          <a:xfrm>
            <a:off x="274320" y="3611880"/>
            <a:ext cx="8595360" cy="971550"/>
          </a:xfrm>
          <a:prstGeom prst="roundRect">
            <a:avLst>
              <a:gd fmla="val 14118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40"/>
          <p:cNvSpPr/>
          <p:nvPr/>
        </p:nvSpPr>
        <p:spPr>
          <a:xfrm>
            <a:off x="468630" y="387477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40"/>
          <p:cNvSpPr/>
          <p:nvPr/>
        </p:nvSpPr>
        <p:spPr>
          <a:xfrm>
            <a:off x="1108710" y="3714750"/>
            <a:ext cx="75666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Pausas Confortáveis: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Permita que o silêncio dê peso e destaque às suas conclusões.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3/releases/78214783/backend/storage/app/render-specs/c8c03eef-f9b2-4eb1-b2ad-46c34008f06d/img_74db676abbf9321227487417a15623c8.png" id="455" name="Google Shape;455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49490" y="-91440"/>
            <a:ext cx="182880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41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Desafio Final de Fixação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41"/>
          <p:cNvSpPr/>
          <p:nvPr/>
        </p:nvSpPr>
        <p:spPr>
          <a:xfrm>
            <a:off x="285750" y="1143000"/>
            <a:ext cx="8572500" cy="7680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Pergunta 1: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Onde fica delimitada a chamada caixa de gestos recomendada para oradores?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41"/>
          <p:cNvSpPr/>
          <p:nvPr/>
        </p:nvSpPr>
        <p:spPr>
          <a:xfrm>
            <a:off x="285750" y="2286000"/>
            <a:ext cx="8572500" cy="1014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Pergunta 2: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que os ouvintes tendem a fazer quando a fala verbal contradiz a linguagem corporal?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41"/>
          <p:cNvSpPr/>
          <p:nvPr/>
        </p:nvSpPr>
        <p:spPr>
          <a:xfrm>
            <a:off x="285750" y="3429000"/>
            <a:ext cx="8572500" cy="1014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Pergunta 3: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Em chamadas de vídeo, como o orador estabelece contato visual com os participantes?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42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Desafio Final de Fixação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42"/>
          <p:cNvSpPr/>
          <p:nvPr/>
        </p:nvSpPr>
        <p:spPr>
          <a:xfrm>
            <a:off x="285750" y="1143000"/>
            <a:ext cx="8572500" cy="7680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Resposta 1: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Entre a altura do queixo/peito e a linha da cintura.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42"/>
          <p:cNvSpPr/>
          <p:nvPr/>
        </p:nvSpPr>
        <p:spPr>
          <a:xfrm>
            <a:off x="285750" y="2286000"/>
            <a:ext cx="8572500" cy="7680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Resposta 2: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Eles tendem a confiar na linguagem corporal e desconfiar da fala.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42"/>
          <p:cNvSpPr/>
          <p:nvPr/>
        </p:nvSpPr>
        <p:spPr>
          <a:xfrm>
            <a:off x="285750" y="3429000"/>
            <a:ext cx="8572500" cy="7680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Resposta 3: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Olhando diretamente para a lente da câmera, e não para a tela.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42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3/releases/78214783/backend/storage/app/render-specs/c8c03eef-f9b2-4eb1-b2ad-46c34008f06d/img_dbc900b15ef6bde093f6115ceaa198c0.png" id="475" name="Google Shape;475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4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6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43"/>
          <p:cNvSpPr/>
          <p:nvPr/>
        </p:nvSpPr>
        <p:spPr>
          <a:xfrm>
            <a:off x="2160270" y="1748790"/>
            <a:ext cx="48234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Domine a Sua Presença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43"/>
          <p:cNvSpPr/>
          <p:nvPr/>
        </p:nvSpPr>
        <p:spPr>
          <a:xfrm>
            <a:off x="274320" y="2537460"/>
            <a:ext cx="85953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E1E2E2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1E2E2"/>
                </a:solidFill>
                <a:latin typeface="Lexend"/>
                <a:ea typeface="Lexend"/>
                <a:cs typeface="Lexend"/>
                <a:sym typeface="Lexend"/>
              </a:rPr>
              <a:t>Comunique com a segurança de quem alinha corpo, mente e voz em direção ao impacto e à empatia profissional.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