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5143500" cy="9144000"/>
  <p:embeddedFontLs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bold.fntdata"/><Relationship Id="rId23" Type="http://schemas.openxmlformats.org/officeDocument/2006/relationships/slide" Target="slides/slide19.xml"/><Relationship Id="rId45" Type="http://schemas.openxmlformats.org/officeDocument/2006/relationships/font" Target="fonts/Lexen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4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8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40.png"/><Relationship Id="rId5" Type="http://schemas.openxmlformats.org/officeDocument/2006/relationships/image" Target="../media/image43.png"/><Relationship Id="rId6" Type="http://schemas.openxmlformats.org/officeDocument/2006/relationships/image" Target="../media/image49.png"/><Relationship Id="rId7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image" Target="../media/image5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Relationship Id="rId4" Type="http://schemas.openxmlformats.org/officeDocument/2006/relationships/image" Target="../media/image57.png"/><Relationship Id="rId5" Type="http://schemas.openxmlformats.org/officeDocument/2006/relationships/image" Target="../media/image52.png"/><Relationship Id="rId6" Type="http://schemas.openxmlformats.org/officeDocument/2006/relationships/image" Target="../media/image5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60.png"/><Relationship Id="rId7" Type="http://schemas.openxmlformats.org/officeDocument/2006/relationships/image" Target="../media/image6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Relationship Id="rId4" Type="http://schemas.openxmlformats.org/officeDocument/2006/relationships/image" Target="../media/image8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jpg"/><Relationship Id="rId4" Type="http://schemas.openxmlformats.org/officeDocument/2006/relationships/image" Target="../media/image66.png"/><Relationship Id="rId5" Type="http://schemas.openxmlformats.org/officeDocument/2006/relationships/image" Target="../media/image63.png"/><Relationship Id="rId6" Type="http://schemas.openxmlformats.org/officeDocument/2006/relationships/image" Target="../media/image6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Relationship Id="rId4" Type="http://schemas.openxmlformats.org/officeDocument/2006/relationships/image" Target="../media/image7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jpg"/><Relationship Id="rId4" Type="http://schemas.openxmlformats.org/officeDocument/2006/relationships/image" Target="../media/image75.png"/><Relationship Id="rId5" Type="http://schemas.openxmlformats.org/officeDocument/2006/relationships/image" Target="../media/image7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Relationship Id="rId4" Type="http://schemas.openxmlformats.org/officeDocument/2006/relationships/image" Target="../media/image7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jpg"/><Relationship Id="rId4" Type="http://schemas.openxmlformats.org/officeDocument/2006/relationships/image" Target="../media/image78.png"/><Relationship Id="rId5" Type="http://schemas.openxmlformats.org/officeDocument/2006/relationships/image" Target="../media/image74.png"/><Relationship Id="rId6" Type="http://schemas.openxmlformats.org/officeDocument/2006/relationships/image" Target="../media/image76.png"/><Relationship Id="rId7" Type="http://schemas.openxmlformats.org/officeDocument/2006/relationships/image" Target="../media/image8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jpg"/><Relationship Id="rId4" Type="http://schemas.openxmlformats.org/officeDocument/2006/relationships/image" Target="../media/image84.png"/><Relationship Id="rId5" Type="http://schemas.openxmlformats.org/officeDocument/2006/relationships/image" Target="../media/image87.png"/><Relationship Id="rId6" Type="http://schemas.openxmlformats.org/officeDocument/2006/relationships/image" Target="../media/image9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jpg"/><Relationship Id="rId4" Type="http://schemas.openxmlformats.org/officeDocument/2006/relationships/image" Target="../media/image9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jpg"/><Relationship Id="rId4" Type="http://schemas.openxmlformats.org/officeDocument/2006/relationships/image" Target="../media/image89.png"/><Relationship Id="rId5" Type="http://schemas.openxmlformats.org/officeDocument/2006/relationships/image" Target="../media/image9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jpg"/><Relationship Id="rId4" Type="http://schemas.openxmlformats.org/officeDocument/2006/relationships/image" Target="../media/image8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Corporal e Comunicação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O poder dos sinais não-verbais no ambiente profissional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ac2fa31f74dc8e079fb504354e0d3915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b4109657-8af8-4342-8b83-0a38c3bd7b00/img_94f40e38995aea2106792659a2f4cfd0.png" id="23" name="Google Shape;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fala mesmo antes de abrir a boca?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4320" y="328041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assistir a uma apresentação profissional no modo mudo. Em poucos segundos, mesmo sem ouvir nenhuma palavra, você já percebe se quem apresenta sente segurança, ansiedade ou desinteresse pelo 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os componentes centrais da comunicação não-verbal e suas funções.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Reconhecer sinais corporais de segurança, abertura, defensividade e congruência.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ajustes posturais e espaciais para melhorar sua própria comunicação em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3515541c0195df6cc8a6793e82477d71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5887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76047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Não-verbal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Todo sinal comunicado sem palavras faladas ou escritas.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a06073e863e2a55005660ce6116248e4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10172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18897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Posição sustentada do corpo que reflete estados internos e atitude.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f1d244790d6bd036923f8ada0472329e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5887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76047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Proxêmica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Estudo do uso do espaço físico e da distância interpessoal.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dbe5b3995d9020a0ae9dcc7491e83198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10172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188970"/>
            <a:ext cx="201168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Congruência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Harmonia precisa entre o que a voz diz e o corpo expressa.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Revisão: Aulas Anteriores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74320" y="180594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Módulo 5: Trabalho Digital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e337ce07d13d7c14fb5da434a51d412c.png" id="62" name="Google Shape;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2029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/>
          <p:nvPr/>
        </p:nvSpPr>
        <p:spPr>
          <a:xfrm>
            <a:off x="3291840" y="182880"/>
            <a:ext cx="177165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 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3291840" y="628650"/>
            <a:ext cx="5577840" cy="2548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 colaboração em nuvem ao contato humano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você explorou plataformas colaborativas e a edição assíncrona de documentos. Agora, damos um passo além da tela: como nós nos comunicamos fisicamente quando colaboramos em reuniões, entrevistas e apresentações orais?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de Ferramentas Digitais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colaboração assíncrona em documentos digitais compartilhados, qual prática assegura melhor organização entre os colegas?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Desativar notificações e nunca responder sugestões textuais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comentários direcionados com marcação e histórico de versões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Exigir que todos digitem exatamente no mesmo minuto do dia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Apagar o parágrafo do colega sem registrar justificativa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de Ferramentas Digitais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colaboração assíncrona em documentos digitais compartilhados, qual prática assegura melhor organização entre os colegas?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Desativar notificações e nunca responder sugestões textuais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comentários direcionados com marcação e histórico de versões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Exigir que todos digitem exatamente no mesmo minuto do dia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Apagar o parágrafo do colega sem registrar justificativa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274320" y="1154430"/>
            <a:ext cx="49377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Início do Módulo 6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274320" y="1988820"/>
            <a:ext cx="49377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Entramos no módulo final do curso: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Não-Verbal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Aqui aprenderemos a alinhar olhar, postura, voz e gestos para tornar suas apresentações e conversas profissionais autênticas e memoráveis.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31f74af06dcabc2b2e909a69494899e6.png" id="104" name="Google Shape;10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>
            <a:off x="274320" y="182880"/>
            <a:ext cx="42976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é Comunicação Não-Verbal?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274320" y="1405890"/>
            <a:ext cx="42976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Muito além das palavras escritas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não-verbal abrange todos os estímulos emitidos durante uma interação que não dependem do vocabulário verbal: expressões do rosto, gestos de mãos, orientação do tronco, proximidade física e entonação.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dfce6129df51884b69ce9e645fda8c8b.png" id="112" name="Google Shape;1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Dimensões do Não-Verbal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274320" y="101727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83c75264c288fac191afe9e93bc948ef.png" id="120" name="Google Shape;12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1062990" y="11658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Cinésica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Movimentos do corpo, gestos expressivos e expressões faciais espontâneas.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4663440" y="101727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1724c4476bcb0a5aed94f49c3688c658.png" id="123" name="Google Shape;12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5452110" y="11658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Proxêmica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Distância entre interlocutores e uso estratégico do espaço ambiental.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274320" y="305181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4f21454570e4d37e5028da4281b96dc7.png" id="126" name="Google Shape;12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1062990" y="320040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Paralinguagem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Modulações de tom, ritmo da fala, volume e pausas reflexivas na voz.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4663440" y="305181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c590835c496f099ea9083d297b2ae6dc.png" id="129" name="Google Shape;12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5452110" y="320040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Háptica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Contato físico aceito profissionalmente, como o aperto de mão inicial.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Regra dos Três Canais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61fd4517108a079724a5b5fd01828b76.png" id="137" name="Google Shape;13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38" name="Google Shape;138;p13"/>
          <p:cNvSpPr/>
          <p:nvPr/>
        </p:nvSpPr>
        <p:spPr>
          <a:xfrm>
            <a:off x="274320" y="2937510"/>
            <a:ext cx="28117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Palavras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conteúdo literal e a estrutura gramatical do raciocínio transmitido.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c4aad69ed6009cd2ab5ca9bc40062300.png" id="139" name="Google Shape;13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40" name="Google Shape;140;p13"/>
          <p:cNvSpPr/>
          <p:nvPr/>
        </p:nvSpPr>
        <p:spPr>
          <a:xfrm>
            <a:off x="3166110" y="2937510"/>
            <a:ext cx="28117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de Voz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emoção, ênfase e confiança impressas em cada frase dita.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a00e6d939016f5adc40ddb32d24b40ae.png" id="141" name="Google Shape;14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42" name="Google Shape;142;p13"/>
          <p:cNvSpPr/>
          <p:nvPr/>
        </p:nvSpPr>
        <p:spPr>
          <a:xfrm>
            <a:off x="6069330" y="2937510"/>
            <a:ext cx="281178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Corporal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canal visual que valida, reforça ou contradiz a mensagem falada.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Impacto na Percepção Oral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274320" y="1017270"/>
            <a:ext cx="8595360" cy="1337310"/>
          </a:xfrm>
          <a:prstGeom prst="roundRect">
            <a:avLst>
              <a:gd fmla="val 6838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400050" y="114300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902970" y="1143000"/>
            <a:ext cx="78409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O cérebro humano processa estímulos visuais muito mais rápido do que decodifica palavras orais.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274320" y="2537460"/>
            <a:ext cx="859536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alguém sobe ao palco para falar, o público formula uma primeira impressão sobre credibilidade e entusiasmo antes mesmo da conclusão do primeiro parágrafo. O corpo funciona como a moldura que valoriza ou enfraquece o conteúdo.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Três Posturas Básicas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89fa8dab6d32ccbd142e853a2c8c047a.png" id="159" name="Google Shape;1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60" name="Google Shape;160;p15"/>
          <p:cNvSpPr/>
          <p:nvPr/>
        </p:nvSpPr>
        <p:spPr>
          <a:xfrm>
            <a:off x="274320" y="3040380"/>
            <a:ext cx="28117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Segurança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Ombros relaxados, pés alinhados ao quadril e cabeça erguida.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24270d41b50094d44f03dd927ecaa53b.png" id="161" name="Google Shape;16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62" name="Google Shape;162;p15"/>
          <p:cNvSpPr/>
          <p:nvPr/>
        </p:nvSpPr>
        <p:spPr>
          <a:xfrm>
            <a:off x="3166110" y="304038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Abertura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Palmas visíveis, tronco voltado ao grupo e ausência de barreiras físicas.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753939a2119988755098ea854622fb79.png" id="163" name="Google Shape;16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64" name="Google Shape;164;p15"/>
          <p:cNvSpPr/>
          <p:nvPr/>
        </p:nvSpPr>
        <p:spPr>
          <a:xfrm>
            <a:off x="6069330" y="304038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Defensividade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Braços cruzados apertados, ombros encolhidos e olhar esquivo.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Sinais de Insegurança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Gestos pacificadores comuns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ad497a4629a5953f0d19be9602834786.png" id="172" name="Google Shape;1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3291840" y="182880"/>
            <a:ext cx="177165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 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3291840" y="628650"/>
            <a:ext cx="557784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são micromovimentos de alívio?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nos sentimos inseguros, nosso corpo busca se acalmar tocando o pescoço, mexendo em anéis, balançando os pés ou ajeitando as roupas constantemente. Identificar esses hábitos permite substituí-los por ancoragem e respiração.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Identificando Sinais Corporais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dos seguintes comportamentos corporais indicam abertura e segurança durante uma exposição em grupo? Selecione as opções corretas: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Manter os ombros alinhados e mostrar as palmas das mãos ao explicar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Cruzar os braços com punhos fechados na frente do tórax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Distribuir o peso igualmente sobre ambos os pés sem balançar o corpo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Encolher a cabeça e evitar fixar o olhar em qualquer colega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Identificando Sinais Corporais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dos seguintes comportamentos corporais indicam abertura e segurança durante uma exposição em grupo? Selecione as opções corretas: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Manter os ombros alinhados e mostrar as palmas das mãos ao explicar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Cruzar os braços com punhos fechados na frente do tórax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Distribuir o peso igualmente sobre ambos os pés sem balançar o corpo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Encolher a cabeça e evitar fixar o olhar em qualquer colega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274320" y="182880"/>
            <a:ext cx="41148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Poder do Olhar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274320" y="971550"/>
            <a:ext cx="4114800" cy="2731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Criando pontes de empatia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contato visual direto e equilibrado sinaliza atenção honesta e consideração. Quem evita olhar transmite evasão ou insegurança; quem fixa o olhar sem piscar pode parecer agressivo. O segredo é a naturalidade distribuída.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a6b76a17e226560eb378b2ba8891fa3e.png" id="215" name="Google Shape;2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Dicas para o Contato Visual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74320" y="1017270"/>
            <a:ext cx="8595360" cy="1337310"/>
          </a:xfrm>
          <a:prstGeom prst="roundRect">
            <a:avLst>
              <a:gd fmla="val 6838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400050" y="114300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811530" y="1143000"/>
            <a:ext cx="79324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Em salas com muitas pessoas, use a regra do triângulo: divida o público em três setores e alterne seu olhar entre eles a cada ideia.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74320" y="253746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Sustentar o olhar em um interlocutor por 3 a 5 segundos enquanto conclui um argumento demonstra domínio e gera conexão imediata com quem ouve.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 Quatro Zonas de Hall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515b99112f07a2c097fd692e7edfbbbd.png" id="233" name="Google Shape;23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/>
          <p:nvPr/>
        </p:nvSpPr>
        <p:spPr>
          <a:xfrm>
            <a:off x="1005840" y="106299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Íntima (0 a 45 cm)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Reservada a familiares e amigos muito próximos. Evitada em trabalho.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1f8048ac5a9966a0a6806f9ca430bb8a.png"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/>
          <p:nvPr/>
        </p:nvSpPr>
        <p:spPr>
          <a:xfrm>
            <a:off x="5349240" y="106299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Pessoal (45 cm a 1,2 m)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Conversas informais de corredor e interações com colegas de equipe.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6e3be35b6ab2ee4f0f796663a3961e4a.png" id="239" name="Google Shape;23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/>
          <p:nvPr/>
        </p:nvSpPr>
        <p:spPr>
          <a:xfrm>
            <a:off x="1005840" y="308610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Social (1,2 m a 3,6 m)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Padrão para reuniões formais, mesas de atendimento e entrevistas.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e64d81de0580c22965431d258fcf711f.png" id="242" name="Google Shape;24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>
            <a:off x="5349240" y="3086100"/>
            <a:ext cx="33832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Pública (&gt; 3,6 m)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Palestras em auditórios e grandes apresentações públicas.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Proxêmica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274320" y="101727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Respeitar o espaço físico alheio demonstra tato e profissionalismo. Invadir o espaço de um colega sem permissão gera desconforto instantâneo e fecha canais de diálogo.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17106e77b34b1895d7d42cb32cbb64f0.png" id="251" name="Google Shape;2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068830"/>
            <a:ext cx="91440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Expressões Faciais e Fala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74320" y="1017270"/>
            <a:ext cx="8595360" cy="1337310"/>
          </a:xfrm>
          <a:prstGeom prst="roundRect">
            <a:avLst>
              <a:gd fmla="val 6838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400050" y="114300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902970" y="1143000"/>
            <a:ext cx="78409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 ao Incongruente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Dizer que está muito feliz com o projeto enquanto franze a testa gera desconfiança imediata no ouvinte.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274320" y="253746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rosto possui dezenas de músculos que reagem a microemoções. Em conversas formais, expressões relaxadas e pequenos sorrisos de acolhimento desarmam tensões e aumentam a receptividade do grupo.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Congruência Comunicativa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274320" y="1405890"/>
            <a:ext cx="4114800" cy="2446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alinhamento total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congruência ocorre quando voz, palavras e corpo contam exatamente a mesma história. Quando há conflito entre o que se fala e como o corpo se comporta, as pessoas sempre acreditam no corpo.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202d0100374a36fb822bf47e9af0d286.png" id="269" name="Google Shape;26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Correspondência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Proxêmica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Não-verbal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Congruência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Regulação consciente ou intuitiva da distância física entre pessoas.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Sintonia e harmonia perfeita entre o discurso falado e os gestos corporais.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Posicionamento sustentado do corpo que demonstra atitude e estado mental.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Qualquer sinal emitido sem recorrer a palavras faladas ou escritas.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Correspondência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Proxêmica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Não-verbal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Congruência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Regulação consciente ou intuitiva da distância física entre pessoas.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Sintonia e harmonia perfeita entre o discurso falado e os gestos corporais.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Posicionamento sustentado do corpo que demonstra atitude e estado mental.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Qualquer sinal emitido sem recorrer a palavras faladas ou escritas.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26"/>
          <p:cNvCxnSpPr/>
          <p:nvPr/>
        </p:nvCxnSpPr>
        <p:spPr>
          <a:xfrm>
            <a:off x="2571750" y="16230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26"/>
          <p:cNvCxnSpPr/>
          <p:nvPr/>
        </p:nvCxnSpPr>
        <p:spPr>
          <a:xfrm>
            <a:off x="2571750" y="25374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26"/>
          <p:cNvCxnSpPr/>
          <p:nvPr/>
        </p:nvCxnSpPr>
        <p:spPr>
          <a:xfrm flipH="1" rot="10800000">
            <a:off x="2571750" y="25671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26"/>
          <p:cNvCxnSpPr/>
          <p:nvPr/>
        </p:nvCxnSpPr>
        <p:spPr>
          <a:xfrm flipH="1" rot="10800000">
            <a:off x="2571750" y="34815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26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Leitura de Sinais no Interlocutor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3225dc9f212503acd51aad46f9f9e9e0.png" id="315" name="Google Shape;31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16" name="Google Shape;316;p27"/>
          <p:cNvSpPr/>
          <p:nvPr/>
        </p:nvSpPr>
        <p:spPr>
          <a:xfrm>
            <a:off x="274320" y="2937510"/>
            <a:ext cx="281178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Inclinação da Cabeça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Demonstra curiosidade genuína e escuta ativa ativa na conversa.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17927789b8f04289787226b1068ac0e9.png" id="317" name="Google Shape;3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18" name="Google Shape;318;p27"/>
          <p:cNvSpPr/>
          <p:nvPr/>
        </p:nvSpPr>
        <p:spPr>
          <a:xfrm>
            <a:off x="3166110" y="2937510"/>
            <a:ext cx="281178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Olhares para o Relógio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Indicam pressa, perda de foco ou necessidade de sintetizar o assunto.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703907ccb05b2a5a0b840ba5414c8153.png" id="319" name="Google Shape;31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20" name="Google Shape;320;p27"/>
          <p:cNvSpPr/>
          <p:nvPr/>
        </p:nvSpPr>
        <p:spPr>
          <a:xfrm>
            <a:off x="6069330" y="2937510"/>
            <a:ext cx="281178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Orientação dos Pés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Pés voltados para a porta revelam desejo inconsciente de encerrar o diálogo.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Efeito do Espelhamento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4fa9ba2801703e32c0082e1abeaed3c8.png" id="328" name="Google Shape;32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8"/>
          <p:cNvSpPr/>
          <p:nvPr/>
        </p:nvSpPr>
        <p:spPr>
          <a:xfrm>
            <a:off x="1005840" y="106299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Sintonia Natural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Pessoas conectadas tendem a espelhar posturas e ritmos corporais sutilmente.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48745d04defea865189ce06fefc7fd0f.png" id="331" name="Google Shape;33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8"/>
          <p:cNvSpPr/>
          <p:nvPr/>
        </p:nvSpPr>
        <p:spPr>
          <a:xfrm>
            <a:off x="5349240" y="106299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Ritmo Compartilhado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Ajustar a velocidade da sua fala à de quem ouve gera acolhimento sem pressão.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762a56ed72474c426d25713d0de6b67f.png" id="334" name="Google Shape;33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8"/>
          <p:cNvSpPr/>
          <p:nvPr/>
        </p:nvSpPr>
        <p:spPr>
          <a:xfrm>
            <a:off x="1005840" y="308610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Autenticidade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espelhamento deve ser orgânico e discreto, nunca uma imitação forçada.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27a832a60331ceadc0ee9134e559792e.png" id="337" name="Google Shape;33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/>
          <p:nvPr/>
        </p:nvSpPr>
        <p:spPr>
          <a:xfrm>
            <a:off x="5349240" y="3086100"/>
            <a:ext cx="338328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Construção de Rapport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 uma base de confiança mútua indispensável para negociações e feedback.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Poses de Poder e Fisiologia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9"/>
          <p:cNvSpPr/>
          <p:nvPr/>
        </p:nvSpPr>
        <p:spPr>
          <a:xfrm>
            <a:off x="274320" y="1405890"/>
            <a:ext cx="4114800" cy="2731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corpo molda a mente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Estudos em psicologia comportamental mostram que a postura não apenas expressa o que sentimos, mas também envia sinais químicos ao cérebro. Adotar posturas expansivas antes de momentos tensos ajuda a reduzir o estresse.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57bb6332a1738fa9d02ebf56c71fcdd0.png" id="346" name="Google Shape;34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Praticar a Autoconfiança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30dedb323af8fc54b1efbd763be5f5bf.png" id="353" name="Google Shape;35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4" name="Google Shape;354;p30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0"/>
          <p:cNvSpPr/>
          <p:nvPr/>
        </p:nvSpPr>
        <p:spPr>
          <a:xfrm>
            <a:off x="27432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Alinhar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Respire fundo, destrave os joelhos e abra a caixa torácica.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84dc8bd20f190c82856796d5bc2729c1.png" id="356" name="Google Shape;35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7" name="Google Shape;357;p30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0"/>
          <p:cNvSpPr/>
          <p:nvPr/>
        </p:nvSpPr>
        <p:spPr>
          <a:xfrm>
            <a:off x="3200400" y="3623310"/>
            <a:ext cx="274320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Expandir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Mantenha os braços livres de nós ou bolsos apertados.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a57f7318371e3e02b4779e2b66ef18ed.png" id="359" name="Google Shape;35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60" name="Google Shape;360;p30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0"/>
          <p:cNvSpPr/>
          <p:nvPr/>
        </p:nvSpPr>
        <p:spPr>
          <a:xfrm>
            <a:off x="612648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Sustentar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Mantenha a postura estável ao iniciar as primeiras palavras.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Mãos: O que Fazer com Elas?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274320" y="180594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Expressividade e controle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f1918ef62c248176b1af74901f7b3aaf.png" id="369" name="Google Shape;36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2029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1"/>
          <p:cNvSpPr/>
          <p:nvPr/>
        </p:nvSpPr>
        <p:spPr>
          <a:xfrm>
            <a:off x="3291840" y="182880"/>
            <a:ext cx="177165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 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3291840" y="628650"/>
            <a:ext cx="557784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caixa de gestos profissional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Gesticule preferencialmente entre a linha da cintura e a altura do peito. Mãos muito altas distraem os ouvintes; mãos imóveis nos bolsos transmitem apatia e desinteresse pelo que está sendo dito.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Vídeos sem Áudio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ea18d75ac190ce7a9b226ac055f573a3.png" id="378" name="Google Shape;37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8595360" cy="30861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274320" y="410337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Retirar o som de debates e palestras é o melhor treino para focar exclusivamente no ritmo dos gestos, na tensão dos ombros e nas microexpressões faciais.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Roteiro de Observação Corporal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274320" y="145161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1108710" y="1554480"/>
            <a:ext cx="7566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Eixo da Coluna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corpo está ereto e estável ou encolhido e oscilante?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274320" y="232029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3"/>
          <p:cNvSpPr/>
          <p:nvPr/>
        </p:nvSpPr>
        <p:spPr>
          <a:xfrm>
            <a:off x="468630" y="257175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1108710" y="242316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Gestual das Mãos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Acompanham as ideias de forma fluida ou fazem gestos repetitivos?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274320" y="34747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3"/>
          <p:cNvSpPr/>
          <p:nvPr/>
        </p:nvSpPr>
        <p:spPr>
          <a:xfrm>
            <a:off x="468630" y="37261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3"/>
          <p:cNvSpPr/>
          <p:nvPr/>
        </p:nvSpPr>
        <p:spPr>
          <a:xfrm>
            <a:off x="1108710" y="35775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Tensão Facial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semblante permanece aberto ou revela mandíbula cerrada e testa franzida?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b4109657-8af8-4342-8b83-0a38c3bd7b00/img_88f2cf22d50efe57d124336ea25cb3a9.png" id="400" name="Google Shape;40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b4109657-8af8-4342-8b83-0a38c3bd7b00/img_458c6b6b59d2aa436ec1bd74be1a01e6.png" id="401" name="Google Shape;40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Observação Sem Som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assistir a uma apresentação profissional no mudo, quais elementos corporais revelam de imediato se o orador domina o assunto apresentado?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b4109657-8af8-4342-8b83-0a38c3bd7b00/img_88f2cf22d50efe57d124336ea25cb3a9.png" id="409" name="Google Shape;40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Observação Sem Som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ereta sem rigidez excessiva.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Olhar firme distribuído entre os ouvintes.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Gestos amplos e controlados na altura do tronco.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Expressão facial serena e congruente com as pausas.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Corporal em Entrevistas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274320" y="101727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4e21252e08792c72f0d33e7c747c0341.png" id="420" name="Google Shape;42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6"/>
          <p:cNvSpPr/>
          <p:nvPr/>
        </p:nvSpPr>
        <p:spPr>
          <a:xfrm>
            <a:off x="1062990" y="11658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Apoio na Cadeira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Sente-se ocupando o encosto; sentar na ponta transmite fuga iminente.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4663440" y="101727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5b20f5b769005940d62b0c672cbb6b27.png" id="423" name="Google Shape;42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6"/>
          <p:cNvSpPr/>
          <p:nvPr/>
        </p:nvSpPr>
        <p:spPr>
          <a:xfrm>
            <a:off x="5452110" y="11658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Mãos Visíveis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Deixe as mãos sobre a mesa ou no colo, sem sumir com elas sob o tampo.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274320" y="305181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82e5c95be0dcd35ab98827bccd180c45.png" id="426" name="Google Shape;42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/>
          <p:nvPr/>
        </p:nvSpPr>
        <p:spPr>
          <a:xfrm>
            <a:off x="1062990" y="320040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Acenos Atentos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Balance suavemente a cabeça enquanto o entrevistador faz as perguntas.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4663440" y="3051810"/>
            <a:ext cx="4206240" cy="1851660"/>
          </a:xfrm>
          <a:prstGeom prst="roundRect">
            <a:avLst>
              <a:gd fmla="val 7407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b4109657-8af8-4342-8b83-0a38c3bd7b00/img_a02832d318a0a1b73c37e81468d7b103.png" id="429" name="Google Shape;429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6"/>
          <p:cNvSpPr/>
          <p:nvPr/>
        </p:nvSpPr>
        <p:spPr>
          <a:xfrm>
            <a:off x="5452110" y="320040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Entrada Firme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Cumprimente olhando nos olhos com passo firme e sorriso de boas-vindas.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Erros Posturais Frequentes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eed3128ca9046981df65315c74ef8aaa.png" id="437" name="Google Shape;43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8" name="Google Shape;438;p37"/>
          <p:cNvSpPr/>
          <p:nvPr/>
        </p:nvSpPr>
        <p:spPr>
          <a:xfrm>
            <a:off x="274320" y="3188970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Olhar o Celular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Rompe imediatamente o vínculo e denota desrespeito a quem fala.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47cc60678e4e30bd56b40f237478ae09.png" id="439" name="Google Shape;43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01727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40" name="Google Shape;440;p37"/>
          <p:cNvSpPr/>
          <p:nvPr/>
        </p:nvSpPr>
        <p:spPr>
          <a:xfrm>
            <a:off x="3200400" y="3188970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Corpo Curvado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Comprime a respiração diafragmática e reduz a projeção da voz.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1aef00b224eac77c6f77c7c68eaf8f55.png" id="441" name="Google Shape;44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01727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42" name="Google Shape;442;p37"/>
          <p:cNvSpPr/>
          <p:nvPr/>
        </p:nvSpPr>
        <p:spPr>
          <a:xfrm>
            <a:off x="6126480" y="3188970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Barreiras de Papel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Segurar pastas ou cadernos como escudos na frente do tórax.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8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entre Pares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274320" y="1405890"/>
            <a:ext cx="4114800" cy="2446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espelho do colega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raramente vemos a nossa própria postura enquanto falamos, ter um parceiro de treino para apontar tiques nervosos, velocidade de gestos e desvios de olhar é a ferramenta mais rápida de evolução comunicativa.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b4109657-8af8-4342-8b83-0a38c3bd7b00/img_5b377f0d3d30e1af77c88e509cfdbc72.png" id="450" name="Google Shape;45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b4109657-8af8-4342-8b83-0a38c3bd7b00/img_1198f6ede5e2216c51986e3c51e1178b.png" id="456" name="Google Shape;45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b4109657-8af8-4342-8b83-0a38c3bd7b00/img_1208233be1752316df974f3a13901749.png" id="457" name="Google Shape;45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3490" y="1897380"/>
            <a:ext cx="33147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Prática: Interpretação Gestual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9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duplas: um aluno representará uma atitude profissional apenas com linguagem corporal por 30 segundos (ex.: insegurança extrema, excesso de rigidez, abertura empática). O colega observará em silêncio e preencherá uma ficha indicando postura, olhar e congruência percebida. Depois, invertam os papéis.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Ficha de observação em papel ou caderno, caneta e cronômetro de 30 segundos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b4109657-8af8-4342-8b83-0a38c3bd7b00/img_74db676abbf9321227487417a15623c8.png" id="465" name="Google Shape;46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Conhecimento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0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acontece com a credibilidade de um orador quando sua fala diz uma coisa e seu corpo transmite outra?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0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distância física aproximada caracteriza a zona social de Edward Hall em reuniões de trabalho?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0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o contato visual equilibrado de 3 a 5 segundos é recomendado ao falar em público?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Conhecimento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mensagem perde credibilidade porque as pessoas tendem a confiar prioritariamente nos sinais corporais incongruentes.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1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 1,2 metros e 3,6 metros de distância entre as pessoas.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1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ele cria conexão personalizada com os ouvintes e transmite segurança sem constranger 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e Próximos Passos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2"/>
          <p:cNvSpPr/>
          <p:nvPr/>
        </p:nvSpPr>
        <p:spPr>
          <a:xfrm>
            <a:off x="274320" y="18859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2"/>
          <p:cNvSpPr/>
          <p:nvPr/>
        </p:nvSpPr>
        <p:spPr>
          <a:xfrm>
            <a:off x="468630" y="21374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2"/>
          <p:cNvSpPr/>
          <p:nvPr/>
        </p:nvSpPr>
        <p:spPr>
          <a:xfrm>
            <a:off x="1108710" y="19888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Hoje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Descobrimos como postura, olhar, proxêmica e congruência fundamentam a credibilidade.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2"/>
          <p:cNvSpPr/>
          <p:nvPr/>
        </p:nvSpPr>
        <p:spPr>
          <a:xfrm>
            <a:off x="274320" y="30403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2"/>
          <p:cNvSpPr/>
          <p:nvPr/>
        </p:nvSpPr>
        <p:spPr>
          <a:xfrm>
            <a:off x="468630" y="32918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➔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2"/>
          <p:cNvSpPr/>
          <p:nvPr/>
        </p:nvSpPr>
        <p:spPr>
          <a:xfrm>
            <a:off x="1108710" y="31432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Próxima Aula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Gestual e modulação do tom de voz para apresentações dinâmicas e persuasivas.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