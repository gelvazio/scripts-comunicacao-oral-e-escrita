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embeddedFontLst>
    <p:embeddedFont>
      <p:font typeface="Lexend" panose="020B0604020202020204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" name="Google Shape;2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r="-4000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lang="en-US" sz="32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Preparação para Entrevistas</a:t>
            </a:r>
            <a:endParaRPr sz="32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Comunicação oral estratégica e postura profissional</a:t>
            </a:r>
            <a:endParaRPr sz="32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3" descr="/home/forge/chalkie-production-workers-1/releases/78214647/backend/storage/app/render-specs/a97c6378-d766-442a-8e45-5126789275e5/img_c17295121ac3c4185fc3e65d143feda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914400"/>
            <a:ext cx="4297680" cy="3954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274320" y="788670"/>
            <a:ext cx="493776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define uma contratação?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74320" y="2057400"/>
            <a:ext cx="4937760" cy="220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Dois candidatos possuem as mesmas notas escolares e cursos técnicos idênticos. No entanto, apenas um deles conquista a vaga de jovem aprendiz. O diferencial raramente está no papel: está na capacidade de </a:t>
            </a: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expressar ideias com clareza</a:t>
            </a: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transmitir autenticidade durante o diálogo.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4" descr="/home/forge/chalkie-production-workers-1/releases/78214647/backend/storage/app/render-specs/a97c6378-d766-442a-8e45-5126789275e5/img_fe71206872ea0089c6991f636f3f1cf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0" y="788670"/>
            <a:ext cx="3657600" cy="4354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Nossa Aula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040F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40F0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Compreender</a:t>
            </a: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entrevista como um contexto formal de comunicação oral e pesquisa prévia.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040F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40F0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</a:t>
            </a: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técnica estruturada do Método STAR para responder a perguntas comportamentais com firmeza.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040F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40F0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Simular</a:t>
            </a: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entrevistas profissionais demonstrando postura adequada, escuta ativa e perguntas pertinentes.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Fundamental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6" descr="/home/forge/chalkie-production-workers-1/releases/78214647/backend/storage/app/render-specs/a97c6378-d766-442a-8e45-5126789275e5/img_30edfb33cc56c45664b06d129516b3e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497330"/>
            <a:ext cx="2011680" cy="2057400"/>
          </a:xfrm>
          <a:prstGeom prst="roundRect">
            <a:avLst>
              <a:gd name="adj" fmla="val 6818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Entrevista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Diálogo intencional para avaliar competências e perfil.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6" descr="/home/forge/chalkie-production-workers-1/releases/78214647/backend/storage/app/render-specs/a97c6378-d766-442a-8e45-5126789275e5/img_3e74bdb100fd38ad2e04b46ee8b912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880" y="925830"/>
            <a:ext cx="2011680" cy="2057400"/>
          </a:xfrm>
          <a:prstGeom prst="roundRect">
            <a:avLst>
              <a:gd name="adj" fmla="val 6818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0975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Expressão corporal que transmite segurança e receptividade.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6" descr="/home/forge/chalkie-production-workers-1/releases/78214647/backend/storage/app/render-specs/a97c6378-d766-442a-8e45-5126789275e5/img_d41c56a005800f4c8d2e5efdb15f7fd1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3440" y="1497330"/>
            <a:ext cx="2011680" cy="2057400"/>
          </a:xfrm>
          <a:prstGeom prst="roundRect">
            <a:avLst>
              <a:gd name="adj" fmla="val 6818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6690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Argumentação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Apresentação lógica de fatos e aprendizados reais.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/home/forge/chalkie-production-workers-1/releases/78214647/backend/storage/app/render-specs/a97c6378-d766-442a-8e45-5126789275e5/img_bc26dd5b5d7f85d9d0eb9311171752c2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0" y="925830"/>
            <a:ext cx="2011680" cy="2057400"/>
          </a:xfrm>
          <a:prstGeom prst="roundRect">
            <a:avLst>
              <a:gd name="adj" fmla="val 6818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0975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Autoconfiança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Certeza consciente sobre o próprio valor e esforço.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7" descr="/home/forge/chalkie-production-workers-1/releases/78214647/backend/storage/app/render-specs/a97c6378-d766-442a-8e45-5126789275e5/img_befef1462eab84895efcc617c2a432d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140" y="746760"/>
            <a:ext cx="8785860" cy="142494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62890" y="2434590"/>
            <a:ext cx="861822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</a:t>
            </a:r>
            <a:r>
              <a:rPr lang="en-US" sz="288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US" sz="288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Escuta</a:t>
            </a:r>
            <a:r>
              <a:rPr lang="en-US" sz="288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Ativa e </a:t>
            </a:r>
            <a:r>
              <a:rPr lang="en-US" sz="288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Atendimento</a:t>
            </a:r>
            <a:endParaRPr sz="288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62890" y="3177540"/>
            <a:ext cx="8618220" cy="1634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estudamos o atendimento profissional. Vimos que </a:t>
            </a:r>
            <a:r>
              <a:rPr lang="en-US" sz="153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ouvir ativamente</a:t>
            </a: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não é apenas esperar a sua vez de falar, mas compreender o objetivo da outra pessoa antes de formular sua resposta.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entrevista de emprego, essa habilidade é essencial: entender exatamente o que o avaliador pergunta é o primeiro passo para uma resposta precisa.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74320" y="182880"/>
            <a:ext cx="1097280" cy="262890"/>
          </a:xfrm>
          <a:prstGeom prst="roundRect">
            <a:avLst>
              <a:gd name="adj" fmla="val 17391"/>
            </a:avLst>
          </a:prstGeom>
          <a:solidFill>
            <a:srgbClr val="040F0F"/>
          </a:solidFill>
          <a:ln>
            <a:noFill/>
          </a:ln>
        </p:spPr>
        <p:txBody>
          <a:bodyPr spcFirstLastPara="1" wrap="square" lIns="114300" tIns="45700" rIns="1143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CONEXÃO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74320" y="582930"/>
            <a:ext cx="4503420" cy="116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Empatia e Gestão de Conflitos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74320" y="1748790"/>
            <a:ext cx="450342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ambiente corporativo, situações de tensão exigem </a:t>
            </a:r>
            <a:r>
              <a:rPr lang="en-US" sz="153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desescalada</a:t>
            </a: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lang="en-US" sz="153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Validação emocional</a:t>
            </a: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reconhecer a preocupação do outro sem julgamentos precipitados.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lang="en-US" sz="153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Tom de voz moderado</a:t>
            </a: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desacelerar o ritmo reduz o estresse da conversa.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lang="en-US" sz="153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Foco em soluções práticas</a:t>
            </a: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transformar reclamações em acordos colaborativos.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8" descr="/home/forge/chalkie-production-workers-1/releases/78214647/backend/storage/app/render-specs/a97c6378-d766-442a-8e45-5126789275e5/img_98b9e716f6c3dbfc9018f0f0ab66e8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1580" y="922020"/>
            <a:ext cx="3909060" cy="34290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Quiz: Estratégias de Empatia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atitude representa melhor a desescalada de conflito e escuta ativa?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Permanecer totalmente em silêncio e desviar o olhar até a tensão passar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Validar o sentimento da pessoa e propor calmamente uma solução viável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Concordar com tudo por obrigação, sem intenção de resolver a questão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Interromper imediatamente para rebater as afirmações com argumentos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Quiz: Estratégias de Empatia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atitude representa melhor a desescalada de conflito e escuta ativa?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Permanecer totalmente em silêncio e desviar o olhar até a tensão passar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2C6E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Validar o sentimento da pessoa e propor calmamente uma solução viável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Concordar com tudo por obrigação, sem intenção de resolver a questão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Interromper imediatamente para rebater as afirmações com argumentos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5996940" y="17145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lang="en-US" sz="360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US" sz="288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Entrevista</a:t>
            </a:r>
            <a:r>
              <a:rPr lang="en-US" sz="288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88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</a:t>
            </a:r>
            <a:r>
              <a:rPr lang="en-US" sz="288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88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Contexto</a:t>
            </a:r>
            <a:r>
              <a:rPr lang="en-US" sz="288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Formal</a:t>
            </a:r>
            <a:endParaRPr sz="288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1" descr="/home/forge/chalkie-production-workers-1/releases/78214647/backend/storage/app/render-specs/a97c6378-d766-442a-8e45-5126789275e5/img_8a87f7697d0444ea0712cfc7cadb7cf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017270"/>
            <a:ext cx="420624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lang="en-US" sz="216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Conversa Casual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espontâneo de gírias, ritmo flexível, temas livres e ausência de critérios formais de avaliação.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1" descr="/home/forge/chalkie-production-workers-1/releases/78214647/backend/storage/app/render-specs/a97c6378-d766-442a-8e45-5126789275e5/img_99eba24390c74dc0f11d69b2e52947a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3440" y="1017270"/>
            <a:ext cx="420624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113" name="Google Shape;113;p11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lang="en-US" sz="216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Entrevista Formal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Norma culta acessível, escuta focada, tempo delimitado e avaliação explícita de atitudes e habilidades.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Jornada do Processo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274320" y="136017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Etapas fundamentais para dominar a entrevista de emprego.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2" descr="/home/forge/chalkie-production-workers-1/releases/78214647/backend/storage/app/render-specs/a97c6378-d766-442a-8e45-5126789275e5/img_d27c268b2da80ce52c6dcc2622b8c5a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238887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/>
          <p:nvPr/>
        </p:nvSpPr>
        <p:spPr>
          <a:xfrm>
            <a:off x="3291840" y="765810"/>
            <a:ext cx="55778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boa entrevista não se improvisa na hora: ela é resultado de </a:t>
            </a: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preparação anterior</a:t>
            </a: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presença consciente</a:t>
            </a: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durante o diálogo e </a:t>
            </a: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acompanhamento responsável</a:t>
            </a: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depois do encontro.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Nas próximas seções, aprenderemos técnicas comprovadas para cada uma dessas etapas cruciais.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3291840" y="2960370"/>
            <a:ext cx="5577840" cy="1337310"/>
          </a:xfrm>
          <a:prstGeom prst="roundRect">
            <a:avLst>
              <a:gd name="adj" fmla="val 6838"/>
            </a:avLst>
          </a:prstGeom>
          <a:solidFill>
            <a:srgbClr val="E6F1FB"/>
          </a:solidFill>
          <a:ln w="11425" cap="flat" cmpd="sng">
            <a:solidFill>
              <a:srgbClr val="0B2F50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3417570" y="308610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lang="en-US" sz="2160" b="0" i="0" u="none" strike="noStrike" cap="non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3829050" y="3086100"/>
            <a:ext cx="49149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Definição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A entrevista é uma via de mão dupla para avaliar o alinhamento mútuo.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Etapas de Preparação Prévia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3" descr="/home/forge/chalkie-production-workers-1/releases/78214647/backend/storage/app/render-specs/a97c6378-d766-442a-8e45-5126789275e5/img_2e218262cb59957391bd83b2bed3a4ac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097280"/>
            <a:ext cx="274320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133" name="Google Shape;133;p13"/>
          <p:cNvSpPr/>
          <p:nvPr/>
        </p:nvSpPr>
        <p:spPr>
          <a:xfrm>
            <a:off x="182880" y="3268980"/>
            <a:ext cx="2926080" cy="400050"/>
          </a:xfrm>
          <a:prstGeom prst="chevron">
            <a:avLst>
              <a:gd name="adj" fmla="val 50000"/>
            </a:avLst>
          </a:prstGeom>
          <a:solidFill>
            <a:srgbClr val="F0F1F1"/>
          </a:solidFill>
          <a:ln w="22850" cap="flat" cmpd="sng">
            <a:solidFill>
              <a:srgbClr val="040F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274320" y="379476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Investigação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Entender valores e produtos da organização.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3" descr="/home/forge/chalkie-production-workers-1/releases/78214647/backend/storage/app/render-specs/a97c6378-d766-442a-8e45-5126789275e5/img_0da9903d580dd82ca093c21b06aaa34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0400" y="1097280"/>
            <a:ext cx="274320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136" name="Google Shape;136;p13"/>
          <p:cNvSpPr/>
          <p:nvPr/>
        </p:nvSpPr>
        <p:spPr>
          <a:xfrm>
            <a:off x="3108960" y="3268980"/>
            <a:ext cx="2926080" cy="400050"/>
          </a:xfrm>
          <a:prstGeom prst="chevron">
            <a:avLst>
              <a:gd name="adj" fmla="val 50000"/>
            </a:avLst>
          </a:prstGeom>
          <a:solidFill>
            <a:srgbClr val="F0F1F1"/>
          </a:solidFill>
          <a:ln w="22850" cap="flat" cmpd="sng">
            <a:solidFill>
              <a:srgbClr val="040F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3200400" y="379476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Mapeamento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Conectar vivências às exigências da vaga.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3" descr="/home/forge/chalkie-production-workers-1/releases/78214647/backend/storage/app/render-specs/a97c6378-d766-442a-8e45-5126789275e5/img_b24a8ee6d350c93709bcc090b8a632f3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6480" y="1097280"/>
            <a:ext cx="274320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139" name="Google Shape;139;p13"/>
          <p:cNvSpPr/>
          <p:nvPr/>
        </p:nvSpPr>
        <p:spPr>
          <a:xfrm>
            <a:off x="6035040" y="3268980"/>
            <a:ext cx="2926080" cy="400050"/>
          </a:xfrm>
          <a:prstGeom prst="chevron">
            <a:avLst>
              <a:gd name="adj" fmla="val 50000"/>
            </a:avLst>
          </a:prstGeom>
          <a:solidFill>
            <a:srgbClr val="F0F1F1"/>
          </a:solidFill>
          <a:ln w="22850" cap="flat" cmpd="sng">
            <a:solidFill>
              <a:srgbClr val="040F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6126480" y="379476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Treino Oral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Articular respostas de forma concisa e fluida.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Pesquisar sobre a Empresa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274320" y="925830"/>
            <a:ext cx="4251960" cy="1977390"/>
          </a:xfrm>
          <a:prstGeom prst="roundRect">
            <a:avLst>
              <a:gd name="adj" fmla="val 6936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B9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p14" descr="/home/forge/chalkie-production-workers-1/releases/78214647/backend/storage/app/render-specs/a97c6378-d766-442a-8e45-5126789275e5/img_eb0680610cb2b8c19cafe1ee121ff63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>
            <a:off x="10058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lang="en-US" sz="207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Site Institucional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Descubra a missão, visão, história e os principais projetos em andamento da instituição.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4617720" y="925830"/>
            <a:ext cx="4251960" cy="1977390"/>
          </a:xfrm>
          <a:prstGeom prst="roundRect">
            <a:avLst>
              <a:gd name="adj" fmla="val 6936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B9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14" descr="/home/forge/chalkie-production-workers-1/releases/78214647/backend/storage/app/render-specs/a97c6378-d766-442a-8e45-5126789275e5/img_1e4afc9dd503950cd8740e75c1e1a7a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4"/>
          <p:cNvSpPr/>
          <p:nvPr/>
        </p:nvSpPr>
        <p:spPr>
          <a:xfrm>
            <a:off x="53492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lang="en-US" sz="207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Notícias Recentes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Identifique prêmios, lançamentos ou parcerias públicas que mostram seu interesse genuíno.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274320" y="2994660"/>
            <a:ext cx="4251960" cy="1977390"/>
          </a:xfrm>
          <a:prstGeom prst="roundRect">
            <a:avLst>
              <a:gd name="adj" fmla="val 6936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B9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4" descr="/home/forge/chalkie-production-workers-1/releases/78214647/backend/storage/app/render-specs/a97c6378-d766-442a-8e45-5126789275e5/img_7eea8476333df2e5ae068f399fa2b74b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14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4"/>
          <p:cNvSpPr/>
          <p:nvPr/>
        </p:nvSpPr>
        <p:spPr>
          <a:xfrm>
            <a:off x="10058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lang="en-US" sz="207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Cultura de Trabalho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Entenda o ambiente: a organização valoriza trabalho em equipe, inovação ou precisão técnica?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4617720" y="2994660"/>
            <a:ext cx="4251960" cy="1977390"/>
          </a:xfrm>
          <a:prstGeom prst="roundRect">
            <a:avLst>
              <a:gd name="adj" fmla="val 6936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B9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" name="Google Shape;157;p14" descr="/home/forge/chalkie-production-workers-1/releases/78214647/backend/storage/app/render-specs/a97c6378-d766-442a-8e45-5126789275e5/img_7b4c49b45d04bb0bdd0ef7550215b67a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48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"/>
          <p:cNvSpPr/>
          <p:nvPr/>
        </p:nvSpPr>
        <p:spPr>
          <a:xfrm>
            <a:off x="53492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lang="en-US" sz="207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Perfil da Vaga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Analise os pré-requisitos solicitados para escolher os melhores exemplos de sua trajetória.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/>
          <p:nvPr/>
        </p:nvSpPr>
        <p:spPr>
          <a:xfrm>
            <a:off x="274320" y="182880"/>
            <a:ext cx="1771650" cy="262890"/>
          </a:xfrm>
          <a:prstGeom prst="roundRect">
            <a:avLst>
              <a:gd name="adj" fmla="val 17391"/>
            </a:avLst>
          </a:prstGeom>
          <a:solidFill>
            <a:srgbClr val="040F0F"/>
          </a:solidFill>
          <a:ln>
            <a:noFill/>
          </a:ln>
        </p:spPr>
        <p:txBody>
          <a:bodyPr spcFirstLastPara="1" wrap="square" lIns="102850" tIns="45700" rIns="1028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CONCEITO-CHAVE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274320" y="582930"/>
            <a:ext cx="4709160" cy="116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Construção de Argumentos Prévios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274320" y="1748790"/>
            <a:ext cx="4709160" cy="249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Antes da entrevista, monte um </a:t>
            </a: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inventário de realizações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Mesmo sem experiência formal registrada, você já acumulou experiências valiosas: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Trabalhos em grupo desafiadores na escola;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Organização de feiras de ciências ou eventos esportivos;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Trabalhos voluntários e apoio em iniciativas comunitárias.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5" descr="/home/forge/chalkie-production-workers-1/releases/78214647/backend/storage/app/render-specs/a97c6378-d766-442a-8e45-5126789275e5/img_cdef87201458ebc76ff002aa610245ac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6360" y="948690"/>
            <a:ext cx="3703320" cy="3246120"/>
          </a:xfrm>
          <a:prstGeom prst="roundRect">
            <a:avLst>
              <a:gd name="adj" fmla="val 4225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Conexão: Termos e Práticas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Pesquisa Prévia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Contexto Formal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Inventário de Realizações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Profissional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Buscar informações reais sobre a organização e a vaga pretendida.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 corporal, contato visual e serenidade ao se comunicar.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Lista organizada de projetos, tarefas escolares e aprendizados práticos.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Ambiente comunicativo pautado por normas de respeito e avaliação mútua.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Conexão: Termos e Práticas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40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Pesquisa Prévia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D90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Contexto Formal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D68C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Inventário de Realizações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4579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Profissional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Buscar informações reais sobre a organização e a vaga pretendida.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 corporal, contato visual e serenidade ao se comunicar.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Lista organizada de projetos, tarefas escolares e aprendizados práticos.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Ambiente comunicativo pautado por normas de respeito e avaliação mútua.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lang="en-US" sz="360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17"/>
          <p:cNvCxnSpPr/>
          <p:nvPr/>
        </p:nvCxnSpPr>
        <p:spPr>
          <a:xfrm>
            <a:off x="2571750" y="1623060"/>
            <a:ext cx="994410" cy="29718"/>
          </a:xfrm>
          <a:prstGeom prst="straightConnector1">
            <a:avLst/>
          </a:prstGeom>
          <a:noFill/>
          <a:ln w="28575" cap="flat" cmpd="sng">
            <a:solidFill>
              <a:srgbClr val="40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0" name="Google Shape;200;p17"/>
          <p:cNvCxnSpPr/>
          <p:nvPr/>
        </p:nvCxnSpPr>
        <p:spPr>
          <a:xfrm>
            <a:off x="2571750" y="2537460"/>
            <a:ext cx="994410" cy="1858518"/>
          </a:xfrm>
          <a:prstGeom prst="straightConnector1">
            <a:avLst/>
          </a:prstGeom>
          <a:noFill/>
          <a:ln w="28575" cap="flat" cmpd="sng">
            <a:solidFill>
              <a:srgbClr val="D9036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1" name="Google Shape;201;p17"/>
          <p:cNvCxnSpPr/>
          <p:nvPr/>
        </p:nvCxnSpPr>
        <p:spPr>
          <a:xfrm>
            <a:off x="2571750" y="3451860"/>
            <a:ext cx="994410" cy="29718"/>
          </a:xfrm>
          <a:prstGeom prst="straightConnector1">
            <a:avLst/>
          </a:prstGeom>
          <a:noFill/>
          <a:ln w="28575" cap="flat" cmpd="sng">
            <a:solidFill>
              <a:srgbClr val="D68C4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2" name="Google Shape;202;p17"/>
          <p:cNvCxnSpPr/>
          <p:nvPr/>
        </p:nvCxnSpPr>
        <p:spPr>
          <a:xfrm rot="10800000" flipH="1">
            <a:off x="2571750" y="2567178"/>
            <a:ext cx="994410" cy="1799082"/>
          </a:xfrm>
          <a:prstGeom prst="straightConnector1">
            <a:avLst/>
          </a:prstGeom>
          <a:noFill/>
          <a:ln w="28575" cap="flat" cmpd="sng">
            <a:solidFill>
              <a:srgbClr val="4579A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3" name="Google Shape;203;p17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8" descr="/home/forge/chalkie-production-workers-1/releases/78214647/backend/storage/app/render-specs/a97c6378-d766-442a-8e45-5126789275e5/img_dfa497002c684c1cd7b242a6e82e6bc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850106"/>
            <a:ext cx="8869680" cy="429339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/>
          <p:nvPr/>
        </p:nvSpPr>
        <p:spPr>
          <a:xfrm>
            <a:off x="274320" y="850106"/>
            <a:ext cx="8869679" cy="429339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2777490" y="1748790"/>
            <a:ext cx="3600450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40"/>
              <a:buFont typeface="Lexend"/>
              <a:buNone/>
            </a:pPr>
            <a:r>
              <a:rPr lang="en-US" sz="324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 Método STAR</a:t>
            </a:r>
            <a:endParaRPr sz="32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274320" y="245745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lang="en-US" sz="1620" b="0" i="0" u="none" strike="noStrike" cap="none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US" sz="1620" b="0" i="0" u="none" strike="noStrike" cap="none" dirty="0" err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estrutura</a:t>
            </a:r>
            <a:r>
              <a:rPr lang="en-US" sz="1620" b="0" i="0" u="none" strike="noStrike" cap="none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620" b="0" i="0" u="none" strike="noStrike" cap="none" dirty="0" err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definitiva</a:t>
            </a:r>
            <a:r>
              <a:rPr lang="en-US" sz="1620" b="0" i="0" u="none" strike="noStrike" cap="none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para responder a </a:t>
            </a:r>
            <a:r>
              <a:rPr lang="en-US" sz="1620" b="0" i="0" u="none" strike="noStrike" cap="none" dirty="0" err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perguntas</a:t>
            </a:r>
            <a:r>
              <a:rPr lang="en-US" sz="1620" b="0" i="0" u="none" strike="noStrike" cap="none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620" b="0" i="0" u="none" strike="noStrike" cap="none" dirty="0" err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comportamentais</a:t>
            </a:r>
            <a:r>
              <a:rPr lang="en-US" sz="1620" b="0" i="0" u="none" strike="noStrike" cap="none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com </a:t>
            </a:r>
            <a:r>
              <a:rPr lang="en-US" sz="1620" b="0" i="0" u="none" strike="noStrike" cap="none" dirty="0" err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coerência</a:t>
            </a:r>
            <a:r>
              <a:rPr lang="en-US" sz="1620" b="0" i="0" u="none" strike="noStrike" cap="none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e dados </a:t>
            </a:r>
            <a:r>
              <a:rPr lang="en-US" sz="1620" b="0" i="0" u="none" strike="noStrike" cap="none" dirty="0" err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concretos</a:t>
            </a:r>
            <a:r>
              <a:rPr lang="en-US" sz="1620" b="0" i="0" u="none" strike="noStrike" cap="none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2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 Quatro Etapas do STAR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9" descr="/home/forge/chalkie-production-workers-1/releases/78214647/backend/storage/app/render-specs/a97c6378-d766-442a-8e45-5126789275e5/img_055bcadf23f6474bcdc59442f21be47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497330"/>
            <a:ext cx="2011680" cy="2057400"/>
          </a:xfrm>
          <a:prstGeom prst="roundRect">
            <a:avLst>
              <a:gd name="adj" fmla="val 6818"/>
            </a:avLst>
          </a:prstGeom>
          <a:noFill/>
          <a:ln>
            <a:noFill/>
          </a:ln>
        </p:spPr>
      </p:pic>
      <p:sp>
        <p:nvSpPr>
          <p:cNvPr id="223" name="Google Shape;223;p19"/>
          <p:cNvSpPr/>
          <p:nvPr/>
        </p:nvSpPr>
        <p:spPr>
          <a:xfrm>
            <a:off x="274320" y="365760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 - Situação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Descreva o cenário e contexto inicial do desafio.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9" descr="/home/forge/chalkie-production-workers-1/releases/78214647/backend/storage/app/render-specs/a97c6378-d766-442a-8e45-5126789275e5/img_789ae2d91bf8649d3c4761c2af14f50c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8880" y="925830"/>
            <a:ext cx="2011680" cy="2057400"/>
          </a:xfrm>
          <a:prstGeom prst="roundRect">
            <a:avLst>
              <a:gd name="adj" fmla="val 6818"/>
            </a:avLst>
          </a:prstGeom>
          <a:noFill/>
          <a:ln>
            <a:noFill/>
          </a:ln>
        </p:spPr>
      </p:pic>
      <p:sp>
        <p:nvSpPr>
          <p:cNvPr id="225" name="Google Shape;225;p19"/>
          <p:cNvSpPr/>
          <p:nvPr/>
        </p:nvSpPr>
        <p:spPr>
          <a:xfrm>
            <a:off x="2468880" y="3097530"/>
            <a:ext cx="201168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 - Tarefa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Explique qual era sua responsabilidade específica.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9" descr="/home/forge/chalkie-production-workers-1/releases/78214647/backend/storage/app/render-specs/a97c6378-d766-442a-8e45-5126789275e5/img_fe8bd07ee4aa4b8f579f308507df01b9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3440" y="1497330"/>
            <a:ext cx="2011680" cy="2057400"/>
          </a:xfrm>
          <a:prstGeom prst="roundRect">
            <a:avLst>
              <a:gd name="adj" fmla="val 6818"/>
            </a:avLst>
          </a:prstGeom>
          <a:noFill/>
          <a:ln>
            <a:noFill/>
          </a:ln>
        </p:spPr>
      </p:pic>
      <p:sp>
        <p:nvSpPr>
          <p:cNvPr id="227" name="Google Shape;227;p19"/>
          <p:cNvSpPr/>
          <p:nvPr/>
        </p:nvSpPr>
        <p:spPr>
          <a:xfrm>
            <a:off x="4663440" y="365760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- Ação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Detalhe exatamente o que você fez para resolver.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9" descr="/home/forge/chalkie-production-workers-1/releases/78214647/backend/storage/app/render-specs/a97c6378-d766-442a-8e45-5126789275e5/img_fcf8da7da85e1ed43658350b4368b082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0" y="925830"/>
            <a:ext cx="2011680" cy="2057400"/>
          </a:xfrm>
          <a:prstGeom prst="roundRect">
            <a:avLst>
              <a:gd name="adj" fmla="val 6818"/>
            </a:avLst>
          </a:prstGeom>
          <a:noFill/>
          <a:ln>
            <a:noFill/>
          </a:ln>
        </p:spPr>
      </p:pic>
      <p:sp>
        <p:nvSpPr>
          <p:cNvPr id="229" name="Google Shape;229;p19"/>
          <p:cNvSpPr/>
          <p:nvPr/>
        </p:nvSpPr>
        <p:spPr>
          <a:xfrm>
            <a:off x="6858000" y="309753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 - Resultado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Apresente o impacto real e o que você aprendeu.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 Prático: Situação e Tarefa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0" descr="/home/forge/chalkie-production-workers-1/releases/78214647/backend/storage/app/render-specs/a97c6378-d766-442a-8e45-5126789275e5/img_41338acc842271a8a84bfe9408a9109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017270"/>
            <a:ext cx="420624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237" name="Google Shape;237;p20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lang="en-US" sz="216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Situação (S)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"No ano passado, nossa equipe na Feira de Ciências perdeu o líder a três dias da apresentação final..."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0" descr="/home/forge/chalkie-production-workers-1/releases/78214647/backend/storage/app/render-specs/a97c6378-d766-442a-8e45-5126789275e5/img_affba70a06eddb1cdce913556126445f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3440" y="1017270"/>
            <a:ext cx="420624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239" name="Google Shape;239;p20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lang="en-US" sz="216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Tarefa (T)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"Minha responsabilidade foi reorganizar o cronograma e redistribuir as partes pendentes do experimento."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 Prático: Ação e Resultado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1" descr="/home/forge/chalkie-production-workers-1/releases/78214647/backend/storage/app/render-specs/a97c6378-d766-442a-8e45-5126789275e5/img_c82ae1292442f2fa1437f0666d2b95f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925830"/>
            <a:ext cx="425196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247" name="Google Shape;247;p21"/>
          <p:cNvSpPr/>
          <p:nvPr/>
        </p:nvSpPr>
        <p:spPr>
          <a:xfrm>
            <a:off x="274320" y="3040380"/>
            <a:ext cx="4251960" cy="149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lang="en-US" sz="216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Ação (A)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"Convoquei uma reunião rápida de 15 minutos, dividi as funções por afinidade e assumi a revisão da maquete."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1" descr="/home/forge/chalkie-production-workers-1/releases/78214647/backend/storage/app/render-specs/a97c6378-d766-442a-8e45-5126789275e5/img_c07e1a262d2d1e69a1d70ce562736738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7720" y="925830"/>
            <a:ext cx="425196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249" name="Google Shape;249;p21"/>
          <p:cNvSpPr/>
          <p:nvPr/>
        </p:nvSpPr>
        <p:spPr>
          <a:xfrm>
            <a:off x="4617720" y="304038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lang="en-US" sz="216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Resultado (R)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"Entregamos o projeto no prazo, recebemos menção honrosa e aprendi a importância da cooperação sob pressão."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as Etapas do STAR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os quatro passos do Método STAR na sequência correta de argumentação: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Apresentar o desfecho obtido e os aprendizados (Resultado)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Descrever o contexto inicial e o cenário enfrentado (Situação)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Explicar qual era sua responsabilidade específica (Tarefa)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Detalhar as ações concretas que você executou (Ação)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as Etapas do STAR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os quatro passos do Método STAR na sequência correta de argumentação: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Apresentar o desfecho obtido e os aprendizados (Resultado)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Descrever o contexto inicial e o cenário enfrentado (Situação)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Explicar qual era sua responsabilidade específica (Tarefa)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Detalhar as ações concretas que você executou (Ação)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5694998" y="17145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lang="en-US" sz="360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/>
          <p:nvPr/>
        </p:nvSpPr>
        <p:spPr>
          <a:xfrm>
            <a:off x="274320" y="182880"/>
            <a:ext cx="1245870" cy="262890"/>
          </a:xfrm>
          <a:prstGeom prst="roundRect">
            <a:avLst>
              <a:gd name="adj" fmla="val 17391"/>
            </a:avLst>
          </a:prstGeom>
          <a:solidFill>
            <a:srgbClr val="040F0F"/>
          </a:solidFill>
          <a:ln>
            <a:noFill/>
          </a:ln>
        </p:spPr>
        <p:txBody>
          <a:bodyPr spcFirstLastPara="1" wrap="square" lIns="114300" tIns="45700" rIns="1143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EXPRESSÃO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274320" y="582930"/>
            <a:ext cx="4503420" cy="116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Verbal: Clareza e Honestidade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274320" y="1748790"/>
            <a:ext cx="4503420" cy="312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Falar bem em uma entrevista não significa usar palavras difíceis ou inventar conhecimentos que você não possui: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lang="en-US" sz="153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</a:t>
            </a: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vá direto ao ponto sem rodeios excessivos.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lang="en-US" sz="153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Honestidade</a:t>
            </a: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se não souber um termo técnico, admita com disposição para aprender.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lang="en-US" sz="153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Vícios de linguagem</a:t>
            </a: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evite repetições constantes de "né", "tipo assim" e "aí".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4" descr="/home/forge/chalkie-production-workers-1/releases/78214647/backend/storage/app/render-specs/a97c6378-d766-442a-8e45-5126789275e5/img_362c96431b1df6676f5026daf077098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0627" y="1165860"/>
            <a:ext cx="3909060" cy="34290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Dicas para Eliminar Ruídos Verbais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274320" y="925830"/>
            <a:ext cx="8595360" cy="1234440"/>
          </a:xfrm>
          <a:prstGeom prst="roundRect">
            <a:avLst>
              <a:gd name="adj" fmla="val 7407"/>
            </a:avLst>
          </a:prstGeom>
          <a:solidFill>
            <a:srgbClr val="FAEFDA"/>
          </a:solidFill>
          <a:ln w="11425" cap="flat" cmpd="sng">
            <a:solidFill>
              <a:srgbClr val="573B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388620" y="104013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979"/>
              <a:buFont typeface="Lexend"/>
              <a:buNone/>
            </a:pPr>
            <a:r>
              <a:rPr lang="en-US" sz="1980" b="0" i="0" u="none" strike="noStrike" cap="non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754380" y="1040130"/>
            <a:ext cx="8001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Uma pausa silenciosa de dois segundos demonstra reflexão e segurança, enquanto vícios sonoros transmitem insegurança.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25" descr="/home/forge/chalkie-production-workers-1/releases/78214647/backend/storage/app/render-specs/a97c6378-d766-442a-8e45-5126789275e5/img_1424d167f5715612e8e97530e212c52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2251710"/>
            <a:ext cx="4251960" cy="1851660"/>
          </a:xfrm>
          <a:prstGeom prst="roundRect">
            <a:avLst>
              <a:gd name="adj" fmla="val 7407"/>
            </a:avLst>
          </a:prstGeom>
          <a:noFill/>
          <a:ln>
            <a:noFill/>
          </a:ln>
        </p:spPr>
      </p:pic>
      <p:sp>
        <p:nvSpPr>
          <p:cNvPr id="296" name="Google Shape;296;p25"/>
          <p:cNvSpPr/>
          <p:nvPr/>
        </p:nvSpPr>
        <p:spPr>
          <a:xfrm>
            <a:off x="274320" y="3840480"/>
            <a:ext cx="4251960" cy="107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Força da Pausa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Respire antes de responder. Essa breve fração de tempo permite estruturar a frase na mente.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25" descr="/home/forge/chalkie-production-workers-1/releases/78214647/backend/storage/app/render-specs/a97c6378-d766-442a-8e45-5126789275e5/img_ea78b040805adb5ad7c8cbe9b080dea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7720" y="2251710"/>
            <a:ext cx="4251960" cy="1851660"/>
          </a:xfrm>
          <a:prstGeom prst="roundRect">
            <a:avLst>
              <a:gd name="adj" fmla="val 7407"/>
            </a:avLst>
          </a:prstGeom>
          <a:noFill/>
          <a:ln>
            <a:noFill/>
          </a:ln>
        </p:spPr>
      </p:pic>
      <p:sp>
        <p:nvSpPr>
          <p:cNvPr id="298" name="Google Shape;298;p25"/>
          <p:cNvSpPr/>
          <p:nvPr/>
        </p:nvSpPr>
        <p:spPr>
          <a:xfrm>
            <a:off x="4617720" y="3589020"/>
            <a:ext cx="425196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Ritmo Confortável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Fale em velocidade controlada. Articular cada palavra evita que o nervosismo acelere sua fala.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"/>
          <p:cNvSpPr/>
          <p:nvPr/>
        </p:nvSpPr>
        <p:spPr>
          <a:xfrm>
            <a:off x="274320" y="182880"/>
            <a:ext cx="1165860" cy="262890"/>
          </a:xfrm>
          <a:prstGeom prst="roundRect">
            <a:avLst>
              <a:gd name="adj" fmla="val 17391"/>
            </a:avLst>
          </a:prstGeom>
          <a:solidFill>
            <a:srgbClr val="040F0F"/>
          </a:solidFill>
          <a:ln>
            <a:noFill/>
          </a:ln>
        </p:spPr>
        <p:txBody>
          <a:bodyPr spcFirstLastPara="1" wrap="square" lIns="102850" tIns="45700" rIns="1028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CONTROLE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274320" y="582930"/>
            <a:ext cx="4709160" cy="116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Gestão da Ansiedade e Respiração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274320" y="1748790"/>
            <a:ext cx="4709160" cy="294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Sentir nervosismo antes de uma entrevista é perfeitamente normal. O objetivo não é extinguir a emoção, mas sim </a:t>
            </a: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gerenciá-la fisiologicamente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Técnica 4-4-4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inspire pelo nariz em 4 segundos, segure 4 segundos e solte pela boca em 4 segundos.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Apoio dos pés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manter os pés firmes no chão ancora o corpo e reduz tremores.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Água à mão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beber um gole d'água oferece uma pausa natural para organizar pensamentos.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26" descr="/home/forge/chalkie-production-workers-1/releases/78214647/backend/storage/app/render-specs/a97c6378-d766-442a-8e45-5126789275e5/img_db940c0aad468c833011a26bc79d44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6360" y="948690"/>
            <a:ext cx="3703320" cy="3246120"/>
          </a:xfrm>
          <a:prstGeom prst="roundRect">
            <a:avLst>
              <a:gd name="adj" fmla="val 4225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Não-Verbal e Imagem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274320" y="925830"/>
            <a:ext cx="4251960" cy="1977390"/>
          </a:xfrm>
          <a:prstGeom prst="roundRect">
            <a:avLst>
              <a:gd name="adj" fmla="val 6936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B9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Google Shape;315;p27" descr="/home/forge/chalkie-production-workers-1/releases/78214647/backend/storage/app/render-specs/a97c6378-d766-442a-8e45-5126789275e5/img_a85cb7ba89da6afdd12dcdc3b46105e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7"/>
          <p:cNvSpPr/>
          <p:nvPr/>
        </p:nvSpPr>
        <p:spPr>
          <a:xfrm>
            <a:off x="10058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lang="en-US" sz="207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Contato Visual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Olhe nos olhos do entrevistador de forma amigável e natural, sem fixar excessivamente o olhar.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4617720" y="925830"/>
            <a:ext cx="4251960" cy="1977390"/>
          </a:xfrm>
          <a:prstGeom prst="roundRect">
            <a:avLst>
              <a:gd name="adj" fmla="val 6936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B9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8" name="Google Shape;318;p27" descr="/home/forge/chalkie-production-workers-1/releases/78214647/backend/storage/app/render-specs/a97c6378-d766-442a-8e45-5126789275e5/img_46db54f9dceed32ed679e274eb75fed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/>
          <p:nvPr/>
        </p:nvSpPr>
        <p:spPr>
          <a:xfrm>
            <a:off x="53492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lang="en-US" sz="207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Coluna Alinhada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Sente-se ocupando o encosto da cadeira. Evite debruçar-se sobre a mesa ou recostar desleixadamente.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274320" y="2994660"/>
            <a:ext cx="4251960" cy="1977390"/>
          </a:xfrm>
          <a:prstGeom prst="roundRect">
            <a:avLst>
              <a:gd name="adj" fmla="val 6936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B9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1" name="Google Shape;321;p27" descr="/home/forge/chalkie-production-workers-1/releases/78214647/backend/storage/app/render-specs/a97c6378-d766-442a-8e45-5126789275e5/img_d7f0e36978f7ed42a7a1d524ab13e904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14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7"/>
          <p:cNvSpPr/>
          <p:nvPr/>
        </p:nvSpPr>
        <p:spPr>
          <a:xfrm>
            <a:off x="10058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lang="en-US" sz="207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Mãos Visíveis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Mantenha as mãos sobre a mesa ou colo. Escondê-las nos bolsos transmite hesitação ou desinteresse.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4617720" y="2994660"/>
            <a:ext cx="4251960" cy="1977390"/>
          </a:xfrm>
          <a:prstGeom prst="roundRect">
            <a:avLst>
              <a:gd name="adj" fmla="val 6936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B9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4" name="Google Shape;324;p27" descr="/home/forge/chalkie-production-workers-1/releases/78214647/backend/storage/app/render-specs/a97c6378-d766-442a-8e45-5126789275e5/img_7f44371038b0d27636f0d45b3e87464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48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/>
          <p:nvPr/>
        </p:nvSpPr>
        <p:spPr>
          <a:xfrm>
            <a:off x="53492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lang="en-US" sz="207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Expressão Facial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Cumprimente com um sorriso educado. A simpatia autêntica quebra o gelo logo nos primeiros segundos.</a:t>
            </a:r>
            <a:endParaRPr sz="2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/>
          <p:nvPr/>
        </p:nvSpPr>
        <p:spPr>
          <a:xfrm>
            <a:off x="274320" y="182880"/>
            <a:ext cx="1314450" cy="262890"/>
          </a:xfrm>
          <a:prstGeom prst="roundRect">
            <a:avLst>
              <a:gd name="adj" fmla="val 17391"/>
            </a:avLst>
          </a:prstGeom>
          <a:solidFill>
            <a:srgbClr val="040F0F"/>
          </a:solidFill>
          <a:ln>
            <a:noFill/>
          </a:ln>
        </p:spPr>
        <p:txBody>
          <a:bodyPr spcFirstLastPara="1" wrap="square" lIns="102850" tIns="45700" rIns="1028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EQUILÍBRIO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274320" y="582930"/>
            <a:ext cx="4709160" cy="116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Valorizar Conquistas sem Arrogância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274320" y="1703070"/>
            <a:ext cx="4709160" cy="321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Muitos candidatos temem parecer convencidos e acabam diminuindo o próprio esforço. O segredo está na </a:t>
            </a: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atribuição justa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Reconheça o time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"Tive a oportunidade de liderar, mas o empenho de cada colega foi determinante."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Compartilhe o método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explique </a:t>
            </a:r>
            <a:r>
              <a:rPr lang="en-US" sz="1440" b="0" i="1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superou a dificuldade em vez de exaltar seu talento natural.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Destaque o aprendizado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valorize o que aquela experiência ensinou para o seu futuro.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28" descr="/home/forge/chalkie-production-workers-1/releases/78214647/backend/storage/app/render-specs/a97c6378-d766-442a-8e45-5126789275e5/img_c34796e1e19a70a7519117d0e7d9a10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6360" y="948690"/>
            <a:ext cx="3703320" cy="3246120"/>
          </a:xfrm>
          <a:prstGeom prst="roundRect">
            <a:avLst>
              <a:gd name="adj" fmla="val 4225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/>
          <p:nvPr/>
        </p:nvSpPr>
        <p:spPr>
          <a:xfrm>
            <a:off x="548640" y="182880"/>
            <a:ext cx="6547961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40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Formulação</a:t>
            </a:r>
            <a:r>
              <a:rPr lang="en-US" sz="240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 </a:t>
            </a:r>
            <a:r>
              <a:rPr lang="en-US" sz="240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Perguntas</a:t>
            </a:r>
            <a:r>
              <a:rPr lang="en-US" sz="240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40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Inteligentes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274320" y="925830"/>
            <a:ext cx="8595360" cy="1234440"/>
          </a:xfrm>
          <a:prstGeom prst="roundRect">
            <a:avLst>
              <a:gd name="adj" fmla="val 7407"/>
            </a:avLst>
          </a:prstGeom>
          <a:solidFill>
            <a:srgbClr val="FCEBEB"/>
          </a:solidFill>
          <a:ln w="11425" cap="flat" cmpd="sng">
            <a:solidFill>
              <a:srgbClr val="4606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9"/>
          <p:cNvSpPr/>
          <p:nvPr/>
        </p:nvSpPr>
        <p:spPr>
          <a:xfrm>
            <a:off x="388620" y="104013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979"/>
              <a:buFont typeface="Lexend"/>
              <a:buNone/>
            </a:pPr>
            <a:r>
              <a:rPr lang="en-US" sz="1980" b="0" i="0" u="none" strike="noStrike" cap="non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9"/>
          <p:cNvSpPr/>
          <p:nvPr/>
        </p:nvSpPr>
        <p:spPr>
          <a:xfrm>
            <a:off x="754380" y="1040130"/>
            <a:ext cx="8001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lang="en-US" sz="1440" b="1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r>
              <a:rPr lang="en-US" sz="1440" b="1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440" b="1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ao</a:t>
            </a:r>
            <a:r>
              <a:rPr lang="en-US" sz="1440" b="1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 Final</a:t>
            </a:r>
            <a:endParaRPr sz="144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Quando o 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entrevistador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perguntar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 "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Você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tem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alguma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dúvida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?", responder "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Não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nenhuma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" 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transmite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desinteresse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ou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falta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 de </a:t>
            </a:r>
            <a:r>
              <a:rPr lang="en-US" sz="1440" b="0" i="0" u="none" strike="noStrike" cap="none" dirty="0" err="1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preparo</a:t>
            </a:r>
            <a:r>
              <a:rPr lang="en-US" sz="1440" b="0" i="0" u="none" strike="noStrike" cap="none" dirty="0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44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29" descr="/home/forge/chalkie-production-workers-1/releases/78214647/backend/storage/app/render-specs/a97c6378-d766-442a-8e45-5126789275e5/img_56385336569e6bda0c2d9fd4ede9c7f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2251710"/>
            <a:ext cx="4251960" cy="1851660"/>
          </a:xfrm>
          <a:prstGeom prst="roundRect">
            <a:avLst>
              <a:gd name="adj" fmla="val 7407"/>
            </a:avLst>
          </a:prstGeom>
          <a:noFill/>
          <a:ln>
            <a:noFill/>
          </a:ln>
        </p:spPr>
      </p:pic>
      <p:sp>
        <p:nvSpPr>
          <p:cNvPr id="345" name="Google Shape;345;p29"/>
          <p:cNvSpPr/>
          <p:nvPr/>
        </p:nvSpPr>
        <p:spPr>
          <a:xfrm>
            <a:off x="274320" y="3840480"/>
            <a:ext cx="4251960" cy="107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Sobre a Rotina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"Como é o dia a dia típico de quem atua nesta função?"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29" descr="/home/forge/chalkie-production-workers-1/releases/78214647/backend/storage/app/render-specs/a97c6378-d766-442a-8e45-5126789275e5/img_40a555c1197b625c98ae34c008f14db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7720" y="2251710"/>
            <a:ext cx="4251960" cy="1851660"/>
          </a:xfrm>
          <a:prstGeom prst="roundRect">
            <a:avLst>
              <a:gd name="adj" fmla="val 7407"/>
            </a:avLst>
          </a:prstGeom>
          <a:noFill/>
          <a:ln>
            <a:noFill/>
          </a:ln>
        </p:spPr>
      </p:pic>
      <p:sp>
        <p:nvSpPr>
          <p:cNvPr id="347" name="Google Shape;347;p29"/>
          <p:cNvSpPr/>
          <p:nvPr/>
        </p:nvSpPr>
        <p:spPr>
          <a:xfrm>
            <a:off x="4617720" y="3589020"/>
            <a:ext cx="425196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Sobre Aprendizado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"Quais são os principais desafios que um novo jovem aprendiz enfrenta nos primeiros meses?"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Verificação: Perguntas Finais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29286" dir="2700000" algn="bl" rotWithShape="0">
              <a:srgbClr val="000000"/>
            </a:outerShdw>
          </a:effectLst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Fazer perguntas sobre o funcionamento da equipe ao final da entrevista demonstra falta de atenção ao que já foi falado.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lang="en-US" sz="23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lang="en-US" sz="23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sz="23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lang="en-US" sz="23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lang="en-US" sz="23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sz="23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lang="en-US" sz="1620" b="0" i="1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Verificação: Perguntas Finais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29286" dir="2700000" algn="bl" rotWithShape="0">
              <a:srgbClr val="000000"/>
            </a:outerShdw>
          </a:effectLst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Fazer perguntas sobre o funcionamento da equipe ao final da entrevista demonstra falta de atenção ao que já foi falado.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lang="en-US" sz="23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lang="en-US" sz="23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sz="23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00" cap="flat" cmpd="sng">
            <a:solidFill>
              <a:srgbClr val="2C6E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lang="en-US" sz="23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lang="en-US" sz="23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sz="23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5886450" y="17145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lang="en-US" sz="360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FAEFDA"/>
          </a:solidFill>
          <a:ln w="11425" cap="flat" cmpd="sng">
            <a:solidFill>
              <a:srgbClr val="573B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725" tIns="125725" rIns="125725" bIns="12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Perguntas pertinentes revelam curiosidade genuína, proatividade e alto nível de preparo prévio do candidato.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2" descr="/home/forge/chalkie-production-workers-1/releases/78214647/backend/storage/app/render-specs/a97c6378-d766-442a-8e45-5126789275e5/img_2734377d4613ef027e8c291e500afbb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324" y="757237"/>
            <a:ext cx="8829675" cy="205739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2"/>
          <p:cNvSpPr/>
          <p:nvPr/>
        </p:nvSpPr>
        <p:spPr>
          <a:xfrm>
            <a:off x="262890" y="2814637"/>
            <a:ext cx="861822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Entrevistas</a:t>
            </a:r>
            <a:r>
              <a:rPr lang="en-US" sz="288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88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Virtuais</a:t>
            </a:r>
            <a:r>
              <a:rPr lang="en-US" sz="288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88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</a:t>
            </a:r>
            <a:r>
              <a:rPr lang="en-US" sz="288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88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Vídeo</a:t>
            </a:r>
            <a:endParaRPr sz="288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262890" y="3466147"/>
            <a:ext cx="8618220" cy="1634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Hoje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a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maior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parte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das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seleções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iniciais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ocorre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videoconferência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Essa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modalidade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exige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mesmos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cuidados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da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entrevista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presencial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somados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</a:t>
            </a:r>
            <a:r>
              <a:rPr lang="en-US" sz="153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aspectos</a:t>
            </a:r>
            <a:r>
              <a:rPr lang="en-US" sz="153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técnicos</a:t>
            </a:r>
            <a:r>
              <a:rPr lang="en-US" sz="153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indispensáveis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53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ambiente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organizado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o teste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antecipado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das ferramentas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evitam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imprevistos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prejudicam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sua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530" b="0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</a:t>
            </a:r>
            <a:r>
              <a:rPr lang="en-US" sz="153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53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para Entrevistas Virtuais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274320" y="925830"/>
            <a:ext cx="4251960" cy="2160270"/>
          </a:xfrm>
          <a:prstGeom prst="roundRect">
            <a:avLst>
              <a:gd name="adj" fmla="val 6349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B9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5" name="Google Shape;385;p33" descr="/home/forge/chalkie-production-workers-1/releases/78214647/backend/storage/app/render-specs/a97c6378-d766-442a-8e45-5126789275e5/img_40b86dc1f17ac6831902322f3b3a14d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3"/>
          <p:cNvSpPr/>
          <p:nvPr/>
        </p:nvSpPr>
        <p:spPr>
          <a:xfrm>
            <a:off x="1005840" y="1062990"/>
            <a:ext cx="3383280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Câmera na Altura dos Olhos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Eleve o dispositivo com livros ou suporte para olhar diretamente para o avaliador, não de cima para baixo.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4617720" y="925830"/>
            <a:ext cx="4251960" cy="2160270"/>
          </a:xfrm>
          <a:prstGeom prst="roundRect">
            <a:avLst>
              <a:gd name="adj" fmla="val 6349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B9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8" name="Google Shape;388;p33" descr="/home/forge/chalkie-production-workers-1/releases/78214647/backend/storage/app/render-specs/a97c6378-d766-442a-8e45-5126789275e5/img_3a6afe862e1fc4596909a95a2b12e8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3"/>
          <p:cNvSpPr/>
          <p:nvPr/>
        </p:nvSpPr>
        <p:spPr>
          <a:xfrm>
            <a:off x="5349240" y="106299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Iluminação Frontal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Posicione a fonte de luz à sua frente. Evite janelas ensolaradas logo atrás de você para não gerar sombras.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274320" y="3177540"/>
            <a:ext cx="4251960" cy="2160270"/>
          </a:xfrm>
          <a:prstGeom prst="roundRect">
            <a:avLst>
              <a:gd name="adj" fmla="val 6349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B9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1" name="Google Shape;391;p33" descr="/home/forge/chalkie-production-workers-1/releases/78214647/backend/storage/app/render-specs/a97c6378-d766-442a-8e45-5126789275e5/img_af5852d4723129acdeefd3b91bfacb4a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1480" y="33147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3"/>
          <p:cNvSpPr/>
          <p:nvPr/>
        </p:nvSpPr>
        <p:spPr>
          <a:xfrm>
            <a:off x="1005840" y="331470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Áudio e Fone de Ouvido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Use fones com microfone para filtrar ecos domésticos e garantir que sua voz chegue nítida.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4617720" y="3177540"/>
            <a:ext cx="4251960" cy="2160270"/>
          </a:xfrm>
          <a:prstGeom prst="roundRect">
            <a:avLst>
              <a:gd name="adj" fmla="val 6349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B9BC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4" name="Google Shape;394;p33" descr="/home/forge/chalkie-production-workers-1/releases/78214647/backend/storage/app/render-specs/a97c6378-d766-442a-8e45-5126789275e5/img_b76662a862aad6f1af53e01d26bd1c78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4880" y="33147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3"/>
          <p:cNvSpPr/>
          <p:nvPr/>
        </p:nvSpPr>
        <p:spPr>
          <a:xfrm>
            <a:off x="5349240" y="331470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Avisos e Notificações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Silencie o celular e feche abas desnecessárias do computador para manter foco absoluto.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"/>
          <p:cNvSpPr/>
          <p:nvPr/>
        </p:nvSpPr>
        <p:spPr>
          <a:xfrm>
            <a:off x="274320" y="182880"/>
            <a:ext cx="1497330" cy="262890"/>
          </a:xfrm>
          <a:prstGeom prst="roundRect">
            <a:avLst>
              <a:gd name="adj" fmla="val 17391"/>
            </a:avLst>
          </a:prstGeom>
          <a:solidFill>
            <a:srgbClr val="040F0F"/>
          </a:solidFill>
          <a:ln>
            <a:noFill/>
          </a:ln>
        </p:spPr>
        <p:txBody>
          <a:bodyPr spcFirstLastPara="1" wrap="square" lIns="114300" tIns="45700" rIns="1143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DIAGNÓSTICO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274320" y="582930"/>
            <a:ext cx="4503420" cy="116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da Pergunta: "Fale sobre você"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274320" y="1748790"/>
            <a:ext cx="4503420" cy="312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Essa é quase sempre a pergunta de abertura. O maior erro é contar a vida inteira cronologicamente desde a infância.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lang="en-US" sz="153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você é hoje</a:t>
            </a: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área de estudo atual e interesses gerais.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lang="en-US" sz="153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Suas principais habilidades</a:t>
            </a: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pontos fortes comprovados por projetos práticos.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lang="en-US" sz="153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esta vaga</a:t>
            </a:r>
            <a:r>
              <a:rPr lang="en-US" sz="153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 motivo de você desejar aprender exatamente naquela empresa.</a:t>
            </a:r>
            <a:endParaRPr sz="15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p34" descr="/home/forge/chalkie-production-workers-1/releases/78214647/backend/storage/app/render-specs/a97c6378-d766-442a-8e45-5126789275e5/img_22e23b11f32d32c40e486a7f2c67f16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0620" y="961548"/>
            <a:ext cx="3909060" cy="34290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Pontos Fortes e Pontos a Melhorar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35" descr="/home/forge/chalkie-production-workers-1/releases/78214647/backend/storage/app/render-specs/a97c6378-d766-442a-8e45-5126789275e5/img_640d63b521a9edfd924a9a97ee78b66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017270"/>
            <a:ext cx="420624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412" name="Google Shape;412;p35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lang="en-US" sz="216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Pontos Fortes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Apresente qualidades reais associadas a fatos: "Sou bastante pontual, como mostram minhas entregas na escola."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35" descr="/home/forge/chalkie-production-workers-1/releases/78214647/backend/storage/app/render-specs/a97c6378-d766-442a-8e45-5126789275e5/img_aba1f6cb25e3f64e692b0581f3fda26f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3440" y="1017270"/>
            <a:ext cx="420624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414" name="Google Shape;414;p35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lang="en-US" sz="216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Pontos a Melhorar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Evite clichês como "sou perfeccionista". Escolha um ponto real e mostre o plano prático para corrigi-lo.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Erros Mais Comuns de Candidatos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p36" descr="/home/forge/chalkie-production-workers-1/releases/78214647/backend/storage/app/render-specs/a97c6378-d766-442a-8e45-5126789275e5/img_e306bcd55a26a95ba035c41e0ee632e8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017270"/>
            <a:ext cx="274320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422" name="Google Shape;422;p36"/>
          <p:cNvSpPr/>
          <p:nvPr/>
        </p:nvSpPr>
        <p:spPr>
          <a:xfrm>
            <a:off x="274320" y="325755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Falar mal de experiências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Criticar antigos colegas revela imaturidade.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36" descr="/home/forge/chalkie-production-workers-1/releases/78214647/backend/storage/app/render-specs/a97c6378-d766-442a-8e45-5126789275e5/img_dd4f89178d85e48c81fdf3d9b7d866e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0400" y="1017270"/>
            <a:ext cx="274320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424" name="Google Shape;424;p36"/>
          <p:cNvSpPr/>
          <p:nvPr/>
        </p:nvSpPr>
        <p:spPr>
          <a:xfrm>
            <a:off x="3200400" y="325755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Atrasos e falta de aviso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Chegar atrasado destrói a primeira impressão.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36" descr="/home/forge/chalkie-production-workers-1/releases/78214647/backend/storage/app/render-specs/a97c6378-d766-442a-8e45-5126789275e5/img_b43b78f3a138b50b4fdb9bbcf99ee4ac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6480" y="1017270"/>
            <a:ext cx="274320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426" name="Google Shape;426;p36"/>
          <p:cNvSpPr/>
          <p:nvPr/>
        </p:nvSpPr>
        <p:spPr>
          <a:xfrm>
            <a:off x="6126480" y="325755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Respostas monossilábicas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Falar apenas 'sim' ou 'não' esconde seu potencial.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7" descr="/home/forge/chalkie-production-workers-1/releases/78214647/backend/storage/app/render-specs/a97c6378-d766-442a-8e45-5126789275e5/img_e55ecfe6702459449ae20917630e639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" y="914400"/>
            <a:ext cx="85725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Complete: Estrutura Profissional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7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responder sobre pontos a melhorar, o candidato deve apresentar ____ e detalhar o plano de ____ em andamento.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7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285750" y="3771900"/>
            <a:ext cx="232029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desenvolvimento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2743200" y="3771900"/>
            <a:ext cx="244602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desculpas vazias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7"/>
          <p:cNvSpPr/>
          <p:nvPr/>
        </p:nvSpPr>
        <p:spPr>
          <a:xfrm>
            <a:off x="5326380" y="377190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autocrítica consciente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7"/>
          <p:cNvSpPr/>
          <p:nvPr/>
        </p:nvSpPr>
        <p:spPr>
          <a:xfrm>
            <a:off x="285750" y="4320540"/>
            <a:ext cx="2697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arrogância extrema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38" descr="/home/forge/chalkie-production-workers-1/releases/78214647/backend/storage/app/render-specs/a97c6378-d766-442a-8e45-5126789275e5/img_e55ecfe6702459449ae20917630e639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" y="914400"/>
            <a:ext cx="857250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Complete: Estrutura Profissional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8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responder sobre pontos a melhorar, o candidato deve apresentar </a:t>
            </a:r>
            <a:r>
              <a:rPr lang="en-US" sz="1620" b="1" i="0" u="none" strike="noStrike" cap="non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autocrítica consciente</a:t>
            </a: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detalhar o plano de </a:t>
            </a:r>
            <a:r>
              <a:rPr lang="en-US" sz="1620" b="1" i="0" u="none" strike="noStrike" cap="non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desenvolvimento</a:t>
            </a: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 andamento.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8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285750" y="3771900"/>
            <a:ext cx="232029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50" cap="flat" cmpd="sng">
            <a:solidFill>
              <a:srgbClr val="2C6E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desenvolvimento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8"/>
          <p:cNvSpPr/>
          <p:nvPr/>
        </p:nvSpPr>
        <p:spPr>
          <a:xfrm>
            <a:off x="2743200" y="3771900"/>
            <a:ext cx="244602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50" cap="flat" cmpd="sng">
            <a:solidFill>
              <a:srgbClr val="7676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desculpas vazias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8"/>
          <p:cNvSpPr/>
          <p:nvPr/>
        </p:nvSpPr>
        <p:spPr>
          <a:xfrm>
            <a:off x="5326380" y="377190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50" cap="flat" cmpd="sng">
            <a:solidFill>
              <a:srgbClr val="2C6E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autocrítica consciente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285750" y="4320540"/>
            <a:ext cx="2697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50" cap="flat" cmpd="sng">
            <a:solidFill>
              <a:srgbClr val="7676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arrogância extrema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6423660" y="17145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lang="en-US" sz="3600" b="0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40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Simulação</a:t>
            </a:r>
            <a:r>
              <a:rPr lang="en-US" sz="240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240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</a:t>
            </a:r>
            <a:r>
              <a:rPr lang="en-US" sz="240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Pares: </a:t>
            </a:r>
            <a:r>
              <a:rPr lang="en-US" sz="240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Papéis</a:t>
            </a:r>
            <a:r>
              <a:rPr lang="en-US" sz="240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</a:t>
            </a:r>
            <a:r>
              <a:rPr lang="en-US" sz="240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Regras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39" descr="/home/forge/chalkie-production-workers-1/releases/78214647/backend/storage/app/render-specs/a97c6378-d766-442a-8e45-5126789275e5/img_9feb93b4d2228d00f86b703c1440d5bc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017270"/>
            <a:ext cx="420624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461" name="Google Shape;461;p39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lang="en-US" sz="216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Papel 1: Entrevistador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Conduz o diálogo com seriedade, faz 2 perguntas comportamentais e avalia postura e método STAR.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p39" descr="/home/forge/chalkie-production-workers-1/releases/78214647/backend/storage/app/render-specs/a97c6378-d766-442a-8e45-5126789275e5/img_4b48e0c2d4ced32d11d79eec3d484a1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3440" y="1017270"/>
            <a:ext cx="420624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463" name="Google Shape;463;p39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lang="en-US" sz="216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Papel 2: Candidato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Apresenta-se com clareza, aplica a estrutura STAR e formula ao menos uma pergunta inteligente ao final.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40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Rubrica</a:t>
            </a:r>
            <a:r>
              <a:rPr lang="en-US" sz="240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 </a:t>
            </a:r>
            <a:r>
              <a:rPr lang="en-US" sz="240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Avaliação</a:t>
            </a:r>
            <a:r>
              <a:rPr lang="en-US" sz="2400" b="1" i="0" u="none" strike="noStrike" cap="none" dirty="0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da </a:t>
            </a:r>
            <a:r>
              <a:rPr lang="en-US" sz="2400" b="1" i="0" u="none" strike="noStrike" cap="none" dirty="0" err="1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Simulação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040F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0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40F0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0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Não-Verbal</a:t>
            </a: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Contato visual sustentado, postura ereta e ausência de agitação física.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0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040F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40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40F0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0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de Conteúdo</a:t>
            </a: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Uso evidente do Método STAR (Situação, Tarefa, Ação e Resultado claro).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0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40000"/>
            </a:srgbClr>
          </a:solidFill>
          <a:ln w="11425" cap="flat" cmpd="sng">
            <a:solidFill>
              <a:srgbClr val="040F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0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40F0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0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e Vocabulário</a:t>
            </a: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Fala pausada, sem gírias excessivas e com honestidade sobre limites e metas.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41" descr="/home/forge/chalkie-production-workers-1/releases/78214647/backend/storage/app/render-specs/a97c6378-d766-442a-8e45-5126789275e5/img_b8e2e30cbb6ba10a8acb00af0ff4be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730" y="816102"/>
            <a:ext cx="9008269" cy="4327398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Prática: Mock Interview em Pares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1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duplas, realizem simulação de 6 minutos: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 min: Aluno A entrevista B: 'Conte como resolveu um imprevisto em grupo'.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Aluno B responde via Método STAR e faz uma pergunta ao final.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 min: Aluno A fornece feedback baseado na rubrica.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Invertam os papéis e repitam o ciclo.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Recapitulando os Aprendizados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2"/>
          <p:cNvSpPr/>
          <p:nvPr/>
        </p:nvSpPr>
        <p:spPr>
          <a:xfrm>
            <a:off x="274320" y="925830"/>
            <a:ext cx="47091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Hoje transformamos a entrevista de emprego em um processo dominado por técnicas de comunicação: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preparação prévia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elimina o medo e fornece argumentos autênticos;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Método STAR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transforma respostas soltas em narrativas memoráveis;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lang="en-US" sz="14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postura ética e equilibrada</a:t>
            </a:r>
            <a:r>
              <a:rPr lang="en-US" sz="14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constrói relações de confiança recíproca.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2"/>
          <p:cNvSpPr/>
          <p:nvPr/>
        </p:nvSpPr>
        <p:spPr>
          <a:xfrm>
            <a:off x="274320" y="3851910"/>
            <a:ext cx="45720" cy="9372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2"/>
          <p:cNvSpPr/>
          <p:nvPr/>
        </p:nvSpPr>
        <p:spPr>
          <a:xfrm>
            <a:off x="525780" y="3851910"/>
            <a:ext cx="4457700" cy="93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lang="en-US" sz="1440" b="0" i="1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 preparação adequada transforma a incerteza da entrevista em oportunidade concreta de diálogo.”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42" descr="/home/forge/chalkie-production-workers-1/releases/78214647/backend/storage/app/render-specs/a97c6378-d766-442a-8e45-5126789275e5/img_13b0620623cf316809d4204113b7d0c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6360" y="925830"/>
            <a:ext cx="3703320" cy="3246120"/>
          </a:xfrm>
          <a:prstGeom prst="roundRect">
            <a:avLst>
              <a:gd name="adj" fmla="val 4225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2300</Words>
  <Application>Microsoft Office PowerPoint</Application>
  <PresentationFormat>Apresentação no Ecrã (16:9)</PresentationFormat>
  <Paragraphs>309</Paragraphs>
  <Slides>40</Slides>
  <Notes>40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40</vt:i4>
      </vt:variant>
    </vt:vector>
  </HeadingPairs>
  <TitlesOfParts>
    <vt:vector size="44" baseType="lpstr">
      <vt:lpstr>Arial</vt:lpstr>
      <vt:lpstr>Calibri</vt:lpstr>
      <vt:lpstr>Lexend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Gelvazio Camargo - HOTMAIL</cp:lastModifiedBy>
  <cp:revision>2</cp:revision>
  <dcterms:modified xsi:type="dcterms:W3CDTF">2026-09-21T18:50:42Z</dcterms:modified>
</cp:coreProperties>
</file>