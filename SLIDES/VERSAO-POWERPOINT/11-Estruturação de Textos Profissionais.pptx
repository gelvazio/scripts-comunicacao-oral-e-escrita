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Relationship Id="rId7" Type="http://schemas.openxmlformats.org/officeDocument/2006/relationships/image" Target="../media/image5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Relationship Id="rId4" Type="http://schemas.openxmlformats.org/officeDocument/2006/relationships/image" Target="../media/image77.png"/><Relationship Id="rId5" Type="http://schemas.openxmlformats.org/officeDocument/2006/relationships/image" Target="../media/image66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Relationship Id="rId4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Relationship Id="rId4" Type="http://schemas.openxmlformats.org/officeDocument/2006/relationships/image" Target="../media/image6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Relationship Id="rId4" Type="http://schemas.openxmlformats.org/officeDocument/2006/relationships/image" Target="../media/image7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200150"/>
            <a:ext cx="40233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Estruturação de Textos Profissionais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891790"/>
            <a:ext cx="4023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Comunicação escrita com clareza, coesão e impacto no ambiente corporativo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cdbb77f07e24bf4ec130fc27a7199242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74320" y="108585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 que constroem ou travam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2354580"/>
            <a:ext cx="493776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recebeu uma mensagem tão confusa que não soube o que responder? No ambiente profissional, um e-mail desordenado causa retrabalho, perda de prazos e ruídos graves entre equipes.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8d7687299d753f91c723edd3534d0708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Dominar o parágrafo padrão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identificando tópico frasal e desenvolvimento estruturado.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recursos de coesão e coerência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garantir fluidez lógica e eliminar ambiguidades.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Planejar e redigir textos corporativos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objetivos antes de redigi-los formalmente.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64305e89f7bacc9c9112cd1871f8d494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25755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Ligação gramatical entre frases e palavras com conectivos precisos.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7e328a8071ae2c0de92988b61e517676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68880" y="325755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Harmonia lógica de sentido global sem contradições internas.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468681aa93383a9a8d48dd41664f44c5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63440" y="325755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Parágrafo: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Unidade textual básica em torno de uma ideia central condutora.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ab8b2d1b6e899da60a732f7f234955a7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858000" y="325755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Organização lógica das ideias para orientar o leitor com clareza.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 a entrevista de emprego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oral assertiva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o preparo para processos seletivos. Em entrevistas de emprego, a clareza verbal reflete organização mental prévia.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profissional: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Sem gírias excessivas ou insegurança vocal.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direta: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Respostas alinhadas aos objetivos da pergunta.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93f6ccd17e0648d2723fae3b87cce1ff.png" id="63" name="Google Shape;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17ac7909-79ac-4acf-ad56-4e6fe8b591e4/img_04c5c8cf876bb8d7a9fe68d282d65ee6.png"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>
            <a:off x="274320" y="240030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poderoso Método STAR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74320" y="31889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método STAR é a fórmula perfeita para narrar experiências: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ituação (contexto),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arefa (desafio colocado),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ção (sua iniciativa prática)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esultado (impacto mensurável obtido).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Método STAR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método STAR de entrevista, a letra A representa qual etapa?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Ambição: os sonhos de carreira futura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Avaliação: a nota atribuída pela chefia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Argumentação: o debate teórico sem exemplos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Ação: as medidas práticas tomadas pelo candidato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Método STAR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método STAR de entrevista, a letra A representa qual etapa?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Ambição: os sonhos de carreira futura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Avaliação: a nota atribuída pela chefia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Argumentação: o debate teórico sem exemplos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Ação: as medidas práticas tomadas pelo candidato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 voz ao texto corporativo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d4d68ffdec1b984ebd00bafc46c5c26f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274320" y="3040380"/>
            <a:ext cx="42519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oral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correções instantâneas, entonação vocal, pausas de respiração e gestos para apoiar a compreensão mútua.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808b7ac549b77c009daf54d0dcbf77ed.png"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3" name="Google Shape;113;p11"/>
          <p:cNvSpPr/>
          <p:nvPr/>
        </p:nvSpPr>
        <p:spPr>
          <a:xfrm>
            <a:off x="4617720" y="3040380"/>
            <a:ext cx="4251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escrita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Fica registrada de forma permanente e depende unicamente da ordem visual e semântica das frases escritas.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impacto do texto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74320" y="180594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Por que escrever bem é uma habilidade decisiva no mercado profissional.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61544d6f454c94060c1d047e62f00cf9.png" id="121" name="Google Shape;12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83464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3291840" y="182880"/>
            <a:ext cx="557784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profissional contemporâneo, a maioria das decisões diárias circula por escrito em e-mails, relatórios, atas e comunicados corporativos.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Economia de tempo: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Textos bem estruturados evitam trocas intermináveis de mensagens.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Credibilidade pessoal: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Demonstra rigor técnico, organização de ideias e respeito pelo leitor.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Diferentes gêneros textuais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5022dd124dd7e2a7011595030db8b6ea.png" id="130" name="Google Shape;1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10058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literário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Privilegia a estética, figuras de linguagem, subjetividade e emoção poética.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dd3169d216a7b7eedc31fa8fa578033f.png" id="133" name="Google Shape;1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opinativo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Defende uma tese pessoal por meio de juízos de valor e argumentação crítica.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e9cd9de87db2828e460cac47fff7481e.png" id="136" name="Google Shape;13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>
            <a:off x="10058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profissional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objetividade, clareza absoluta, vocabulário formal e neutralidade informativa.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a22f220dd03338e4be0e1c628ad073e0.png" id="139" name="Google Shape;13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/>
          <p:nvPr/>
        </p:nvSpPr>
        <p:spPr>
          <a:xfrm>
            <a:off x="53492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prático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Busca guiar ações, alinhar projetos e orientar procedimentos sem ambiguidades.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parágrafo como bloco construtor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74320" y="925830"/>
            <a:ext cx="4297680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ideia central por parágrafo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parágrafo é uma unidade de pensamento. Misturar múltiplos assuntos não relacionados no mesmo bloco cansa o leitor e oculta informações cruciais.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74320" y="3211830"/>
            <a:ext cx="429768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400050" y="333756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765810" y="333756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Regra de ouro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Mude de parágrafo sempre que mudar de aspecto, argumento ou etapa do tema.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79d89a457fe695d35f1d216e72170c29.png" id="151" name="Google Shape;1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Anatomia do parágrafo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e101e7cb7cea56bd0841a1d6798d75c4.png" id="158" name="Google Shape;1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9" name="Google Shape;159;p15"/>
          <p:cNvSpPr/>
          <p:nvPr/>
        </p:nvSpPr>
        <p:spPr>
          <a:xfrm>
            <a:off x="27432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Tópico frasal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primeira frase, direta e afirmativa, que sintetiza o tema central que será tratado.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a63372edf284f50c1d89271c60107766.png" id="160" name="Google Shape;1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316611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Duas a três frases com dados, explicações, justificativas ou exemplos concretos.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466303f5230ab9c9c96db9c205ee39de.png" id="162" name="Google Shape;16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606933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Fechamento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frase conclusiva ou de encaminhamento para a próxima etapa ou decisão.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guiado de parágrafo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74320" y="1017270"/>
            <a:ext cx="8595360" cy="3028950"/>
          </a:xfrm>
          <a:prstGeom prst="roundRect">
            <a:avLst>
              <a:gd fmla="val 4528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17150" lIns="217150" spcFirstLastPara="1" rIns="217150" wrap="square" tIns="21715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[Tópico Frasal]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implementação da coleta seletiva na unidade reduziu em 35% o descarte inadequado no primeiro trimestre.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[Desenvolvimento]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evolução deveu-se à instalação de novas lixeiras identificadas e à realização de oficinas rápidas com os colaboradores sobre o descarte correto de materiais recicláveis.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[Conclusão]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Diante desses resultados positivos, a comissão gestora recomenda expandir o projeto para as demais filiais.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o Tópico Frasal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trecho exerce a função de tópico frasal no parágrafo apresentado?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implementação da coleta seletiva na unidade reduziu em 35% o descarte inadequado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Realização de oficinas rápidas com os colaboradores sobre o descarte correto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Diante desses resultados positivos, a comissão recomenda expandir o projeto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evolução deveu-se à instalação de novas lixeiras identificadas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o Tópico Frasal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trecho exerce a função de tópico frasal no parágrafo apresentado?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implementação da coleta seletiva na unidade reduziu em 35% o descarte inadequado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Realização de oficinas rápidas com os colaboradores sobre o descarte correto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Diante desses resultados positivos, a comissão recomenda expandir o projeto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evolução deveu-se à instalação de novas lixeiras identificadas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Coesão: a costura do texto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74320" y="180594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conectar termos e frases para que o texto flua naturalmente.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cf9d8edac812c6370566d290658e435d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83464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/>
          <p:nvPr/>
        </p:nvSpPr>
        <p:spPr>
          <a:xfrm>
            <a:off x="3291840" y="182880"/>
            <a:ext cx="557784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coesão textual é a amarração gramatical explícita na superfície do texto. Sem ela, frases soltas parecem uma lista desconectada de compras.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Conectivos adequados: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Indicam causa, oposição, conclusão ou acréscimo.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Fluidez na leitura: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Conduzem o leitor sem solavancos de uma ideia à seguinte.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Recursos de coesão referencial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f04ccde4507aa8c30597ecbf0944a66d.png" id="218" name="Google Shape;2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27432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Pronomes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"este", "esse", "aquele" ou "o qual" para resgatar termos já citados sem repetir o nome.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922f8990bc8f6b91e7bd9994004a93c5.png"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Sinônimos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Substituir termos recorrentes por equivalentes conceituais, como "projeto", "proposta" e "iniciativa".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2310b947405944c4a82e7fbaa75ef045.png" id="222" name="Google Shape;22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Elipse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Omitir intencionalmente uma palavra já evidente no contexto para tornar o texto mais leve e enxuto.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sequencial e conectivos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411480" y="1062990"/>
            <a:ext cx="397764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Oposição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Contudo, porém, no entanto, todavia.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Marcam quebra de expectativa ou contraste ponderado.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4754880" y="1062990"/>
            <a:ext cx="397764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Portanto, logo, desse modo, assim.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Fecham deduções lógicas e encaminhamentos.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411480" y="3086100"/>
            <a:ext cx="397764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Causa / Efeito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Visto que, já que, em razão de, por isso.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Explicam motivos e fatores determinantes de um evento.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4754880" y="3086100"/>
            <a:ext cx="397764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Adição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Além disso, ademais, bem como.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Agregam argumentos sem repetir a conjunção "e".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Coerência: o sentido global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74320" y="925830"/>
            <a:ext cx="450342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Lógica além da gramática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texto pode estar gramaticalmente correto e ainda assim ser incoerente. A coerência reside na não contradição, na verossimilhança e na progressão temática sólida.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74320" y="3028950"/>
            <a:ext cx="4503420" cy="1577340"/>
          </a:xfrm>
          <a:prstGeom prst="roundRect">
            <a:avLst>
              <a:gd fmla="val 5797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00050" y="315468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65810" y="3154680"/>
            <a:ext cx="3886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Cuidado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Afirmar que o orçamento é escasso no primeiro parágrafo e sugerir compras de luxo no terceiro quebra a coerência.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9ab4041a1e19823142c1a9d73b06745d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Conectivos e Relações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Além disso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razão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entanto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829050" y="13144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Adiciona uma nova informação ou argumento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 conclusão e fechamento de raciocínio lógico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Estabelece oposição ou ressalva ao que foi dito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829050" y="40576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a causa ou justificativa de um fato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Conectivos e Relações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Além disso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Portanto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razão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entanto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829050" y="13144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Adiciona uma nova informação ou argumento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 conclusão e fechamento de raciocínio lógico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Estabelece oposição ou ressalva ao que foi dito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829050" y="40576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a causa ou justificativa de um fato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4"/>
          <p:cNvCxnSpPr/>
          <p:nvPr/>
        </p:nvCxnSpPr>
        <p:spPr>
          <a:xfrm flipH="1" rot="10800000">
            <a:off x="2571750" y="1529334"/>
            <a:ext cx="994410" cy="93726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4"/>
          <p:cNvCxnSpPr/>
          <p:nvPr/>
        </p:nvCxnSpPr>
        <p:spPr>
          <a:xfrm>
            <a:off x="2571750" y="25374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24"/>
          <p:cNvCxnSpPr/>
          <p:nvPr/>
        </p:nvCxnSpPr>
        <p:spPr>
          <a:xfrm>
            <a:off x="2571750" y="3451860"/>
            <a:ext cx="994410" cy="820674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24"/>
          <p:cNvCxnSpPr/>
          <p:nvPr/>
        </p:nvCxnSpPr>
        <p:spPr>
          <a:xfrm flipH="1" rot="10800000">
            <a:off x="2571750" y="3358134"/>
            <a:ext cx="994410" cy="1008126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24"/>
          <p:cNvSpPr/>
          <p:nvPr/>
        </p:nvSpPr>
        <p:spPr>
          <a:xfrm>
            <a:off x="3394710" y="13578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3394710" y="41010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3394710" y="31866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17ac7909-79ac-4acf-ad56-4e6fe8b591e4/img_3c1f7cf1818815d37efb8ca72d7eb540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/>
          <p:nvPr/>
        </p:nvSpPr>
        <p:spPr>
          <a:xfrm>
            <a:off x="274320" y="240030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objetividade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274320" y="31889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profissional,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significa ser compreendido na primeira leitura;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transmitir o máximo de informação útil com o mínimo de palavras necessárias, sem rodeios ou excessos vazios.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Eliminando vícios e prolixidade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274320" y="1017270"/>
            <a:ext cx="4206240" cy="2628900"/>
          </a:xfrm>
          <a:prstGeom prst="roundRect">
            <a:avLst>
              <a:gd fmla="val 5217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Redação prolixa (Evite)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"Venho por meio deste humilde comunicado expressar aos nobres colegas o fato de que realizaremos um encontro amanhã."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19 palavras com rodeios desnecessários e formalismo arcaico.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4663440" y="1017270"/>
            <a:ext cx="4206240" cy="2354580"/>
          </a:xfrm>
          <a:prstGeom prst="roundRect">
            <a:avLst>
              <a:gd fmla="val 5825" name="adj"/>
            </a:avLst>
          </a:prstGeom>
          <a:solidFill>
            <a:srgbClr val="FFFFFF">
              <a:alpha val="40000"/>
            </a:srgbClr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05725" lIns="205725" spcFirstLastPara="1" rIns="205725" wrap="square" tIns="20572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objetiva (Prefira)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"Convidamos a equipe para a reunião de alinhamento amanhã, às 14h, na sala B."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13 palavras diretas, precisas e com instruções imediatas.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perigo das ambiguidades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Quando uma frase gera dupla interpretação indesejada.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e38b609351f7c46f6ba0a87dccf6ccd2.png" id="311" name="Google Shape;3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/>
          <p:nvPr/>
        </p:nvSpPr>
        <p:spPr>
          <a:xfrm>
            <a:off x="3291840" y="18288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ambiguidade ocorre quando a pontuação incorreta ou o mau posicionamento dos pronomes deixa o sentido incerto.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3291840" y="1371600"/>
            <a:ext cx="45720" cy="134874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3520440" y="1371600"/>
            <a:ext cx="534924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 gerente conversou com o cliente sobre sua proposta."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De quem era a proposta? Do gerente ou do cliente? Use: "a proposta deste" ou "sua própria proposta".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perigo dos períodos labirínticos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274320" y="925830"/>
            <a:ext cx="450342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Frases longas sufocam o leitor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Construir períodos de seis ou sete linhas sem ponto final obriga o leitor a reler o trecho várias vezes para reencontrar o sujeito da ação.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274320" y="2754630"/>
            <a:ext cx="4503420" cy="1851660"/>
          </a:xfrm>
          <a:prstGeom prst="roundRect">
            <a:avLst>
              <a:gd fmla="val 4938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400050" y="288036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765810" y="288036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Prefira frases com 15 a 25 palavras. Ao terminar uma ideia completa, utilize ponto final em vez de encadear vírgulas infinitas.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7a8317481771364fbba48c4e9fea9f4e.png" id="325" name="Google Shape;3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a Ambiguidade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reescrita elimina a ambiguidade de: 'A diretora pediu ao assistente que enviasse seu relatório'?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assistente enviou seu próprio relatório sem a diretora saber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e o assistente enviaram o seu relatório conjunto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pediu que o assistente enviasse o relatório elaborado por ela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pediu seu relatório ao assistente de forma rápida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a Ambiguidade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reescrita elimina a ambiguidade de: 'A diretora pediu ao assistente que enviasse seu relatório'?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assistente enviou seu próprio relatório sem a diretora saber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e o assistente enviaram o seu relatório conjunto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pediu que o assistente enviasse o relatório elaborado por ela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diretora pediu seu relatório ao assistente de forma rápida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Planejamento prévio: o esquema de ideias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10f94d587ab00cc064434309c69a6474.png" id="364" name="Google Shape;36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65" name="Google Shape;365;p31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Objetivo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 em uma frase o que o leitor deve saber ou fazer após ler o texto.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c24ef2ad87be89c9f15e10adadd2d8f5.png" id="367" name="Google Shape;36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68" name="Google Shape;368;p31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246888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Público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 o tom formal de acordo com o cargo e necessidade do destinatário.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25a563a3712ec7779be00cdf985c7296.png" id="370" name="Google Shape;37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71" name="Google Shape;371;p31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1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Roteiro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Liste em tópicos os pontos-chave antes de escrever as frases completas.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1e2a9e5961aab6f2a2385be975822eca.png" id="373" name="Google Shape;37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74" name="Google Shape;374;p31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685800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Revisão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Corte palavras desnecessárias, valide conectivos e confira a ortografia.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evolução histórica dos suportes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2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Século XIX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Cartas manuscritas e ofícios formais selados.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5717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Década de 1970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Memorandos físicos datilografados e circulares.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46291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Anos 2000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Consolidação do e-mail corporativo global.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66865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Atualidade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Plataformas integradas e documentos em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caso: texto mal estruturado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274320" y="1017270"/>
            <a:ext cx="68580" cy="2743200"/>
          </a:xfrm>
          <a:prstGeom prst="rect">
            <a:avLst/>
          </a:prstGeom>
          <a:solidFill>
            <a:srgbClr val="B9BC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342900" y="1017270"/>
            <a:ext cx="8526780" cy="2743200"/>
          </a:xfrm>
          <a:prstGeom prst="roundRect">
            <a:avLst>
              <a:gd fmla="val 3333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Caso real: O comunicado ineficaz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"Oi pessoal, então, o cliente ligou achando ruim o prazo mas nós já tínhamos falado com ele sobre os atrasos da transportadora que não entregou as caixas e também tem o feriado chegando semana que vem então vamos ter que correr para terminar tudo até sexta feira sem falta ok?"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8333"/>
              </a:lnSpc>
              <a:spcBef>
                <a:spcPts val="585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Char char="•"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Ausência de pontuação adequada e período sufocante de 55 palavras.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8333"/>
              </a:lnSpc>
              <a:spcBef>
                <a:spcPts val="45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Char char="•"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Mistura queixa do cliente, problema logístico e ordem de trabalho no mesmo fôlego.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caso: versão reestruturada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274320" y="1017270"/>
            <a:ext cx="68580" cy="360045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342900" y="1017270"/>
            <a:ext cx="8526780" cy="3600450"/>
          </a:xfrm>
          <a:prstGeom prst="roundRect">
            <a:avLst>
              <a:gd fmla="val 2540" name="adj"/>
            </a:avLst>
          </a:prstGeom>
          <a:solidFill>
            <a:srgbClr val="F0F1F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Caso real: O comunicado reestruturado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Prezada equipe,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razão de atrasos na transportadora e da proximidade do feriado, nosso cronograma de entrega sofreu ajustes operacionais.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Solicito que todos priorizem a finalização dos pedidos pendentes até sexta-feira, às 17h, garantindo o padrão combinado com o cliente. 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8333"/>
              </a:lnSpc>
              <a:spcBef>
                <a:spcPts val="585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Char char="•"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Tópico frasal contextualiza o motivo imediatamente com conectivo causal.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8333"/>
              </a:lnSpc>
              <a:spcBef>
                <a:spcPts val="45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Char char="•"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Segundo parágrafo define claramente a ação esperada, o prazo e o padrão.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Ordenando o Parágrafo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períodos abaixo para formar um parágrafo profissional e coeso: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mitigar os riscos, a equipe financeira realizou a retificação manual das notas.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auditoria interna identificou inconformidades nos registros fiscais deste mês.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Esse problema decorreu da migração recente de nosso sistema de gestão contábil.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Dessa forma, todos os relatórios foram plenamente regularizados dentro do prazo legal.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Ordenando o Parágrafo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períodos abaixo para formar um parágrafo profissional e coeso: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mitigar os riscos, a equipe financeira realizou a retificação manual das notas.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auditoria interna identificou inconformidades nos registros fiscais deste mês.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Esse problema decorreu da migração recente de nosso sistema de gestão contábil.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Dessa forma, todos os relatórios foram plenamente regularizados dentro do prazo legal.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Boas práticas na comunicação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c342b595988d76c8bd0d71f9b567b1d4.png" id="441" name="Google Shape;44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/>
          <p:nvPr/>
        </p:nvSpPr>
        <p:spPr>
          <a:xfrm>
            <a:off x="10058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 informativo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Escreva assuntos precisos em e-mails: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"Relatório Financeiro - Março 2026"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vez de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"Urgente"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14b97e355d260ff69860cbb490034b16.png" id="444" name="Google Shape;44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7"/>
          <p:cNvSpPr/>
          <p:nvPr/>
        </p:nvSpPr>
        <p:spPr>
          <a:xfrm>
            <a:off x="5349240" y="106299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tópicos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listar mais de dois itens ou solicitações, use listas para facilitar a leitura rápida em telas.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50ab0b13225b0201df846c1d97866c93.png" id="447" name="Google Shape;44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7"/>
          <p:cNvSpPr/>
          <p:nvPr/>
        </p:nvSpPr>
        <p:spPr>
          <a:xfrm>
            <a:off x="10058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Saudação e fecho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Inicie com cumprimentos adequados e encerre com fórmulas sóbrias, como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"Atenciosamente"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8214720/backend/storage/app/render-specs/17ac7909-79ac-4acf-ad56-4e6fe8b591e4/img_fb26fbdbfc840cc68dc9d4d6291de8ac.png" id="450" name="Google Shape;45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7"/>
          <p:cNvSpPr/>
          <p:nvPr/>
        </p:nvSpPr>
        <p:spPr>
          <a:xfrm>
            <a:off x="5349240" y="30861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Releitura em voz alta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Ler o texto para si mesmo revela imediatamente quebras de ritmo, pontuação falha e ambiguidades.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do texto profissional nota 10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274320" y="925830"/>
            <a:ext cx="8595360" cy="937260"/>
          </a:xfrm>
          <a:prstGeom prst="roundRect">
            <a:avLst>
              <a:gd fmla="val 14634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/>
          <p:nvPr/>
        </p:nvSpPr>
        <p:spPr>
          <a:xfrm>
            <a:off x="457200" y="11658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1005840" y="10287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 evidente: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leitor identifica o propósito central já nas primeiras duas linhas.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274320" y="1954530"/>
            <a:ext cx="8595360" cy="937260"/>
          </a:xfrm>
          <a:prstGeom prst="roundRect">
            <a:avLst>
              <a:gd fmla="val 14634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457200" y="21945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1005840" y="20574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Parágrafos delimitados: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Cada bloco desenvolve uma única ideia com tópico frasal claro.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274320" y="2983230"/>
            <a:ext cx="8595360" cy="937260"/>
          </a:xfrm>
          <a:prstGeom prst="roundRect">
            <a:avLst>
              <a:gd fmla="val 14634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8"/>
          <p:cNvSpPr/>
          <p:nvPr/>
        </p:nvSpPr>
        <p:spPr>
          <a:xfrm>
            <a:off x="457200" y="32232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8"/>
          <p:cNvSpPr/>
          <p:nvPr/>
        </p:nvSpPr>
        <p:spPr>
          <a:xfrm>
            <a:off x="1005840" y="30861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lógica: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Conectivos expressam com exatidão causa, oposição, conclusão ou acréscimo.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274320" y="4011930"/>
            <a:ext cx="8595360" cy="937260"/>
          </a:xfrm>
          <a:prstGeom prst="roundRect">
            <a:avLst>
              <a:gd fmla="val 14634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8"/>
          <p:cNvSpPr/>
          <p:nvPr/>
        </p:nvSpPr>
        <p:spPr>
          <a:xfrm>
            <a:off x="457200" y="42519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8"/>
          <p:cNvSpPr/>
          <p:nvPr/>
        </p:nvSpPr>
        <p:spPr>
          <a:xfrm>
            <a:off x="1005840" y="41148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 e polidez: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Sem termos vazios, gírias inadequadas ou frases labirínticas.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9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de reescrita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274320" y="180594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Transformando rascunhos informais em mensagens corporativas profissionais.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2/releases/78214720/backend/storage/app/render-specs/17ac7909-79ac-4acf-ad56-4e6fe8b591e4/img_3ceccf24ea6529425c9b8096f7fdfd6a.png" id="477" name="Google Shape;47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83464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9"/>
          <p:cNvSpPr/>
          <p:nvPr/>
        </p:nvSpPr>
        <p:spPr>
          <a:xfrm>
            <a:off x="3291840" y="182880"/>
            <a:ext cx="557784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Chegou a hora de aplicar tudo o que vimos. Observe a mensagem confusa abaixo e veja como a técnica de estruturação de parágrafos restaura o profissionalismo da comunicação.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3291840" y="1657350"/>
            <a:ext cx="5577840" cy="811530"/>
          </a:xfrm>
          <a:prstGeom prst="roundRect">
            <a:avLst>
              <a:gd fmla="val 11268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 sistema caiu de manhã e ninguém consegue emitir nota e o chefe quer saber o que fazer agora mesmo."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17ac7909-79ac-4acf-ad56-4e6fe8b591e4/img_b8e2e30cbb6ba10a8acb00af0ff4be05.png" id="485" name="Google Shape;48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 de Reescrita Corporativa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0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Reescreva a mensagem informal apresentada no slide anterior em um parágrafo profissional estruturado contendo: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Tópico frasal com o diagnóstico do problema;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Conectivo causal ou explicativo no desenvolvimento;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proposta de encaminhamento prático ou prazo para solução.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17ac7909-79ac-4acf-ad56-4e6fe8b591e4/img_74db676abbf9321227487417a15623c8.png" id="493" name="Google Shape;49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Final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do tópico frasal em um parágrafo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diferença entre coesão e coerência textual?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se deve evitar períodos excessivamente longos na escrita corporativa?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Final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em uma frase direta a ideia central que será desenvolvida no parágrafo.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é a amarração gramatical explícita por conectivos; coerência é a harmonia lógica global de sentido sem contradições.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períodos longos cansam o leitor, geram ambiguidades e dificultam a identificação imediata das informações essenciais.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8214720/backend/storage/app/render-specs/17ac7909-79ac-4acf-ad56-4e6fe8b591e4/img_dcef0a1a02790e654c2bf2600c6bd38b.png" id="513" name="Google Shape;51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3"/>
          <p:cNvSpPr/>
          <p:nvPr/>
        </p:nvSpPr>
        <p:spPr>
          <a:xfrm>
            <a:off x="274320" y="240030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escrita como passaporte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274320" y="31889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capacidade de redigir textos claros, objetivos e coesos é uma das competências mais valorizadas em qualquer carreira. Na próxima aula (Aula 12), exploraremos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Correção Gramatical e Normas Padrão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documentos corporativos!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