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5143500" cy="9144000"/>
  <p:embeddedFontLst>
    <p:embeddedFont>
      <p:font typeface="Lexen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bold.fntdata"/><Relationship Id="rId23" Type="http://schemas.openxmlformats.org/officeDocument/2006/relationships/slide" Target="slides/slide19.xml"/><Relationship Id="rId45" Type="http://schemas.openxmlformats.org/officeDocument/2006/relationships/font" Target="fonts/Lexen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Relationship Id="rId7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27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0.png"/><Relationship Id="rId7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49.png"/><Relationship Id="rId7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5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54.png"/><Relationship Id="rId5" Type="http://schemas.openxmlformats.org/officeDocument/2006/relationships/image" Target="../media/image67.png"/><Relationship Id="rId6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52.png"/><Relationship Id="rId5" Type="http://schemas.openxmlformats.org/officeDocument/2006/relationships/image" Target="../media/image5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8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7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7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73.png"/><Relationship Id="rId5" Type="http://schemas.openxmlformats.org/officeDocument/2006/relationships/image" Target="../media/image61.png"/><Relationship Id="rId6" Type="http://schemas.openxmlformats.org/officeDocument/2006/relationships/image" Target="../media/image65.png"/><Relationship Id="rId7" Type="http://schemas.openxmlformats.org/officeDocument/2006/relationships/image" Target="../media/image6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Relationship Id="rId4" Type="http://schemas.openxmlformats.org/officeDocument/2006/relationships/image" Target="../media/image7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7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7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Relationship Id="rId4" Type="http://schemas.openxmlformats.org/officeDocument/2006/relationships/image" Target="../media/image83.png"/><Relationship Id="rId5" Type="http://schemas.openxmlformats.org/officeDocument/2006/relationships/image" Target="../media/image85.png"/><Relationship Id="rId6" Type="http://schemas.openxmlformats.org/officeDocument/2006/relationships/image" Target="../media/image7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Relationship Id="rId4" Type="http://schemas.openxmlformats.org/officeDocument/2006/relationships/image" Target="../media/image9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Relationship Id="rId4" Type="http://schemas.openxmlformats.org/officeDocument/2006/relationships/image" Target="../media/image9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Relationship Id="rId4" Type="http://schemas.openxmlformats.org/officeDocument/2006/relationships/image" Target="../media/image9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9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1588770"/>
            <a:ext cx="402336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Avaliação Final e Encerramento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74320" y="2788920"/>
            <a:ext cx="4023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Conclusão do curso de Comunicação Oral e Escrita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7ba6adcf9f3929a95efddfa04bf585c9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2089e769-af79-40bf-a5f3-8a32c506feae/img_bcb2170bb61b56bd3ff665280fb8c6b5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262890" y="2434590"/>
            <a:ext cx="86182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mudou na sua voz?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62890" y="3177540"/>
            <a:ext cx="8618220" cy="1680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Lembre-se do primeiro dia de aula: o nervosismo diante de uma pergunta, a dúvida ao estruturar um e-mail formal ou a insegurança ao falar em público. Hoje, encerramos 33 horas de prática contínua.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já parou para perceber como sua forma de organizar ideias, defender argumentos e escutar os colegas se transformou ao longo deste percurso?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da Nossa Aula Final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74320" y="1737360"/>
            <a:ext cx="8595360" cy="685800"/>
          </a:xfrm>
          <a:prstGeom prst="roundRect">
            <a:avLst>
              <a:gd fmla="val 20000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468630" y="185166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108710" y="1840230"/>
            <a:ext cx="75666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 projeto capstone aplicando técnicas orais e não-verbais.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274320" y="2606040"/>
            <a:ext cx="8595360" cy="685800"/>
          </a:xfrm>
          <a:prstGeom prst="roundRect">
            <a:avLst>
              <a:gd fmla="val 20000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108710" y="2708910"/>
            <a:ext cx="75666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Avaliar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 desempenho próprio e dos colegas com critérios objetivos.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274320" y="3474720"/>
            <a:ext cx="8595360" cy="685800"/>
          </a:xfrm>
          <a:prstGeom prst="roundRect">
            <a:avLst>
              <a:gd fmla="val 20000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68630" y="358902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108710" y="3577590"/>
            <a:ext cx="75666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Consolidar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evolução pessoal em comunicação e traçar metas futuras.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 do Encerramento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bc209a56f42e7e92af8517bfdde8132c.png" id="48" name="Google Shape;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9" name="Google Shape;49;p6"/>
          <p:cNvSpPr/>
          <p:nvPr/>
        </p:nvSpPr>
        <p:spPr>
          <a:xfrm>
            <a:off x="27432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Avaliação: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Medição sistemática de conhecimentos e habilidades com critérios claros.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5febdd377cabfd9b6a39de7d766ccece.png" id="50" name="Google Shape;5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1" name="Google Shape;51;p6"/>
          <p:cNvSpPr/>
          <p:nvPr/>
        </p:nvSpPr>
        <p:spPr>
          <a:xfrm>
            <a:off x="2468880" y="304038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Apresentação: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Ato de expor ideias a um público com clareza, técnica e empatia.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0d56ae3b1e881b494ac5a38b77d1d779.png" id="52" name="Google Shape;5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>
            <a:off x="466344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Desempenho: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Demonstração prática e observável das competências exigidas.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a1b642b9bfa3942966b6b90c8cff8203.png" id="54" name="Google Shape;5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6858000" y="304038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Evolução: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Progresso contínuo verificado entre o ponto de partida e o atual.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Jornada Pelos 6 Módulos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457200" y="292608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112014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276606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44119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605790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770382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480060" y="3177540"/>
            <a:ext cx="16002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Mód. 1 e 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Bases e oratória em público.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2125980" y="1314450"/>
            <a:ext cx="16002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Módulo 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Escrita e e-mails formais.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3771900" y="3177540"/>
            <a:ext cx="16002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Módulo 4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Relatórios e normas técnicas.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5417820" y="1314450"/>
            <a:ext cx="16002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Módulo 5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Netiqueta e segurança digital.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7063740" y="3177540"/>
            <a:ext cx="16002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Módulo 6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corporal e voz.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274320" y="182880"/>
            <a:ext cx="154305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FUNDAMENTOS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274320" y="582930"/>
            <a:ext cx="4503420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Ciclo Completo da Mensagem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início, descobrimos que falar ou escrever não basta: comunicar exige que a mensagem chegue intacta ao destinatário e produza compreensão mútua.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Emissor e Receptor: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sintonia de canal e código.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Ruídos: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barreiras que distorcem o sentido pretendido.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confirmação explícita de eficácia comunicativa.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0c0c2ca735f1dda5179c2aca509a7960.png" id="80" name="Google Shape;8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Dimensões da Comunicação Aplicada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27432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2089e769-af79-40bf-a5f3-8a32c506feae/img_3fd9b97b44adc6de301a5170767b8c39.png" id="88" name="Google Shape;8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9"/>
          <p:cNvSpPr/>
          <p:nvPr/>
        </p:nvSpPr>
        <p:spPr>
          <a:xfrm>
            <a:off x="106299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Expressão Oral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Modulação vocal, pausas planejadas e controle emocional sob pressão.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466344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2089e769-af79-40bf-a5f3-8a32c506feae/img_151a6fb02339fbddfb76b679134568a3.png" id="91" name="Google Shape;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/>
          <p:nvPr/>
        </p:nvSpPr>
        <p:spPr>
          <a:xfrm>
            <a:off x="545211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Escrita Profissional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Coesão sintática, precisão gramatical e formatação adequada ao leitor.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27432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2089e769-af79-40bf-a5f3-8a32c506feae/img_39d1f65b8614e96bf34b13d1231de774.png" id="94" name="Google Shape;9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/>
          <p:nvPr/>
        </p:nvSpPr>
        <p:spPr>
          <a:xfrm>
            <a:off x="106299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Canais Digitais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em redes corporativas, netiqueta e segurança de dados.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466344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2089e769-af79-40bf-a5f3-8a32c506feae/img_ae9952432f92f8a7a2387def052dd5c7.png" id="97" name="Google Shape;9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/>
          <p:nvPr/>
        </p:nvSpPr>
        <p:spPr>
          <a:xfrm>
            <a:off x="545211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Não-Verbal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Contato visual firme, gesticulação aberta e coerência com a fala.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Aquecimento: Feedback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elemento caracteriza um ciclo de feedback verdadeiramente eficaz em apresentações profissionais?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Apontar apenas erros gramaticais desconsiderando a mensagem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Focar apenas em elogios vagos para não desmotivar o apresentador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Ser específico, construtivo e orientado ao aprimoramento prático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Acontecer semanas após o evento sem detalhamento das ações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Aquecimento: Feedback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elemento caracteriza um ciclo de feedback verdadeiramente eficaz em apresentações profissionais?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Apontar apenas erros gramaticais desconsiderando a mensagem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Focar apenas em elogios vagos para não desmotivar o apresentador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Ser específico, construtivo e orientado ao aprimoramento prático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Acontecer semanas após o evento sem detalhamento das ações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Pilares dos Textos Técnicos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380d233d8a1df3aa0859a24f51024282.png" id="137" name="Google Shape;1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38" name="Google Shape;138;p12"/>
          <p:cNvSpPr/>
          <p:nvPr/>
        </p:nvSpPr>
        <p:spPr>
          <a:xfrm>
            <a:off x="274320" y="3040380"/>
            <a:ext cx="28117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Relatório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Registra fatos com imparcialidade, evidências sólidas e recomendações práticas.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62e03a43fa49223385bbb89afb76e000.png" id="139" name="Google Shape;13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40" name="Google Shape;140;p12"/>
          <p:cNvSpPr/>
          <p:nvPr/>
        </p:nvSpPr>
        <p:spPr>
          <a:xfrm>
            <a:off x="3166110" y="3040380"/>
            <a:ext cx="28117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Memorando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interna direta, focada em deliberações e orientações objetivas.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15fefbc94b1eca55bd0e82f17acd1b9c.png" id="141" name="Google Shape;14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42" name="Google Shape;142;p12"/>
          <p:cNvSpPr/>
          <p:nvPr/>
        </p:nvSpPr>
        <p:spPr>
          <a:xfrm>
            <a:off x="6069330" y="3040380"/>
            <a:ext cx="28117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Procedimento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Sequência imperativa de ações que garante padronização e segurança operacional.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Desafio do Projeto Capstone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274320" y="925830"/>
            <a:ext cx="4709160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cada grupo recebeu a missão de planejar uma campanha de comunicação integrada, unindo documento técnico formal, e-mail institucional e apresentação oral.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Capstone não avalia apenas o conteúdo falado, mas o alinhamento da equipe, a postura no palco e o domínio dos suportes visuais.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274320" y="3154680"/>
            <a:ext cx="4709160" cy="1234440"/>
          </a:xfrm>
          <a:prstGeom prst="roundRect">
            <a:avLst>
              <a:gd fmla="val 7407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388620" y="326898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754380" y="326898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Regra de Ouro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Todos os membros do grupo devem atuar ativamente na fala e no suporte técnico.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b15f3d6b5f87ae4a9be91244de9cf905.png" id="153" name="Google Shape;15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92583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das Apresentações Finais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8d0d75ed2f98afbbff8350852eb06c71.png" id="160" name="Google Shape;1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601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161" name="Google Shape;161;p14"/>
          <p:cNvSpPr/>
          <p:nvPr/>
        </p:nvSpPr>
        <p:spPr>
          <a:xfrm>
            <a:off x="182880" y="313182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274320" y="365760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Equipe 1: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Campanha de Conscientização Digital e Netiqueta.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a67e6b3e30848e9c7d6ddd1bdad3e7a9.png" id="163" name="Google Shape;16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601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164" name="Google Shape;164;p14"/>
          <p:cNvSpPr/>
          <p:nvPr/>
        </p:nvSpPr>
        <p:spPr>
          <a:xfrm>
            <a:off x="2377440" y="313182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"/>
          <p:cNvSpPr/>
          <p:nvPr/>
        </p:nvSpPr>
        <p:spPr>
          <a:xfrm>
            <a:off x="2468880" y="3657600"/>
            <a:ext cx="201168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Equipe 2: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Manual de Procedimento para Reuniões Escolares.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008a7aa4bce32f61c4380289457a5096.png" id="166" name="Google Shape;16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601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167" name="Google Shape;167;p14"/>
          <p:cNvSpPr/>
          <p:nvPr/>
        </p:nvSpPr>
        <p:spPr>
          <a:xfrm>
            <a:off x="4572000" y="313182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"/>
          <p:cNvSpPr/>
          <p:nvPr/>
        </p:nvSpPr>
        <p:spPr>
          <a:xfrm>
            <a:off x="4663440" y="365760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Equipe 3: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Atendimento Eficaz e Escuta Ativa na Escola.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2a562aba9d4f156a207947631f8d9247.png" id="169" name="Google Shape;16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601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170" name="Google Shape;170;p14"/>
          <p:cNvSpPr/>
          <p:nvPr/>
        </p:nvSpPr>
        <p:spPr>
          <a:xfrm>
            <a:off x="6766560" y="313182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"/>
          <p:cNvSpPr/>
          <p:nvPr/>
        </p:nvSpPr>
        <p:spPr>
          <a:xfrm>
            <a:off x="6858000" y="365760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Equipe 4: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Relatório de Diagnóstico de Comunicação Interna.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Critérios da Rubrica de Avaliação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27432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2089e769-af79-40bf-a5f3-8a32c506feae/img_7481d16de5fc9e80047f29cf5c453c1d.png" id="179" name="Google Shape;1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5"/>
          <p:cNvSpPr/>
          <p:nvPr/>
        </p:nvSpPr>
        <p:spPr>
          <a:xfrm>
            <a:off x="106299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Clareza (0-3 pts)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preciso, ideias compreensíveis e ausência de jargão desnecessário.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466344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2089e769-af79-40bf-a5f3-8a32c506feae/img_c2740f507bdb79a2297b0cccfa4f0417.png" id="182" name="Google Shape;18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/>
          <p:nvPr/>
        </p:nvSpPr>
        <p:spPr>
          <a:xfrm>
            <a:off x="545211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Coesão (0-3 pts)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Transições fluídas entre introdução, argumentos centrais e conclusão.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27432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2089e769-af79-40bf-a5f3-8a32c506feae/img_65bc0bc603b5cff11f3ebcc80152baa6.png" id="185" name="Google Shape;18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5"/>
          <p:cNvSpPr/>
          <p:nvPr/>
        </p:nvSpPr>
        <p:spPr>
          <a:xfrm>
            <a:off x="106299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Postura (0-2 pts)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Contato visual distribuído, linguagem corporal aberta e firmeza presencial.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466344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2089e769-af79-40bf-a5f3-8a32c506feae/img_0be4f07dadc052e2b864df04d4deedd1.png" id="188" name="Google Shape;18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5"/>
          <p:cNvSpPr/>
          <p:nvPr/>
        </p:nvSpPr>
        <p:spPr>
          <a:xfrm>
            <a:off x="545211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Técnica (0-2 pts)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Gestão do tempo, projeção de voz sem gritos e uso eficaz dos slides.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/>
          <p:nvPr/>
        </p:nvSpPr>
        <p:spPr>
          <a:xfrm>
            <a:off x="274320" y="1085850"/>
            <a:ext cx="49377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Palco Aberto às Equipes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274320" y="1920240"/>
            <a:ext cx="493776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Chegou a hora da prática. Cada equipe terá exatamente 4 minutos para defender seu projeto capstone diante da turma.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Mantenham a respiração controlada, dividam o tempo igualmente e confiem nas técnicas treinadas.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95b64de90f95db35610a94e1f057ba39.png" id="197" name="Google Shape;19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/>
          <p:nvPr/>
        </p:nvSpPr>
        <p:spPr>
          <a:xfrm>
            <a:off x="274320" y="182880"/>
            <a:ext cx="152019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PRÁTICA ORAL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274320" y="582930"/>
            <a:ext cx="411480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Apresentações 1 e 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Equipe 1 aborda os perigos da desinformação e normas de convivência online. Em seguida, a Equipe 2 demonstra como pautas organizadas tornam reuniões produtivas.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Observação atenta: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plateia anota pontos fortes e ajustes.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de slides: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suporte visual sem leitura mecânica de textos.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9f8b46dea88297da9603b59acc582b7c.png" id="205" name="Google Shape;20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Apresentações 3 e 4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274320" y="1360170"/>
            <a:ext cx="2743200" cy="422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Conclusão dos grupos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63d7ca62e2e97acd86aa06025ae204d7.png" id="213" name="Google Shape;21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7452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/>
          <p:nvPr/>
        </p:nvSpPr>
        <p:spPr>
          <a:xfrm>
            <a:off x="3291840" y="1245870"/>
            <a:ext cx="557784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Atendimento e Diagnóstico Interno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Equipe 3 realiza uma breve simulação de atendimento cordial demonstrando escuta ativa resolutiva.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Equipe 4 encerra expondo os resultados de um relatório técnico com dados analíticos sobre comunicação escolar.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Arte do Feedback Imediato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dcae7cb73bb0104c2bb6d0d6245cd03a.png" id="221" name="Google Shape;22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8595360" cy="3086100"/>
          </a:xfrm>
          <a:prstGeom prst="roundRect">
            <a:avLst>
              <a:gd fmla="val 44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Estrutura do Feedback Construtivo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e23370dbf37560b0167c2f0178dce99f.png" id="228" name="Google Shape;2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515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29" name="Google Shape;229;p20"/>
          <p:cNvSpPr/>
          <p:nvPr/>
        </p:nvSpPr>
        <p:spPr>
          <a:xfrm>
            <a:off x="182880" y="322326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274320" y="374904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Reconhecer: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Destaque o ponto forte demonstrado na fala ou nos dados.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7865aa1f8b4ec5197d5db7d3a34b6062.png" id="231" name="Google Shape;23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10515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32" name="Google Shape;232;p20"/>
          <p:cNvSpPr/>
          <p:nvPr/>
        </p:nvSpPr>
        <p:spPr>
          <a:xfrm>
            <a:off x="3108960" y="322326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3200400" y="374904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Ajustar: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Aponte com gentileza o que pode ser aprimorado com clareza.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00aaabf56ee0e29e7aef237ec9be489e.png" id="234" name="Google Shape;23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10515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35" name="Google Shape;235;p20"/>
          <p:cNvSpPr/>
          <p:nvPr/>
        </p:nvSpPr>
        <p:spPr>
          <a:xfrm>
            <a:off x="6035040" y="322326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6126480" y="374904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Aconselhar: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Ofereça um caminho prático para a próxima apresentação.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2089e769-af79-40bf-a5f3-8a32c506feae/img_88f2cf22d50efe57d124336ea25cb3a9.png" id="242" name="Google Shape;24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2089e769-af79-40bf-a5f3-8a32c506feae/img_9d048af2bf938869eec05bbc0f7b0af3.png" id="243" name="Google Shape;24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Sessão de Devolutivas entre Pares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avaliar a apresentação do grupo colega, qual aspecto técnico causou maior impacto positivo na comunicação deles?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2089e769-af79-40bf-a5f3-8a32c506feae/img_88f2cf22d50efe57d124336ea25cb3a9.png" id="251" name="Google Shape;25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Sessão de Devolutivas entre Pares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clareza da linguagem e a divisão equilibrada de falas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uso seguro do contato visual com toda a sala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qualidade dos suportes visuais e ausência de textos longos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resolução prática da situação simulada apresentada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2089e769-af79-40bf-a5f3-8a32c506feae/img_95fef747a44bd425e9f0df0ec4b153f5.png" id="260" name="Google Shape;26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1428750" y="1771650"/>
            <a:ext cx="629793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Avaliação Somativa Individual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274320" y="251460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Agora que finalizamos as apresentações em equipe, cada estudante verificará a consolidação dos conceitos teóricos fundamentais do curso.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/>
          <p:nvPr/>
        </p:nvSpPr>
        <p:spPr>
          <a:xfrm>
            <a:off x="274320" y="182880"/>
            <a:ext cx="154305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FUNDAMENTOS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274320" y="582930"/>
            <a:ext cx="4503420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da Avaliação Escrita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prova somativa individual verifica a retenção duradoura dos padrões de comunicação profissional aprendidos em 6 módulos.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ruído, canal, feedback e netiqueta.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Casos práticos: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identificação de tom em e-mails e memorandos.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Critério de aprovação: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aproveitamento mínimo fixado em 60%.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ef0b0ae6e56cf10caad78c6fbdef8035.png" id="271" name="Google Shape;27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2089e769-af79-40bf-a5f3-8a32c506feae/img_74db676abbf9321227487417a15623c8.png" id="277" name="Google Shape;2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Somativa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função primordial do feedback no ciclo comunicativo?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redação técnica, o que distingue um memorando de um relatório?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o contato visual é indispensável durante uma apresentação oral?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Somativa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Confirmar se a mensagem foi recebida e compreendida corretamente pelo interlocutor.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memorando é comunicação interna ágil; o relatório é uma análise aprofundada com dados e recomendações.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Porque cria conexão empática com a plateia, transmite segurança e auxilia na manutenção da atenção.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/>
          <p:nvPr/>
        </p:nvSpPr>
        <p:spPr>
          <a:xfrm>
            <a:off x="274320" y="72009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Espelho da Própria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274320" y="1988820"/>
            <a:ext cx="4846320" cy="234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bom comunicador não depende apenas da avaliação de terceiros. A capacidade de analisar a própria fala e escrita com rigor e honestidade é o que garante aprendizado contínuo.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autoavaliação permite transformar erros ocasionais em alavancas reais de maturidade.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c64966693698a84ff56ce39e3bef5303.png" id="299" name="Google Shape;29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Dimensões da Autoavaliação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27432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2089e769-af79-40bf-a5f3-8a32c506feae/img_3552b353aed8b8fa1fef33417e10424e.png" id="307" name="Google Shape;30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8"/>
          <p:cNvSpPr/>
          <p:nvPr/>
        </p:nvSpPr>
        <p:spPr>
          <a:xfrm>
            <a:off x="106299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Domínio Emocional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lidei com a ansiedade antes e durante as falas públicas?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466344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2089e769-af79-40bf-a5f3-8a32c506feae/img_c58ac9356a73d3bbf1173e2b9f1e21ae.png" id="310" name="Google Shape;31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8"/>
          <p:cNvSpPr/>
          <p:nvPr/>
        </p:nvSpPr>
        <p:spPr>
          <a:xfrm>
            <a:off x="545211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 Estrutural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Minhas frases foram coesas ou deixei lacunas de sentido para o leitor?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27432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2089e769-af79-40bf-a5f3-8a32c506feae/img_de2f9c1d77dc33457ed3344fd5864602.png" id="313" name="Google Shape;31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8"/>
          <p:cNvSpPr/>
          <p:nvPr/>
        </p:nvSpPr>
        <p:spPr>
          <a:xfrm>
            <a:off x="106299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Espírito de Equipe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Contribuí ativamente na divisão das tarefas e ouvi os colegas com respeito?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466344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2089e769-af79-40bf-a5f3-8a32c506feae/img_a74ed03759834c5fbda1446d5b6fdd37.png" id="316" name="Google Shape;31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8"/>
          <p:cNvSpPr/>
          <p:nvPr/>
        </p:nvSpPr>
        <p:spPr>
          <a:xfrm>
            <a:off x="545211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Progresso Técnico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Apliquei as normas gramaticais e de formatação com autonomia?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/>
          <p:nvPr/>
        </p:nvSpPr>
        <p:spPr>
          <a:xfrm>
            <a:off x="274320" y="182880"/>
            <a:ext cx="152019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PRÁTICA ORAL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274320" y="582930"/>
            <a:ext cx="4114800" cy="4137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Preenchimento da Ficha Individual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Cada estudante preencherá agora sua ficha oficial de autoavaliação, pontuando seu engajamento em quatro critérios essenciais: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Pontualidade e presença: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entrega nos prazos combinados.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Acolhimento ao feedback: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capacidade de ouvir e corrigir.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de ferramentas digitais: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etiqueta e cooperação remota.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662e68d1d77a0bc9fbe8e884d7e9bda6.png" id="325" name="Google Shape;32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de Termos da Avaliação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cênica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0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Netiqueta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0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Autoavaliação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Coesão textual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Articulação lógica e conectiva entre frases e ideias.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crítica das próprias competências e lacunas.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Normas de respeito e civilidade em ambientes digitais.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consciente do corpo, voz e espaço durante a fala.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de Termos da Avaliação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cênica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Netiqueta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Autoavaliação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1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Coesão textual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Articulação lógica e conectiva entre frases e ideias.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1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crítica das próprias competências e lacunas.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1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Normas de respeito e civilidade em ambientes digitais.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1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consciente do corpo, voz e espaço durante a fala.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31"/>
          <p:cNvCxnSpPr/>
          <p:nvPr/>
        </p:nvCxnSpPr>
        <p:spPr>
          <a:xfrm>
            <a:off x="2571750" y="1623060"/>
            <a:ext cx="994410" cy="27729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31"/>
          <p:cNvCxnSpPr/>
          <p:nvPr/>
        </p:nvCxnSpPr>
        <p:spPr>
          <a:xfrm>
            <a:off x="2571750" y="25374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31"/>
          <p:cNvCxnSpPr/>
          <p:nvPr/>
        </p:nvCxnSpPr>
        <p:spPr>
          <a:xfrm flipH="1" rot="10800000">
            <a:off x="2571750" y="25671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31"/>
          <p:cNvCxnSpPr/>
          <p:nvPr/>
        </p:nvCxnSpPr>
        <p:spPr>
          <a:xfrm flipH="1" rot="10800000">
            <a:off x="2571750" y="1652778"/>
            <a:ext cx="994410" cy="27134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31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Aplicações no Ensino Médio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6a2923ef39192624caf6e165bc2703b9.png" id="371" name="Google Shape;37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372" name="Google Shape;372;p32"/>
          <p:cNvSpPr/>
          <p:nvPr/>
        </p:nvSpPr>
        <p:spPr>
          <a:xfrm>
            <a:off x="274320" y="2937510"/>
            <a:ext cx="28117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Redações do ENEM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Técnicas de coesão e proposta de intervenção direta aplicadas ao texto dissertativo.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4e24a77649b785e1b8967b6350fef709.png" id="373" name="Google Shape;37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374" name="Google Shape;374;p32"/>
          <p:cNvSpPr/>
          <p:nvPr/>
        </p:nvSpPr>
        <p:spPr>
          <a:xfrm>
            <a:off x="3166110" y="2937510"/>
            <a:ext cx="28117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Feiras de Ciências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Apresentação oral para avaliadores com clareza conceitual e postura segura.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60ade061abecce51f6bd898425b25455.png" id="375" name="Google Shape;375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376" name="Google Shape;376;p32"/>
          <p:cNvSpPr/>
          <p:nvPr/>
        </p:nvSpPr>
        <p:spPr>
          <a:xfrm>
            <a:off x="6069330" y="2937510"/>
            <a:ext cx="2811780" cy="1748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Debates e Simulações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Articulação de argumentos sólidos sem agressividade ou falhas lógicas.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/>
          <p:nvPr/>
        </p:nvSpPr>
        <p:spPr>
          <a:xfrm>
            <a:off x="274320" y="182880"/>
            <a:ext cx="27432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Impacto no Mundo do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274320" y="1805940"/>
            <a:ext cx="2743200" cy="422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Carreira e cidadania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c93d68ea7bfe43f18f1f02d3509f9952.png" id="384" name="Google Shape;38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32029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3"/>
          <p:cNvSpPr/>
          <p:nvPr/>
        </p:nvSpPr>
        <p:spPr>
          <a:xfrm>
            <a:off x="3291840" y="182880"/>
            <a:ext cx="5577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ambiente profissional, a competência comunicativa é frequentemente apontada como o diferencial mais decisivo entre jovens profissionais.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3291840" y="1417320"/>
            <a:ext cx="45720" cy="108585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3"/>
          <p:cNvSpPr/>
          <p:nvPr/>
        </p:nvSpPr>
        <p:spPr>
          <a:xfrm>
            <a:off x="3566160" y="1417320"/>
            <a:ext cx="53035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“A habilidade de expressar uma ideia com exatidão é tão valiosa quanto ter a própria ideia.”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Princípio Fundamental de Comunicação Organizacional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Destaques e Reconhecimento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ab0f22b2cc1d7d8dce8c0d5a2895cd70.png" id="394" name="Google Shape;39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5316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95" name="Google Shape;395;p34"/>
          <p:cNvSpPr/>
          <p:nvPr/>
        </p:nvSpPr>
        <p:spPr>
          <a:xfrm>
            <a:off x="274320" y="364617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 Exemplar: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Equipes que sintetizaram conceitos complexos em linguagem acessível.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edef6e35444b50ba32c09b2bb84e8d6c.png" id="396" name="Google Shape;39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601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97" name="Google Shape;397;p34"/>
          <p:cNvSpPr/>
          <p:nvPr/>
        </p:nvSpPr>
        <p:spPr>
          <a:xfrm>
            <a:off x="3200400" y="307467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Evolução Notável: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Estudantes que superaram o receio do palco com treino constante.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0401881bf34facf8fb45b4c3e4e88324.png" id="398" name="Google Shape;398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15316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99" name="Google Shape;399;p34"/>
          <p:cNvSpPr/>
          <p:nvPr/>
        </p:nvSpPr>
        <p:spPr>
          <a:xfrm>
            <a:off x="6126480" y="364617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Rigor Técnico: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Produção textual sem falhas de formatação ou de registro formal.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Resultados e Metas Alcançadas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274320" y="1017270"/>
            <a:ext cx="4114800" cy="385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resultados consolidados da turma evidenciam o esforço coletivo ao longo das 25 aulas: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Participação: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Mais de 90% de engajamento ativo nas práticas.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Apresentações: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100% dos grupos concluíram o projeto no prazo.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Retenção: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Domínio sólido das regras formais e digitais.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Cada aluno receberá seu relatório com o parecer detalhado do professor.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7ba1ea0731147deb6d6f63b340bdc02b.png" id="407" name="Google Shape;40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Roteiro para o Treino Diário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6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6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Leia diariamente: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Artigos e livros ampliam o repertório vocabular e a capacidade de argumentar.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6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6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6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Revise antes de enviar: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Releia cada e-mail e mensagem profissional com olhar crítico antes do clique final.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6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Pratique a escuta ativa: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Ouça para compreender o outro, e não apenas para formular sua resposta imediata.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Comunicação é um Hábito Vivo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360dc592537bbfea677e7f93c9b8c1db.png" id="429" name="Google Shape;42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8595360" cy="3086100"/>
          </a:xfrm>
          <a:prstGeom prst="roundRect">
            <a:avLst>
              <a:gd fmla="val 444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8"/>
          <p:cNvSpPr/>
          <p:nvPr/>
        </p:nvSpPr>
        <p:spPr>
          <a:xfrm>
            <a:off x="274320" y="182880"/>
            <a:ext cx="154305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FUNDAMENTOS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8"/>
          <p:cNvSpPr/>
          <p:nvPr/>
        </p:nvSpPr>
        <p:spPr>
          <a:xfrm>
            <a:off x="274320" y="582930"/>
            <a:ext cx="41148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Força da Escuta Ativa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maior comunicador não é aquele que apenas fala alto, mas aquele que compreende o contexto e ajusta sua mensagem com sensibilidade e respeito.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274320" y="2914650"/>
            <a:ext cx="4114800" cy="1337310"/>
          </a:xfrm>
          <a:prstGeom prst="roundRect">
            <a:avLst>
              <a:gd fmla="val 6838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8"/>
          <p:cNvSpPr/>
          <p:nvPr/>
        </p:nvSpPr>
        <p:spPr>
          <a:xfrm>
            <a:off x="400050" y="304038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811530" y="3040380"/>
            <a:ext cx="34518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A escuta atenta resolve conflitos antes mesmo que eles comecem.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103d7f1040eb374bbeb3219de00f0e7a.png" id="440" name="Google Shape;44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Encerramento Oficial e Agradecimentos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9"/>
          <p:cNvSpPr/>
          <p:nvPr/>
        </p:nvSpPr>
        <p:spPr>
          <a:xfrm>
            <a:off x="274320" y="925830"/>
            <a:ext cx="429768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Chegamos ao fim da disciplina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Introdução à Comunicação Oral e Escrita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Parabéns pela dedicação, pela coragem em subir ao palco e pelo respeito com que cada feedback foi compartilhado ao longo das 33 horas de curso.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Sua voz ganhou clareza, seu texto ganhou firmeza e suas ideias agora têm o poder de transformar realidades.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2089e769-af79-40bf-a5f3-8a32c506feae/img_9d12aba3dc6fdb148f5ea489ba588c08.png" id="448" name="Google Shape;44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92583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Final: O Ciclo da Apresentação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0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as quatro etapas essenciais para realizar uma apresentação oral de alto impacto: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0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Ensaiar o tempo, tom vocal e pausas estratégicas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0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Planejar o roteiro e selecionar os dados principais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0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Apresentar com contato visual firme e postura aberta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0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Coletar o feedback dos ouvintes e autoavaliar-se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Final: O Ciclo da Apresentação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1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as quatro etapas essenciais para realizar uma apresentação oral de alto impacto: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1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Ensaiar o tempo, tom vocal e pausas estratégicas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1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Planejar o roteiro e selecionar os dados principais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1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Apresentar com contato visual firme e postura aberta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1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Coletar o feedback dos ouvintes e autoavaliar-se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1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1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1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1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2089e769-af79-40bf-a5f3-8a32c506feae/img_9f2731e12917d357734f6a6aec4918d1.png" id="481" name="Google Shape;48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2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Sua Voz, Seu Futuro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2"/>
          <p:cNvSpPr/>
          <p:nvPr/>
        </p:nvSpPr>
        <p:spPr>
          <a:xfrm>
            <a:off x="274320" y="3280410"/>
            <a:ext cx="8595360" cy="1474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disciplina termina aqui, mas sua expressão continua em cada trabalho acadêmico, entrevista e conversa cidadã.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Comunique-se com verdade, rigor técnico e empatia constante. Muito sucesso na sua caminhada!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