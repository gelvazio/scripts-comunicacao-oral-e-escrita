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5143500" cy="9144000"/>
  <p:embeddedFontLst>
    <p:embeddedFont>
      <p:font typeface="Lexend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schemas.openxmlformats.org/officeDocument/2006/relationships/font" Target="fonts/Lexend-bold.fntdata"/><Relationship Id="rId25" Type="http://schemas.openxmlformats.org/officeDocument/2006/relationships/slide" Target="slides/slide21.xml"/><Relationship Id="rId47" Type="http://schemas.openxmlformats.org/officeDocument/2006/relationships/font" Target="fonts/Lexend-regular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27.png"/><Relationship Id="rId5" Type="http://schemas.openxmlformats.org/officeDocument/2006/relationships/image" Target="../media/image19.png"/><Relationship Id="rId6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37.png"/><Relationship Id="rId5" Type="http://schemas.openxmlformats.org/officeDocument/2006/relationships/image" Target="../media/image34.png"/><Relationship Id="rId6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66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49.png"/><Relationship Id="rId5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Relationship Id="rId4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5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Relationship Id="rId4" Type="http://schemas.openxmlformats.org/officeDocument/2006/relationships/image" Target="../media/image74.png"/><Relationship Id="rId5" Type="http://schemas.openxmlformats.org/officeDocument/2006/relationships/image" Target="../media/image53.png"/><Relationship Id="rId6" Type="http://schemas.openxmlformats.org/officeDocument/2006/relationships/image" Target="../media/image5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Relationship Id="rId4" Type="http://schemas.openxmlformats.org/officeDocument/2006/relationships/image" Target="../media/image6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Relationship Id="rId4" Type="http://schemas.openxmlformats.org/officeDocument/2006/relationships/image" Target="../media/image72.png"/><Relationship Id="rId5" Type="http://schemas.openxmlformats.org/officeDocument/2006/relationships/image" Target="../media/image62.png"/><Relationship Id="rId6" Type="http://schemas.openxmlformats.org/officeDocument/2006/relationships/image" Target="../media/image58.png"/><Relationship Id="rId7" Type="http://schemas.openxmlformats.org/officeDocument/2006/relationships/image" Target="../media/image8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Relationship Id="rId4" Type="http://schemas.openxmlformats.org/officeDocument/2006/relationships/image" Target="../media/image6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Relationship Id="rId4" Type="http://schemas.openxmlformats.org/officeDocument/2006/relationships/image" Target="../media/image71.png"/><Relationship Id="rId5" Type="http://schemas.openxmlformats.org/officeDocument/2006/relationships/image" Target="../media/image6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Relationship Id="rId4" Type="http://schemas.openxmlformats.org/officeDocument/2006/relationships/image" Target="../media/image89.png"/><Relationship Id="rId5" Type="http://schemas.openxmlformats.org/officeDocument/2006/relationships/image" Target="../media/image7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Relationship Id="rId4" Type="http://schemas.openxmlformats.org/officeDocument/2006/relationships/image" Target="../media/image9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jpg"/><Relationship Id="rId4" Type="http://schemas.openxmlformats.org/officeDocument/2006/relationships/image" Target="../media/image7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jpg"/><Relationship Id="rId4" Type="http://schemas.openxmlformats.org/officeDocument/2006/relationships/image" Target="../media/image7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jpg"/><Relationship Id="rId4" Type="http://schemas.openxmlformats.org/officeDocument/2006/relationships/image" Target="../media/image82.png"/><Relationship Id="rId5" Type="http://schemas.openxmlformats.org/officeDocument/2006/relationships/image" Target="../media/image9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jpg"/><Relationship Id="rId4" Type="http://schemas.openxmlformats.org/officeDocument/2006/relationships/image" Target="../media/image8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jpg"/><Relationship Id="rId4" Type="http://schemas.openxmlformats.org/officeDocument/2006/relationships/image" Target="../media/image90.png"/><Relationship Id="rId5" Type="http://schemas.openxmlformats.org/officeDocument/2006/relationships/image" Target="../media/image9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jpg"/><Relationship Id="rId4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Redação de E-mails Corporativos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Comunicação escrita eficaz e profissional no ambiente de trabalho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33c42c4c2937f75323c4ce7d3dd9be58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425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74320" y="742950"/>
            <a:ext cx="49377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abriria esta mensagem?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74320" y="2011680"/>
            <a:ext cx="493776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receber uma mensagem com o assunto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"URGENTE!!!"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um texto em bloco sem parágrafos, sem saudação e repleto de gírias.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ambiente corporativo, a forma como escrevemos constrói nossa credibilidade antes mesmo da primeira conversa presencial.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995fba2ed05c3d70711d0088521e2caa.png"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e-mails profissionais com assunto conciso, vocativo adequado e corpo objetivo.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Distinguir o uso estratégico dos campos de envio Para, CC e CCO com segurança e privacidade.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Revisar e corrigir falhas graves de etiqueta corporativa, anexos e encerramento cortês.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bc66b91a86c1caf1d4d44ffd0d258352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61188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E-mail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 de mensagem eletrônica formal assíncrona.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db5d70933312f878b723c256574328b4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040380"/>
            <a:ext cx="20116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Linha de resumo informativo e objetivo da mensagem.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cc921541486a37c786ee7cbda7623acb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61188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Saudação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Cumprimento inicial que ajusta o tom de formalidade.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8b9ce7fce442205299be77acb09c55cb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04038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Destinatário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Pessoa ou grupo que recebe a comunicação direta.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47290d36-9d83-4e84-bbc0-60a7e8dad826/img_df3695b559c9fc30573c2bed46828154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Recapitulação: Hierarquia Visual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74320" y="3280410"/>
            <a:ext cx="859536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estudamos como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hierarquia visual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orienta os olhos do leitor por títulos, tópicos e espaçamentos equilibrados.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e-mail, essa mesma lógica se aplica: blocos curtos, destaques em negrito comedidos e listas facilitam a leitura rápida em telas.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47290d36-9d83-4e84-bbc0-60a7e8dad826/img_74db676abbf9321227487417a15623c8.png" id="68" name="Google Shape;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Normas de Apresentação Textual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principal função da hierarquia visual em textos corporativos?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devemos evitar parágrafos excessivamente longos em telas?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o negrito deve ser empregado em documentos formais?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Normas de Apresentação Textual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Orientar o olhar do leitor e facilitar a compreensão imediata dos pontos centrais.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tornam a leitura cansativa e aumentam o risco de ignorar informações importantes.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 moderação, apenas em dados-chave, prazos ou termos essenciais.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274320" y="18288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CONCEITO-CHAVE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274320" y="53721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E-mail como Canal Oficial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274320" y="1623060"/>
            <a:ext cx="41148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Diferente de aplicativos de mensagens instantâneas, o e-mail corporativo funciona como um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oficial e documental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 acordos e decisões.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Gera rastreabilidade temporal e comprovação de demandas.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Permite consultas futuras por equipes multidisciplinares.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2d493e86b29ffd06100a9c017a7f89d7.png" id="91" name="Google Shape;9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Enviar um E-mail?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274320" y="101727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47290d36-9d83-4e84-bbc0-60a7e8dad826/img_dcf61f5851c9ec27d8db9b9cd57ecd50.png" id="99" name="Google Shape;9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/>
          <p:nvPr/>
        </p:nvSpPr>
        <p:spPr>
          <a:xfrm>
            <a:off x="1062990" y="1165860"/>
            <a:ext cx="32689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Registros Formais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Formalização de contratos, atas e diretrizes operacionais.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4663440" y="101727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47290d36-9d83-4e84-bbc0-60a7e8dad826/img_6507c0ee71ce0e773d30f979b93e5b89.png" id="102" name="Google Shape;10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/>
          <p:nvPr/>
        </p:nvSpPr>
        <p:spPr>
          <a:xfrm>
            <a:off x="5452110" y="116586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Prazos e Entregas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Envio de relatórios, arquivos pesados e alinhamento de cronogramas.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274320" y="305181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47290d36-9d83-4e84-bbc0-60a7e8dad826/img_8c759172d78f53ec7839af25737d39a1.png" id="105" name="Google Shape;10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200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/>
          <p:nvPr/>
        </p:nvSpPr>
        <p:spPr>
          <a:xfrm>
            <a:off x="1062990" y="320040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Externa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Contato com clientes, fornecedores e parceiros institucionais.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4663440" y="305181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47290d36-9d83-4e84-bbc0-60a7e8dad826/img_a4ef27b7f293fc79859151f4b366770d.png" id="108" name="Google Shape;10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200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/>
          <p:nvPr/>
        </p:nvSpPr>
        <p:spPr>
          <a:xfrm>
            <a:off x="5452110" y="320040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Evite para Imediato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dúvidas de resposta em 2 minutos, use chat corporativo ou ligação.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Poder do Assunto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 porta de entrada da sua mensagem.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75016a9514a9d2867306efe4bc5ee089.png" id="117" name="Google Shape;1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2"/>
          <p:cNvSpPr/>
          <p:nvPr/>
        </p:nvSpPr>
        <p:spPr>
          <a:xfrm>
            <a:off x="3291840" y="182880"/>
            <a:ext cx="5577840" cy="2034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campo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define se o seu e-mail será aberto agora, arquivado ou ignorado.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Evite termos vagos: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"Olá", "Dúvida", "Urgente" ou campo vazio.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Seja específico: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informe o projeto, o tema central e o prazo.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3291840" y="2400300"/>
            <a:ext cx="5577840" cy="1337310"/>
          </a:xfrm>
          <a:prstGeom prst="roundRect">
            <a:avLst>
              <a:gd fmla="val 6838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3417570" y="252603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3829050" y="2526030"/>
            <a:ext cx="49149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Definição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O assunto sintetiza o propósito e orienta a ação imediata do leitor.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Fórmula do Assunto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c2e2b9d99b5c50f984479ccf70c022be.png" id="128" name="Google Shape;12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274320" y="2937510"/>
            <a:ext cx="281178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[Contexto / Projeto]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 a pasta ou o cliente relacionado. Ex: [Projeto Alpha].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e15ae82f4c74fa4fc997bd452cab30d8.png" id="130" name="Google Shape;13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31" name="Google Shape;131;p13"/>
          <p:cNvSpPr/>
          <p:nvPr/>
        </p:nvSpPr>
        <p:spPr>
          <a:xfrm>
            <a:off x="3166110" y="2937510"/>
            <a:ext cx="28117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Ação Principal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Descreve o objetivo exato. Ex: Envio do Relatório Mensal.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19fe64cdddaf5d5df3289dc3bbfcb096.png" id="132" name="Google Shape;13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33" name="Google Shape;133;p13"/>
          <p:cNvSpPr/>
          <p:nvPr/>
        </p:nvSpPr>
        <p:spPr>
          <a:xfrm>
            <a:off x="6069330" y="2937510"/>
            <a:ext cx="28117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Prazo ou Versão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Informa urgência ou data limite. Ex: Aprovação até 15/10.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Identifique o Assunto Mais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das seguintes opções representa a linha de assunto mais profissional e clara?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DÚVIDA URGENTE SOBRE O RELATÓRIO!!!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Custos da empresa da semana passada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[Financeiro] Relatório de Custos Q3 - Revisão até 18/10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Oi, você pode dar uma olhada nisso aqui?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Identifique o Assunto Mais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das seguintes opções representa a linha de assunto mais profissional e clara?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DÚVIDA URGENTE SOBRE O RELATÓRIO!!!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Custos da empresa da semana passada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[Financeiro] Relatório de Custos Q3 - Revisão até 18/10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Oi, você pode dar uma olhada nisso aqui?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Vocativo e Saudação Inicial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4320" y="101727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saudação estabelece a conexão interpessoal e o grau correto de respeito na hierarquia profissional.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b00d7ae851102d45b48b151c4fa589a2.png" id="173" name="Google Shape;1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83080"/>
            <a:ext cx="91440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Níveis de Formalidade na Saudação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5311d95802b9031ea785c0e75f694bb5.png" id="180" name="Google Shape;1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81" name="Google Shape;181;p17"/>
          <p:cNvSpPr/>
          <p:nvPr/>
        </p:nvSpPr>
        <p:spPr>
          <a:xfrm>
            <a:off x="27432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Alta Formalidade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"Prezado(a) Diretor(a)"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"Prezada Dra. Silva"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Usado com autoridades e novos clientes externos.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0cf46a62d09182d4fc4bc550d2f678af.png" id="182" name="Google Shape;18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83" name="Google Shape;183;p17"/>
          <p:cNvSpPr/>
          <p:nvPr/>
        </p:nvSpPr>
        <p:spPr>
          <a:xfrm>
            <a:off x="316611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Padrão Corporativo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"Olá, Mariana"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"Bom dia, Carlos"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Ideal para o cotidiano entre colegas de diferentes setores.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3baacc18ef41bfd62e785f9515dc0795.png" id="184" name="Google Shape;18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85" name="Google Shape;185;p17"/>
          <p:cNvSpPr/>
          <p:nvPr/>
        </p:nvSpPr>
        <p:spPr>
          <a:xfrm>
            <a:off x="606933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Informal Interno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"Oi, time!"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Aceito em equipes próximas, mas preserve a gramática e evite abreviações excessivas.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Anatomia do Corpo do E-mail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274320" y="1268730"/>
            <a:ext cx="4114800" cy="2994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e-mail eficiente responde rapidamente a três perguntas que o leitor faz inconscientemente: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você está me escrevendo agora?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informação ou justificativa essencial?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você espera que eu faça a seguir?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cf2b80e4942dad9bad734677c20d8a37.png" id="193" name="Google Shape;1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3 Passos da Estrutura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ce0fba09faef43a627c955701ed00848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274320" y="362331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Introdução Direta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Apresente o objetivo na primeira frase, sem rodeios ou suspense.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68a419b82f3724362a7712ec03bd6413.png"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4" name="Google Shape;204;p19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3200400" y="362331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Contextualização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Forneça detalhes relevantes, números ou motivos em tópicos breves.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2d6e8e4c78801eed70340da73d8f57c9.png" id="206" name="Google Shape;20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7" name="Google Shape;207;p19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6126480" y="362331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Ação Esperada (CTA)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Indique prazos claros e quem é responsável pela resposta.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47290d36-9d83-4e84-bbc0-60a7e8dad826/img_acd2862e5c42857a14be811d597578be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Campos de Destinatários: Para, CC e CCO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74320" y="3280410"/>
            <a:ext cx="859536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Distribuir corretamente os endereços de e-mail é uma questão de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etiqueta, eficiência e segurança jurídica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Colocar a pessoa errada no campo inadequado pode sobrecarregar caixas de entrada ou violar leis de privacidade de dados (como a LGPD).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Comparativo: Para vs. CC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cdb52e924976951a1f18a1f5810284b5.png"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24" name="Google Shape;224;p21"/>
          <p:cNvSpPr/>
          <p:nvPr/>
        </p:nvSpPr>
        <p:spPr>
          <a:xfrm>
            <a:off x="274320" y="3188970"/>
            <a:ext cx="4206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Campo "Para" (To)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Destinatário principal. A pessoa de quem se espera a resposta direta ou a execução da tarefa solicitada.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993905c600bcc24651f0e35e93e59abd.png"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4663440" y="3188970"/>
            <a:ext cx="4206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Campo "CC" (Com Cópia)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Pessoas que precisam acompanhar o assunto por ciência, sem obrigação de responder diretamente à mensagem.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Usar CCO (Cópia Oculta)?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274320" y="1268730"/>
            <a:ext cx="470916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campo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CCO (BCC)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oculta os endereços dos demais destinatários. Deve ser utilizado em situações específicas: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Listas externas amplas: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impede que clientes vejam os e-mails uns dos outros.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Proteção de dados: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atende às exigências de privacidade da LGPD.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274320" y="3486150"/>
            <a:ext cx="4709160" cy="1234440"/>
          </a:xfrm>
          <a:prstGeom prst="roundRect">
            <a:avLst>
              <a:gd fmla="val 7407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388620" y="360045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754380" y="360045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Nunca use CCO para espionar colegas ou monitorar discussões de forma antiética.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32969f512d15fc00dea563458b7cf168.png" id="237" name="Google Shape;2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Associação de Campos de Envio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CC (Com Cópia)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CCO (Cópia Oculta)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Linha que resume com clareza o objetivo da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Destinatário que deve executar a ação ou responder ao e-mail.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Protege a privacidade ao enviar para múltiplos destinatários externos.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Pessoas incluídas apenas para acompanhamento e ciência do tema.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Associação de Campos de Envio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CC (Com Cópia)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CCO (Cópia Oculta)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Linha que resume com clareza o objetivo da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Destinatário que deve executar a ação ou responder ao e-mail.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Protege a privacidade ao enviar para múltiplos destinatários externos.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Pessoas incluídas apenas para acompanhamento e ciência do tema.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24"/>
          <p:cNvCxnSpPr/>
          <p:nvPr/>
        </p:nvCxnSpPr>
        <p:spPr>
          <a:xfrm>
            <a:off x="2571750" y="16230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24"/>
          <p:cNvCxnSpPr/>
          <p:nvPr/>
        </p:nvCxnSpPr>
        <p:spPr>
          <a:xfrm flipH="1" rot="10800000">
            <a:off x="2571750" y="16527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24"/>
          <p:cNvCxnSpPr/>
          <p:nvPr/>
        </p:nvCxnSpPr>
        <p:spPr>
          <a:xfrm>
            <a:off x="2571750" y="34518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4"/>
          <p:cNvCxnSpPr/>
          <p:nvPr/>
        </p:nvCxnSpPr>
        <p:spPr>
          <a:xfrm flipH="1" rot="10800000">
            <a:off x="2571750" y="34815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24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Boas Práticas com Anexos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274320" y="1360170"/>
            <a:ext cx="274320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Envie arquivos sem ruídos.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9f1ed5a12f4fcbfaa854bee7276cd0e4.png" id="284" name="Google Shape;2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7452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/>
          <p:nvPr/>
        </p:nvSpPr>
        <p:spPr>
          <a:xfrm>
            <a:off x="3291840" y="182880"/>
            <a:ext cx="5577840" cy="2663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envio de anexos exige cuidados para evitar que o arquivo seja esquecido ou bloqueado pelo antivírus.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Cite no texto: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mencione expressamente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"Segue em anexo..."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Nomeie com lógica: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prefira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"Relatorio_Vendas_Setembro.pdf"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"doc123.pdf"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Prefira PDF: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garante que a formatação não mude no dispositivo alheio.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3291840" y="3028950"/>
            <a:ext cx="5577840" cy="1337310"/>
          </a:xfrm>
          <a:prstGeom prst="roundRect">
            <a:avLst>
              <a:gd fmla="val 6838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3417570" y="315468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3829050" y="3154680"/>
            <a:ext cx="49149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Anexe o arquivo logo antes de redigir o corpo do texto para jamais esquecer de incluí-lo.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Encerramento Cortês e Elegante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30021d762b22902de411f7dd64545ad5.png" id="295" name="Google Shape;29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96" name="Google Shape;296;p26"/>
          <p:cNvSpPr/>
          <p:nvPr/>
        </p:nvSpPr>
        <p:spPr>
          <a:xfrm>
            <a:off x="274320" y="2834640"/>
            <a:ext cx="281178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"Atenciosamente,"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"Respeitosamente,"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O padrão ouro para comunicação profissional externa.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47a60084482b452ffc2a2b1799d2419a.png" id="297" name="Google Shape;29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98" name="Google Shape;298;p26"/>
          <p:cNvSpPr/>
          <p:nvPr/>
        </p:nvSpPr>
        <p:spPr>
          <a:xfrm>
            <a:off x="316611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Semiformais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"Cordialmente,"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"Um abraço,"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Apropriados para colegas frequentes de trabalho.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28d69c291b10aa2b204b2639223767cc.png" id="299" name="Google Shape;29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00" name="Google Shape;300;p26"/>
          <p:cNvSpPr/>
          <p:nvPr/>
        </p:nvSpPr>
        <p:spPr>
          <a:xfrm>
            <a:off x="6069330" y="2834640"/>
            <a:ext cx="28117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Evitar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Abreviações como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"Att."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"Vlw"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"Bjs"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fechar sem despedida alguma.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/>
          <p:nvPr/>
        </p:nvSpPr>
        <p:spPr>
          <a:xfrm>
            <a:off x="274320" y="182880"/>
            <a:ext cx="221742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PADRÃO CORPORATIVO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274320" y="537210"/>
            <a:ext cx="45034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Assinatura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274320" y="1188720"/>
            <a:ext cx="4503420" cy="258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assinatura institucional comprova a legitimidade do emissor e facilita o contato imediato.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Nome completo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cargo ou departamento.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Empresa ou instituição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com telefone e ramal.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Links institucionais úteis (evite imagens pesadas ou frases de efeito pessoais).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78a7271f119d44c2ea4206420117d424.png" id="309" name="Google Shape;30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Erros Graves: O Que Jamais Fazer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274320" y="101727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47290d36-9d83-4e84-bbc0-60a7e8dad826/img_8068da0639b83404a57a4968f634ae60.png" id="317" name="Google Shape;31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/>
          <p:nvPr/>
        </p:nvSpPr>
        <p:spPr>
          <a:xfrm>
            <a:off x="1062990" y="116586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CAIXA ALTA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Escrever em letras maiúsculas equivale a gritar no ambiente digital.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4663440" y="101727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47290d36-9d83-4e84-bbc0-60a7e8dad826/img_6a33f420745ad6ef0bfe0f71aa26e519.png" id="320" name="Google Shape;32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8"/>
          <p:cNvSpPr/>
          <p:nvPr/>
        </p:nvSpPr>
        <p:spPr>
          <a:xfrm>
            <a:off x="5452110" y="116586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Responder a Todos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"Reply All" desnecessariamente para dizer apenas "Obrigado".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274320" y="305181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47290d36-9d83-4e84-bbc0-60a7e8dad826/img_6949abe4072ca141e93e115cb9890842.png" id="323" name="Google Shape;32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200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8"/>
          <p:cNvSpPr/>
          <p:nvPr/>
        </p:nvSpPr>
        <p:spPr>
          <a:xfrm>
            <a:off x="1062990" y="320040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Responder com Raiva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Enviar mensagens sob estresse emocional gera registros irreversíveis.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4663440" y="305181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47290d36-9d83-4e84-bbc0-60a7e8dad826/img_56216f1c4f60f837695ec235cd31757f.png" id="326" name="Google Shape;32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200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8"/>
          <p:cNvSpPr/>
          <p:nvPr/>
        </p:nvSpPr>
        <p:spPr>
          <a:xfrm>
            <a:off x="5452110" y="320040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Anexo Fantasma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Dizer "segue em anexo" e enviar a mensagem sem anexar nada.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9"/>
          <p:cNvSpPr/>
          <p:nvPr/>
        </p:nvSpPr>
        <p:spPr>
          <a:xfrm>
            <a:off x="274320" y="182880"/>
            <a:ext cx="42976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Risco do "Responder a Todos"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274320" y="1268730"/>
            <a:ext cx="429768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empresas com centenas de funcionários, clicar em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"Responder a Todos"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por engano pode paralisar servidores e gerar ruído massivo.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Responda a todos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apenas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se a informação for de interesse coletivo crucial.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agradecimentos ou dúvidas individuais, responda apenas ao remetente original.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c13a1ff66ef28c024d47d516e30222ad.png" id="335" name="Google Shape;33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Caso: O E-mail Ineficaz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7078c80a822ec1299b526076accb6d54.png" id="342" name="Google Shape;34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43" name="Google Shape;343;p30"/>
          <p:cNvSpPr/>
          <p:nvPr/>
        </p:nvSpPr>
        <p:spPr>
          <a:xfrm>
            <a:off x="274320" y="3188970"/>
            <a:ext cx="420624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 Ruim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Assunto: URGENTE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"manda ae o doc q o chefe pediu flw"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ae24dfc0feff719ada91b6f55e201ae2.png" id="344" name="Google Shape;34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45" name="Google Shape;345;p30"/>
          <p:cNvSpPr/>
          <p:nvPr/>
        </p:nvSpPr>
        <p:spPr>
          <a:xfrm>
            <a:off x="4663440" y="3188970"/>
            <a:ext cx="4206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Falhas Graves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 vago, gírias inapropriadas, sem especificação de documento ou prazo e sem assinatura.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Caso: A Versão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a5bf996a756eeb0adf29c9c75f4fb9e7.png" id="352" name="Google Shape;35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53" name="Google Shape;353;p31"/>
          <p:cNvSpPr/>
          <p:nvPr/>
        </p:nvSpPr>
        <p:spPr>
          <a:xfrm>
            <a:off x="274320" y="3188970"/>
            <a:ext cx="42062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 Correto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Assunto: [Financeiro] Envio do Relatório Q3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"Prezado Marcos, boa tarde..."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e8145a27637679462e22b0da81fd0334.png" id="354" name="Google Shape;35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4663440" y="3188970"/>
            <a:ext cx="4206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Pontos Fortes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Saudação cortês, introdução direta com contexto, prazo especificado e assinatura profissional.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Etiqueta Corporativa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o botão 'Responder a Todos' para apenas enviar um 'Obrigado!' a uma lista de 50 pessoas é uma prática recomendada de cortesia corporativa.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Etiqueta Corporativa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o botão 'Responder a Todos' para apenas enviar um 'Obrigado!' a uma lista de 50 pessoas é uma prática recomendada de cortesia corporativa.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Isso polui desnecessariamente a caixa de entrada de 49 pessoas que não precisam dessa confirmação.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Checklist dos 30 Segundos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274320" y="101727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Antes de apertar o botão "Enviar", respire fundo e faça esta checagem rápida em quatro etapas fundamentais.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47290d36-9d83-4e84-bbc0-60a7e8dad826/img_c2fabbd807ad37fac13cd13c1fc4e57e.png" id="385" name="Google Shape;3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83080"/>
            <a:ext cx="91440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Etapas do Checklist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5"/>
          <p:cNvSpPr/>
          <p:nvPr/>
        </p:nvSpPr>
        <p:spPr>
          <a:xfrm>
            <a:off x="274320" y="9601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5"/>
          <p:cNvSpPr/>
          <p:nvPr/>
        </p:nvSpPr>
        <p:spPr>
          <a:xfrm>
            <a:off x="468630" y="12230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1017270" y="1062990"/>
            <a:ext cx="765810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Destinatários: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Os campos Para, CC e CCO estão corretos e sem pessoas desnecessárias?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274320" y="2023110"/>
            <a:ext cx="8595360" cy="685800"/>
          </a:xfrm>
          <a:prstGeom prst="roundRect">
            <a:avLst>
              <a:gd fmla="val 20000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5"/>
          <p:cNvSpPr/>
          <p:nvPr/>
        </p:nvSpPr>
        <p:spPr>
          <a:xfrm>
            <a:off x="468630" y="21374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1017270" y="2125980"/>
            <a:ext cx="76581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resumo é específico e identificável sem precisar abrir o e-mail?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274320" y="28003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5"/>
          <p:cNvSpPr/>
          <p:nvPr/>
        </p:nvSpPr>
        <p:spPr>
          <a:xfrm>
            <a:off x="468630" y="30632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5"/>
          <p:cNvSpPr/>
          <p:nvPr/>
        </p:nvSpPr>
        <p:spPr>
          <a:xfrm>
            <a:off x="1017270" y="2903220"/>
            <a:ext cx="765810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Anexo: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Se mencionei anexo no corpo, o arquivo está de fato inserido e nomeado?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5"/>
          <p:cNvSpPr/>
          <p:nvPr/>
        </p:nvSpPr>
        <p:spPr>
          <a:xfrm>
            <a:off x="274320" y="386334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/>
          <p:nvPr/>
        </p:nvSpPr>
        <p:spPr>
          <a:xfrm>
            <a:off x="468630" y="412623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1017270" y="3966210"/>
            <a:ext cx="765810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Ortografia e Tom: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tom é cortês e o texto está livre de erros gramaticais?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Linha do Tempo da Resposta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6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6"/>
          <p:cNvSpPr/>
          <p:nvPr/>
        </p:nvSpPr>
        <p:spPr>
          <a:xfrm>
            <a:off x="16687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6"/>
          <p:cNvSpPr/>
          <p:nvPr/>
        </p:nvSpPr>
        <p:spPr>
          <a:xfrm>
            <a:off x="44119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71551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6"/>
          <p:cNvSpPr/>
          <p:nvPr/>
        </p:nvSpPr>
        <p:spPr>
          <a:xfrm>
            <a:off x="685800" y="308610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Até 24 Horas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Prazo padrão para acusar recebimento ou responder.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3429000" y="937260"/>
            <a:ext cx="228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Demandas Complexas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Envie um aviso informando que está apurando o caso.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6"/>
          <p:cNvSpPr/>
          <p:nvPr/>
        </p:nvSpPr>
        <p:spPr>
          <a:xfrm>
            <a:off x="6172200" y="3086100"/>
            <a:ext cx="228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Ausência Temporária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Ative resposta automática com contato de suporte.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47290d36-9d83-4e84-bbc0-60a7e8dad826/img_e55ecfe6702459449ae20917630e639d.png" id="422" name="Google Shape;42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Complete com os Termos Corretos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7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redigir com profissionalismo, utilize um ____ claro e informativo, inicie com uma ____ respeitosa, apresente o objetivo logo no primeiro parágrafo e encerre com uma ____ institucional completa.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7"/>
          <p:cNvSpPr/>
          <p:nvPr/>
        </p:nvSpPr>
        <p:spPr>
          <a:xfrm>
            <a:off x="28575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piada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/>
          <p:nvPr/>
        </p:nvSpPr>
        <p:spPr>
          <a:xfrm>
            <a:off x="1463040" y="3771900"/>
            <a:ext cx="168021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assinatura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7"/>
          <p:cNvSpPr/>
          <p:nvPr/>
        </p:nvSpPr>
        <p:spPr>
          <a:xfrm>
            <a:off x="3280410" y="3771900"/>
            <a:ext cx="1303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7"/>
          <p:cNvSpPr/>
          <p:nvPr/>
        </p:nvSpPr>
        <p:spPr>
          <a:xfrm>
            <a:off x="472059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gíria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589788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sigla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7"/>
          <p:cNvSpPr/>
          <p:nvPr/>
        </p:nvSpPr>
        <p:spPr>
          <a:xfrm>
            <a:off x="7075170" y="3771900"/>
            <a:ext cx="142875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saudação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47290d36-9d83-4e84-bbc0-60a7e8dad826/img_e55ecfe6702459449ae20917630e639d.png" id="437" name="Google Shape;43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Complete com os Termos Corretos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redigir com profissionalismo, utilize um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assunto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claro e informativo, inicie com uma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saudação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respeitosa, apresente o objetivo logo no primeiro parágrafo e encerre com uma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assinatura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institucional completa.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28575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piada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8"/>
          <p:cNvSpPr/>
          <p:nvPr/>
        </p:nvSpPr>
        <p:spPr>
          <a:xfrm>
            <a:off x="1463040" y="3771900"/>
            <a:ext cx="168021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assinatura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3280410" y="3771900"/>
            <a:ext cx="1303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472059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gíria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589788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sigla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7075170" y="3771900"/>
            <a:ext cx="142875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saudação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47290d36-9d83-4e84-bbc0-60a7e8dad826/img_88f2cf22d50efe57d124336ea25cb3a9.png" id="453" name="Google Shape;45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8214720/backend/storage/app/render-specs/47290d36-9d83-4e84-bbc0-60a7e8dad826/img_3a26e2e1b692288c430722bd1d67e13b.png" id="454" name="Google Shape;45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Gestão de Crise por E-mail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enviou por engano um e-mail com dados sigilosos para a pessoa errada. Qual é o plano de ação ético e imediato que deve ser adotado na empresa?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47290d36-9d83-4e84-bbc0-60a7e8dad826/img_88f2cf22d50efe57d124336ea25cb3a9.png" id="462" name="Google Shape;46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Gestão de Crise por E-mail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0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Avisar imediatamente o remetente e o gestor sobre o incidente.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Solicitar ao destinatário indevido que exclua 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Registrar a ocorrência conforme diretrizes da LGPD.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Estrutural do E-mail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1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os elementos abaixo na sequência lógica de um e-mail profissional: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Detalhamento e prazo para a ação esperada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Encerramento profissional com assinatura corporativa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1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Introdução direta com o objetivo da mensagem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Saudação cortês e vocativo adequado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Estrutural do E-mail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2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os elementos abaixo na sequência lógica de um e-mail profissional: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Detalhamento e prazo para a ação esperada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2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Encerramento profissional com assinatura corporativa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Introdução direta com o objetivo da mensagem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2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Saudação cortês e vocativo adequado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2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2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2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2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47290d36-9d83-4e84-bbc0-60a7e8dad826/img_b8e2e30cbb6ba10a8acb00af0ff4be05.png" id="498" name="Google Shape;49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8214720/backend/storage/app/render-specs/47290d36-9d83-4e84-bbc0-60a7e8dad826/img_6ff670cdcc7f0b69394ef47f618b8ee3.png" id="499" name="Google Shape;49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Oficina Prática: Redação e Revisão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3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Assunto: Alteração de prazo - Projeto Escolar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Prezado Coordenador,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Devido a imprevistos, solicito adiantar a entrega do projeto. A situação atual impede o prazo original. Agradeço a compreensão.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Nova data: [Data].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Atenciosamente,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[Seu Nome]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47290d36-9d83-4e84-bbc0-60a7e8dad826/img_b1bba520cb83141727802d1af102d1d3.png" id="507" name="Google Shape;50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4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Síntese: Comunicação que Gera Resultados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4"/>
          <p:cNvSpPr/>
          <p:nvPr/>
        </p:nvSpPr>
        <p:spPr>
          <a:xfrm>
            <a:off x="274320" y="3280410"/>
            <a:ext cx="859536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e-mail corporativo é um reflexo direto do seu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cuidado, clareza e respeito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pelo tempo alheio.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próxima aula, daremos um passo além na escrita profissional: aprenderemos a estruturar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Relatórios Técnicos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com precisão e síntese.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