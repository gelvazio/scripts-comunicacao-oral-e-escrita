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62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74.png"/><Relationship Id="rId7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8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5.png"/><Relationship Id="rId5" Type="http://schemas.openxmlformats.org/officeDocument/2006/relationships/image" Target="../media/image8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8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78.png"/><Relationship Id="rId5" Type="http://schemas.openxmlformats.org/officeDocument/2006/relationships/image" Target="../media/image8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348740"/>
            <a:ext cx="4023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de Oratória e Expressão Vocal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3040380"/>
            <a:ext cx="4023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dominar a voz e falar com confiança e clareza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554d5ee8562cc8793c5287d4af82c758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a105f8d4f45b0675f34b90fbfdf6dc39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torna uma fala inesquecível?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ouviu alguém com ideias incríveis falar de forma tão monótona e apressada que todos perderam a atenção? A verdade é que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modo como falamos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costuma impactar o ouvinte antes mesmo do conteúdo ser compreendido.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Compreender os mecanismos de articulação, dicção, modulação e respiração diafragmática.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 substituir vícios de linguagem comuns por pausas silenciosas e estratégicas.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técnicas de aquecimento vocal e ajuste de projeção sonora em situações práticas de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 da Voz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7813610d90f5a74e06ad59c3c41bad68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802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040380"/>
            <a:ext cx="208026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Arte de discursar em público de maneira persuasiva e segura.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2b6b44ba4f93e37f09fcb69fa4eb0ca6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6020" y="925830"/>
            <a:ext cx="20802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46020" y="3040380"/>
            <a:ext cx="208026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 como os sons das palavras são enunciados e ouvidos com perfeição sonora.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de3e40863236827a672623cc3c41e478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7720" y="925830"/>
            <a:ext cx="20802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17720" y="3040380"/>
            <a:ext cx="208026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deliberada do tom, altura e ritmo da voz ao discursar.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3264aaf9e4af321fbe2f86fe1a690565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9420" y="925830"/>
            <a:ext cx="20802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789420" y="3040380"/>
            <a:ext cx="208026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 física muscular de mover lábios, dente e língua para produzir fonemas distintos.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Relembrando a Estrutura Básica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925830"/>
            <a:ext cx="124587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23134a32c1fbbeaa22a50daeb4c24783.png" id="63" name="Google Shape;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28016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274320" y="318897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Abertura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Conquista a atenção inicial, cria conexão humana com a plateia e apresenta o tema central com objetividade.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a5415426947c8103b3b14ebdf7842916.png" id="65" name="Google Shape;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128016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3166110" y="307467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Desenvolvimento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Expõe argumentos lógicos, dados comprobatórios e narrativas ordenadas que sustentam a ideia apresentada.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f2265351616c99aa795b5a65ce44a8ea.png" id="67" name="Google Shape;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128016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6069330" y="318897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Fechamento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Sintetiza as ideias fundamentais e propõe uma chamada à reflexão ou ação marcante e definitiva.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74db676abbf9321227487417a15623c8.png"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Estrutura da Apresentação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papel principal da abertura em um discurso?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deve compor o desenvolvimento de uma boa apresentação?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um fechamento de impacto deve finalizar uma exposição oral?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Estrutura da Apresentação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Capturar a atenção do público, gerar empatia e definir com clareza o 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Argumentos sólidos, dados, exemplos ilustrativos e raciocínio lógico articulado.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 pontos-chave e deixando uma mensagem final ou chamado à ação marcante.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Voz como Nosso Instrumento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274320" y="1451610"/>
            <a:ext cx="45034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ponte biológica da mensagem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Assim como um violoncelo precisa de cordas ajustadas, caixa de ressonância e ar para ecoar, a voz humana depende do ar dos pulmões, da vibração nas pregas vocais e da ressonância nas cavidades faciais.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você fala, não transmite apenas palavras: você emite energia física capaz de criar confiança imediata.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a8e79343fa71a336bc98340e331949c8.png" id="96" name="Google Shape;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e Clareza Sonora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274320" y="1017270"/>
            <a:ext cx="41148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desenho físico das palavras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é o movimento mecânico da boca. Falar sem mexer os lábios e a mandíbula faz as palavras soarem emboladas, como se estivessem presas atrás dos dentes.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274320" y="3600450"/>
            <a:ext cx="4114800" cy="1337310"/>
          </a:xfrm>
          <a:prstGeom prst="roundRect">
            <a:avLst>
              <a:gd fmla="val 683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400050" y="37261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811530" y="3726180"/>
            <a:ext cx="34518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Articular bem não é gritar; é separar cada sílaba com nitidez.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9f621d9f67fa167261bad0ba20bd1fc3.png" id="107" name="Google Shape;1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/>
        </p:nvSpPr>
        <p:spPr>
          <a:xfrm>
            <a:off x="274320" y="57150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Dicção: A Enunciação Perfeita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274320" y="1840230"/>
            <a:ext cx="48463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dicção refere-se à exatidão com que cada fonema é pronunciado. Erros comuns acontecem quando 'engolimos' o 'r' e o 's' finais de verbos e plurais.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dizemos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'vamos fazê'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vez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'vamos fazer'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ambientes formais, a mensagem perde polimento e impacto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d4606097f4813f44207bdfd424fddaf4.png" id="115" name="Google Shape;1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vs Dicção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Diferenças anatômicas e acústicas fundamentais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2f3f51bb9f4380f574881fe0232c77ae.png"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3291840" y="182880"/>
            <a:ext cx="5577840" cy="1680210"/>
          </a:xfrm>
          <a:prstGeom prst="roundRect">
            <a:avLst>
              <a:gd fmla="val 816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(Movimento Motor)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de mandíbula, elasticidade labial e agilidade da língua para moldar os sons no trato vocal.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3291840" y="2045970"/>
            <a:ext cx="5577840" cy="1680210"/>
          </a:xfrm>
          <a:prstGeom prst="roundRect">
            <a:avLst>
              <a:gd fmla="val 816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 (Resultado Sonoro)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auditiva dos fonemas produzidos, garantindo que o ouvinte não confunda palavras parecidas.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Conecte os Conceitos Vocais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Arte de falar em público com eloquência e persuasão.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deliberada de tom, ritmo e volume vocal.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precisão sonora na pronúncia das palavras.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 muscular da boca para formatar fonemas específicos.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Conecte os Conceitos Vocais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Arte de falar em público com eloquência e persuasão.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deliberada de tom, ritmo e volume vocal.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precisão sonora na pronúncia das palavras.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 muscular da boca para formatar fonemas específicos.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5"/>
          <p:cNvCxnSpPr/>
          <p:nvPr/>
        </p:nvCxnSpPr>
        <p:spPr>
          <a:xfrm>
            <a:off x="2571750" y="16230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5"/>
          <p:cNvCxnSpPr/>
          <p:nvPr/>
        </p:nvCxnSpPr>
        <p:spPr>
          <a:xfrm flipH="1" rot="10800000">
            <a:off x="2571750" y="16527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5"/>
          <p:cNvCxnSpPr/>
          <p:nvPr/>
        </p:nvCxnSpPr>
        <p:spPr>
          <a:xfrm>
            <a:off x="2571750" y="34518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5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5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Modulação: A Melodia do Discurso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o tédio monótono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Ninguém consegue prestar atenção por muito tempo em um som linear e constante. A monotonia vocal funciona como um convite ao sono para a plateia.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 é a capacidade de alternar intencionalmente tons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graves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agudos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ritmos rápidos e lentos, dando vida às ideias.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c0b6af936f29b4ec23d3a2f337a91d9f.png" id="172" name="Google Shape;1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Enfatizando Pontos Cruciais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74320" y="101727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74320" y="14630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4f6ac52553503713dd5c57834a2b0d42.png" id="181" name="Google Shape;1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6116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1062990" y="16116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Mudança de Tom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Elevar ligeiramente o tom atrai curiosidade; baixar o tom gera gravidade e solenidade imediata.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663440" y="14630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a5be074a8644eeaad9d90a4156119e50.png" id="184" name="Google Shape;1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6116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/>
          <p:nvPr/>
        </p:nvSpPr>
        <p:spPr>
          <a:xfrm>
            <a:off x="5452110" y="16116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de Ritmo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Desacelerar em frases decisivas faz a audiência absorver cada palavra com profundidade.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74320" y="32918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a4f28fa86e7948f929a52cea4d5de6ac.png" id="187" name="Google Shape;18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4404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/>
          <p:nvPr/>
        </p:nvSpPr>
        <p:spPr>
          <a:xfrm>
            <a:off x="1062990" y="34404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Intensidade Dinâmica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sussurro focado pode atrair mais atenção e silêncio do que uma explosão de volume.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663440" y="32918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e66c54ff9204eda7a1abe08e598ec576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4404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/>
          <p:nvPr/>
        </p:nvSpPr>
        <p:spPr>
          <a:xfrm>
            <a:off x="5452110" y="34404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 de Palavra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Pronunciar o termo-chave com maior apoio e contorno vocal destaca-o como tese central.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274320" y="182880"/>
            <a:ext cx="666369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das Pausas Estratégicas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silêncio na oratória não é ausência de conteúdo: é uma moldura para o que vem a seguir.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6bc35393d30a2e04449de8f7d1f27a09.png"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96596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dcd0dff6c05905ea6648782d3361d80d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4366260" y="18288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Funções do Silêncio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366260" y="1017270"/>
            <a:ext cx="4503420" cy="1977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o ouvinte processa a fala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pausa de dois segundos antes de uma revelação cria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expectativa dramática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 mesma pausa logo após um conceito complexo permite 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assimilação cognitiva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do ouvinte.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366260" y="317754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491990" y="330327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857750" y="330327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Quando sentir vontade de dizer 'ééé...', apenas feche a boca e respire.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274320" y="69723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 de Volume e Projeção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74320" y="1965960"/>
            <a:ext cx="4846320" cy="23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Volume é a quantidade de pressão acústica emitida, enquanto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projeção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a capacidade de fazer a voz alcançar a última fileira sem forçar a garganta.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 sua emissão considerando a acústica do ambiente: salas com carpete absorvem o som, exigindo mais apoio respiratório.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61501bceaf5b02f98ed9723cc563ce21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Dimensões do Espaço de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b909d3f5bf3c657d737e9adda86d57f0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27432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Sala Pequena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Volume coloquial e intimista. O exagero aqui soa agressivo e invasivo para os ouvintes próximos.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3e7310e1e86955cbf4aa6b21941b8936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316611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Sala de Aula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Projeção moderada com articulação nítida para sobrepor ruídos externos de cadernos e cadeiras.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29bc36e64328052cabfcbcc9b2e0887c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606933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Auditório Amplo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microfone ou projeção diafragmática máxima, mantendo velocidade cadenciada.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Checagem: Volume e Pausas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um orador deve reagir caso perceba que a sala possui muito eco acústico?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Gritar as palavras finais de cada período sintático.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Eliminar completamente a respiração diafragmática.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muito mais rápido para superar a reverberação do som.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Reduzir a velocidade da fala e aumentar as pausas entre frases.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Checagem: Volume e Pausas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um orador deve reagir caso perceba que a sala possui muito eco acústico?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Gritar as palavras finais de cada período sintático.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Eliminar completamente a respiração diafragmática.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muito mais rápido para superar a reverberação do som.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Reduzir a velocidade da fala e aumentar as pausas entre frases.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c11126468c75bf279fc0d41976906e7f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Respiração e Apoio Diafragmático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62890" y="3177540"/>
            <a:ext cx="861822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diafragma é o grande músculo em cúpula na base das costelas. Quando respiramos 'pelo peito' (respiração clavicular), acumulamos tensão nos ombros e no pescoço, comprimindo a laringe.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respiração diafragmática expande a região abdominal inferior, fornecendo um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colchão constante de ar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sustentar frases longas com estabilidade.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Ciclo da Respiração Correta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4f452915eaf8c81dd49d366a757d60ed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f2225cf2-5814-4b34-a167-b8f5114e1393/img_3795fc6c69c50bb611ebc7cfbd4927e2.png" id="278" name="Google Shape;27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f2225cf2-5814-4b34-a167-b8f5114e1393/img_0935f3aef7e79a88fec275abf111939b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0" name="Google Shape;280;p25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27432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Inalação Baixa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ar entra pelo nariz suavemente, enchendo os pulmões e expandindo o abdômen.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320040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Apoio Abdominal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músculos do abdômen oferecem resistência suave, mantendo o ar sob controle estável.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612648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Emissão Contínua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ar é liberado aos poucos enquanto a voz soa, garantindo final de frases firme e sem ofegar.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Aquecimento Vocal Prático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74320" y="1451610"/>
            <a:ext cx="47091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Preparando a musculatura vocal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Nenhum atleta entra em campo sem aquecer os músculos. Da mesma forma, as pregas vocais são tecidos musculares sensíveis que precisam de lubrificação e aquecimento antes de discursos longos.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74320" y="347472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388620" y="358902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754380" y="358902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Pigarrear machuca as pregas vocais. Em vez de tossir, beba pequenos goles de água.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53e5b4d0eecc13c9952a505c21136628.png"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Três Exercícios de Aquecimento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c1fac5f080e04a7be2b38b9596efa889.png" id="303" name="Google Shape;3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4" name="Google Shape;304;p27"/>
          <p:cNvSpPr/>
          <p:nvPr/>
        </p:nvSpPr>
        <p:spPr>
          <a:xfrm>
            <a:off x="27432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Vibração de Lábios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Emitir o som 'brrr' contínuo faz os lábios vibrarem soltos, aliviando tensões no rosto e mandíbula.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0f701798fdab00bf4558192b9cd54172.png" id="305" name="Google Shape;30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6" name="Google Shape;306;p27"/>
          <p:cNvSpPr/>
          <p:nvPr/>
        </p:nvSpPr>
        <p:spPr>
          <a:xfrm>
            <a:off x="316611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Vibração de Língua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Produzir o som 'trrr' com a ponta da língua no céu da boca massageia as pregas vocais suavemente.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a8b7465e6c0727273e2674a6b27a6a10.png" id="307" name="Google Shape;30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08" name="Google Shape;308;p27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Bocejo Sonoro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Bocejar emitindo uma vogal 'a' suave e descendente relaxa a laringe e abre a faringe.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ea4dfda6d62287583987a91e83c47f8e.png"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315" name="Google Shape;315;p28"/>
          <p:cNvSpPr/>
          <p:nvPr/>
        </p:nvSpPr>
        <p:spPr>
          <a:xfrm>
            <a:off x="436626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São Vícios de Linguagem?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366260" y="1451610"/>
            <a:ext cx="45034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muletas sonoras da insegurança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Vícios de linguagem como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'né'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'tipo'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'tipo assim'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'tá'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o temido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'ããh...'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são muletas vocais. Eles aparecem quando temos medo de deixar um instante de silêncio enquanto pensamos na próxima palavra.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cérebro busca preencher o vazio com ruídos repetitivos que cansam quem ouve.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Eliminar as Muletas Vocais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274320" y="101727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274320" y="14630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e0957a2f42b6f89d047be6ae3610eed9.png"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6116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/>
          <p:nvPr/>
        </p:nvSpPr>
        <p:spPr>
          <a:xfrm>
            <a:off x="1062990" y="16116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Autopercepção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Grave simulações da sua fala e anote quantas vezes o vício se repete em dois minutos.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663440" y="14630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edd31eca0337ae5ce84942828f9bac8d.png" id="328" name="Google Shape;32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6116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5452110" y="16116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Substituição por Pausa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Toda vez que vier o impulso de dizer 'né', feche os lábios e faça um segundo de silêncio.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74320" y="32918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de0c957ec76cb2feb4cdabf89f09e1db.png" id="331" name="Google Shape;33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4404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/>
          <p:nvPr/>
        </p:nvSpPr>
        <p:spPr>
          <a:xfrm>
            <a:off x="1062990" y="34404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Conectores Formais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Utilize conectivos como 'portanto', 'além disso', 'em seguida' para encadear as orações.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4663440" y="3291840"/>
            <a:ext cx="4206240" cy="1645920"/>
          </a:xfrm>
          <a:prstGeom prst="roundRect">
            <a:avLst>
              <a:gd fmla="val 833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f2225cf2-5814-4b34-a167-b8f5114e1393/img_c9365d8946d80620366e4decd1f3e781.png" id="334" name="Google Shape;33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4404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/>
          <p:nvPr/>
        </p:nvSpPr>
        <p:spPr>
          <a:xfrm>
            <a:off x="5452110" y="3440430"/>
            <a:ext cx="326898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Frases Mais Curtas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Termine frases com pontos finais audíveis em vez de prolongar com 'aí... tipo...'.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e55ecfe6702459449ae20917630e639d.png" id="341" name="Google Shape;3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Preenchendo com Precisão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eliminar muletas vocais como o 'né', o orador deve trocar o ruído por uma ____ estratégica e manter o apoio do ____.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8575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pigarro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72593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diafragma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341757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grito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459486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e55ecfe6702459449ae20917630e639d.png" id="354" name="Google Shape;3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Preenchendo com Precisão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eliminar muletas vocais como o 'né', o orador deve trocar o ruído por uma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pausa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estratégica e manter o apoio do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diafragma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28575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pigarro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172593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diafragma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341757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grito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459486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1cb9c7e4d84127d381bae25ecf77e6bd.png" id="368" name="Google Shape;3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/>
          <p:nvPr/>
        </p:nvSpPr>
        <p:spPr>
          <a:xfrm>
            <a:off x="251460" y="242316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 e a Construção de Credibilidade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251460" y="3166110"/>
            <a:ext cx="86410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credibilidade de uma fala baseia-se em três pilares essenciais: 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solidez do conteúdo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física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firmeza vocal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Uma voz trêmula ou excessivamente rápida pode fazer uma pesquisa excelente soar frágil.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251460" y="4217670"/>
            <a:ext cx="45720" cy="74295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502920" y="4217670"/>
            <a:ext cx="838962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maneira de falar importa tanto quanto o que se fala.”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Provérbio clássico da retórica latina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da Credibilidade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a plateia avalia a autoridade do orador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703d80a0c0981ca12317d80cfbaeeabc.png" id="380" name="Google Shape;3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/>
          <p:nvPr/>
        </p:nvSpPr>
        <p:spPr>
          <a:xfrm>
            <a:off x="3291840" y="182880"/>
            <a:ext cx="5577840" cy="1680210"/>
          </a:xfrm>
          <a:prstGeom prst="roundRect">
            <a:avLst>
              <a:gd fmla="val 816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Firmeza Sem Agressividade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Emitir sons com apoio muscular transmite autoridade natural, sem necessidade de elevar o tom para intimidar.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3291840" y="2045970"/>
            <a:ext cx="5577840" cy="1680210"/>
          </a:xfrm>
          <a:prstGeom prst="roundRect">
            <a:avLst>
              <a:gd fmla="val 8163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Visual e Vocal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Direcionar a voz para pontos diferentes da plateia enquanto olha nos olhos das pessoas gera proximidade e respeito mútuo.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do Orador em Formação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16687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44119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71551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6858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 acelerada, respiração alta no peito e uso de muletas.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3429000" y="93726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Intermediário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de pausas, dicção clara e postura mais alinhada.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6172200" y="308610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Avançado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 rica, domínio de silêncios e alta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Preparação Vocal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essenciais antes de iniciar uma fala pública importante: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Exercícios de vibração labial e lingual com apoio do 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Alongamento corporal e relaxamento dos ombros e pescoço.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consciente com trava-línguas lentos.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Hidratação prévia com pequenos goles de água fresca.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Preparação Vocal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essenciais antes de iniciar uma fala pública importante: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Exercícios de vibração labial e lingual com apoio do 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Alongamento corporal e relaxamento dos ombros e pescoço.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consciente com trava-línguas lentos.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Hidratação prévia com pequenos goles de água fresca.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Demonstração Prática: Trava-Línguas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274320" y="925830"/>
            <a:ext cx="4503420" cy="1977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Ginástica dos músculos faciais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Trava-línguas forçam os músculos da língua e dos lábios a realizarem manobras rápidas e precisas. O segredo não é recitá-los em velocidade máxima, mas sim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exagerar na abertura da boca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274320" y="3040380"/>
            <a:ext cx="4503420" cy="1383030"/>
          </a:xfrm>
          <a:prstGeom prst="roundRect">
            <a:avLst>
              <a:gd fmla="val 6612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“Três pratos de trigo para três tigres tristes.”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Foque no som nítido do 'tr' e na pronúncia dos 's' finais.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c8079d5a0546da44edc1f87fa4c52235.png" id="431" name="Google Shape;43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de Prática Diária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Faça 5 ciclos de inspiração diafragmática lenta contando até quatro.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Vibração: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Execute 3 séries de 10 segundos de 'brrr' e 'trrr' com apoio abdominal constante.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Leitura em Voz Alta: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Leia um parágrafo exagerando a movimentação dos lábios por 2 minutos.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88f2cf22d50efe57d124336ea25cb3a9.png" id="452" name="Google Shape;45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f2225cf2-5814-4b34-a167-b8f5114e1393/img_789d71f4406003e49ce8b24e7c414afc.png" id="453" name="Google Shape;45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Desafios da Voz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quais momentos você sente dificuldade para controlar a voz?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as pausas podem ajudar você nessas ocasiões?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88f2cf22d50efe57d124336ea25cb3a9.png" id="461" name="Google Shape;46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Desafios da Voz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nervosismo tende a acelerar os batimentos e a respiração, tornando a fala mais aguda e sem 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pausa consciente ajuda a restabelecer o controle diafragmático e organiza o pensamento lógico.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/>
          <p:nvPr/>
        </p:nvSpPr>
        <p:spPr>
          <a:xfrm>
            <a:off x="274320" y="85725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Preparação para a Gravação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274320" y="2125980"/>
            <a:ext cx="4846320" cy="208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Chegou a hora de colocar a teoria em ação! Você fará uma gravação curta de áudio para avaliar sua própria expressão vocal.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Seu desafio é aplicar: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com energia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eliminação de vícios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duas pausas intencionais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impecável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f2225cf2-5814-4b34-a167-b8f5114e1393/img_db7f614179677e1c542ad61c43a87227.png" id="472" name="Google Shape;47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1198f6ede5e2216c51986e3c51e1178b.png" id="478" name="Google Shape;47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8214720/backend/storage/app/render-specs/f2225cf2-5814-4b34-a167-b8f5114e1393/img_1572c3466f4d27ad1683ec575c22c997.png" id="479" name="Google Shape;47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Gravação de Áudio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Grave um áudio de 30 a 45 segundos sobre um tema que domina.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Aplique as técnicas aprendidas: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Respire com o diafragma antes de iniciar.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Articule bem cada palavra.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Faça duas pausas de 2 segundos.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use vícios de linguagem.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Gravador de voz do celular, texto ou tópico em tópicos breves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f2225cf2-5814-4b34-a167-b8f5114e1393/img_e56f6f11ac53d9bf419faf967f09fded.png" id="487" name="Google Shape;48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3"/>
          <p:cNvSpPr/>
          <p:nvPr/>
        </p:nvSpPr>
        <p:spPr>
          <a:xfrm>
            <a:off x="2571750" y="1611630"/>
            <a:ext cx="40005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Sua Voz Tem Poder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274320" y="240030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oratória não é um dom inato, mas uma habilidade lapidada pelo treino diário da respiração, da pausa e da articulação consciente. Fale com clareza e seja ouvido com respeito!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