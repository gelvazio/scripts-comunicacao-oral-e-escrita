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63.png"/><Relationship Id="rId7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Relationship Id="rId4" Type="http://schemas.openxmlformats.org/officeDocument/2006/relationships/image" Target="../media/image75.png"/><Relationship Id="rId5" Type="http://schemas.openxmlformats.org/officeDocument/2006/relationships/image" Target="../media/image6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Relationship Id="rId4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Relationship Id="rId4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Relationship Id="rId4" Type="http://schemas.openxmlformats.org/officeDocument/2006/relationships/image" Target="../media/image81.png"/><Relationship Id="rId5" Type="http://schemas.openxmlformats.org/officeDocument/2006/relationships/image" Target="../media/image69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Relationship Id="rId4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Relationship Id="rId4" Type="http://schemas.openxmlformats.org/officeDocument/2006/relationships/image" Target="../media/image85.png"/><Relationship Id="rId5" Type="http://schemas.openxmlformats.org/officeDocument/2006/relationships/image" Target="../media/image8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Relationship Id="rId4" Type="http://schemas.openxmlformats.org/officeDocument/2006/relationships/image" Target="../media/image8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Relationship Id="rId4" Type="http://schemas.openxmlformats.org/officeDocument/2006/relationships/image" Target="../media/image76.png"/><Relationship Id="rId5" Type="http://schemas.openxmlformats.org/officeDocument/2006/relationships/image" Target="../media/image8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Relationship Id="rId4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588770"/>
            <a:ext cx="402336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Processo Comunicativo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788920"/>
            <a:ext cx="4023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Introdução à Comunicação Oral e Escrita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811640d1b3b32c0edfc888c3dc2dbf1b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43071498-19aa-4880-9130-a048892b2fde/img_60cd37a6a54dc72d4c79988ff3c45f61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nos desentendemos?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62890" y="3177540"/>
            <a:ext cx="86182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enviou uma mensagem de texto simples e a outra pessoa entendeu exatamente o oposto? Ou tentou dar uma instrução e o resultado foi totalmente inesperado?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ou digitar não garante que a outra pessoa realmente compreendeu o que você quis dizer. Comunicar é uma ponte de mão dupla cheia de armadilhas invisíveis.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Aula de Hoje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234440"/>
            <a:ext cx="8595360" cy="1017270"/>
          </a:xfrm>
          <a:prstGeom prst="roundRect">
            <a:avLst>
              <a:gd fmla="val 1348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52019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36017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 descrever os seis elementos centrais de qualquer processo comunicativo.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434590"/>
            <a:ext cx="8595360" cy="1017270"/>
          </a:xfrm>
          <a:prstGeom prst="roundRect">
            <a:avLst>
              <a:gd fmla="val 1348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Analisar ruídos e barreiras que provocam falhas na transmissão de mensagens cotidianas.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634740"/>
            <a:ext cx="8595360" cy="1017270"/>
          </a:xfrm>
          <a:prstGeom prst="roundRect">
            <a:avLst>
              <a:gd fmla="val 1348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92049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76047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Mapear cenários práticos identificando emissores, códigos, canais e contextos específicos.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96803191008491ef70346521a135db53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6576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formula e envia a informação original.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152e595aee49726a6dca2c6cbd77fb9c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68880" y="309753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Receptor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destinatário que acolhe e decodifica o sinal.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76f508160a781b57dfa86eb847d3e412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63440" y="36576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conteúdo e significado transmitidos no ato.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227e83d5c2fed2a385410aaa463cd407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858000" y="309753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Qualquer interferência que prejudica a clareza.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Bem-vindos ao Curso!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1405890"/>
            <a:ext cx="158877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APRESENTAÇÃO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74320" y="1805940"/>
            <a:ext cx="411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Saber falar e escrever bem não é mágica: é um conjunto de técnicas treináveis que transformam oportunidades.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longo desta disciplina, você aprenderá a se expressar com clareza, segurança e ética no colégio e na futura vida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d2e4bce3a721a2292beab48fd1faab69.png" id="64" name="Google Shape;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Geral dos 6 Módulos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1805cb16b10a00e6ee0ba58c346725c2.png" id="72" name="Google Shape;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1017270" y="1074420"/>
            <a:ext cx="336042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Fundamentos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Processo de comunicação, elementos essenciais e feedback.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03ad30fac9c862bb6962bccd4f588526.png" id="75" name="Google Shape;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63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5360670" y="1074420"/>
            <a:ext cx="336042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Comunicação Oral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Oratória, apresentações públicas e reuniões eficazes.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6d6132f3bbc95332913143261eb34c94.png" id="78" name="Google Shape;7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1017270" y="3097530"/>
            <a:ext cx="336042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Comunicação Escrita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de textos, pontuação e e-mails profissionais.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9dace8ad087c68fa1b89961978de4386.png" id="81" name="Google Shape;8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63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5360670" y="3097530"/>
            <a:ext cx="336042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 a 6. Aplicações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técnica, plataformas digitais e postura não-verbal.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320" y="96012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Comunicação?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74320" y="179451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palavra vem do latim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communicare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que significa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"tornar comum"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partilhar com o outro.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não é simplesmente emitir sons ou redigir palavras soltas. É criar entendimento compartilhado entre duas ou mais mentes conscientes.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714f88a87e28ba99d3f474117d2b20b0.png"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no Dia a Dia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e3827753a44df63ce3f1b4f91b6c5996.png" id="97" name="Google Shape;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Convivência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Expressar sentimentos, negociar tarefas e resolver atritos em casa e com amigos.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fc2ab3d53c63746b578e4b711a945b3b.png" id="99" name="Google Shape;9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Aprendizagem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Tirar dúvidas em aula, debater temas complexos e expor trabalhos em equipe.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274320" y="1405890"/>
            <a:ext cx="4503420" cy="2811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Empresas e equipes dependem de informações precisas para operar com segurança e produtividade.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Uma instrução técnica confusa pode causar acidentes graves.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Eficiência: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E-mails objetivos evitam retrabalho e desperdício de tempo.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Cooperação: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Projetos complexos exigem alinhamento constante entre setores.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611f6a317ab917949e3915ce96c5c682.png"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dos Meios Humanos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Pré-História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Pinturas rupestres e tradição puramente oral.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25717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1450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prensa móvel de tipos criada por Gutenberg.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629150" y="308610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Século XIX-XX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Telégrafo, rádio e difusão por televisão.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66865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Século XXI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Redes digitais e transmissão global instantânea.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Modelo Geral do Processo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74320" y="92583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Toda comunicação humana estrutura-se pela interação coordenada de elementos essenciais.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87d2a7b78c743b1a0f70941b102669b5.png"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7452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Emissor: A Origem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74320" y="971550"/>
            <a:ext cx="132588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 1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274320" y="1371600"/>
            <a:ext cx="41148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(ou locutor) é quem concebe uma ideia e decide transformá-la em sinais compreensíveis.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 é responsável por selecionar as palavras certas, organizar o pensamento e adequar a linguagem à pessoa que vai ouvi-lo.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642d67c4f0e55dc3a9786c0e0faf08aa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274320" y="74295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Receptor: O Destino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74320" y="1577340"/>
            <a:ext cx="132588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 2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274320" y="202311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(ou interlocutor) capta os sinais transmitidos e realiza a decodificação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passivamente não é suficiente: o receptor precisa interpretar os sinais com atenção para reconstruir o sentido original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bc41715a90b2cb116b3040153c872a73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Mensagem: O Conteúdo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274320" y="1405890"/>
            <a:ext cx="132588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 3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74320" y="1805940"/>
            <a:ext cx="41148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é o objeto concreto da transmissão: o conjunto de ideias, sentimentos, instruções ou dados enviados.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ser eficaz, ela precisa ter coesão, clareza e estrutura lógica bem delimitada pelo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bfd7d469686e08435c9577c3e1014f34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Verificando os Elementos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é responsável por interpretar e decodificar a mensagem no processo comunicativo?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de barras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ruído sonoro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de transmissão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Verificando os Elementos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é responsável por interpretar e decodificar a mensagem no processo comunicativo?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de barras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ruído sonoro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de transmissão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4ae74893e6b0084f14c34508998b8b7d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Naturais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ar atmosférico que propaga ondas sonoras e a visão que capta movimentos e gestos.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a4f9e2443ba2b9628e8e0953ae82e5c2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Tecnológicos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Folha de papel impressa, cabos de internet, sinais de rádio, aplicativos e telefonia.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274320" y="182880"/>
            <a:ext cx="4503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Papel do Código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74320" y="971550"/>
            <a:ext cx="450342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é o conjunto convencionado de signos e regras gramaticais usado para construir a mensagem.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haver comunicação de fato,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 e receptor devem compartilhar o mesmo código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Se alguém falar finlandês com você sem tradutor, não há comunicação.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74320" y="3337560"/>
            <a:ext cx="4503420" cy="1303020"/>
          </a:xfrm>
          <a:prstGeom prst="roundRect">
            <a:avLst>
              <a:gd fmla="val 701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00050" y="346329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65810" y="3463290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Língua Portuguesa, Libras, Código Morse e semáforos são códigos.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bb947cd36f6d4ef023ad5ef1f0854675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Codificação e Decodificação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77bee4b688e1a2b0db9202f34cecb988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43071498-19aa-4880-9130-a048892b2fde/img_6d71892747d2a607eb0d7f2d680bab41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43071498-19aa-4880-9130-a048892b2fde/img_7e8c0438571e12a0ac0c8122d9037fe8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27432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Codificar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traduz sua ideia em palavras, sinais ou imagens compreensíveis.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320040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Transmitir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viaja pelo canal físico ou digital escolhido até o destino.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12648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Decodificar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interpreta os sinais e reconstrói o sentido em sua 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274320" y="96012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Conceito de Ruído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74320" y="179451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teoria da comunicação,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absolutamente qualquer perturbação que degrade 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 não se limita a barulho de trânsito ou música alta: pode ser letra ilegível, conexão lenta, desatenção mental ou palavras com duplo sentido.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f8dae7e4fae6a98893a858ef4ed11632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Tipos de Ruído e Barreiras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d0c8f2fa4291e5f26fbd56c5ecfadd61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/>
          <p:nvPr/>
        </p:nvSpPr>
        <p:spPr>
          <a:xfrm>
            <a:off x="1017270" y="1074420"/>
            <a:ext cx="336042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Físico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Barulho alto de trânsito, sinal de telefone oscilando ou sala barulhenta.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86679552034fe19ecc8850e53550bd4b.png"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6310" y="10744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5360670" y="1074420"/>
            <a:ext cx="336042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Semântico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Termos técnicos desconhecidos, gírias regionais e ambiguidades gramaticais.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96ceca006a47892081473ad5c8011cf7.png" id="248" name="Google Shape;2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1017270" y="3097530"/>
            <a:ext cx="336042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Psicológico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Preconceito, ansiedade, raiva ou desinteresse que bloqueiam a escuta.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1de149ec4cc2565ac2db1130018906cc.png" id="251" name="Google Shape;2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6310" y="309753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/>
          <p:nvPr/>
        </p:nvSpPr>
        <p:spPr>
          <a:xfrm>
            <a:off x="5360670" y="3097530"/>
            <a:ext cx="336042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Fisiológico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Cansaço extremo, perda auditiva momentânea, sono ou dores físicas intensas.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os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3829050" y="13144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produz e envia a informação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Interferência que atrapalha a compreensão exata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Sistema de sinais convencionados (ex.: a língua)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829050" y="40576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Meio físico ou digital pelo qual a mensagem viaja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os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3829050" y="13144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produz e envia a informação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Interferência que atrapalha a compreensão exata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Sistema de sinais convencionados (ex.: a língua)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829050" y="40576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Meio físico ou digital pelo qual a mensagem viaja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25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25"/>
          <p:cNvCxnSpPr/>
          <p:nvPr/>
        </p:nvCxnSpPr>
        <p:spPr>
          <a:xfrm>
            <a:off x="2571750" y="2537460"/>
            <a:ext cx="994410" cy="820674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25"/>
          <p:cNvCxnSpPr/>
          <p:nvPr/>
        </p:nvCxnSpPr>
        <p:spPr>
          <a:xfrm>
            <a:off x="2571750" y="3451860"/>
            <a:ext cx="994410" cy="820674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25"/>
          <p:cNvCxnSpPr/>
          <p:nvPr/>
        </p:nvCxnSpPr>
        <p:spPr>
          <a:xfrm flipH="1" rot="10800000">
            <a:off x="2571750" y="1529334"/>
            <a:ext cx="994410" cy="2836926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5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394710" y="31866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3394710" y="41010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394710" y="13578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Importância do Contexto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274320" y="1405890"/>
            <a:ext cx="4709160" cy="208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contexto (ou referente) é a situação real que envolve a conversa: o lugar, o momento histórico e as relações sociais entre os participantes.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frase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"Está muito frio aqui"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pode ser apenas uma constatação climática na rua ou um pedido educado para fechar a janela em uma sala fechada.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274320" y="362331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388620" y="373761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754380" y="373761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Sem contexto, as palavras perdem a sua real intenção comunicativa.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8f03f4d259873b6e4165e26f3a548a01.png" id="302" name="Google Shape;3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/>
          <p:nvPr/>
        </p:nvSpPr>
        <p:spPr>
          <a:xfrm>
            <a:off x="274320" y="182880"/>
            <a:ext cx="27432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Circunstância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274320" y="92583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peso do ambiente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f3189fbd9eb139e93ead7216a900fe08.png" id="310" name="Google Shape;3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401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/>
          <p:nvPr/>
        </p:nvSpPr>
        <p:spPr>
          <a:xfrm>
            <a:off x="3291840" y="182880"/>
            <a:ext cx="5577840" cy="2491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Ambiente Determina o Tom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piada descontraída que funciona perfeitamente no recreio pode ser considerada desrespeitosa durante uma entrevista de trabalho formal.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comunicador habilidoso avalia constantemente o ambiente físico, o grau de intimidade e a hierarquia social antes de escolher suas expressões.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Intencional vs Não Intencional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6317edd740fb00053628253dd878124e.png" id="318" name="Google Shape;3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19" name="Google Shape;319;p28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Intencional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planeja conscientemente o objetivo: convencer, ensinar ou pedir algo a alguém.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9e11a80e2be943a3da9b9962e5df27d9.png" id="320" name="Google Shape;32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21" name="Google Shape;321;p28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Intencional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Gestos involuntários, suspiros e olhares para o relógio que revelam tédio ou nervosismo sem querer.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/>
          <p:nvPr/>
        </p:nvSpPr>
        <p:spPr>
          <a:xfrm>
            <a:off x="274320" y="96012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da Empatia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274320" y="179451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Empatia comunicativa é a capacidade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calibrar sua fala considerando a realidade do outro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tem empatia não presume que o outro sabe tudo o que ele sabe. Explica com paciência, escolhe termos acessíveis e confere se foi compreendido.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16fa6488deaaae9fe22c90d2b912224e.png" id="329" name="Google Shape;3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74320" y="971550"/>
            <a:ext cx="203454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RETROALIMENTAÇÃO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274320" y="1371600"/>
            <a:ext cx="411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é a resposta do receptor ao emissor original, fechando o ciclo comunicativo completo.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por meio do feedback que o emissor verifica se a mensagem foi decodificada corretamente ou se precisa corrigir ruídos e reformular explicações.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37359dc9a0ddefb2ea0dbc44b327f9ce.png"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 ou Falso?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é desnecessário se o emissor tiver certeza de que formulou a frase com clareza.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 ou Falso?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é desnecessário se o emissor tiver certeza de que formulou a frase com clareza.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 clareza percebida pelo emissor não garante que o receptor decodificou sem ruídos ou interpretações imprevistas.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 Comunicação Falha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62454187c5811dcd351164cc3a35369d.png" id="368" name="Google Shape;3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3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Horários Omissos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Avisar "encontro à tarde" gera atrasos porque o emissor não especificou a hora exata.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ddaad1346d7787772a55bca26ac8ec01.png"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Pontuação Falha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falta de uma vírgula pode alterar radicalmente ordens e avisos contratuais.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5f17b3040261930decac6c135bcc4b38.png" id="374" name="Google Shape;37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3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Jargão Excessivo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siglas técnicas com quem não é da área isola o receptor e paralisa decisões.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43071498-19aa-4880-9130-a048892b2fde/img_7460224c239f30e755518530529ba345.png" id="377" name="Google Shape;37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Escuta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Focar apenas na própria resposta antes de ouvir o que a outra pessoa tem a dizer.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/>
          <p:nvPr/>
        </p:nvSpPr>
        <p:spPr>
          <a:xfrm>
            <a:off x="274320" y="182880"/>
            <a:ext cx="48006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E-mail Confuso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274320" y="1360170"/>
            <a:ext cx="4800600" cy="23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“Favor enviar aquele arquivo urgente para a equipe antes da reunião de amanhã.”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arquivo?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emissor presumiu que o receptor saberia de imediato.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horário?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“Antes da reunião” é vago: meia hora antes ou às 8h?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envia?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comando foi emitido no vácuo, sem destinatário direto.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274320" y="3840480"/>
            <a:ext cx="4800600" cy="1234440"/>
          </a:xfrm>
          <a:prstGeom prst="roundRect">
            <a:avLst>
              <a:gd fmla="val 7407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388620" y="395478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754380" y="390906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Instruções vagas geram ansiedade e atrasam equipes.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80515c7e94c1038481c06293382bd0c4.png" id="389" name="Google Shape;38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82880"/>
            <a:ext cx="3657600" cy="46863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Mapeando uma Situação Real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a3a7ddca13789d30b7438c632cda69d2.png" id="396" name="Google Shape;39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7" name="Google Shape;397;p35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Consulta Médica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Emissor: médico; Receptor: paciente; Código: termos acessíveis; Canal: ar e receita impressa.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5e3efd31b6c85296d00caaa5a2befac3.png" id="398" name="Google Shape;39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9" name="Google Shape;399;p35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Apito no Futebol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Emissor: árbitro; Receptor: jogadores; Código: cartões e silvos; Canal: ondas sonoras e luz.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 Ciclo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do ciclo da comunicação eficaz: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viaja pelo canal até o receptor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fornece feedback ao emissor original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decodifica e interpreta os sinais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codifica a ideia em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 Ciclo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os passos do ciclo da comunicação eficaz: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viaja pelo canal até o receptor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fornece feedback ao emissor original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decodifica e interpreta os sinais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codifica a ideia em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para Comunicar com Sucesso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Escolha palavras simples e diretas, eliminando rodeios desnecessários.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Ajuste o vocabulário e o tom ao contexto social e ao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 Ativa: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Preste atenção genuína ao feedback recebido para validar o entendimento.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Ética na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274320" y="1405890"/>
            <a:ext cx="4503420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é um ato de responsabilidade social e moral diante das outras pessoas.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Veracidade: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Não propagar informações falsas ou dados distorcidos.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Rejeitar agressões verbais, ironias cruéis e ofensas preconceituosas.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Privacidade: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Proteger conversas confidenciais e dados pessoais alheios.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43071498-19aa-4880-9130-a048892b2fde/img_a10654f32dc55f9a8f3da78b3f911f04.png" id="449" name="Google Shape;44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43071498-19aa-4880-9130-a048892b2fde/img_88f2cf22d50efe57d124336ea25cb3a9.png"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43071498-19aa-4880-9130-a048892b2fde/img_20cd86373eda654d8e54950efdca201c.png" id="456" name="Google Shape;45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Mapeando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Pense em um mal-entendido recente.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era o emissor? Qual o canal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 que ruído causou a confusão?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43071498-19aa-4880-9130-a048892b2fde/img_88f2cf22d50efe57d124336ea25cb3a9.png" id="464" name="Google Shape;46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Mapeando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se o ruído foi físico (barulho, mensagem quebrada), semântico (palavra com duplo sentido) ou psicológico (pressa, raiva).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como um feedback claro poderia ter evitado o desentendimento na hora.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43071498-19aa-4880-9130-a048892b2fde/img_352cfacad9ad2fd4acc2c1a06cb73d25.png" id="473" name="Google Shape;47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2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 na Jornada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 você aprendeu os alicerces do processo comunicativo: emissor, receptor, mensagem, canal, código, contexto e ruído.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vamos aprofundar as dinâmicas do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1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explorando como o feedback e a clareza estruturam interações profissionais de alto nível!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