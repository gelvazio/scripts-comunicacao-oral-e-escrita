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5143500" cy="9144000"/>
  <p:embeddedFontLst>
    <p:embeddedFont>
      <p:font typeface="Lexend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Lexend-regular.fntdata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font" Target="fonts/Lexend-bold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41.png"/><Relationship Id="rId5" Type="http://schemas.openxmlformats.org/officeDocument/2006/relationships/image" Target="../media/image32.png"/><Relationship Id="rId6" Type="http://schemas.openxmlformats.org/officeDocument/2006/relationships/image" Target="../media/image38.png"/><Relationship Id="rId7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3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4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5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5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5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5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Relationship Id="rId4" Type="http://schemas.openxmlformats.org/officeDocument/2006/relationships/image" Target="../media/image6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Relationship Id="rId4" Type="http://schemas.openxmlformats.org/officeDocument/2006/relationships/image" Target="../media/image6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Relationship Id="rId4" Type="http://schemas.openxmlformats.org/officeDocument/2006/relationships/image" Target="../media/image59.png"/><Relationship Id="rId5" Type="http://schemas.openxmlformats.org/officeDocument/2006/relationships/image" Target="../media/image58.png"/><Relationship Id="rId6" Type="http://schemas.openxmlformats.org/officeDocument/2006/relationships/image" Target="../media/image6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Relationship Id="rId4" Type="http://schemas.openxmlformats.org/officeDocument/2006/relationships/image" Target="../media/image6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6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jpg"/><Relationship Id="rId4" Type="http://schemas.openxmlformats.org/officeDocument/2006/relationships/image" Target="../media/image7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jpg"/><Relationship Id="rId4" Type="http://schemas.openxmlformats.org/officeDocument/2006/relationships/image" Target="../media/image7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7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7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7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Relationship Id="rId4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365760" y="274320"/>
            <a:ext cx="4297680" cy="4594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Redação de Memorandos e Comunicações Internas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Agilidade, clareza e alinhamento na rotina corporativa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21556f9306e14f3b64cc8433f25e3c15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274320" y="274320"/>
            <a:ext cx="49377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acontece quando o recado falha?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74320" y="1543050"/>
            <a:ext cx="493776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Imagine uma equipe inteira que chega para trabalhar no sábado porque uma mensagem interna dizia apenas: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"Favor comparecer para alinhamento urgente neste fim de semana"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sem definir horários, departamentos envolvidos ou tarefas.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ambiente de trabalho, textos vagos geram retrabalho, perda de tempo e desmotivação. Como garantir que uma mensagem interna seja cumprida com exatidão?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e119544076ba901d22a6150fb53ff564.png" id="25" name="Google Shape;2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da Nossa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Distinguir as funções e formatos de memorando, comunicado interno e circular.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Identificar e aplicar a estrutura enxuta de um memorando com ações e prazos nítidos.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Redigir mensagens institucionais claras, evitando burocracia excessiva e jargões.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Essencial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67add1954bddc4be4c170ce140dc1bbc.png" id="47" name="Google Shape;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4973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274320" y="361188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Memorando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Texto ágil entre setores para pedidos ou avisos internos.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5430f8ab273d61804ad4d862d179eeb7.png" id="49" name="Google Shape;4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2468880" y="304038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Comunicado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Aviso oficial voltado para toda a equipe ou empresa.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23751c2a65f32a1fd3aa358fcc066cf7.png" id="51" name="Google Shape;5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4973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4663440" y="3211830"/>
            <a:ext cx="20116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Concisão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Capacidade de transmitir o essencial com poucas palavras exatas.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42b2199e39011152f8d49b03b3fcfca8.png" id="53" name="Google Shape;5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6858000" y="304038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Orientação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Instrução prática que guia o cumprimento de uma tarefa.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80fc03e5-5011-4cc0-b0f7-59600583d327/img_3b8d5c8503a3d8c5c8f50ba050c84a41.png" id="60" name="Google Shape;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/>
          <p:nvPr/>
        </p:nvSpPr>
        <p:spPr>
          <a:xfrm>
            <a:off x="251460" y="2331720"/>
            <a:ext cx="165735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02850" spcFirstLastPara="1" rIns="1028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RECAPITULAÇÃO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251460" y="2686050"/>
            <a:ext cx="864108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aprendemos sobre Relatórios Técnicos?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251460" y="3863340"/>
            <a:ext cx="8641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relatório técnico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investiga situações complexas com introdução, desenvolvimento, conclusão e recomendações.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Exige dados concretos e imparcialidade para fundamentar decisões corporativas estratégicas.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Revisão: Relatório Técnico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elemento é indispensável na redação de um relatório técnico profissional?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Opiniões subjetivas e desabafos sobre o clima de trabalho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 impessoal baseada em fatos, dados e evidências verificáveis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Omissão da metodologia utilizada para coletar as informações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Linguagem poética e uso livre de gírias corporativas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Revisão: Relatório Técnico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elemento é indispensável na redação de um relatório técnico profissional?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Opiniões subjetivas e desabafos sobre o clima de trabalho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 impessoal baseada em fatos, dados e evidências verificáveis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Omissão da metodologia utilizada para coletar as informações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Linguagem poética e uso livre de gírias corporativas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/>
          <p:nvPr/>
        </p:nvSpPr>
        <p:spPr>
          <a:xfrm>
            <a:off x="274320" y="582930"/>
            <a:ext cx="174879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02850" spcFirstLastPara="1" rIns="1028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CONCEITO CHAVE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274320" y="982980"/>
            <a:ext cx="4709160" cy="3497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é um Memorando Corporativo?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memorando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é o gênero textual utilizado para a comunicação interna e direta entre setores, departamentos ou filiais de uma mesma organização.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Diferente de relatórios extensos, sua finalidade principal é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acionar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solicitar providências, informar decisões imediatas ou alinhar processos pontuais de forma rápida e protocolada.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23f29d88e4b6f64b25837acba1104a13.png" id="103" name="Google Shape;10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674370"/>
            <a:ext cx="3703320" cy="3703320"/>
          </a:xfrm>
          <a:prstGeom prst="roundRect">
            <a:avLst>
              <a:gd fmla="val 370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/>
          <p:nvPr/>
        </p:nvSpPr>
        <p:spPr>
          <a:xfrm>
            <a:off x="274320" y="182880"/>
            <a:ext cx="27432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 o memorando existe?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274320" y="1805940"/>
            <a:ext cx="274320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Três razões que mantêm o memorando ativo nas empresas modernas.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1dcb55d884079d7790c5c77b833a159d.png" id="111" name="Google Shape;11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83464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1"/>
          <p:cNvSpPr/>
          <p:nvPr/>
        </p:nvSpPr>
        <p:spPr>
          <a:xfrm>
            <a:off x="3291840" y="354330"/>
            <a:ext cx="5577840" cy="1325880"/>
          </a:xfrm>
          <a:prstGeom prst="roundRect">
            <a:avLst>
              <a:gd fmla="val 6897" name="adj"/>
            </a:avLst>
          </a:prstGeom>
          <a:solidFill>
            <a:srgbClr val="F0F1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1"/>
          <p:cNvSpPr/>
          <p:nvPr/>
        </p:nvSpPr>
        <p:spPr>
          <a:xfrm>
            <a:off x="3429000" y="491490"/>
            <a:ext cx="365760" cy="36576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3931920" y="491490"/>
            <a:ext cx="4800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Registro e Rastreabilidade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Cria comprovação formal de que um pedido ou aviso foi entregue entre setores.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3291840" y="1863090"/>
            <a:ext cx="5577840" cy="1325880"/>
          </a:xfrm>
          <a:prstGeom prst="roundRect">
            <a:avLst>
              <a:gd fmla="val 6897" name="adj"/>
            </a:avLst>
          </a:prstGeom>
          <a:solidFill>
            <a:srgbClr val="F0F1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/>
          <p:nvPr/>
        </p:nvSpPr>
        <p:spPr>
          <a:xfrm>
            <a:off x="3429000" y="2000250"/>
            <a:ext cx="365760" cy="36576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3931920" y="2000250"/>
            <a:ext cx="4800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Economia de Tempo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Elimina formalidades cerimoniais em excesso para focar diretamente na ação esperada.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3291840" y="3371850"/>
            <a:ext cx="5577840" cy="1325880"/>
          </a:xfrm>
          <a:prstGeom prst="roundRect">
            <a:avLst>
              <a:gd fmla="val 6897" name="adj"/>
            </a:avLst>
          </a:prstGeom>
          <a:solidFill>
            <a:srgbClr val="F0F1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1"/>
          <p:cNvSpPr/>
          <p:nvPr/>
        </p:nvSpPr>
        <p:spPr>
          <a:xfrm>
            <a:off x="3429000" y="3509010"/>
            <a:ext cx="365760" cy="36576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3931920" y="3509010"/>
            <a:ext cx="4800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Alinhamento Operacional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Define com exatidão quem deve fazer o quê e até que momento.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Três Formatos de Comunicação Interna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523cc8409eac9c8e55cbd9117753c3a9.png" id="127" name="Google Shape;12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128" name="Google Shape;128;p12"/>
          <p:cNvSpPr/>
          <p:nvPr/>
        </p:nvSpPr>
        <p:spPr>
          <a:xfrm>
            <a:off x="274320" y="2834640"/>
            <a:ext cx="281178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Memorando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horizontal ou vertical pontual: de um departamento para outro específico (ex: RH para Compras).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59ec3a27f0d983c3bf3ed632e656001e.png" id="129" name="Google Shape;12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130" name="Google Shape;130;p12"/>
          <p:cNvSpPr/>
          <p:nvPr/>
        </p:nvSpPr>
        <p:spPr>
          <a:xfrm>
            <a:off x="3166110" y="2834640"/>
            <a:ext cx="281178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Comunicado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Mensagem ampla, direcionada a toda a organização ou unidade sobre regras, avisos gerais ou novos horários.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646060e2fcc1a0cba5329962edba708e.png" id="131" name="Google Shape;13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132" name="Google Shape;132;p12"/>
          <p:cNvSpPr/>
          <p:nvPr/>
        </p:nvSpPr>
        <p:spPr>
          <a:xfrm>
            <a:off x="6069330" y="2834640"/>
            <a:ext cx="281178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Circular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Texto idêntico distribuído simultaneamente a múltiplos setores para uniformizar uma norma ou instrução geral.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Comparativo Rápido dos Formatos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274320" y="925830"/>
            <a:ext cx="4251960" cy="2000250"/>
          </a:xfrm>
          <a:prstGeom prst="roundRect">
            <a:avLst>
              <a:gd fmla="val 685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3"/>
          <p:cNvSpPr/>
          <p:nvPr/>
        </p:nvSpPr>
        <p:spPr>
          <a:xfrm>
            <a:off x="411480" y="1245870"/>
            <a:ext cx="3977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Memorando: Alvo Preciso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Trata de demandas práticas entre setores. Exemplo: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Solicitação de computadores para a recepção.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4617720" y="925830"/>
            <a:ext cx="4251960" cy="2000250"/>
          </a:xfrm>
          <a:prstGeom prst="roundRect">
            <a:avLst>
              <a:gd fmla="val 685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"/>
          <p:cNvSpPr/>
          <p:nvPr/>
        </p:nvSpPr>
        <p:spPr>
          <a:xfrm>
            <a:off x="4754880" y="1245870"/>
            <a:ext cx="3977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Comunicado: Notícia Geral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Informa eventos ou mudanças institucionais. Exemplo: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Horário de atendimento no feriado.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274320" y="3017520"/>
            <a:ext cx="4251960" cy="2000250"/>
          </a:xfrm>
          <a:prstGeom prst="roundRect">
            <a:avLst>
              <a:gd fmla="val 685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3"/>
          <p:cNvSpPr/>
          <p:nvPr/>
        </p:nvSpPr>
        <p:spPr>
          <a:xfrm>
            <a:off x="411480" y="3154680"/>
            <a:ext cx="3977640" cy="1725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Circular: Diretriz Padronizada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Regra geral obrigatória. Exemplo: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Normas de segurança para crachás em todas as unidades.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4617720" y="3017520"/>
            <a:ext cx="4251960" cy="2000250"/>
          </a:xfrm>
          <a:prstGeom prst="roundRect">
            <a:avLst>
              <a:gd fmla="val 685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3"/>
          <p:cNvSpPr/>
          <p:nvPr/>
        </p:nvSpPr>
        <p:spPr>
          <a:xfrm>
            <a:off x="4754880" y="3337560"/>
            <a:ext cx="3977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Ponto em Comum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Todos exigem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clareza documental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datação e linguagem objetiva para evitar dúvidas.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Conexão de Conceitos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Concisão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Circular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Memorando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Comunicado Interno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Mensagem direta entre setores específicos para requisições pontuais.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Aviso oficial amplo direcionado a todos os membros da empresa.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Documento de teor idêntico enviado a múltiplos departamentos.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Habilidade de expressar o conteúdo essencial sem rodeios.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Conexão de Conceitos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Concisão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Circular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Memorando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Comunicado Interno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Mensagem direta entre setores específicos para requisições pontuais.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Aviso oficial amplo direcionado a todos os membros da empresa.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Documento de teor idêntico enviado a múltiplos departamentos.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Habilidade de expressar o conteúdo essencial sem rodeios.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15"/>
          <p:cNvCxnSpPr/>
          <p:nvPr/>
        </p:nvCxnSpPr>
        <p:spPr>
          <a:xfrm>
            <a:off x="2571750" y="1623060"/>
            <a:ext cx="994410" cy="2772918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15"/>
          <p:cNvCxnSpPr/>
          <p:nvPr/>
        </p:nvCxnSpPr>
        <p:spPr>
          <a:xfrm>
            <a:off x="2571750" y="2537460"/>
            <a:ext cx="994410" cy="944118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15"/>
          <p:cNvCxnSpPr/>
          <p:nvPr/>
        </p:nvCxnSpPr>
        <p:spPr>
          <a:xfrm flipH="1" rot="10800000">
            <a:off x="2571750" y="1652778"/>
            <a:ext cx="994410" cy="1799082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15"/>
          <p:cNvCxnSpPr/>
          <p:nvPr/>
        </p:nvCxnSpPr>
        <p:spPr>
          <a:xfrm flipH="1" rot="10800000">
            <a:off x="2571750" y="2567178"/>
            <a:ext cx="994410" cy="1799082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15"/>
          <p:cNvSpPr/>
          <p:nvPr/>
        </p:nvSpPr>
        <p:spPr>
          <a:xfrm>
            <a:off x="3394710" y="42245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3394710" y="33101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3394710" y="14813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Anatomia Enxuta do Memorando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20067eb06b1bb7b9e9e6ee914b7032ac.png" id="192" name="Google Shape;19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01168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6"/>
          <p:cNvSpPr/>
          <p:nvPr/>
        </p:nvSpPr>
        <p:spPr>
          <a:xfrm>
            <a:off x="18288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274320" y="3406140"/>
            <a:ext cx="20116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Cabeçalho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 Remetente, Destinatário, Data e Número.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f12f086378219f748e477c6dc564e6ef.png" id="195" name="Google Shape;19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25830"/>
            <a:ext cx="201168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6"/>
          <p:cNvSpPr/>
          <p:nvPr/>
        </p:nvSpPr>
        <p:spPr>
          <a:xfrm>
            <a:off x="237744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6"/>
          <p:cNvSpPr/>
          <p:nvPr/>
        </p:nvSpPr>
        <p:spPr>
          <a:xfrm>
            <a:off x="2468880" y="3623310"/>
            <a:ext cx="201168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Assunto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Resumo direto do tema em poucas palavras-chave.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7384fc16856f53521e95516857b18712.png" id="198" name="Google Shape;19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925830"/>
            <a:ext cx="201168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6"/>
          <p:cNvSpPr/>
          <p:nvPr/>
        </p:nvSpPr>
        <p:spPr>
          <a:xfrm>
            <a:off x="457200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6"/>
          <p:cNvSpPr/>
          <p:nvPr/>
        </p:nvSpPr>
        <p:spPr>
          <a:xfrm>
            <a:off x="4663440" y="3623310"/>
            <a:ext cx="201168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Corpo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Motivo e contexto sem introduções desnecessárias.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df5c4eded5134ea98914931b7293e282.png" id="201" name="Google Shape;20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25830"/>
            <a:ext cx="201168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6"/>
          <p:cNvSpPr/>
          <p:nvPr/>
        </p:nvSpPr>
        <p:spPr>
          <a:xfrm>
            <a:off x="676656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6"/>
          <p:cNvSpPr/>
          <p:nvPr/>
        </p:nvSpPr>
        <p:spPr>
          <a:xfrm>
            <a:off x="6858000" y="3406140"/>
            <a:ext cx="20116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 Ação e Fecho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Ação necessária, prazo limite e assinatura do emissor.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"/>
          <p:cNvSpPr/>
          <p:nvPr/>
        </p:nvSpPr>
        <p:spPr>
          <a:xfrm>
            <a:off x="274320" y="194310"/>
            <a:ext cx="126873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ESTRUTURA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274320" y="594360"/>
            <a:ext cx="4114800" cy="4263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Cabeçalho Padrão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cabeçalho do memorando deve responder imediatamente a quatro perguntas essenciais do leitor: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Departamento ou cargo de destino.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Departamento ou responsável emissor.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Data: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Registro cronológico exato (ex: 15 de abril de 2026).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Número: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Identificador oficial (ex: Mem. nº 042/2026).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f06d55fd560e806e842a25c00b0fdb56.png" id="211" name="Google Shape;21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582930"/>
            <a:ext cx="4114800" cy="3886200"/>
          </a:xfrm>
          <a:prstGeom prst="roundRect">
            <a:avLst>
              <a:gd fmla="val 3529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Linha de Assunto Perfeita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274320" y="1645920"/>
            <a:ext cx="46634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linha de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Assunto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sintetiza o documento. Se for vaga, o leitor não saberá a urgência nem a prioridade do memorando.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274320" y="2880360"/>
            <a:ext cx="45720" cy="49149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8"/>
          <p:cNvSpPr/>
          <p:nvPr/>
        </p:nvSpPr>
        <p:spPr>
          <a:xfrm>
            <a:off x="320040" y="2880360"/>
            <a:ext cx="4617720" cy="491490"/>
          </a:xfrm>
          <a:prstGeom prst="roundRect">
            <a:avLst>
              <a:gd fmla="val 9302" name="adj"/>
            </a:avLst>
          </a:prstGeom>
          <a:solidFill>
            <a:srgbClr val="FDE8E8"/>
          </a:solidFill>
          <a:ln>
            <a:noFill/>
          </a:ln>
        </p:spPr>
        <p:txBody>
          <a:bodyPr anchorCtr="0" anchor="t" bIns="114300" lIns="114300" spcFirstLastPara="1" rIns="114300" wrap="square" tIns="1143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A1A1A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A1A1A"/>
                </a:solidFill>
                <a:latin typeface="Lexend"/>
                <a:ea typeface="Lexend"/>
                <a:cs typeface="Lexend"/>
                <a:sym typeface="Lexend"/>
              </a:rPr>
              <a:t>❌ </a:t>
            </a:r>
            <a:r>
              <a:rPr b="1" i="0" lang="en-US" sz="1440" u="none" cap="none" strike="noStrike">
                <a:solidFill>
                  <a:srgbClr val="5A1A1A"/>
                </a:solidFill>
                <a:latin typeface="Lexend"/>
                <a:ea typeface="Lexend"/>
                <a:cs typeface="Lexend"/>
                <a:sym typeface="Lexend"/>
              </a:rPr>
              <a:t>Vago:</a:t>
            </a:r>
            <a:r>
              <a:rPr b="0" i="0" lang="en-US" sz="1440" u="none" cap="none" strike="noStrike">
                <a:solidFill>
                  <a:srgbClr val="5A1A1A"/>
                </a:solidFill>
                <a:latin typeface="Lexend"/>
                <a:ea typeface="Lexend"/>
                <a:cs typeface="Lexend"/>
                <a:sym typeface="Lexend"/>
              </a:rPr>
              <a:t> Assunto: Reunião / Pedido / Dúvidas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274320" y="3509010"/>
            <a:ext cx="45720" cy="7429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320040" y="3509010"/>
            <a:ext cx="4617720" cy="742950"/>
          </a:xfrm>
          <a:prstGeom prst="roundRect">
            <a:avLst>
              <a:gd fmla="val 6154" name="adj"/>
            </a:avLst>
          </a:prstGeom>
          <a:solidFill>
            <a:srgbClr val="E8F5E9"/>
          </a:solidFill>
          <a:ln>
            <a:noFill/>
          </a:ln>
        </p:spPr>
        <p:txBody>
          <a:bodyPr anchorCtr="0" anchor="t" bIns="114300" lIns="114300" spcFirstLastPara="1" rIns="114300" wrap="square" tIns="1143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1B5E20"/>
                </a:solidFill>
                <a:latin typeface="Lexend"/>
                <a:ea typeface="Lexend"/>
                <a:cs typeface="Lexend"/>
                <a:sym typeface="Lexend"/>
              </a:rPr>
              <a:t>✔ </a:t>
            </a:r>
            <a:r>
              <a:rPr b="1" i="0" lang="en-US" sz="1440" u="none" cap="none" strike="noStrike">
                <a:solidFill>
                  <a:srgbClr val="1B5E20"/>
                </a:solidFill>
                <a:latin typeface="Lexend"/>
                <a:ea typeface="Lexend"/>
                <a:cs typeface="Lexend"/>
                <a:sym typeface="Lexend"/>
              </a:rPr>
              <a:t>Específico:</a:t>
            </a:r>
            <a:r>
              <a:rPr b="0" i="0" lang="en-US" sz="1440" u="none" cap="none" strike="noStrike">
                <a:solidFill>
                  <a:srgbClr val="1B5E20"/>
                </a:solidFill>
                <a:latin typeface="Lexend"/>
                <a:ea typeface="Lexend"/>
                <a:cs typeface="Lexend"/>
                <a:sym typeface="Lexend"/>
              </a:rPr>
              <a:t> Assunto: Convocação para alinhamento de metas do 2º trimestre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f099308a1ed029010beb972823f9e88a.png" id="223" name="Google Shape;22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2080" y="1463040"/>
            <a:ext cx="3657600" cy="2971800"/>
          </a:xfrm>
          <a:prstGeom prst="roundRect">
            <a:avLst>
              <a:gd fmla="val 461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Regra de Ouro: Concisão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274320" y="1017270"/>
            <a:ext cx="4720590" cy="2274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memorandos,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menos é mais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 Elimine introduções enroladas como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"Venho por meio deste informar que através da presente mensagem..."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Vá direto ao ponto no primeiro parágrafo: indique o fato, a razão e a necessidade da comunicação em uma ou duas frases diretas.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274320" y="3474720"/>
            <a:ext cx="4720590" cy="1303020"/>
          </a:xfrm>
          <a:prstGeom prst="roundRect">
            <a:avLst>
              <a:gd fmla="val 7018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400050" y="3600450"/>
            <a:ext cx="320040" cy="468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2070"/>
              <a:buFont typeface="Lexend"/>
              <a:buNone/>
            </a:pPr>
            <a:r>
              <a:rPr b="0" i="0" lang="en-US" sz="207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💡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765810" y="3600450"/>
            <a:ext cx="410337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Dica prática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Se uma palavra pode ser cortada sem alterar o sentido do pedido, corte-a.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d6da8443856c61d78449415a79a76aee.png" id="234" name="Google Shape;23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7790" y="1268730"/>
            <a:ext cx="3691890" cy="3257550"/>
          </a:xfrm>
          <a:prstGeom prst="roundRect">
            <a:avLst>
              <a:gd fmla="val 421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80fc03e5-5011-4cc0-b0f7-59600583d327/img_e55ecfe6702459449ae20917630e639d.png" id="240" name="Google Shape;24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14400"/>
            <a:ext cx="85725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 do Memorando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cabeçalho do memorando indica o ____ e o remetente, enquanto o corpo do texto exige ____ para focar diretamente na solicitação principal.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Banco de palavras 🏦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285750" y="3771900"/>
            <a:ext cx="232029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longo preâmbulo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2743200" y="3771900"/>
            <a:ext cx="116586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poesia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4046220" y="3771900"/>
            <a:ext cx="193167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destinatário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6115050" y="3771900"/>
            <a:ext cx="10401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anexo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7292340" y="3771900"/>
            <a:ext cx="142875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concisão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80fc03e5-5011-4cc0-b0f7-59600583d327/img_e55ecfe6702459449ae20917630e639d.png" id="254" name="Google Shape;25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14400"/>
            <a:ext cx="85725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 do Memorando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cabeçalho do memorando indica o </a:t>
            </a:r>
            <a:r>
              <a:rPr b="1" i="0" lang="en-US" sz="1620" u="none" cap="none" strike="noStrike">
                <a:solidFill>
                  <a:srgbClr val="2C6E49"/>
                </a:solidFill>
                <a:latin typeface="Lexend"/>
                <a:ea typeface="Lexend"/>
                <a:cs typeface="Lexend"/>
                <a:sym typeface="Lexend"/>
              </a:rPr>
              <a:t>destinatário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o remetente, enquanto o corpo do texto exige </a:t>
            </a:r>
            <a:r>
              <a:rPr b="1" i="0" lang="en-US" sz="1620" u="none" cap="none" strike="noStrike">
                <a:solidFill>
                  <a:srgbClr val="2C6E49"/>
                </a:solidFill>
                <a:latin typeface="Lexend"/>
                <a:ea typeface="Lexend"/>
                <a:cs typeface="Lexend"/>
                <a:sym typeface="Lexend"/>
              </a:rPr>
              <a:t>concisão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para focar diretamente na solicitação principal.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Banco de palavras 🏦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285750" y="3771900"/>
            <a:ext cx="232029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Lexend"/>
                <a:ea typeface="Lexend"/>
                <a:cs typeface="Lexend"/>
                <a:sym typeface="Lexend"/>
              </a:rPr>
              <a:t>longo preâmbulo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2743200" y="3771900"/>
            <a:ext cx="116586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Lexend"/>
                <a:ea typeface="Lexend"/>
                <a:cs typeface="Lexend"/>
                <a:sym typeface="Lexend"/>
              </a:rPr>
              <a:t>poesia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4046220" y="3771900"/>
            <a:ext cx="193167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destinatário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6115050" y="3771900"/>
            <a:ext cx="10401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Lexend"/>
                <a:ea typeface="Lexend"/>
                <a:cs typeface="Lexend"/>
                <a:sym typeface="Lexend"/>
              </a:rPr>
              <a:t>anexo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7292340" y="3771900"/>
            <a:ext cx="142875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concisão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"/>
          <p:cNvSpPr/>
          <p:nvPr/>
        </p:nvSpPr>
        <p:spPr>
          <a:xfrm>
            <a:off x="274320" y="182880"/>
            <a:ext cx="27432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Ações e Prazos Nítidos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274320" y="1805940"/>
            <a:ext cx="274320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Sem prazo definido, um pedido institucional nunca é prioridade.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1c4d899a6a7111f13ba4224424e3e86a.png" id="271" name="Google Shape;27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83464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/>
          <p:nvPr/>
        </p:nvSpPr>
        <p:spPr>
          <a:xfrm>
            <a:off x="3291840" y="982980"/>
            <a:ext cx="557784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final do memorando deve responder: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deve ser feito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quem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até quando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3291840" y="1931670"/>
            <a:ext cx="5577840" cy="857250"/>
          </a:xfrm>
          <a:prstGeom prst="roundRect">
            <a:avLst>
              <a:gd fmla="val 10667" name="adj"/>
            </a:avLst>
          </a:prstGeom>
          <a:solidFill>
            <a:srgbClr val="F0F1F1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Evite termos vagos: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"Enviar assim que possível"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ou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"Logo que der"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3291840" y="2926080"/>
            <a:ext cx="45720" cy="114300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2"/>
          <p:cNvSpPr/>
          <p:nvPr/>
        </p:nvSpPr>
        <p:spPr>
          <a:xfrm>
            <a:off x="3337560" y="2926080"/>
            <a:ext cx="5532120" cy="1143000"/>
          </a:xfrm>
          <a:prstGeom prst="roundRect">
            <a:avLst>
              <a:gd fmla="val 8000" name="adj"/>
            </a:avLst>
          </a:prstGeom>
          <a:solidFill>
            <a:srgbClr val="F0F1F1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Use prazos exatos: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"Solicitamos o envio da listagem de materiais até sexta-feira, 24/04, às 17h."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Quem Assina e Quem Autoriza?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274320" y="1200150"/>
            <a:ext cx="126873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ESTRUTURA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274320" y="1600200"/>
            <a:ext cx="4720590" cy="2994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fechamento do memorando encerra a responsabilidade formal da mensagem: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Fecho de cortesia: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Expressões sóbrias como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"Atenciosamente,"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ou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"Cordialmente,"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Assinatura: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Nome completo do emissor.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Cargo ou Função: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Exemplo: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Coordenador de Logística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Identificar o cargo garante que o leitor saiba a autoridade institucional por trás da solicitação.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a58a6a713162244372264f225758d51d.png" id="284" name="Google Shape;28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7790" y="1268730"/>
            <a:ext cx="3691890" cy="3257550"/>
          </a:xfrm>
          <a:prstGeom prst="roundRect">
            <a:avLst>
              <a:gd fmla="val 421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Tom de Voz Institucional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0F1F1"/>
          </a:solidFill>
          <a:ln>
            <a:noFill/>
          </a:ln>
        </p:spPr>
        <p:txBody>
          <a:bodyPr anchorCtr="0" anchor="t" bIns="160000" lIns="160000" spcFirstLastPara="1" rIns="160000" wrap="square" tIns="1600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Respeitoso e Neutro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Mesmo ao cobrar tarefas atrasadas ou apontar erros, o texto corporativo mantém a cordialidade e evita ataques pessoais.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0F1F1"/>
          </a:solidFill>
          <a:ln>
            <a:noFill/>
          </a:ln>
        </p:spPr>
        <p:txBody>
          <a:bodyPr anchorCtr="0" anchor="t" bIns="160000" lIns="160000" spcFirstLastPara="1" rIns="160000" wrap="square" tIns="1600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Voz da Instituição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comunicados para equipes grandes, quem fala é a organização (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"A direção informa..."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), e não apenas a vontade individual.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274320" y="293751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0F1F1"/>
          </a:solidFill>
          <a:ln>
            <a:noFill/>
          </a:ln>
        </p:spPr>
        <p:txBody>
          <a:bodyPr anchorCtr="0" anchor="t" bIns="160000" lIns="160000" spcFirstLastPara="1" rIns="160000" wrap="square" tIns="1600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Sem Informalidade Excessiva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Evite gírias, piadas internas ou abreviações de aplicativos de bate-papo (como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vc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tbm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ou emojis em avisos formais).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4617720" y="293751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0F1F1"/>
          </a:solidFill>
          <a:ln>
            <a:noFill/>
          </a:ln>
        </p:spPr>
        <p:txBody>
          <a:bodyPr anchorCtr="0" anchor="t" bIns="160000" lIns="160000" spcFirstLastPara="1" rIns="160000" wrap="square" tIns="1600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Empatia e Cooperação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Explique o motivo coletivo das mudanças para que os colaboradores compreendam o benefício do alinhamento.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Perigo do Jargão e do Rebuscamento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274320" y="1017270"/>
            <a:ext cx="4720590" cy="2274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Algumas pessoas acreditam que escrever bem no trabalho significa usar termos arcaicos ou palavras difíceis que ninguém entende.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Expressões como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"Outrossim faz-se mister salientar"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apenas criam barreiras. O bom redator escolhe termos claros: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"Além disso, é necessário destacar"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274320" y="3474720"/>
            <a:ext cx="4720590" cy="1303020"/>
          </a:xfrm>
          <a:prstGeom prst="roundRect">
            <a:avLst>
              <a:gd fmla="val 7018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5"/>
          <p:cNvSpPr/>
          <p:nvPr/>
        </p:nvSpPr>
        <p:spPr>
          <a:xfrm>
            <a:off x="400050" y="3600450"/>
            <a:ext cx="320040" cy="468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2070"/>
              <a:buFont typeface="Lexend"/>
              <a:buNone/>
            </a:pPr>
            <a:r>
              <a:rPr b="0" i="0" lang="en-US" sz="207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⚠️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765810" y="3600450"/>
            <a:ext cx="410337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Evite a confusão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Se um termo técnico for indispensável, explique-o brevemente entre parênteses.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1feadfd33b1dfe956566037e27b485b9.png" id="305" name="Google Shape;30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7790" y="1268730"/>
            <a:ext cx="3691890" cy="3257550"/>
          </a:xfrm>
          <a:prstGeom prst="roundRect">
            <a:avLst>
              <a:gd fmla="val 421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Tom e Linguagem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Usar termos muito rebuscados e arcaicos torna o memorando mais eficiente e respeitado no ambiente de trabalho.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Tom e Linguagem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7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Usar termos muito rebuscados e arcaicos torna o memorando mais eficiente e respeitado no ambiente de trabalho.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7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7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7"/>
          <p:cNvSpPr/>
          <p:nvPr/>
        </p:nvSpPr>
        <p:spPr>
          <a:xfrm>
            <a:off x="457200" y="3657600"/>
            <a:ext cx="8229600" cy="1028700"/>
          </a:xfrm>
          <a:prstGeom prst="roundRect">
            <a:avLst>
              <a:gd fmla="val 888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5725" lIns="125725" spcFirstLastPara="1" rIns="125725" wrap="square" tIns="12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🔑 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A burocracia excessiva e o vocabulário rebuscado dificultam a compreensão rápida da solicitação.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7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Transparência Gera Alinhamento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8"/>
          <p:cNvSpPr/>
          <p:nvPr/>
        </p:nvSpPr>
        <p:spPr>
          <a:xfrm>
            <a:off x="274320" y="97155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os colaboradores compreendem as decisões da diretoria, os boatos de corredor perdem força e o foco na produtividade aumenta.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3279e67f3c7d5d0f1db89c967ebefb86.png" id="335" name="Google Shape;33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828800"/>
            <a:ext cx="9144000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/>
          <p:cNvSpPr/>
          <p:nvPr/>
        </p:nvSpPr>
        <p:spPr>
          <a:xfrm>
            <a:off x="274320" y="285750"/>
            <a:ext cx="152019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ALINHAMENTO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9"/>
          <p:cNvSpPr/>
          <p:nvPr/>
        </p:nvSpPr>
        <p:spPr>
          <a:xfrm>
            <a:off x="274320" y="685800"/>
            <a:ext cx="4114800" cy="4080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Impacto de um Comunicado Claro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comunicado interno transparente fortalece a confiança da equipe e reduz a ansiedade durante períodos de mudança.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Ele deve sempre contextualizar a motivação (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"Por que esta decisão foi tomada?"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) antes de apresentar as instruções operacionais aos colaboradores.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63fee5851aaf31ca6aedce1fb5cdc32c.png" id="343" name="Google Shape;34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582930"/>
            <a:ext cx="4114800" cy="3886200"/>
          </a:xfrm>
          <a:prstGeom prst="roundRect">
            <a:avLst>
              <a:gd fmla="val 3529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Evitando Ruídos na Comunicação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c40d02ba009f7b4e7add7a01c3fc2217.png" id="350" name="Google Shape;35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351" name="Google Shape;351;p30"/>
          <p:cNvSpPr/>
          <p:nvPr/>
        </p:nvSpPr>
        <p:spPr>
          <a:xfrm>
            <a:off x="274320" y="2834640"/>
            <a:ext cx="28117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Silêncio Institucional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a gestão demora para avisar sobre mudanças, boatos ocupam o espaço da informação oficial.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9801a6ac544d3937f62fdc38e130a10f.png" id="352" name="Google Shape;35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353" name="Google Shape;353;p30"/>
          <p:cNvSpPr/>
          <p:nvPr/>
        </p:nvSpPr>
        <p:spPr>
          <a:xfrm>
            <a:off x="3166110" y="2834640"/>
            <a:ext cx="281178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Excesso de Detalhes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Textos quilométricos fazem com que o leitor desista da leitura antes de chegar às orientações cruciais.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3d08b7a8aeb3c0e678423aeec5ed1b4e.png" id="354" name="Google Shape;354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355" name="Google Shape;355;p30"/>
          <p:cNvSpPr/>
          <p:nvPr/>
        </p:nvSpPr>
        <p:spPr>
          <a:xfrm>
            <a:off x="6069330" y="2834640"/>
            <a:ext cx="281178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Canal Adequado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Demandas formais exigem memorando ou e-mail documentado; mensagens instantâneas perdem o registro oficial.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Análise Crítica: Modelo Confuso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1"/>
          <p:cNvSpPr/>
          <p:nvPr/>
        </p:nvSpPr>
        <p:spPr>
          <a:xfrm>
            <a:off x="274320" y="1051560"/>
            <a:ext cx="49149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Examine este exemplo de memorando com problemas sérios de redação: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1"/>
          <p:cNvSpPr/>
          <p:nvPr/>
        </p:nvSpPr>
        <p:spPr>
          <a:xfrm>
            <a:off x="274320" y="1863090"/>
            <a:ext cx="45720" cy="184023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1"/>
          <p:cNvSpPr/>
          <p:nvPr/>
        </p:nvSpPr>
        <p:spPr>
          <a:xfrm>
            <a:off x="320040" y="1863090"/>
            <a:ext cx="4869180" cy="1840230"/>
          </a:xfrm>
          <a:prstGeom prst="roundRect">
            <a:avLst>
              <a:gd fmla="val 3727" name="adj"/>
            </a:avLst>
          </a:prstGeom>
          <a:solidFill>
            <a:srgbClr val="F0F1F1"/>
          </a:solidFill>
          <a:ln>
            <a:noFill/>
          </a:ln>
        </p:spPr>
        <p:txBody>
          <a:bodyPr anchorCtr="0" anchor="t" bIns="148575" lIns="148575" spcFirstLastPara="1" rIns="148575" wrap="square" tIns="148575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Almoxarifado |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Todos |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Data: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Ontem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Assunto: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Coisas urgentes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Gostaríamos de avisar que os materiais estão acabando rápido demais e quem quiser coisas precisa mandar o papel logo, senão vai ficar sem nada na semana que vem.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1"/>
          <p:cNvSpPr/>
          <p:nvPr/>
        </p:nvSpPr>
        <p:spPr>
          <a:xfrm>
            <a:off x="274320" y="3703320"/>
            <a:ext cx="4914900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está errado?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Data imprecisa, destinatário genérico, tom acusatório e nenhuma data limite exata para envio dos pedidos.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2a5b684ab03abcaea02d018d04d92ad5.png" id="366" name="Google Shape;36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2100" y="1360170"/>
            <a:ext cx="3497580" cy="3086100"/>
          </a:xfrm>
          <a:prstGeom prst="roundRect">
            <a:avLst>
              <a:gd fmla="val 444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Análise Crítica: Modelo Eficiente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2"/>
          <p:cNvSpPr/>
          <p:nvPr/>
        </p:nvSpPr>
        <p:spPr>
          <a:xfrm>
            <a:off x="274320" y="994410"/>
            <a:ext cx="525780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Veja a versão reestruturada com linguagem concisa: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2"/>
          <p:cNvSpPr/>
          <p:nvPr/>
        </p:nvSpPr>
        <p:spPr>
          <a:xfrm>
            <a:off x="274320" y="1851660"/>
            <a:ext cx="45720" cy="296037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2"/>
          <p:cNvSpPr/>
          <p:nvPr/>
        </p:nvSpPr>
        <p:spPr>
          <a:xfrm>
            <a:off x="320040" y="1851660"/>
            <a:ext cx="5212080" cy="2960370"/>
          </a:xfrm>
          <a:prstGeom prst="roundRect">
            <a:avLst>
              <a:gd fmla="val 2317" name="adj"/>
            </a:avLst>
          </a:prstGeom>
          <a:solidFill>
            <a:srgbClr val="F0F1F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Almoxarifado |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Gerências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Data: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15/04/2026 |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Assunto: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Materiais para maio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Solicitamos o envio dos pedidos até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22/04, às 16h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via formulário eletrônico padrão.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Atenciosamente,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Carlos Silva — Almoxarifado Central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46c76f9d0439c8207380e974b60e2392.png" id="376" name="Google Shape;37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0" y="1303020"/>
            <a:ext cx="3200400" cy="3200400"/>
          </a:xfrm>
          <a:prstGeom prst="roundRect">
            <a:avLst>
              <a:gd fmla="val 4286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Leitura Comparativa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3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elementos tornam a segunda versão do memorando mais eficaz do que a primeira? (Mais de uma opção está correta)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3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Uso de adjetivos informais para demonstrar urgência dramática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3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3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Estabelecimento de um prazo exato de entrega com dia e horário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3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3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Instrução precisa sobre o canal oficial a ser utilizado (formulário eletrônico)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3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Identificação clara dos cargos de origem e de destino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4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Leitura Comparativa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4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elementos tornam a segunda versão do memorando mais eficaz do que a primeira? (Mais de uma opção está correta)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4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4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Uso de adjetivos informais para demonstrar urgência dramática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4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Estabelecimento de um prazo exato de entrega com dia e horário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4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4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Instrução precisa sobre o canal oficial a ser utilizado (formulário eletrônico)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4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4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Identificação clara dos cargos de origem e de destino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4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4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4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4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5"/>
          <p:cNvSpPr/>
          <p:nvPr/>
        </p:nvSpPr>
        <p:spPr>
          <a:xfrm>
            <a:off x="274320" y="182880"/>
            <a:ext cx="27432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Etapas de Produção de um Memorando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5"/>
          <p:cNvSpPr/>
          <p:nvPr/>
        </p:nvSpPr>
        <p:spPr>
          <a:xfrm>
            <a:off x="274320" y="219456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O processo passo a passo antes do envio definitivo.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c880905328f9890e3721071c2b2814bd.png" id="418" name="Google Shape;41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914650"/>
            <a:ext cx="205740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5"/>
          <p:cNvSpPr/>
          <p:nvPr/>
        </p:nvSpPr>
        <p:spPr>
          <a:xfrm>
            <a:off x="3337560" y="2091690"/>
            <a:ext cx="8229600" cy="228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5"/>
          <p:cNvSpPr/>
          <p:nvPr/>
        </p:nvSpPr>
        <p:spPr>
          <a:xfrm>
            <a:off x="4206240" y="194310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5"/>
          <p:cNvSpPr/>
          <p:nvPr/>
        </p:nvSpPr>
        <p:spPr>
          <a:xfrm>
            <a:off x="6263640" y="194310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5"/>
          <p:cNvSpPr/>
          <p:nvPr/>
        </p:nvSpPr>
        <p:spPr>
          <a:xfrm>
            <a:off x="8321040" y="194310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5"/>
          <p:cNvSpPr/>
          <p:nvPr/>
        </p:nvSpPr>
        <p:spPr>
          <a:xfrm>
            <a:off x="10378440" y="194310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5"/>
          <p:cNvSpPr/>
          <p:nvPr/>
        </p:nvSpPr>
        <p:spPr>
          <a:xfrm>
            <a:off x="3394710" y="2343150"/>
            <a:ext cx="19431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Diagnóstico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Definir a meta da mensagem.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5"/>
          <p:cNvSpPr/>
          <p:nvPr/>
        </p:nvSpPr>
        <p:spPr>
          <a:xfrm>
            <a:off x="5452110" y="1885950"/>
            <a:ext cx="19431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Redação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Escrever cabeçalho e corpo direto.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5"/>
          <p:cNvSpPr/>
          <p:nvPr/>
        </p:nvSpPr>
        <p:spPr>
          <a:xfrm>
            <a:off x="7509510" y="2343150"/>
            <a:ext cx="19431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Revisão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Cortar redundâncias e verificar prazos.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5"/>
          <p:cNvSpPr/>
          <p:nvPr/>
        </p:nvSpPr>
        <p:spPr>
          <a:xfrm>
            <a:off x="9566910" y="1634490"/>
            <a:ext cx="19431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 Protocolo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Registrar e encaminhar ao setor.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Checklist da Redação Profissional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6"/>
          <p:cNvSpPr/>
          <p:nvPr/>
        </p:nvSpPr>
        <p:spPr>
          <a:xfrm>
            <a:off x="274320" y="145161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6"/>
          <p:cNvSpPr/>
          <p:nvPr/>
        </p:nvSpPr>
        <p:spPr>
          <a:xfrm>
            <a:off x="468630" y="17030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6"/>
          <p:cNvSpPr/>
          <p:nvPr/>
        </p:nvSpPr>
        <p:spPr>
          <a:xfrm>
            <a:off x="1108710" y="155448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cabeçalho traz remetente, destinatário, data completa e assunto preciso?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6"/>
          <p:cNvSpPr/>
          <p:nvPr/>
        </p:nvSpPr>
        <p:spPr>
          <a:xfrm>
            <a:off x="274320" y="2606040"/>
            <a:ext cx="8595360" cy="685800"/>
          </a:xfrm>
          <a:prstGeom prst="roundRect">
            <a:avLst>
              <a:gd fmla="val 20000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6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6"/>
          <p:cNvSpPr/>
          <p:nvPr/>
        </p:nvSpPr>
        <p:spPr>
          <a:xfrm>
            <a:off x="1108710" y="2708910"/>
            <a:ext cx="75666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primeiro parágrafo explica o objetivo sem rodeios ou palavras difíceis?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6"/>
          <p:cNvSpPr/>
          <p:nvPr/>
        </p:nvSpPr>
        <p:spPr>
          <a:xfrm>
            <a:off x="274320" y="34747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6"/>
          <p:cNvSpPr/>
          <p:nvPr/>
        </p:nvSpPr>
        <p:spPr>
          <a:xfrm>
            <a:off x="468630" y="372618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6"/>
          <p:cNvSpPr/>
          <p:nvPr/>
        </p:nvSpPr>
        <p:spPr>
          <a:xfrm>
            <a:off x="1108710" y="35775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Há indicação explícita de quem deve agir e qual é o prazo limite para a resposta?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7"/>
          <p:cNvSpPr/>
          <p:nvPr/>
        </p:nvSpPr>
        <p:spPr>
          <a:xfrm>
            <a:off x="274320" y="491490"/>
            <a:ext cx="195453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02850" spcFirstLastPara="1" rIns="1028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CONTEXTO PRÁTICO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7"/>
          <p:cNvSpPr/>
          <p:nvPr/>
        </p:nvSpPr>
        <p:spPr>
          <a:xfrm>
            <a:off x="274320" y="891540"/>
            <a:ext cx="4709160" cy="3669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Cenário: O Memorando Convocatório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trabalha como assistente na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Coordenação Pedagógica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de uma escola técnica.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Sua missão é redigir um memorando oficial convocando os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Líderes de Turma do 8º e 9º Anos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para uma reunião de planejamento do Grêmio Estudantil.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reunião ocorrerá na próxima terça-feira, às 14h, na Sala de Conferências.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5888d526ee31df3a11f8a1591ffe7f00.png" id="450" name="Google Shape;45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777240"/>
            <a:ext cx="3703320" cy="3497580"/>
          </a:xfrm>
          <a:prstGeom prst="roundRect">
            <a:avLst>
              <a:gd fmla="val 3922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Requisitos para a Redação Convocatória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8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8"/>
          <p:cNvSpPr/>
          <p:nvPr/>
        </p:nvSpPr>
        <p:spPr>
          <a:xfrm>
            <a:off x="411480" y="1062990"/>
            <a:ext cx="3977640" cy="1474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Destinatário e Remetente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Identifique claramente os líderes de turma e a coordenação emitente no cabeçalho.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8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8"/>
          <p:cNvSpPr/>
          <p:nvPr/>
        </p:nvSpPr>
        <p:spPr>
          <a:xfrm>
            <a:off x="4754880" y="1062990"/>
            <a:ext cx="397764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Pauta e Objetivos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Explique o motivo do encontro em até duas frases objetivas, sem enrolação.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8"/>
          <p:cNvSpPr/>
          <p:nvPr/>
        </p:nvSpPr>
        <p:spPr>
          <a:xfrm>
            <a:off x="2743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8"/>
          <p:cNvSpPr/>
          <p:nvPr/>
        </p:nvSpPr>
        <p:spPr>
          <a:xfrm>
            <a:off x="411480" y="3086100"/>
            <a:ext cx="397764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Data, Horário e Local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Destaque os dados logísticos em linhas separadas para leitura imediata.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8"/>
          <p:cNvSpPr/>
          <p:nvPr/>
        </p:nvSpPr>
        <p:spPr>
          <a:xfrm>
            <a:off x="46177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8"/>
          <p:cNvSpPr/>
          <p:nvPr/>
        </p:nvSpPr>
        <p:spPr>
          <a:xfrm>
            <a:off x="4754880" y="3086100"/>
            <a:ext cx="397764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 Confirmação de Presença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Exija que a confirmação seja feita até segunda-feira anterior, às 12h.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80fc03e5-5011-4cc0-b0f7-59600583d327/img_1198f6ede5e2216c51986e3c51e1178b.png" id="470" name="Google Shape;47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6280" y="765810"/>
            <a:ext cx="44577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Prática: Memorando Convocatório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9"/>
          <p:cNvSpPr/>
          <p:nvPr/>
        </p:nvSpPr>
        <p:spPr>
          <a:xfrm>
            <a:off x="285750" y="925830"/>
            <a:ext cx="4263390" cy="3897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Redija um memorando interno completo convocando os Líderes de Turma para a reunião de planejamento do Grêmio Estudantil. Siga a estrutura oficial: Cabeçalho completo (Para, De, Data, Assunto), Corpo conciso com objetivo e pauta, Dados de data/horário/local em destaque, Prazo para confirmação de presença e Assinatura com cargo formal.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você vai precisar: 🎨 🖌️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Caderno de redação corporativa ou editor de texto padrão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Modelo de Resposta Comentado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0"/>
          <p:cNvSpPr/>
          <p:nvPr/>
        </p:nvSpPr>
        <p:spPr>
          <a:xfrm>
            <a:off x="274320" y="1085850"/>
            <a:ext cx="5349240" cy="3726180"/>
          </a:xfrm>
          <a:prstGeom prst="roundRect">
            <a:avLst>
              <a:gd fmla="val 2454" name="adj"/>
            </a:avLst>
          </a:prstGeom>
          <a:solidFill>
            <a:srgbClr val="F0F1F1"/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4300" lIns="194300" spcFirstLastPara="1" rIns="194300" wrap="square" tIns="1943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MEMORANDO Nº 18/2026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Líderes de Turma |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Coordenação Pedagógica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Data: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20/04/2026 |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Assunto: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Alinhamento do Grêmio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Convocamos os representantes para alinhamento das ações semestrais: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•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Data: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24 de abril |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Horário: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14h às 15h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•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Local: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Sala de Conferências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Confirme presença até 23/04, às 12h, respondendo a este despacho.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Atenciosamente,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Coordenação Pedagógica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0fc03e5-5011-4cc0-b0f7-59600583d327/img_8beb0391b65cc45a51a395f9f02db8fa.png" id="480" name="Google Shape;480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0" y="1463040"/>
            <a:ext cx="2971800" cy="2971800"/>
          </a:xfrm>
          <a:prstGeom prst="roundRect">
            <a:avLst>
              <a:gd fmla="val 461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80fc03e5-5011-4cc0-b0f7-59600583d327/img_74db676abbf9321227487417a15623c8.png" id="486" name="Google Shape;486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4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Desafio Final: Memorandos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1"/>
          <p:cNvSpPr/>
          <p:nvPr/>
        </p:nvSpPr>
        <p:spPr>
          <a:xfrm>
            <a:off x="285750" y="1143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a principal diferença de alcance entre um memorando e um comunicado interno?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1"/>
          <p:cNvSpPr/>
          <p:nvPr/>
        </p:nvSpPr>
        <p:spPr>
          <a:xfrm>
            <a:off x="285750" y="2286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 um memorando não deve conter introduções prolixas ou jargões arcaicos?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1"/>
          <p:cNvSpPr/>
          <p:nvPr/>
        </p:nvSpPr>
        <p:spPr>
          <a:xfrm>
            <a:off x="285750" y="3429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são as três informações indispensáveis ao solicitar uma providência no memorando?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Desafio Final: Memorandos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2"/>
          <p:cNvSpPr/>
          <p:nvPr/>
        </p:nvSpPr>
        <p:spPr>
          <a:xfrm>
            <a:off x="285750" y="1143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memorando é direcionado entre setores específicos para ações pontuais, enquanto o comunicado é voltado a toda a organização.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42"/>
          <p:cNvSpPr/>
          <p:nvPr/>
        </p:nvSpPr>
        <p:spPr>
          <a:xfrm>
            <a:off x="285750" y="2286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Porque a finalidade do memorando é a concisão e a agilidade, exigindo que o leitor entenda a solicitação imediatamente.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42"/>
          <p:cNvSpPr/>
          <p:nvPr/>
        </p:nvSpPr>
        <p:spPr>
          <a:xfrm>
            <a:off x="285750" y="3429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ação necessária que deve ser realizada, o responsável pela execução e o prazo limite exato para cumprimento.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4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80fc03e5-5011-4cc0-b0f7-59600583d327/img_fdcb97cc08545a68e12f3e9142d6e23a.png" id="506" name="Google Shape;50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43"/>
          <p:cNvSpPr/>
          <p:nvPr/>
        </p:nvSpPr>
        <p:spPr>
          <a:xfrm>
            <a:off x="1668780" y="1805940"/>
            <a:ext cx="5806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Comunicação Interna Eficaz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3"/>
          <p:cNvSpPr/>
          <p:nvPr/>
        </p:nvSpPr>
        <p:spPr>
          <a:xfrm>
            <a:off x="274320" y="249174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Textos curtos, objetivos e bem estruturados economizam tempo, evitam retrabalho e constroem equipes mais alinhadas e colaborativas.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