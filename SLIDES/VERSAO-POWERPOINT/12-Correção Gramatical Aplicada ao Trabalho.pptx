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7.png"/><Relationship Id="rId7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3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74.png"/><Relationship Id="rId5" Type="http://schemas.openxmlformats.org/officeDocument/2006/relationships/image" Target="../media/image56.png"/><Relationship Id="rId6" Type="http://schemas.openxmlformats.org/officeDocument/2006/relationships/image" Target="../media/image50.png"/><Relationship Id="rId7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64.png"/><Relationship Id="rId5" Type="http://schemas.openxmlformats.org/officeDocument/2006/relationships/image" Target="../media/image55.png"/><Relationship Id="rId6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68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7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8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78.png"/><Relationship Id="rId5" Type="http://schemas.openxmlformats.org/officeDocument/2006/relationships/image" Target="../media/image82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9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9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9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94.png"/><Relationship Id="rId5" Type="http://schemas.openxmlformats.org/officeDocument/2006/relationships/image" Target="../media/image9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9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097280"/>
            <a:ext cx="4023360" cy="2183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Correção Gramatical Aplicada ao Trabalho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3280410"/>
            <a:ext cx="4023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Precisão linguística e clareza nos documentos corporativos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6c73489fe2da85bfa86d5b324965b7a6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74320" y="777240"/>
            <a:ext cx="49377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erro custa caro?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1611630"/>
            <a:ext cx="493776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enviar uma proposta comercial dizendo: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“Não vamos cobrar taxa adicional”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mas esquecer o acento ou trocar uma vírgula de lugar, alterando o sentido do contrato.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mercado de trabalho, a precisão gramatical constrói credibilidade, evita prejuízos jurídicos e garante que sua mensagem seja compreendida de imediato.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40c6c1b7ce3f382a4338fdb6204af9f3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e corrigir deslizes comuns de concordância, regência e pontuação em textos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Empregar a crase e a norma-padrão de forma assertiva em e-mails e comunicados corporativos.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etapas rigorosas de revisão e autocorreção com apoio consciente de ferramentas digitais.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5825e13f73da4871ee54c53234d4881a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74320" y="373761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Norma-padrão: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Regras formais para a escrita pública oficial.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b167ab29734675f5bb0340fe2efa336a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10401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2468880" y="328041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Sinais que organizam pausas e sentidos das orações.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7227d01786370114d1432cdb8a402519.png" id="52" name="Google Shape;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4663440" y="373761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Concordância: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Ajuste harmônico de flexão entre termos da frase.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c9d8f3d1f8d9e9944206631d1c8ca593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10401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858000" y="328041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Regência: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Relação em que um termo exige preposição própria.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350b7cb14111c5f0cf2d5576deee56b4.png" id="61" name="Google Shape;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 e Coerência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texto profissional precisa ser uma ponte sólida.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a costura gramatical (pronomes, conectivos e pontuação), enquanto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a lógica interna que faz as ideias terem sentido para o leitor.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274320" y="182880"/>
            <a:ext cx="4503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Tópico Frasal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74320" y="1017270"/>
            <a:ext cx="450342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núcleo de cada parágrafo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documentos de trabalho, cada parágrafo deve girar em torno de uma ideia central declarada claramente no início: o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tópico frasal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Declaração direta: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Apresente a informação principal na primeira frase.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Traga dados, justificativas e exemplos em seguida.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Conecte a frase seguinte por meio de pronomes ou conjunções.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4037d77dacdd12e0fb0f316137f4c8c0.png" id="71" name="Google Shape;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Conectivos Estratégicos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f330e72d993c105b48377cfe344c7a2f.png" id="78" name="Google Shape;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9" name="Google Shape;79;p9"/>
          <p:cNvSpPr/>
          <p:nvPr/>
        </p:nvSpPr>
        <p:spPr>
          <a:xfrm>
            <a:off x="27432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Adição e Continuidade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além disso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ademais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outrossim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somar argumentos sem cansar o leitor com repetições.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1e1ad4310a399533f41f0a34588d22b0.png" id="80" name="Google Shape;8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81" name="Google Shape;81;p9"/>
          <p:cNvSpPr/>
          <p:nvPr/>
        </p:nvSpPr>
        <p:spPr>
          <a:xfrm>
            <a:off x="316611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Contraste e Ressalva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contudo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entretanto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obstante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quando for necessário pontuar divergências com elegância.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ed9f48ebc310d5a4f4a25a328f1b8403.png" id="82" name="Google Shape;8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83" name="Google Shape;83;p9"/>
          <p:cNvSpPr/>
          <p:nvPr/>
        </p:nvSpPr>
        <p:spPr>
          <a:xfrm>
            <a:off x="606933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e Efeito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portanto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conseguinte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dessa forma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consolidar decisões e próximos passos.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74db676abbf9321227487417a15623c8.png" id="89" name="Google Shape;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 de Conectivos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conectivo expressa ideia de conclusão adequada para encerrar um relatório?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qual posição do parágrafo geralmente se localiza o tópico frasal?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termo substitui 'mas' com tom mais formal em um e-mail corporativo?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 de Conectivos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Portanto (ou dessa forma)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frase inicial do parágrafo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Contudo ou no entanto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5c7b165e13994c3650015a8db70d7433.png" id="109" name="Google Shape;10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/>
          <p:nvPr/>
        </p:nvSpPr>
        <p:spPr>
          <a:xfrm>
            <a:off x="274320" y="1805940"/>
            <a:ext cx="859536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Força da Norma-Padrão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norma culta não existe para complicar, mas para nivelar a clareza entre quem escreve e quem lê, garantindo que o foco permaneça nos resultados do trabalho.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 e Imagem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a linguagem molda a percepção profissional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c8f8e8466e2454e40b93e222f00ecd35.png" id="119" name="Google Shape;11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/>
          <p:nvPr/>
        </p:nvSpPr>
        <p:spPr>
          <a:xfrm>
            <a:off x="3291840" y="182880"/>
            <a:ext cx="164592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CREDIBILIDADE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3291840" y="628650"/>
            <a:ext cx="557784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nos comunicamos no ambiente de trabalho, o texto representa nossa postura profissional e a própria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Confiança imediata: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Clientes e líderes confiam mais em dados apresentados sem falhas gramaticais.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Universalidade: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Evita gírias regionais que podem ser mal interpretadas em equipes diversas.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Frases bem construídas reduzem e-mails desnecessários de esclarecimento.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Vírgula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274320" y="925830"/>
            <a:ext cx="4709160" cy="280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erro mais fatal: separar sujeito e predicado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coloque vírgula entre quem realiza a ação e a própria ação, por mais longa que a frase pareça.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Incorreto: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relatórios financeiros do trimestre passado, revelaram alta.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relatórios financeiros do trimestre passado revelaram alta.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274320" y="386334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000000">
              <a:alpha val="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388620" y="397764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754380" y="390906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 para respirar na fala não determina o uso da vírgula na escrita formal.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6d881f6ed252b0e00ff78aebda87e89b.png" id="132" name="Google Shape;1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Pontuação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247b1268d718d68d4726fac4b796b369.png"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1017270" y="1074420"/>
            <a:ext cx="3360420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 e Datas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Isole quem você chama: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“Prezados colegas, bom dia!”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adjuntos no início: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“Em 2026, crescemos.”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574ba0c2961884b99f0a8001311b9164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63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/>
          <p:nvPr/>
        </p:nvSpPr>
        <p:spPr>
          <a:xfrm>
            <a:off x="5360670" y="1074420"/>
            <a:ext cx="336042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e Vírgula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Separe itens extensos de uma listagem em propostas ou orações já divididas internamente por vírgulas.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fdf63ad170083651d934a53cd6d95948.png" id="146" name="Google Shape;1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/>
          <p:nvPr/>
        </p:nvSpPr>
        <p:spPr>
          <a:xfrm>
            <a:off x="1017270" y="3097530"/>
            <a:ext cx="3360420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Dois-Pontos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Anuncie uma citação, síntese ou lista: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“Solicitamos três itens: formulário, crachá e comprovante.”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13ee188e1f6d2c3d4bc787fd428e640e.png" id="149" name="Google Shape;14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63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5360670" y="3097530"/>
            <a:ext cx="3360420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Final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Corte períodos muito extensos. Se a frase tiver mais de 3 linhas, divida-a com ponto e inicie novo período.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Pontuação Correta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frases emprega a vírgula de acordo com a norma-padrão?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Senhor Diretor, encaminho a planilha de custos revisada.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diretoria da empresa, aprovou o orçamento anual.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de vendas, viajou para o congresso de marketing.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estagiários de tecnologia, terminaram o relatório ontem.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Pontuação Correta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frases emprega a vírgula de acordo com a norma-padrão?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Senhor Diretor, encaminho a planilha de custos revisada.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diretoria da empresa, aprovou o orçamento anual.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de vendas, viajou para o congresso de marketing.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estagiários de tecnologia, terminaram o relatório ontem.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Concordância Verbal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274320" y="925830"/>
            <a:ext cx="47091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sujeito manda no verbo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verbo concorda em número (singular/plural) e pessoa com o núcleo do sujeito, mesmo com palavras intermediárias intercaladas.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Cuidado comum: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envio de todos os documentos fiscais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ocorreu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 não *ocorreram) no prazo.”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núcleo é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74320" y="3394710"/>
            <a:ext cx="4709160" cy="1485900"/>
          </a:xfrm>
          <a:prstGeom prst="roundRect">
            <a:avLst>
              <a:gd fmla="val 615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388620" y="350901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754380" y="3509010"/>
            <a:ext cx="41148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Regra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Isole os termos explicativos entre vírgulas para enxergar o núcleo do sujeito com clareza.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099a229b4f5209d10bc4ca8ccb03f68a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Haver vs. Fazer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ea0fcbc182074aca8a65d253bcad4916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274320" y="2674620"/>
            <a:ext cx="28117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 Haver (Existir)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sentido de existir ou tempo decorrido,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haver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impessoal e fica no singular: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“Havia pendências”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(nunca *haviam).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38aeb8acb647bab65c4ae3bc9d7c2e1c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03" name="Google Shape;203;p19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 Existir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verbo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existir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pessoal e concorda normalmente: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“Existiam cinco relatórios pendentes na pasta.”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2f7178dc1379f9db7a202f98ba414c85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606933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 Fazer (Tempo)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Indicando tempo decorrido,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fazer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permanece no singular: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“Faz seis meses que iniciamos o projeto”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(nunca *fazem).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Concordância Nominal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Anexo, incluso e obrigado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Adjetivos concordam em gênero e número com o substantivo a que se referem: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“Seguem </a:t>
            </a:r>
            <a:r>
              <a:rPr b="1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anexas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as planilhas.”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/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“Segue </a:t>
            </a:r>
            <a:r>
              <a:rPr b="1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contrato.”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anexo: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locução invariável: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“Seguem </a:t>
            </a:r>
            <a:r>
              <a:rPr b="1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anexo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as notas fiscais.”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Obrigado(a):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Concorda com o emissor: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gerente disse: muito </a:t>
            </a:r>
            <a:r>
              <a:rPr b="1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obrigada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55c26271b6eb6c77465ae47ff1700895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e55ecfe6702459449ae20917630e639d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Complete a Concordância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Segue ____ a planilha e já ____ três anos que prestamos serviços.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46304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64033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817620" y="3771900"/>
            <a:ext cx="10287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e55ecfe6702459449ae20917630e639d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Complete a Concordância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Segue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anexa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planilha e já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faz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três anos que prestamos serviços.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46304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fazem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64033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anexo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817620" y="3771900"/>
            <a:ext cx="10287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Regência Verbal: Relações Diretas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Alguns verbos alteram totalmente de significado no meio corporativo caso recebam ou dispensem preposição.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60c365101115d881ebe24fc7ef11e2d6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8308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Verbos Críticos no Escritório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8fd082407e02fb1dd522493781d48b06.png" id="256" name="Google Shape;2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1017270" y="1074420"/>
            <a:ext cx="336042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Assistir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sentido de ver, exige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“Assistimos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à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palestra”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No sentido de prestar ajuda, não exige preposição: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“Assistir o cliente”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3f8e685d7d7375e9a96d4ee015676ea3.png" id="259" name="Google Shape;2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63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/>
          <p:nvPr/>
        </p:nvSpPr>
        <p:spPr>
          <a:xfrm>
            <a:off x="5360670" y="1074420"/>
            <a:ext cx="336042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Visar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sentido de ter como meta, rege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nova política visa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crescimento da equipe”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 não *visa o crescimento).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563596133c760201255bad6b5e5cd3a0.png" id="262" name="Google Shape;26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/>
          <p:nvPr/>
        </p:nvSpPr>
        <p:spPr>
          <a:xfrm>
            <a:off x="1017270" y="3097530"/>
            <a:ext cx="336042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Atender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Aceita regência direta ou indireta: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“Atender o cliente”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“Atender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chamado do gerente”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são ambas válidas.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15b9ee9e26d8c74857e26849945864f9.png" id="265" name="Google Shape;26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63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5360670" y="3097530"/>
            <a:ext cx="3360420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Preferir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 a preposição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“Prefiro reuniões presenciais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chamadas de vídeo”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Nunca use *do que.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Regência Nominal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Substantivos e adjetivos com preposições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Assim como os verbos, certos substantivos e adjetivos exigem preposições fixas para ligar seus complementos: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Compatível com: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software é </a:t>
            </a:r>
            <a:r>
              <a:rPr b="1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compatível com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sistema da empresa.”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Apto a / para: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candidato está </a:t>
            </a:r>
            <a:r>
              <a:rPr b="1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apto a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assumir a coordenação.”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 a / por: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“Mantemos total </a:t>
            </a:r>
            <a:r>
              <a:rPr b="1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 aos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prazos acordados.”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ebb837cd556e7a42909c6294c70273e6.png" id="274" name="Google Shape;2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Crase: A Fusão Obrigatória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cd137f1207a8564b97f310466f81fa97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2" name="Google Shape;282;p26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7432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Termo Exigente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 ou nome que pede a preposição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(ex.: referente a).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212bf008bfa2f0a86151c8d2ea4acfa9.png" id="284" name="Google Shape;28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5" name="Google Shape;285;p26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3200400" y="3623310"/>
            <a:ext cx="274320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Palavra Feminina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Termo feminino que admite o artigo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(ex.: a reunião).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28ebd1a360dfe923f7f70b10dbbb7de0.png" id="287" name="Google Shape;28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8" name="Google Shape;288;p26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6126480" y="3623310"/>
            <a:ext cx="274320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Teste do 'Ao'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Troque por termo masculino: se virar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use crase.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Não Usar Crase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c0f8d0747319eaa9ec3771ae4dafe6f2.png" id="296" name="Google Shape;2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97" name="Google Shape;297;p27"/>
          <p:cNvSpPr/>
          <p:nvPr/>
        </p:nvSpPr>
        <p:spPr>
          <a:xfrm>
            <a:off x="27432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Palavras Masculinas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antes de masculinos: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“Pagamento a prazo”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“Venda a crédito”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“Envio a todos”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88ab89f02afc0f951f65eb6ac5e25d1b.png" id="298" name="Google Shape;2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99" name="Google Shape;299;p27"/>
          <p:cNvSpPr/>
          <p:nvPr/>
        </p:nvSpPr>
        <p:spPr>
          <a:xfrm>
            <a:off x="3166110" y="2834640"/>
            <a:ext cx="28117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Antes de Verbos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Verbos não admitem artigo: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“Estou disposto a colaborar”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“Começou a redigir”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c436ee2879de2eeaf7a3c25a23c3f179.png" id="300" name="Google Shape;30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1" name="Google Shape;301;p27"/>
          <p:cNvSpPr/>
          <p:nvPr/>
        </p:nvSpPr>
        <p:spPr>
          <a:xfrm>
            <a:off x="606933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Pronomes de Tratamento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Diante de pronomes como Vossa Senhoria: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“Peço a Vossa Senhoria deferimento”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Correto da Crase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frases corporativas utilizam a crase corretamente?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Encaminhamos a proposta à diretoria executiva.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começou à redigir o relatório técnico ontem.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Ficamos à disposição para esclarecer eventuais dúvidas.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Solicitamos o pagamento à prazo para o fornecedor.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Correto da Crase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frases corporativas utilizam a crase corretamente?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Encaminhamos a proposta à diretoria executiva.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começou à redigir o relatório técnico ontem.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Ficamos à disposição para esclarecer eventuais dúvidas.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Solicitamos o pagamento à prazo para o fornecedor.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Dúvidas Ortográficas Comuns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274320" y="1017270"/>
            <a:ext cx="4206240" cy="1908810"/>
          </a:xfrm>
          <a:prstGeom prst="roundRect">
            <a:avLst>
              <a:gd fmla="val 718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881df68e6aa105cc272db105ef33dcdd.png" id="342" name="Google Shape;34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/>
          <p:nvPr/>
        </p:nvSpPr>
        <p:spPr>
          <a:xfrm>
            <a:off x="1154430" y="1165860"/>
            <a:ext cx="317754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fim de vs. Afim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fim 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indica objetivo ou propósito.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Afim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significa semelhante.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4663440" y="1017270"/>
            <a:ext cx="4206240" cy="1908810"/>
          </a:xfrm>
          <a:prstGeom prst="roundRect">
            <a:avLst>
              <a:gd fmla="val 718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2d8992b45a293280e5234907a0b7b2d3.png" id="345" name="Google Shape;34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/>
          <p:nvPr/>
        </p:nvSpPr>
        <p:spPr>
          <a:xfrm>
            <a:off x="5543550" y="1165860"/>
            <a:ext cx="317754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e Porque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perguntas e motivos.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respostas explicativas.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274320" y="3108960"/>
            <a:ext cx="4206240" cy="1908810"/>
          </a:xfrm>
          <a:prstGeom prst="roundRect">
            <a:avLst>
              <a:gd fmla="val 718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6f119a50701fd7640b1a5649d618c992.png" id="348" name="Google Shape;34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5755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/>
          <p:nvPr/>
        </p:nvSpPr>
        <p:spPr>
          <a:xfrm>
            <a:off x="1154430" y="3257550"/>
            <a:ext cx="3177540" cy="161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Há cerca de vs. A cerca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Há cerca 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indica tempo decorrido.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cerca 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expressa distância.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4663440" y="3108960"/>
            <a:ext cx="4206240" cy="1908810"/>
          </a:xfrm>
          <a:prstGeom prst="roundRect">
            <a:avLst>
              <a:gd fmla="val 718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fe982d284b66eb856692c2b79281ac1c.png" id="351" name="Google Shape;35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5755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/>
          <p:nvPr/>
        </p:nvSpPr>
        <p:spPr>
          <a:xfrm>
            <a:off x="5543550" y="3257550"/>
            <a:ext cx="317754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isso e De repente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Sempre grafados separadamente. Evite aglutinações inadequadas.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Acentuação Gráfica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274320" y="925830"/>
            <a:ext cx="470916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Regras práticas do Acordo Ortográfico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Acordo Ortográfico eliminou acentos que muitos profissionais ainda usam por desatenção: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Ditongos abertos em paroxítonas: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Perderam o acento: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assembleia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coreia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 não *idéia).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Vogais duplicadas: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Sem acento circunflexo: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leem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veem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 não *vôo).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Acento diferencial: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Permanece em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pôde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(passado) vs.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(presente) e no verbo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pôr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73c4fa825bfc2b38d539c1d8380900ba.png" id="360" name="Google Shape;3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Revisores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Inteligência artificial e corretores automáticos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6848306836c9959903d0757d2cd96315.png" id="368" name="Google Shape;3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/>
          <p:nvPr/>
        </p:nvSpPr>
        <p:spPr>
          <a:xfrm>
            <a:off x="3291840" y="1828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Aliados úteis, mas com limites claros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Softwares e extensões de digitação são excelentes para pegar erros de digitação rápida e esquecimentos ortográficos.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3291840" y="1874520"/>
            <a:ext cx="5577840" cy="1623060"/>
          </a:xfrm>
          <a:prstGeom prst="roundRect">
            <a:avLst>
              <a:gd fmla="val 5634" name="adj"/>
            </a:avLst>
          </a:prstGeom>
          <a:solidFill>
            <a:srgbClr val="000000">
              <a:alpha val="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3417570" y="200025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3829050" y="2000250"/>
            <a:ext cx="4914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Alerta Importante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revisor digital não compreende a intenção do emissor nem o contexto de termos técnicos e nomes próprios.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3291840" y="3497580"/>
            <a:ext cx="557784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responsabilidade final pelo documento enviado é sempre sua, nunca do aplicativo.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Método da Autocorreção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3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e0713c-8a93-4795-8271-f449553508d7/img_257fd127239d14667a7c0ccf766c5ccf.png" id="384" name="Google Shape;3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5" name="Google Shape;385;p33"/>
          <p:cNvSpPr/>
          <p:nvPr/>
        </p:nvSpPr>
        <p:spPr>
          <a:xfrm>
            <a:off x="274320" y="3623310"/>
            <a:ext cx="201168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Distanciamento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Espere 2 minutos antes de reler o texto produzido.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6db55fbdcb1e67fb9db06fac578bb139.png" id="386" name="Google Shape;38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7" name="Google Shape;387;p33"/>
          <p:cNvSpPr/>
          <p:nvPr/>
        </p:nvSpPr>
        <p:spPr>
          <a:xfrm>
            <a:off x="246888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Leitura Oral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Leia em voz baixa para sentir quebras de ritmo e pontuação.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410006fcdeb6d5b203bfe73b02da1fbc.png" id="388" name="Google Shape;38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9" name="Google Shape;389;p33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Checagem Ativa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Procure especificamente por crase, anexos e datas.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22b75ece394effc4cd77d17ca50c0d6d.png" id="390" name="Google Shape;39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91" name="Google Shape;391;p33"/>
          <p:cNvSpPr/>
          <p:nvPr/>
        </p:nvSpPr>
        <p:spPr>
          <a:xfrm>
            <a:off x="685800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Validação Final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Verifique anexos e nomes de destinatários antes do clique.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E-mails Corporativos Reais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274320" y="925830"/>
            <a:ext cx="470916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encontramos no dia a dia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Muitos e-mails profissionais contêm desvios acumulados que tornam a comunicação confusa e desgastam a imagem da empresa.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“Bom dia Carlos segue anexo as guias para pagamento à vista. Havia muitas dúvidas na equipe porisso decidimos avisar.”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Perceba a ausência de vírgula no vocativo, erro de concordância em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crase indevida em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à vista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(locução feminina tem crase, mas atenção às combinações) e junção incorreta em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porisso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24c9eec3a723c3967dc60ae39f49107c.png" id="399" name="Google Shape;39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Oficina de Caça aos Erros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3d3aa4e5dd4ea34129724cb1f5911e6f.png" id="406" name="Google Shape;4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407" name="Google Shape;407;p35"/>
          <p:cNvSpPr/>
          <p:nvPr/>
        </p:nvSpPr>
        <p:spPr>
          <a:xfrm>
            <a:off x="274320" y="2594610"/>
            <a:ext cx="281178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Trecho Problemático 1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“Fazem dois dias que a equipe enviou o relatório, contudo ninguém respondeu.”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Erro: *Fazem dois dias. Correção: </a:t>
            </a:r>
            <a:r>
              <a:rPr b="1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Faz dois dias</a:t>
            </a: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a3530c195767cf9bff07df1054c346eb.png" id="408" name="Google Shape;40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409" name="Google Shape;409;p35"/>
          <p:cNvSpPr/>
          <p:nvPr/>
        </p:nvSpPr>
        <p:spPr>
          <a:xfrm>
            <a:off x="3166110" y="2594610"/>
            <a:ext cx="2811780" cy="2320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Trecho Problemático 2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diretor que esteve aqui ontem, solicitou novas propostas comerciais.”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Erro: Vírgula separando sujeito e verbo principal.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23cf529bc752235ea073adfd3304860d.png" id="410" name="Google Shape;41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411" name="Google Shape;411;p35"/>
          <p:cNvSpPr/>
          <p:nvPr/>
        </p:nvSpPr>
        <p:spPr>
          <a:xfrm>
            <a:off x="6069330" y="2594610"/>
            <a:ext cx="2811780" cy="2320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Trecho Problemático 3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“Pedimos à todos que cheguem cedo afim de iniciarmos a conferência.”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Erros: Crase antes de *todos e *afim junto.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Gramaticais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Concordância Verbal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Regência Verbal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Tópico Frasal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Harmonia entre o verbo e o núcleo do sujeito em número e pessoa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Fusão entre a preposição 'a' e o artigo feminino 'a'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Relação de dependência e preposição exigida por um verbo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Frase síntese que expressa a ideia central do parágrafo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Gramaticais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Concordância Verbal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Regência Verbal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Tópico Frasal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Harmonia entre o verbo e o núcleo do sujeito em número e pessoa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Fusão entre a preposição 'a' e o artigo feminino 'a'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Relação de dependência e preposição exigida por um verbo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Frase síntese que expressa a ideia central do parágrafo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37"/>
          <p:cNvCxnSpPr/>
          <p:nvPr/>
        </p:nvCxnSpPr>
        <p:spPr>
          <a:xfrm>
            <a:off x="2571750" y="16230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37"/>
          <p:cNvCxnSpPr/>
          <p:nvPr/>
        </p:nvCxnSpPr>
        <p:spPr>
          <a:xfrm flipH="1" rot="10800000">
            <a:off x="2571750" y="16527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37"/>
          <p:cNvCxnSpPr/>
          <p:nvPr/>
        </p:nvCxnSpPr>
        <p:spPr>
          <a:xfrm>
            <a:off x="2571750" y="34518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37"/>
          <p:cNvCxnSpPr/>
          <p:nvPr/>
        </p:nvCxnSpPr>
        <p:spPr>
          <a:xfrm>
            <a:off x="2571750" y="43662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37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Base Desafiador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274320" y="925830"/>
            <a:ext cx="450342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Analise a mensagem antes do envio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Leia com atenção o rascunho de um comunicado interno de empresa: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274320" y="2686050"/>
            <a:ext cx="45720" cy="216027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/>
          <p:nvPr/>
        </p:nvSpPr>
        <p:spPr>
          <a:xfrm>
            <a:off x="537210" y="2686050"/>
            <a:ext cx="424053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“Prezados colaboradores informamos que houveram imprevistos no sistema. Segue anexo as instruções para redefinir as senhas. Todos devem assistir o tutorial afim de evitar novos bloqueios.”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Rascunho de comunicado interno da Gerência de TI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f54d5a25acf091eeeee1fd535fbbee8d.png" id="460" name="Google Shape;46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"/>
          <p:cNvSpPr/>
          <p:nvPr/>
        </p:nvSpPr>
        <p:spPr>
          <a:xfrm>
            <a:off x="274320" y="182880"/>
            <a:ext cx="47091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Versão Reformulada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274320" y="101727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Correção cirúrgica e estilística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Veja como o mesmo comunicado ganha profissionalismo com as correções adequadas: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74320" y="2251710"/>
            <a:ext cx="4709160" cy="1485900"/>
          </a:xfrm>
          <a:prstGeom prst="roundRect">
            <a:avLst>
              <a:gd fmla="val 6154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“Prezados colaboradores, informamos que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houve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imprevistos no sistema. Seguem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anexas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as instruções para redefinir as senhas. Todos devem assistir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tutorial </a:t>
            </a:r>
            <a:r>
              <a:rPr b="1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fim de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evitar novos bloqueios.”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274320" y="3920490"/>
            <a:ext cx="470916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Alterações: vírgula no vocativo, </a:t>
            </a:r>
            <a:r>
              <a:rPr b="0" i="1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haver</a:t>
            </a: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 impessoal, </a:t>
            </a:r>
            <a:r>
              <a:rPr b="0" i="1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anexas</a:t>
            </a: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 concordado e regência de </a:t>
            </a:r>
            <a:r>
              <a:rPr b="0" i="1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assistir</a:t>
            </a: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 com </a:t>
            </a:r>
            <a:r>
              <a:rPr b="0" i="1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 fim de</a:t>
            </a: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e0713c-8a93-4795-8271-f449553508d7/img_fa7b609f4c98ba902aad329355b516b7.png" id="470" name="Google Shape;47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182880"/>
            <a:ext cx="3611880" cy="468630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Pré-Envio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0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0"/>
          <p:cNvSpPr/>
          <p:nvPr/>
        </p:nvSpPr>
        <p:spPr>
          <a:xfrm>
            <a:off x="514350" y="308610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Verifique pontuação e isole o vocativo inicial.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0"/>
          <p:cNvSpPr/>
          <p:nvPr/>
        </p:nvSpPr>
        <p:spPr>
          <a:xfrm>
            <a:off x="25717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Confira a concordância de sujeito e verbos impessoais.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0"/>
          <p:cNvSpPr/>
          <p:nvPr/>
        </p:nvSpPr>
        <p:spPr>
          <a:xfrm>
            <a:off x="46291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Aplique o teste do 'ao' para confirmar cada crase.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0"/>
          <p:cNvSpPr/>
          <p:nvPr/>
        </p:nvSpPr>
        <p:spPr>
          <a:xfrm>
            <a:off x="66865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Confirme se os anexos citados estão realmente incluídos.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88f2cf22d50efe57d124336ea25cb3a9.png" id="491" name="Google Shape;49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dde0713c-8a93-4795-8271-f449553508d7/img_86c17763e9c72a1da441601d399d296f.png" id="492" name="Google Shape;49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Prático Final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recebeu um rascunho de e-mail de um colega com a frase: 'Seguem anexo os relatórios para a diretoria avaliar à partir de hoje.' Quais correções você sugeriria antes do envio final e por quê?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88f2cf22d50efe57d124336ea25cb3a9.png" id="500" name="Google Shape;50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Prático Final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Substituir 'anexo' por 'anexos' para concordar com 'relatórios'.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Remover a crase de 'à partir', pois nunca ocorre crase antes de verbos.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Opcionalmente, pontuar a oração com vírgula para destacar o adjunto adverbial de tempo.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e0713c-8a93-4795-8271-f449553508d7/img_e05fc08b924813525d1c082a4841a6b6.png" id="509" name="Google Shape;50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3"/>
          <p:cNvSpPr/>
          <p:nvPr/>
        </p:nvSpPr>
        <p:spPr>
          <a:xfrm>
            <a:off x="251460" y="2697480"/>
            <a:ext cx="8641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251460" y="3417570"/>
            <a:ext cx="864108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Dominar a gramática aplicada ao trabalho é um diferencial competitivo. Textos claros, precisos e bem pontuados transmitem respeito pelo leitor e abrem portas em qualquer carreira.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Na próxima aula, avançaremos para o Módulo 3 com foco em </a:t>
            </a:r>
            <a:r>
              <a:rPr b="1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Formatação de Documentos Corporativos e Estrutura de E-mails</a:t>
            </a: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